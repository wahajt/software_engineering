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5"/>
  </p:notesMasterIdLst>
  <p:handoutMasterIdLst>
    <p:handoutMasterId r:id="rId26"/>
  </p:handoutMasterIdLst>
  <p:sldIdLst>
    <p:sldId id="277" r:id="rId2"/>
    <p:sldId id="274" r:id="rId3"/>
    <p:sldId id="278" r:id="rId4"/>
    <p:sldId id="257" r:id="rId5"/>
    <p:sldId id="261" r:id="rId6"/>
    <p:sldId id="259" r:id="rId7"/>
    <p:sldId id="258" r:id="rId8"/>
    <p:sldId id="262" r:id="rId9"/>
    <p:sldId id="263" r:id="rId10"/>
    <p:sldId id="275" r:id="rId11"/>
    <p:sldId id="276" r:id="rId12"/>
    <p:sldId id="264" r:id="rId13"/>
    <p:sldId id="283" r:id="rId14"/>
    <p:sldId id="271" r:id="rId15"/>
    <p:sldId id="273" r:id="rId16"/>
    <p:sldId id="272" r:id="rId17"/>
    <p:sldId id="265" r:id="rId18"/>
    <p:sldId id="266" r:id="rId19"/>
    <p:sldId id="267" r:id="rId20"/>
    <p:sldId id="282" r:id="rId21"/>
    <p:sldId id="269" r:id="rId22"/>
    <p:sldId id="279" r:id="rId23"/>
    <p:sldId id="270"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1CAB58D-6073-45EF-B6B1-6AF6BACCBEBF}">
          <p14:sldIdLst>
            <p14:sldId id="277"/>
            <p14:sldId id="274"/>
            <p14:sldId id="278"/>
            <p14:sldId id="257"/>
            <p14:sldId id="261"/>
            <p14:sldId id="259"/>
            <p14:sldId id="258"/>
            <p14:sldId id="262"/>
            <p14:sldId id="263"/>
            <p14:sldId id="275"/>
            <p14:sldId id="276"/>
            <p14:sldId id="264"/>
            <p14:sldId id="283"/>
            <p14:sldId id="271"/>
            <p14:sldId id="273"/>
            <p14:sldId id="272"/>
            <p14:sldId id="265"/>
            <p14:sldId id="266"/>
            <p14:sldId id="267"/>
            <p14:sldId id="282"/>
            <p14:sldId id="269"/>
            <p14:sldId id="279"/>
            <p14:sldId id="27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C4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33" autoAdjust="0"/>
    <p:restoredTop sz="94660"/>
  </p:normalViewPr>
  <p:slideViewPr>
    <p:cSldViewPr>
      <p:cViewPr>
        <p:scale>
          <a:sx n="68" d="100"/>
          <a:sy n="68" d="100"/>
        </p:scale>
        <p:origin x="-540" y="-6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70" d="100"/>
          <a:sy n="70" d="100"/>
        </p:scale>
        <p:origin x="-329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74087E8-B553-4B48-843B-AF16E093B36B}" type="datetimeFigureOut">
              <a:rPr lang="en-US" smtClean="0"/>
              <a:t>4/6/2018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824E61E-D10C-4000-80CA-C55B5FDF1A90}" type="slidenum">
              <a:rPr lang="en-US" smtClean="0"/>
              <a:t>‹#›</a:t>
            </a:fld>
            <a:endParaRPr lang="en-US"/>
          </a:p>
        </p:txBody>
      </p:sp>
    </p:spTree>
    <p:extLst>
      <p:ext uri="{BB962C8B-B14F-4D97-AF65-F5344CB8AC3E}">
        <p14:creationId xmlns:p14="http://schemas.microsoft.com/office/powerpoint/2010/main" val="137036009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585ACDD-0985-4A1D-B615-0B9F4D6C5E17}" type="datetimeFigureOut">
              <a:rPr lang="en-US" smtClean="0"/>
              <a:t>4/6/2018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638CF8-571F-4206-B67F-1A007CCD8B8D}" type="slidenum">
              <a:rPr lang="en-US" smtClean="0"/>
              <a:t>‹#›</a:t>
            </a:fld>
            <a:endParaRPr lang="en-US"/>
          </a:p>
        </p:txBody>
      </p:sp>
    </p:spTree>
    <p:extLst>
      <p:ext uri="{BB962C8B-B14F-4D97-AF65-F5344CB8AC3E}">
        <p14:creationId xmlns:p14="http://schemas.microsoft.com/office/powerpoint/2010/main" val="281908251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E638CF8-571F-4206-B67F-1A007CCD8B8D}" type="slidenum">
              <a:rPr lang="en-US" smtClean="0"/>
              <a:t>1</a:t>
            </a:fld>
            <a:endParaRPr lang="en-US"/>
          </a:p>
        </p:txBody>
      </p:sp>
    </p:spTree>
    <p:extLst>
      <p:ext uri="{BB962C8B-B14F-4D97-AF65-F5344CB8AC3E}">
        <p14:creationId xmlns:p14="http://schemas.microsoft.com/office/powerpoint/2010/main" val="3063730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E638CF8-571F-4206-B67F-1A007CCD8B8D}" type="slidenum">
              <a:rPr lang="en-US" smtClean="0"/>
              <a:t>2</a:t>
            </a:fld>
            <a:endParaRPr lang="en-US"/>
          </a:p>
        </p:txBody>
      </p:sp>
    </p:spTree>
    <p:extLst>
      <p:ext uri="{BB962C8B-B14F-4D97-AF65-F5344CB8AC3E}">
        <p14:creationId xmlns:p14="http://schemas.microsoft.com/office/powerpoint/2010/main" val="4131866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E638CF8-571F-4206-B67F-1A007CCD8B8D}" type="slidenum">
              <a:rPr lang="en-US" smtClean="0"/>
              <a:t>4</a:t>
            </a:fld>
            <a:endParaRPr lang="en-US"/>
          </a:p>
        </p:txBody>
      </p:sp>
    </p:spTree>
    <p:extLst>
      <p:ext uri="{BB962C8B-B14F-4D97-AF65-F5344CB8AC3E}">
        <p14:creationId xmlns:p14="http://schemas.microsoft.com/office/powerpoint/2010/main" val="1395204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E638CF8-571F-4206-B67F-1A007CCD8B8D}" type="slidenum">
              <a:rPr lang="en-US" smtClean="0"/>
              <a:t>7</a:t>
            </a:fld>
            <a:endParaRPr lang="en-US"/>
          </a:p>
        </p:txBody>
      </p:sp>
    </p:spTree>
    <p:extLst>
      <p:ext uri="{BB962C8B-B14F-4D97-AF65-F5344CB8AC3E}">
        <p14:creationId xmlns:p14="http://schemas.microsoft.com/office/powerpoint/2010/main" val="474946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638CF8-571F-4206-B67F-1A007CCD8B8D}" type="slidenum">
              <a:rPr lang="en-US" smtClean="0"/>
              <a:t>13</a:t>
            </a:fld>
            <a:endParaRPr lang="en-US"/>
          </a:p>
        </p:txBody>
      </p:sp>
    </p:spTree>
    <p:extLst>
      <p:ext uri="{BB962C8B-B14F-4D97-AF65-F5344CB8AC3E}">
        <p14:creationId xmlns:p14="http://schemas.microsoft.com/office/powerpoint/2010/main" val="1096107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638CF8-571F-4206-B67F-1A007CCD8B8D}" type="slidenum">
              <a:rPr lang="en-US" smtClean="0"/>
              <a:t>21</a:t>
            </a:fld>
            <a:endParaRPr lang="en-US"/>
          </a:p>
        </p:txBody>
      </p:sp>
    </p:spTree>
    <p:extLst>
      <p:ext uri="{BB962C8B-B14F-4D97-AF65-F5344CB8AC3E}">
        <p14:creationId xmlns:p14="http://schemas.microsoft.com/office/powerpoint/2010/main" val="28146702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9144000" cy="4572000"/>
          </a:xfrm>
          <a:prstGeom prst="rect">
            <a:avLst/>
          </a:prstGeom>
        </p:spPr>
      </p:pic>
      <p:sp>
        <p:nvSpPr>
          <p:cNvPr id="4" name="Date Placeholder 3"/>
          <p:cNvSpPr>
            <a:spLocks noGrp="1"/>
          </p:cNvSpPr>
          <p:nvPr>
            <p:ph type="dt" sz="half" idx="10"/>
          </p:nvPr>
        </p:nvSpPr>
        <p:spPr/>
        <p:txBody>
          <a:bodyPr/>
          <a:lstStyle/>
          <a:p>
            <a:fld id="{9FCC8B0F-EF20-4552-A08A-38F4CC4303E7}" type="datetime1">
              <a:rPr lang="en-US" smtClean="0"/>
              <a:t>4/6/2018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3" name="Subtitle 2"/>
          <p:cNvSpPr>
            <a:spLocks noGrp="1"/>
          </p:cNvSpPr>
          <p:nvPr>
            <p:ph type="subTitle" idx="1"/>
          </p:nvPr>
        </p:nvSpPr>
        <p:spPr>
          <a:xfrm>
            <a:off x="1219200" y="3886200"/>
            <a:ext cx="64008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 name="Title 1"/>
          <p:cNvSpPr>
            <a:spLocks noGrp="1"/>
          </p:cNvSpPr>
          <p:nvPr>
            <p:ph type="ctrTitle"/>
          </p:nvPr>
        </p:nvSpPr>
        <p:spPr>
          <a:xfrm>
            <a:off x="685800" y="2007888"/>
            <a:ext cx="7772400" cy="1470025"/>
          </a:xfrm>
        </p:spPr>
        <p:txBody>
          <a:bodyPr/>
          <a:lstStyle>
            <a:lvl1pPr algn="ctr">
              <a:defRPr sz="3200"/>
            </a:lvl1pPr>
          </a:lstStyle>
          <a:p>
            <a:r>
              <a:rPr lang="en-US" smtClean="0"/>
              <a:t>Click to edit Master title style</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en-US" smtClean="0"/>
              <a:t>Click to edit Master title style</a:t>
            </a:r>
            <a:endParaRPr lang="en-US" dirty="0"/>
          </a:p>
        </p:txBody>
      </p:sp>
      <p:sp>
        <p:nvSpPr>
          <p:cNvPr id="4" name="Date Placeholder 3"/>
          <p:cNvSpPr>
            <a:spLocks noGrp="1"/>
          </p:cNvSpPr>
          <p:nvPr>
            <p:ph type="dt" sz="half" idx="10"/>
          </p:nvPr>
        </p:nvSpPr>
        <p:spPr/>
        <p:txBody>
          <a:bodyPr/>
          <a:lstStyle/>
          <a:p>
            <a:fld id="{0756FFC3-D28A-479B-A553-CF9A93480519}" type="datetime1">
              <a:rPr lang="en-US" smtClean="0"/>
              <a:t>4/6/2018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3"/>
          </p:nvPr>
        </p:nvSpPr>
        <p:spPr>
          <a:xfrm>
            <a:off x="609600" y="1600200"/>
            <a:ext cx="79248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962525"/>
            <a:ext cx="7885113" cy="1362075"/>
          </a:xfrm>
        </p:spPr>
        <p:txBody>
          <a:bodyPr anchor="t"/>
          <a:lstStyle>
            <a:lvl1pPr algn="l">
              <a:defRPr sz="3200" b="0" i="0" cap="all" baseline="0"/>
            </a:lvl1pPr>
          </a:lstStyle>
          <a:p>
            <a:r>
              <a:rPr lang="en-US" smtClean="0"/>
              <a:t>Click to edit Master title style</a:t>
            </a:r>
            <a:endParaRPr lang="en-US" dirty="0"/>
          </a:p>
        </p:txBody>
      </p:sp>
      <p:sp>
        <p:nvSpPr>
          <p:cNvPr id="3" name="Text Placeholder 2"/>
          <p:cNvSpPr>
            <a:spLocks noGrp="1"/>
          </p:cNvSpPr>
          <p:nvPr>
            <p:ph type="body" idx="1"/>
          </p:nvPr>
        </p:nvSpPr>
        <p:spPr>
          <a:xfrm>
            <a:off x="609600" y="3462338"/>
            <a:ext cx="7885113"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F20568D-FEAF-48B1-80A7-395AAC847F4F}" type="datetime1">
              <a:rPr lang="en-US" smtClean="0"/>
              <a:t>4/6/2018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609600" y="1600200"/>
            <a:ext cx="37338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3" name="Content Placeholder 12"/>
          <p:cNvSpPr>
            <a:spLocks noGrp="1"/>
          </p:cNvSpPr>
          <p:nvPr>
            <p:ph sz="quarter" idx="14"/>
          </p:nvPr>
        </p:nvSpPr>
        <p:spPr>
          <a:xfrm>
            <a:off x="4800600" y="1600200"/>
            <a:ext cx="37338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 name="Title 1"/>
          <p:cNvSpPr>
            <a:spLocks noGrp="1"/>
          </p:cNvSpPr>
          <p:nvPr>
            <p:ph type="title"/>
          </p:nvPr>
        </p:nvSpPr>
        <p:spPr>
          <a:xfrm>
            <a:off x="609600" y="274638"/>
            <a:ext cx="7924800" cy="1143000"/>
          </a:xfrm>
        </p:spPr>
        <p:txBody>
          <a:bodyPr/>
          <a:lstStyle/>
          <a:p>
            <a:r>
              <a:rPr lang="en-US" smtClean="0"/>
              <a:t>Click to edit Master title style</a:t>
            </a:r>
            <a:endParaRPr lang="en-US" dirty="0"/>
          </a:p>
        </p:txBody>
      </p:sp>
      <p:sp>
        <p:nvSpPr>
          <p:cNvPr id="5" name="Date Placeholder 4"/>
          <p:cNvSpPr>
            <a:spLocks noGrp="1"/>
          </p:cNvSpPr>
          <p:nvPr>
            <p:ph type="dt" sz="half" idx="10"/>
          </p:nvPr>
        </p:nvSpPr>
        <p:spPr/>
        <p:txBody>
          <a:bodyPr/>
          <a:lstStyle/>
          <a:p>
            <a:fld id="{03D1400F-894F-46A8-95F9-561C5500FE70}" type="datetime1">
              <a:rPr lang="en-US" smtClean="0"/>
              <a:t>4/6/2018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4800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1" name="Content Placeholder 10"/>
          <p:cNvSpPr>
            <a:spLocks noGrp="1"/>
          </p:cNvSpPr>
          <p:nvPr>
            <p:ph sz="quarter" idx="13"/>
          </p:nvPr>
        </p:nvSpPr>
        <p:spPr>
          <a:xfrm>
            <a:off x="609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2" name="Title 1"/>
          <p:cNvSpPr>
            <a:spLocks noGrp="1"/>
          </p:cNvSpPr>
          <p:nvPr>
            <p:ph type="title"/>
          </p:nvPr>
        </p:nvSpPr>
        <p:spPr>
          <a:xfrm>
            <a:off x="609600" y="274638"/>
            <a:ext cx="7924800" cy="11430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800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2E0E96C9-64F7-4002-A759-E416B50E2E3C}" type="datetime1">
              <a:rPr lang="en-US" smtClean="0"/>
              <a:t>4/6/2018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632E19-05AE-42C8-9CA4-4354A84A0D07}" type="datetime1">
              <a:rPr lang="en-US" smtClean="0"/>
              <a:t>4/6/2018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469438-74F4-4722-9842-A222DAC6E763}" type="datetime1">
              <a:rPr lang="en-US" smtClean="0"/>
              <a:t>4/6/2018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3962400" y="1447800"/>
            <a:ext cx="4648200" cy="4267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Title 1"/>
          <p:cNvSpPr>
            <a:spLocks noGrp="1"/>
          </p:cNvSpPr>
          <p:nvPr>
            <p:ph type="title"/>
          </p:nvPr>
        </p:nvSpPr>
        <p:spPr>
          <a:xfrm>
            <a:off x="612648" y="1447800"/>
            <a:ext cx="2971800" cy="1097280"/>
          </a:xfrm>
        </p:spPr>
        <p:txBody>
          <a:bodyPr anchor="b"/>
          <a:lstStyle>
            <a:lvl1pPr algn="l">
              <a:defRPr sz="1800" b="0" i="0" cap="none" baseline="0">
                <a:solidFill>
                  <a:schemeClr val="tx2"/>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612648" y="2547891"/>
            <a:ext cx="29718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0B29E09-7BBD-455E-85A1-3F1AE6D279F9}" type="datetime1">
              <a:rPr lang="en-US" smtClean="0"/>
              <a:t>4/6/2018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9144000" cy="6858000"/>
          </a:xfrm>
          <a:prstGeom prst="rect">
            <a:avLst/>
          </a:prstGeom>
        </p:spPr>
      </p:pic>
      <p:sp>
        <p:nvSpPr>
          <p:cNvPr id="2" name="Title 1"/>
          <p:cNvSpPr>
            <a:spLocks noGrp="1"/>
          </p:cNvSpPr>
          <p:nvPr>
            <p:ph type="title"/>
          </p:nvPr>
        </p:nvSpPr>
        <p:spPr>
          <a:xfrm>
            <a:off x="609600" y="1447800"/>
            <a:ext cx="2971800" cy="1097280"/>
          </a:xfrm>
        </p:spPr>
        <p:txBody>
          <a:bodyPr anchor="b"/>
          <a:lstStyle>
            <a:lvl1pPr algn="l">
              <a:defRPr sz="1800" b="0" i="0" cap="none" baseline="0">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4657344" y="1447800"/>
            <a:ext cx="3419856"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09600" y="2547890"/>
            <a:ext cx="29718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FFF91D3-ADD8-412E-86E3-2DABD6EDAA89}" type="datetime1">
              <a:rPr lang="en-US" smtClean="0"/>
              <a:t>4/6/2018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FA91C0-2B83-457A-921B-2DCE89B3B80B}" type="datetime1">
              <a:rPr lang="en-US" smtClean="0"/>
              <a:t>4/6/2018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D716C9B-4516-4C6B-BF3A-ECD5966113EB}" type="datetime1">
              <a:rPr lang="en-US" smtClean="0"/>
              <a:t>4/6/2018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shadeToTitle="1">
        <a:blipFill dpi="0" rotWithShape="1">
          <a:blip r:embed="rId13">
            <a:lum/>
          </a:blip>
          <a:srcRect/>
          <a:stretch>
            <a:fillRect l="-17000" r="-17000"/>
          </a:stretch>
        </a:blipFill>
        <a:effectLst/>
      </p:bgPr>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4"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609600" y="274638"/>
            <a:ext cx="7924800" cy="1143000"/>
          </a:xfrm>
          <a:prstGeom prst="rect">
            <a:avLst/>
          </a:prstGeom>
        </p:spPr>
        <p:txBody>
          <a:bodyPr vert="horz" lIns="91440" tIns="45720" rIns="91440" bIns="45720" rtlCol="0" anchor="b" anchorCtr="0">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09600" y="1600200"/>
            <a:ext cx="7924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5715000" y="6356350"/>
            <a:ext cx="1524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34558FD4-C324-4441-AEAF-D6A44E3137D7}" type="datetime1">
              <a:rPr lang="en-US" smtClean="0"/>
              <a:t>4/6/2018</a:t>
            </a:fld>
            <a:endParaRPr lang="en-US"/>
          </a:p>
        </p:txBody>
      </p:sp>
      <p:sp>
        <p:nvSpPr>
          <p:cNvPr id="5" name="Footer Placeholder 4"/>
          <p:cNvSpPr>
            <a:spLocks noGrp="1"/>
          </p:cNvSpPr>
          <p:nvPr>
            <p:ph type="ftr" sz="quarter" idx="3"/>
          </p:nvPr>
        </p:nvSpPr>
        <p:spPr>
          <a:xfrm>
            <a:off x="609600" y="6356350"/>
            <a:ext cx="28956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7543800" y="6356350"/>
            <a:ext cx="990600" cy="365125"/>
          </a:xfrm>
          <a:prstGeom prst="rect">
            <a:avLst/>
          </a:prstGeom>
        </p:spPr>
        <p:txBody>
          <a:bodyPr vert="horz" lIns="91440" tIns="45720" rIns="91440" bIns="45720" rtlCol="0" anchor="ctr"/>
          <a:lstStyle>
            <a:lvl1pPr algn="r">
              <a:defRPr sz="1100" baseline="0">
                <a:solidFill>
                  <a:schemeClr val="tx1"/>
                </a:solidFill>
              </a:defRPr>
            </a:lvl1pPr>
          </a:lstStyle>
          <a:p>
            <a:fld id="{B6F15528-21DE-4FAA-801E-634DDDAF4B2B}"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hf sldNum="0" hdr="0" ftr="0" dt="0"/>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5.jpg"/><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gif"/><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hyperlink" Target="http://www.effective-business-letters.com/Attention-Line.html" TargetMode="External"/><Relationship Id="rId13" Type="http://schemas.openxmlformats.org/officeDocument/2006/relationships/hyperlink" Target="http://www.effective-business-letters.com/Signature-and-Designation.html" TargetMode="External"/><Relationship Id="rId3" Type="http://schemas.openxmlformats.org/officeDocument/2006/relationships/hyperlink" Target="http://www.effective-business-letters.com/Letterhead.html" TargetMode="External"/><Relationship Id="rId7" Type="http://schemas.openxmlformats.org/officeDocument/2006/relationships/hyperlink" Target="http://www.effective-business-letters.com/Style-of-Address.html" TargetMode="External"/><Relationship Id="rId12" Type="http://schemas.openxmlformats.org/officeDocument/2006/relationships/hyperlink" Target="http://www.effective-business-letters.com/Complimentary-Closing.html" TargetMode="External"/><Relationship Id="rId2" Type="http://schemas.openxmlformats.org/officeDocument/2006/relationships/notesSlide" Target="../notesSlides/notesSlide5.xml"/><Relationship Id="rId16" Type="http://schemas.openxmlformats.org/officeDocument/2006/relationships/hyperlink" Target="http://www.effective-business-letters.com/Initials-of-Typist.html" TargetMode="External"/><Relationship Id="rId1" Type="http://schemas.openxmlformats.org/officeDocument/2006/relationships/slideLayout" Target="../slideLayouts/slideLayout4.xml"/><Relationship Id="rId6" Type="http://schemas.openxmlformats.org/officeDocument/2006/relationships/hyperlink" Target="http://www.effective-business-letters.com/Private-and-Confidential.html" TargetMode="External"/><Relationship Id="rId11" Type="http://schemas.openxmlformats.org/officeDocument/2006/relationships/hyperlink" Target="http://www.effective-business-letters.com/Body-of-The-Letter.html" TargetMode="External"/><Relationship Id="rId5" Type="http://schemas.openxmlformats.org/officeDocument/2006/relationships/hyperlink" Target="http://www.effective-business-letters.com/Date-of-The-Letter.html" TargetMode="External"/><Relationship Id="rId15" Type="http://schemas.openxmlformats.org/officeDocument/2006/relationships/hyperlink" Target="http://www.effective-business-letters.com/Enclosures.html" TargetMode="External"/><Relationship Id="rId10" Type="http://schemas.openxmlformats.org/officeDocument/2006/relationships/hyperlink" Target="http://www.effective-business-letters.com/Subject-of-The-Letter.html" TargetMode="External"/><Relationship Id="rId4" Type="http://schemas.openxmlformats.org/officeDocument/2006/relationships/hyperlink" Target="http://www.effective-business-letters.com/Reference-Number-of-The-Business-Letter.html" TargetMode="External"/><Relationship Id="rId9" Type="http://schemas.openxmlformats.org/officeDocument/2006/relationships/hyperlink" Target="http://www.effective-business-letters.com/Salutation.html" TargetMode="External"/><Relationship Id="rId14" Type="http://schemas.openxmlformats.org/officeDocument/2006/relationships/hyperlink" Target="http://www.effective-business-letters.com/Postscript.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7.xml"/><Relationship Id="rId4" Type="http://schemas.openxmlformats.org/officeDocument/2006/relationships/image" Target="../media/image3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www.quranrecites.com/media/bismillah/Bismillah1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76400"/>
            <a:ext cx="9067800" cy="2743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83075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9987"/>
            <a:ext cx="9144000" cy="3693319"/>
          </a:xfrm>
          <a:prstGeom prst="rect">
            <a:avLst/>
          </a:prstGeom>
          <a:noFill/>
        </p:spPr>
        <p:txBody>
          <a:bodyPr wrap="square" rtlCol="0">
            <a:spAutoFit/>
          </a:bodyPr>
          <a:lstStyle/>
          <a:p>
            <a:pPr algn="ctr"/>
            <a:endParaRPr lang="en-US" sz="3000" b="1" dirty="0" smtClean="0">
              <a:latin typeface="Times New Roman" pitchFamily="18" charset="0"/>
              <a:cs typeface="Times New Roman" pitchFamily="18" charset="0"/>
            </a:endParaRPr>
          </a:p>
          <a:p>
            <a:pPr algn="ctr"/>
            <a:endParaRPr lang="en-US" sz="3000" b="1" dirty="0" smtClean="0">
              <a:solidFill>
                <a:schemeClr val="accent6">
                  <a:lumMod val="20000"/>
                  <a:lumOff val="80000"/>
                </a:schemeClr>
              </a:solidFill>
              <a:latin typeface="Times New Roman" pitchFamily="18" charset="0"/>
              <a:cs typeface="Times New Roman" pitchFamily="18" charset="0"/>
            </a:endParaRPr>
          </a:p>
          <a:p>
            <a:pPr algn="ctr"/>
            <a:r>
              <a:rPr lang="en-US" sz="3000" b="1" dirty="0" smtClean="0">
                <a:solidFill>
                  <a:srgbClr val="00B0F0"/>
                </a:solidFill>
                <a:latin typeface="Times New Roman" pitchFamily="18" charset="0"/>
                <a:cs typeface="Times New Roman" pitchFamily="18" charset="0"/>
              </a:rPr>
              <a:t>  Presentation On Letters And Their Types</a:t>
            </a:r>
          </a:p>
          <a:p>
            <a:pPr algn="ctr"/>
            <a:endParaRPr lang="en-US" sz="2800" b="1" dirty="0" smtClean="0">
              <a:solidFill>
                <a:schemeClr val="tx1">
                  <a:lumMod val="85000"/>
                </a:schemeClr>
              </a:solidFill>
              <a:latin typeface="Times New Roman" pitchFamily="18" charset="0"/>
              <a:cs typeface="Times New Roman" pitchFamily="18" charset="0"/>
            </a:endParaRPr>
          </a:p>
          <a:p>
            <a:pPr algn="ctr"/>
            <a:r>
              <a:rPr lang="en-US" sz="2800" b="1" dirty="0" smtClean="0">
                <a:solidFill>
                  <a:schemeClr val="tx1">
                    <a:lumMod val="85000"/>
                  </a:schemeClr>
                </a:solidFill>
                <a:latin typeface="Times New Roman" pitchFamily="18" charset="0"/>
                <a:cs typeface="Times New Roman" pitchFamily="18" charset="0"/>
              </a:rPr>
              <a:t>Communications Ski</a:t>
            </a:r>
            <a:r>
              <a:rPr lang="en-US" sz="2200" b="1" dirty="0" smtClean="0">
                <a:latin typeface="Times New Roman" pitchFamily="18" charset="0"/>
                <a:cs typeface="Times New Roman" pitchFamily="18" charset="0"/>
              </a:rPr>
              <a:t>lls</a:t>
            </a:r>
          </a:p>
          <a:p>
            <a:pPr algn="ctr"/>
            <a:endParaRPr lang="en-US" sz="2200" b="1" dirty="0">
              <a:latin typeface="Times New Roman" pitchFamily="18" charset="0"/>
              <a:cs typeface="Times New Roman" pitchFamily="18" charset="0"/>
            </a:endParaRPr>
          </a:p>
          <a:p>
            <a:pPr algn="ctr"/>
            <a:r>
              <a:rPr lang="en-US" sz="2200" b="1" dirty="0" smtClean="0">
                <a:latin typeface="Times New Roman" pitchFamily="18" charset="0"/>
                <a:cs typeface="Times New Roman" pitchFamily="18" charset="0"/>
              </a:rPr>
              <a:t>Letter  </a:t>
            </a:r>
            <a:r>
              <a:rPr lang="en-US" sz="2200" b="1" smtClean="0">
                <a:latin typeface="Times New Roman" pitchFamily="18" charset="0"/>
                <a:cs typeface="Times New Roman" pitchFamily="18" charset="0"/>
              </a:rPr>
              <a:t>and Memo Writing</a:t>
            </a:r>
            <a:endParaRPr lang="en-US" sz="2200" b="1" dirty="0" smtClean="0">
              <a:latin typeface="Times New Roman" pitchFamily="18" charset="0"/>
              <a:cs typeface="Times New Roman" pitchFamily="18" charset="0"/>
            </a:endParaRPr>
          </a:p>
          <a:p>
            <a:pPr algn="ctr"/>
            <a:endParaRPr lang="en-US" sz="2200" b="1" dirty="0" smtClean="0">
              <a:solidFill>
                <a:schemeClr val="accent4">
                  <a:lumMod val="40000"/>
                  <a:lumOff val="60000"/>
                </a:schemeClr>
              </a:solidFill>
              <a:latin typeface="Times New Roman" pitchFamily="18" charset="0"/>
              <a:cs typeface="Times New Roman" pitchFamily="18" charset="0"/>
            </a:endParaRPr>
          </a:p>
          <a:p>
            <a:endParaRPr lang="en-US" sz="2200" b="1" dirty="0">
              <a:latin typeface="Times New Roman" pitchFamily="18" charset="0"/>
              <a:cs typeface="Times New Roman" pitchFamily="18" charset="0"/>
            </a:endParaRPr>
          </a:p>
        </p:txBody>
      </p:sp>
      <p:pic>
        <p:nvPicPr>
          <p:cNvPr id="1026" name="Picture 2" descr="http://upload.wikimedia.org/wikipedia/en/6/66/Lancaster_university_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152400"/>
            <a:ext cx="2047875" cy="12668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ciitwah.edu.pk/visiospark13/images/comsats_logo.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92" y="-1"/>
            <a:ext cx="1216025" cy="1240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030587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412" y="685800"/>
            <a:ext cx="9144000" cy="5386090"/>
          </a:xfrm>
          <a:prstGeom prst="rect">
            <a:avLst/>
          </a:prstGeom>
          <a:noFill/>
        </p:spPr>
        <p:txBody>
          <a:bodyPr wrap="square" rtlCol="0">
            <a:spAutoFit/>
          </a:bodyPr>
          <a:lstStyle/>
          <a:p>
            <a:r>
              <a:rPr lang="en-US" sz="3000" dirty="0" smtClean="0">
                <a:latin typeface="Times New Roman" pitchFamily="18" charset="0"/>
                <a:cs typeface="Times New Roman" pitchFamily="18" charset="0"/>
              </a:rPr>
              <a:t>Contents:</a:t>
            </a:r>
          </a:p>
          <a:p>
            <a:endParaRPr lang="en-US" sz="3000" dirty="0" smtClean="0">
              <a:latin typeface="Times New Roman" pitchFamily="18" charset="0"/>
              <a:cs typeface="Times New Roman" pitchFamily="18" charset="0"/>
            </a:endParaRPr>
          </a:p>
          <a:p>
            <a:endParaRPr lang="en-US" sz="2200" dirty="0" smtClean="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Topics</a:t>
            </a:r>
            <a:r>
              <a:rPr lang="en-US" sz="3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Page#</a:t>
            </a:r>
            <a:endParaRPr lang="en-US" sz="2000" b="1"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r>
              <a:rPr lang="en-US" sz="2000" dirty="0" smtClean="0">
                <a:latin typeface="Times New Roman" pitchFamily="18" charset="0"/>
                <a:cs typeface="Times New Roman" pitchFamily="18" charset="0"/>
              </a:rPr>
              <a:t>Letter							04	</a:t>
            </a:r>
          </a:p>
          <a:p>
            <a:r>
              <a:rPr lang="en-US" sz="2000" dirty="0" smtClean="0">
                <a:latin typeface="Times New Roman" pitchFamily="18" charset="0"/>
                <a:cs typeface="Times New Roman" pitchFamily="18" charset="0"/>
              </a:rPr>
              <a:t>Types of letters						06</a:t>
            </a:r>
          </a:p>
          <a:p>
            <a:r>
              <a:rPr lang="en-US" sz="2000" dirty="0" smtClean="0">
                <a:latin typeface="Times New Roman" pitchFamily="18" charset="0"/>
                <a:cs typeface="Times New Roman" pitchFamily="18" charset="0"/>
              </a:rPr>
              <a:t>Types of formal and informal letter				08</a:t>
            </a:r>
          </a:p>
          <a:p>
            <a:r>
              <a:rPr lang="en-US" sz="2000" dirty="0" smtClean="0">
                <a:latin typeface="Times New Roman" pitchFamily="18" charset="0"/>
                <a:cs typeface="Times New Roman" pitchFamily="18" charset="0"/>
              </a:rPr>
              <a:t>Styles of letter writing					09</a:t>
            </a:r>
          </a:p>
          <a:p>
            <a:r>
              <a:rPr lang="en-US" sz="2000" dirty="0" smtClean="0">
                <a:latin typeface="Times New Roman" pitchFamily="18" charset="0"/>
                <a:cs typeface="Times New Roman" pitchFamily="18" charset="0"/>
              </a:rPr>
              <a:t>Parts of letters						12</a:t>
            </a:r>
          </a:p>
          <a:p>
            <a:r>
              <a:rPr lang="en-US" sz="2000" dirty="0" smtClean="0">
                <a:latin typeface="Times New Roman" pitchFamily="18" charset="0"/>
                <a:cs typeface="Times New Roman" pitchFamily="18" charset="0"/>
              </a:rPr>
              <a:t>Examples and samples of letters				15</a:t>
            </a:r>
          </a:p>
          <a:p>
            <a:r>
              <a:rPr lang="en-US" sz="2000" dirty="0">
                <a:latin typeface="Times New Roman" pitchFamily="18" charset="0"/>
                <a:cs typeface="Times New Roman" pitchFamily="18" charset="0"/>
              </a:rPr>
              <a:t>Difference between Hard </a:t>
            </a:r>
            <a:r>
              <a:rPr lang="en-US" sz="2000" dirty="0" smtClean="0">
                <a:latin typeface="Times New Roman" pitchFamily="18" charset="0"/>
                <a:cs typeface="Times New Roman" pitchFamily="18" charset="0"/>
              </a:rPr>
              <a:t>&amp; </a:t>
            </a:r>
            <a:r>
              <a:rPr lang="en-US" sz="2000" dirty="0">
                <a:latin typeface="Times New Roman" pitchFamily="18" charset="0"/>
                <a:cs typeface="Times New Roman" pitchFamily="18" charset="0"/>
              </a:rPr>
              <a:t>Soft letter </a:t>
            </a:r>
            <a:r>
              <a:rPr lang="en-US" sz="2000" dirty="0" smtClean="0">
                <a:latin typeface="Times New Roman" pitchFamily="18" charset="0"/>
                <a:cs typeface="Times New Roman" pitchFamily="18" charset="0"/>
              </a:rPr>
              <a:t>writing		19</a:t>
            </a:r>
          </a:p>
          <a:p>
            <a:r>
              <a:rPr lang="en-US" sz="2000" dirty="0" smtClean="0">
                <a:latin typeface="Times New Roman" pitchFamily="18" charset="0"/>
                <a:cs typeface="Times New Roman" pitchFamily="18" charset="0"/>
              </a:rPr>
              <a:t>Difference between letter and application			20</a:t>
            </a:r>
          </a:p>
          <a:p>
            <a:endParaRPr lang="en-US" sz="3000" dirty="0">
              <a:latin typeface="Times New Roman" pitchFamily="18" charset="0"/>
              <a:cs typeface="Times New Roman"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2018" y="86970"/>
            <a:ext cx="1600200" cy="1552575"/>
          </a:xfrm>
          <a:prstGeom prst="rect">
            <a:avLst/>
          </a:prstGeom>
        </p:spPr>
      </p:pic>
    </p:spTree>
    <p:extLst>
      <p:ext uri="{BB962C8B-B14F-4D97-AF65-F5344CB8AC3E}">
        <p14:creationId xmlns:p14="http://schemas.microsoft.com/office/powerpoint/2010/main" val="42700471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89560"/>
            <a:ext cx="3581399" cy="1097280"/>
          </a:xfrm>
        </p:spPr>
        <p:txBody>
          <a:bodyPr/>
          <a:lstStyle/>
          <a:p>
            <a:r>
              <a:rPr lang="en-US" sz="5000" b="1" i="1" u="sng" dirty="0" smtClean="0">
                <a:solidFill>
                  <a:srgbClr val="00B0F0"/>
                </a:solidFill>
                <a:latin typeface="Times New Roman" pitchFamily="18" charset="0"/>
                <a:cs typeface="Times New Roman" pitchFamily="18" charset="0"/>
              </a:rPr>
              <a:t>LETTERS</a:t>
            </a:r>
            <a:endParaRPr lang="en-US" sz="5000" b="1" i="1" u="sng" dirty="0">
              <a:solidFill>
                <a:srgbClr val="00B0F0"/>
              </a:solidFill>
              <a:latin typeface="Times New Roman" pitchFamily="18" charset="0"/>
              <a:cs typeface="Times New Roman" pitchFamily="18"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0" y="762000"/>
            <a:ext cx="5334000" cy="2427514"/>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7715" y="2084614"/>
            <a:ext cx="2982686" cy="3581398"/>
          </a:xfrm>
          <a:prstGeom prst="rect">
            <a:avLst/>
          </a:prstGeom>
        </p:spPr>
      </p:pic>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43400" y="3505198"/>
            <a:ext cx="1534886" cy="2362199"/>
          </a:xfrm>
          <a:prstGeom prst="rect">
            <a:avLst/>
          </a:prstGeom>
        </p:spPr>
      </p:pic>
      <p:pic>
        <p:nvPicPr>
          <p:cNvPr id="13" name="Picture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086600" y="3532412"/>
            <a:ext cx="1554480" cy="2307769"/>
          </a:xfrm>
          <a:prstGeom prst="rect">
            <a:avLst/>
          </a:prstGeom>
        </p:spPr>
      </p:pic>
    </p:spTree>
    <p:extLst>
      <p:ext uri="{BB962C8B-B14F-4D97-AF65-F5344CB8AC3E}">
        <p14:creationId xmlns:p14="http://schemas.microsoft.com/office/powerpoint/2010/main" val="234421311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66701"/>
            <a:ext cx="9067800" cy="1143000"/>
          </a:xfrm>
        </p:spPr>
        <p:txBody>
          <a:bodyPr/>
          <a:lstStyle/>
          <a:p>
            <a:r>
              <a:rPr lang="en-US" b="1" u="sng" dirty="0" smtClean="0">
                <a:latin typeface="Times New Roman" pitchFamily="18" charset="0"/>
                <a:cs typeface="Times New Roman" pitchFamily="18" charset="0"/>
              </a:rPr>
              <a:t>Letter:</a:t>
            </a:r>
            <a:endParaRPr lang="en-US" b="1" u="sng" dirty="0">
              <a:latin typeface="Times New Roman" pitchFamily="18" charset="0"/>
              <a:cs typeface="Times New Roman" pitchFamily="18" charset="0"/>
            </a:endParaRPr>
          </a:p>
        </p:txBody>
      </p:sp>
      <p:sp>
        <p:nvSpPr>
          <p:cNvPr id="5" name="TextBox 4"/>
          <p:cNvSpPr txBox="1"/>
          <p:nvPr/>
        </p:nvSpPr>
        <p:spPr>
          <a:xfrm>
            <a:off x="0" y="1752600"/>
            <a:ext cx="9144000" cy="2462213"/>
          </a:xfrm>
          <a:prstGeom prst="rect">
            <a:avLst/>
          </a:prstGeom>
          <a:noFill/>
        </p:spPr>
        <p:txBody>
          <a:bodyPr wrap="square" rtlCol="0">
            <a:spAutoFit/>
          </a:bodyPr>
          <a:lstStyle/>
          <a:p>
            <a:pPr marL="285750" indent="-285750" algn="just">
              <a:buFont typeface="Wingdings" pitchFamily="2" charset="2"/>
              <a:buChar char="Ø"/>
            </a:pPr>
            <a:r>
              <a:rPr lang="en-US" sz="2200" dirty="0" smtClean="0">
                <a:latin typeface="Times New Roman" pitchFamily="18" charset="0"/>
                <a:cs typeface="Times New Roman" pitchFamily="18" charset="0"/>
              </a:rPr>
              <a:t>A letter is a written or typed  message from one person to another.</a:t>
            </a:r>
          </a:p>
          <a:p>
            <a:pPr algn="just"/>
            <a:endParaRPr lang="en-US" sz="2200" dirty="0" smtClean="0">
              <a:latin typeface="Times New Roman" pitchFamily="18" charset="0"/>
              <a:cs typeface="Times New Roman" pitchFamily="18" charset="0"/>
            </a:endParaRPr>
          </a:p>
          <a:p>
            <a:pPr marL="285750" indent="-285750" algn="just">
              <a:buFont typeface="Wingdings" pitchFamily="2" charset="2"/>
              <a:buChar char="Ø"/>
            </a:pPr>
            <a:r>
              <a:rPr lang="en-US" sz="2200" dirty="0" smtClean="0">
                <a:latin typeface="Times New Roman" pitchFamily="18" charset="0"/>
                <a:cs typeface="Times New Roman" pitchFamily="18" charset="0"/>
              </a:rPr>
              <a:t>Historically, letters were the only reliable means of communications between two persons at different locations.</a:t>
            </a:r>
          </a:p>
          <a:p>
            <a:pPr algn="just"/>
            <a:endParaRPr lang="en-US" sz="2200" dirty="0" smtClean="0">
              <a:latin typeface="Times New Roman" pitchFamily="18" charset="0"/>
              <a:cs typeface="Times New Roman" pitchFamily="18" charset="0"/>
            </a:endParaRPr>
          </a:p>
          <a:p>
            <a:pPr marL="285750" indent="-285750" algn="just">
              <a:buFont typeface="Wingdings" pitchFamily="2" charset="2"/>
              <a:buChar char="Ø"/>
            </a:pPr>
            <a:r>
              <a:rPr lang="en-US" sz="2200" dirty="0" smtClean="0">
                <a:latin typeface="Times New Roman" pitchFamily="18" charset="0"/>
                <a:cs typeface="Times New Roman" pitchFamily="18" charset="0"/>
              </a:rPr>
              <a:t>The role of letters in communication has changed significantly since the 19</a:t>
            </a:r>
            <a:r>
              <a:rPr lang="en-US" sz="2200" baseline="30000" dirty="0" smtClean="0">
                <a:latin typeface="Times New Roman" pitchFamily="18" charset="0"/>
                <a:cs typeface="Times New Roman" pitchFamily="18" charset="0"/>
              </a:rPr>
              <a:t>th</a:t>
            </a:r>
            <a:r>
              <a:rPr lang="en-US" sz="2200" dirty="0" smtClean="0">
                <a:latin typeface="Times New Roman" pitchFamily="18" charset="0"/>
                <a:cs typeface="Times New Roman" pitchFamily="18" charset="0"/>
              </a:rPr>
              <a:t> century.</a:t>
            </a:r>
            <a:endParaRPr lang="en-US" sz="2200" dirty="0">
              <a:latin typeface="Times New Roman" pitchFamily="18" charset="0"/>
              <a:cs typeface="Times New Roman" pitchFamily="18" charset="0"/>
            </a:endParaRPr>
          </a:p>
        </p:txBody>
      </p:sp>
      <p:pic>
        <p:nvPicPr>
          <p:cNvPr id="1030" name="Picture 6" descr="http://etc-mysitemyway.s3.amazonaws.com/icons/legacy-previews/icons/yellow-comment-bubbles-icons-business/088519-yellow-comment-bubbles-icon-business-envelope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609600"/>
            <a:ext cx="1600200" cy="925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624320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52400"/>
            <a:ext cx="9144000" cy="553998"/>
          </a:xfrm>
          <a:prstGeom prst="rect">
            <a:avLst/>
          </a:prstGeom>
          <a:noFill/>
        </p:spPr>
        <p:txBody>
          <a:bodyPr wrap="square" rtlCol="0">
            <a:spAutoFit/>
          </a:bodyPr>
          <a:lstStyle/>
          <a:p>
            <a:pPr algn="ctr"/>
            <a:r>
              <a:rPr lang="en-US" sz="3000" b="1" i="1" u="sng" dirty="0">
                <a:latin typeface="Times New Roman" pitchFamily="18" charset="0"/>
                <a:cs typeface="Times New Roman" pitchFamily="18" charset="0"/>
              </a:rPr>
              <a:t>Types Of Letters</a:t>
            </a:r>
            <a:endParaRPr lang="en-US" sz="3000" u="sng" dirty="0"/>
          </a:p>
        </p:txBody>
      </p:sp>
      <p:sp>
        <p:nvSpPr>
          <p:cNvPr id="5" name="TextBox 4"/>
          <p:cNvSpPr txBox="1"/>
          <p:nvPr/>
        </p:nvSpPr>
        <p:spPr>
          <a:xfrm>
            <a:off x="0" y="706398"/>
            <a:ext cx="9144000" cy="1446550"/>
          </a:xfrm>
          <a:prstGeom prst="rect">
            <a:avLst/>
          </a:prstGeom>
          <a:noFill/>
        </p:spPr>
        <p:txBody>
          <a:bodyPr wrap="square" rtlCol="0">
            <a:spAutoFit/>
          </a:bodyPr>
          <a:lstStyle/>
          <a:p>
            <a:r>
              <a:rPr lang="en-US" sz="2200" dirty="0" smtClean="0">
                <a:latin typeface="Times New Roman" pitchFamily="18" charset="0"/>
                <a:cs typeface="Times New Roman" pitchFamily="18" charset="0"/>
              </a:rPr>
              <a:t>There are two basic types of letters.</a:t>
            </a:r>
          </a:p>
          <a:p>
            <a:endParaRPr lang="en-US" sz="2200" dirty="0" smtClean="0">
              <a:latin typeface="Times New Roman" pitchFamily="18" charset="0"/>
              <a:cs typeface="Times New Roman" pitchFamily="18" charset="0"/>
            </a:endParaRPr>
          </a:p>
          <a:p>
            <a:pPr marL="342900" indent="-342900">
              <a:buFont typeface="+mj-lt"/>
              <a:buAutoNum type="arabicPeriod"/>
            </a:pPr>
            <a:r>
              <a:rPr lang="en-US" sz="2200" dirty="0" smtClean="0">
                <a:latin typeface="Times New Roman" pitchFamily="18" charset="0"/>
                <a:cs typeface="Times New Roman" pitchFamily="18" charset="0"/>
              </a:rPr>
              <a:t>Formal Letters		 </a:t>
            </a:r>
          </a:p>
          <a:p>
            <a:pPr marL="342900" indent="-342900">
              <a:buFont typeface="+mj-lt"/>
              <a:buAutoNum type="arabicPeriod"/>
            </a:pPr>
            <a:r>
              <a:rPr lang="en-US" sz="2200" dirty="0" smtClean="0">
                <a:latin typeface="Times New Roman" pitchFamily="18" charset="0"/>
                <a:cs typeface="Times New Roman" pitchFamily="18" charset="0"/>
              </a:rPr>
              <a:t>Informal Letters.</a:t>
            </a:r>
            <a:endParaRPr lang="en-US" sz="2200" dirty="0">
              <a:latin typeface="Times New Roman" pitchFamily="18" charset="0"/>
              <a:cs typeface="Times New Roman" pitchFamily="18" charset="0"/>
            </a:endParaRPr>
          </a:p>
        </p:txBody>
      </p:sp>
      <p:sp>
        <p:nvSpPr>
          <p:cNvPr id="6" name="TextBox 5"/>
          <p:cNvSpPr txBox="1"/>
          <p:nvPr/>
        </p:nvSpPr>
        <p:spPr>
          <a:xfrm>
            <a:off x="-19050" y="2362200"/>
            <a:ext cx="9144000" cy="4370427"/>
          </a:xfrm>
          <a:prstGeom prst="rect">
            <a:avLst/>
          </a:prstGeom>
          <a:noFill/>
        </p:spPr>
        <p:txBody>
          <a:bodyPr wrap="square" rtlCol="0">
            <a:spAutoFit/>
          </a:bodyPr>
          <a:lstStyle/>
          <a:p>
            <a:pPr algn="just"/>
            <a:r>
              <a:rPr lang="en-US" sz="2600" b="1" i="1" dirty="0" smtClean="0">
                <a:solidFill>
                  <a:schemeClr val="accent2">
                    <a:lumMod val="60000"/>
                    <a:lumOff val="40000"/>
                  </a:schemeClr>
                </a:solidFill>
                <a:latin typeface="Times New Roman" pitchFamily="18" charset="0"/>
                <a:cs typeface="Times New Roman" pitchFamily="18" charset="0"/>
              </a:rPr>
              <a:t>Formal Letters:</a:t>
            </a:r>
          </a:p>
          <a:p>
            <a:pPr algn="just"/>
            <a:r>
              <a:rPr lang="en-US" sz="2200" dirty="0" smtClean="0">
                <a:latin typeface="Times New Roman" pitchFamily="18" charset="0"/>
                <a:cs typeface="Times New Roman" pitchFamily="18" charset="0"/>
              </a:rPr>
              <a:t>	A formal letter is a letter written to a business, a college, or any professional that are not considered friends or family. These are also called official letters.</a:t>
            </a:r>
          </a:p>
          <a:p>
            <a:pPr algn="just"/>
            <a:endParaRPr lang="en-US" sz="2400" dirty="0">
              <a:latin typeface="Times New Roman" pitchFamily="18" charset="0"/>
              <a:cs typeface="Times New Roman" pitchFamily="18" charset="0"/>
            </a:endParaRPr>
          </a:p>
          <a:p>
            <a:pPr algn="just"/>
            <a:r>
              <a:rPr lang="en-US" sz="2600" b="1" i="1" dirty="0" smtClean="0">
                <a:solidFill>
                  <a:schemeClr val="accent2">
                    <a:lumMod val="60000"/>
                    <a:lumOff val="40000"/>
                  </a:schemeClr>
                </a:solidFill>
                <a:latin typeface="Times New Roman" pitchFamily="18" charset="0"/>
                <a:cs typeface="Times New Roman" pitchFamily="18" charset="0"/>
              </a:rPr>
              <a:t>Informal Letters:</a:t>
            </a:r>
          </a:p>
          <a:p>
            <a:pPr algn="just"/>
            <a:r>
              <a:rPr lang="en-US" sz="2200" dirty="0" smtClean="0">
                <a:latin typeface="Times New Roman" pitchFamily="18" charset="0"/>
                <a:cs typeface="Times New Roman" pitchFamily="18" charset="0"/>
              </a:rPr>
              <a:t>	An informal letter is a letter written to a friend or family. These are also known as personal letters.</a:t>
            </a:r>
          </a:p>
          <a:p>
            <a:pPr algn="just"/>
            <a:endParaRPr lang="en-US" sz="2200" i="1" dirty="0">
              <a:latin typeface="Times New Roman" pitchFamily="18" charset="0"/>
              <a:cs typeface="Times New Roman" pitchFamily="18" charset="0"/>
            </a:endParaRPr>
          </a:p>
          <a:p>
            <a:pPr algn="just"/>
            <a:r>
              <a:rPr lang="en-US" sz="2600" b="1" i="1" dirty="0" smtClean="0">
                <a:solidFill>
                  <a:schemeClr val="accent2">
                    <a:lumMod val="60000"/>
                    <a:lumOff val="40000"/>
                  </a:schemeClr>
                </a:solidFill>
                <a:latin typeface="Times New Roman" pitchFamily="18" charset="0"/>
                <a:cs typeface="Times New Roman" pitchFamily="18" charset="0"/>
              </a:rPr>
              <a:t>Electronic Mail  (email):</a:t>
            </a:r>
          </a:p>
          <a:p>
            <a:pPr algn="just"/>
            <a:r>
              <a:rPr lang="en-US" sz="2200" dirty="0" smtClean="0">
                <a:latin typeface="Times New Roman" pitchFamily="18" charset="0"/>
                <a:cs typeface="Times New Roman" pitchFamily="18" charset="0"/>
              </a:rPr>
              <a:t>	Messages </a:t>
            </a:r>
            <a:r>
              <a:rPr lang="en-US" sz="2200" dirty="0">
                <a:latin typeface="Times New Roman" pitchFamily="18" charset="0"/>
                <a:cs typeface="Times New Roman" pitchFamily="18" charset="0"/>
              </a:rPr>
              <a:t>distributed by electronic means from one computer user to one or more recipients via a network.</a:t>
            </a:r>
          </a:p>
        </p:txBody>
      </p:sp>
    </p:spTree>
    <p:extLst>
      <p:ext uri="{BB962C8B-B14F-4D97-AF65-F5344CB8AC3E}">
        <p14:creationId xmlns:p14="http://schemas.microsoft.com/office/powerpoint/2010/main" val="150855634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71" y="1052285"/>
            <a:ext cx="3429000" cy="228600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57800" y="1063171"/>
            <a:ext cx="3790950" cy="2275114"/>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24200" y="4430485"/>
            <a:ext cx="2590800" cy="1905001"/>
          </a:xfrm>
          <a:prstGeom prst="rect">
            <a:avLst/>
          </a:prstGeom>
        </p:spPr>
      </p:pic>
      <p:sp>
        <p:nvSpPr>
          <p:cNvPr id="7" name="TextBox 6"/>
          <p:cNvSpPr txBox="1"/>
          <p:nvPr/>
        </p:nvSpPr>
        <p:spPr>
          <a:xfrm>
            <a:off x="5327032" y="498287"/>
            <a:ext cx="3652486" cy="553998"/>
          </a:xfrm>
          <a:prstGeom prst="rect">
            <a:avLst/>
          </a:prstGeom>
          <a:noFill/>
        </p:spPr>
        <p:txBody>
          <a:bodyPr wrap="square" rtlCol="0">
            <a:spAutoFit/>
          </a:bodyPr>
          <a:lstStyle/>
          <a:p>
            <a:pPr algn="ctr"/>
            <a:r>
              <a:rPr lang="en-US" sz="3000" b="1" i="1" u="sng" dirty="0" smtClean="0">
                <a:latin typeface="Times New Roman" pitchFamily="18" charset="0"/>
                <a:cs typeface="Times New Roman" pitchFamily="18" charset="0"/>
              </a:rPr>
              <a:t>Formal  Letters</a:t>
            </a:r>
            <a:endParaRPr lang="en-US" sz="3000" b="1" i="1" u="sng" dirty="0">
              <a:latin typeface="Times New Roman" pitchFamily="18" charset="0"/>
              <a:cs typeface="Times New Roman" pitchFamily="18" charset="0"/>
            </a:endParaRPr>
          </a:p>
        </p:txBody>
      </p:sp>
      <p:sp>
        <p:nvSpPr>
          <p:cNvPr id="8" name="TextBox 7"/>
          <p:cNvSpPr txBox="1"/>
          <p:nvPr/>
        </p:nvSpPr>
        <p:spPr>
          <a:xfrm>
            <a:off x="-2" y="487401"/>
            <a:ext cx="3450771" cy="553998"/>
          </a:xfrm>
          <a:prstGeom prst="rect">
            <a:avLst/>
          </a:prstGeom>
          <a:noFill/>
        </p:spPr>
        <p:txBody>
          <a:bodyPr wrap="square" rtlCol="0">
            <a:spAutoFit/>
          </a:bodyPr>
          <a:lstStyle/>
          <a:p>
            <a:pPr algn="ctr"/>
            <a:r>
              <a:rPr lang="en-US" sz="3000" b="1" i="1" u="sng" dirty="0" smtClean="0">
                <a:latin typeface="Times New Roman" pitchFamily="18" charset="0"/>
                <a:cs typeface="Times New Roman" pitchFamily="18" charset="0"/>
              </a:rPr>
              <a:t>Informal Letters</a:t>
            </a:r>
            <a:endParaRPr lang="en-US" sz="3000" b="1" i="1" u="sng" dirty="0">
              <a:latin typeface="Times New Roman" pitchFamily="18" charset="0"/>
              <a:cs typeface="Times New Roman" pitchFamily="18" charset="0"/>
            </a:endParaRPr>
          </a:p>
        </p:txBody>
      </p:sp>
      <p:sp>
        <p:nvSpPr>
          <p:cNvPr id="9" name="TextBox 8"/>
          <p:cNvSpPr txBox="1"/>
          <p:nvPr/>
        </p:nvSpPr>
        <p:spPr>
          <a:xfrm>
            <a:off x="3048000" y="3845710"/>
            <a:ext cx="2971801" cy="553998"/>
          </a:xfrm>
          <a:prstGeom prst="rect">
            <a:avLst/>
          </a:prstGeom>
          <a:noFill/>
        </p:spPr>
        <p:txBody>
          <a:bodyPr wrap="square" rtlCol="0">
            <a:spAutoFit/>
          </a:bodyPr>
          <a:lstStyle/>
          <a:p>
            <a:r>
              <a:rPr lang="en-US" sz="3000" b="1" i="1" u="sng" dirty="0" smtClean="0">
                <a:latin typeface="Times New Roman" pitchFamily="18" charset="0"/>
                <a:cs typeface="Times New Roman" pitchFamily="18" charset="0"/>
              </a:rPr>
              <a:t>Electronic Mail</a:t>
            </a:r>
            <a:endParaRPr lang="en-US" sz="3000" b="1" i="1" u="sng" dirty="0">
              <a:latin typeface="Times New Roman" pitchFamily="18" charset="0"/>
              <a:cs typeface="Times New Roman" pitchFamily="18" charset="0"/>
            </a:endParaRPr>
          </a:p>
        </p:txBody>
      </p:sp>
    </p:spTree>
    <p:extLst>
      <p:ext uri="{BB962C8B-B14F-4D97-AF65-F5344CB8AC3E}">
        <p14:creationId xmlns:p14="http://schemas.microsoft.com/office/powerpoint/2010/main" val="98925048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609600" y="2362200"/>
            <a:ext cx="3733800" cy="3505200"/>
          </a:xfrm>
        </p:spPr>
        <p:txBody>
          <a:bodyPr>
            <a:normAutofit/>
          </a:bodyPr>
          <a:lstStyle/>
          <a:p>
            <a:pPr algn="just">
              <a:buFont typeface="Wingdings" pitchFamily="2" charset="2"/>
              <a:buChar char="Ø"/>
            </a:pPr>
            <a:r>
              <a:rPr lang="en-US" sz="2200" dirty="0" smtClean="0">
                <a:latin typeface="Times New Roman" pitchFamily="18" charset="0"/>
                <a:cs typeface="Times New Roman" pitchFamily="18" charset="0"/>
              </a:rPr>
              <a:t>Cover Letters</a:t>
            </a:r>
          </a:p>
          <a:p>
            <a:pPr algn="just">
              <a:buFont typeface="Wingdings" pitchFamily="2" charset="2"/>
              <a:buChar char="Ø"/>
            </a:pPr>
            <a:r>
              <a:rPr lang="en-US" sz="2200" dirty="0">
                <a:latin typeface="Times New Roman" pitchFamily="18" charset="0"/>
                <a:cs typeface="Times New Roman" pitchFamily="18" charset="0"/>
              </a:rPr>
              <a:t>R</a:t>
            </a:r>
            <a:r>
              <a:rPr lang="en-US" sz="2200" dirty="0" smtClean="0">
                <a:latin typeface="Times New Roman" pitchFamily="18" charset="0"/>
                <a:cs typeface="Times New Roman" pitchFamily="18" charset="0"/>
              </a:rPr>
              <a:t>ésumé</a:t>
            </a:r>
          </a:p>
          <a:p>
            <a:pPr algn="just">
              <a:buFont typeface="Wingdings" pitchFamily="2" charset="2"/>
              <a:buChar char="Ø"/>
            </a:pPr>
            <a:r>
              <a:rPr lang="en-US" sz="2200" dirty="0" smtClean="0">
                <a:latin typeface="Times New Roman" pitchFamily="18" charset="0"/>
                <a:cs typeface="Times New Roman" pitchFamily="18" charset="0"/>
              </a:rPr>
              <a:t>Follow-up-Letters</a:t>
            </a:r>
          </a:p>
          <a:p>
            <a:pPr algn="just">
              <a:buFont typeface="Wingdings" pitchFamily="2" charset="2"/>
              <a:buChar char="Ø"/>
            </a:pPr>
            <a:r>
              <a:rPr lang="en-US" sz="2200" dirty="0" smtClean="0">
                <a:latin typeface="Times New Roman" pitchFamily="18" charset="0"/>
                <a:cs typeface="Times New Roman" pitchFamily="18" charset="0"/>
              </a:rPr>
              <a:t>Accepting Job Offers</a:t>
            </a:r>
          </a:p>
          <a:p>
            <a:pPr algn="just">
              <a:buFont typeface="Wingdings" pitchFamily="2" charset="2"/>
              <a:buChar char="Ø"/>
            </a:pPr>
            <a:r>
              <a:rPr lang="en-US" sz="2200" dirty="0" smtClean="0">
                <a:latin typeface="Times New Roman" pitchFamily="18" charset="0"/>
                <a:cs typeface="Times New Roman" pitchFamily="18" charset="0"/>
              </a:rPr>
              <a:t>References</a:t>
            </a:r>
          </a:p>
        </p:txBody>
      </p:sp>
      <p:sp>
        <p:nvSpPr>
          <p:cNvPr id="4" name="Title 3"/>
          <p:cNvSpPr>
            <a:spLocks noGrp="1"/>
          </p:cNvSpPr>
          <p:nvPr>
            <p:ph type="title"/>
          </p:nvPr>
        </p:nvSpPr>
        <p:spPr>
          <a:xfrm>
            <a:off x="0" y="274638"/>
            <a:ext cx="9144000" cy="1143000"/>
          </a:xfrm>
        </p:spPr>
        <p:txBody>
          <a:bodyPr/>
          <a:lstStyle/>
          <a:p>
            <a:pPr algn="just"/>
            <a:r>
              <a:rPr lang="en-US" b="1" i="1" u="sng" dirty="0" smtClean="0">
                <a:latin typeface="Times New Roman" pitchFamily="18" charset="0"/>
                <a:cs typeface="Times New Roman" pitchFamily="18" charset="0"/>
              </a:rPr>
              <a:t>Types of formal and informal letters</a:t>
            </a:r>
            <a:endParaRPr lang="en-US" b="1" i="1" u="sng" dirty="0">
              <a:latin typeface="Times New Roman" pitchFamily="18" charset="0"/>
              <a:cs typeface="Times New Roman" pitchFamily="18" charset="0"/>
            </a:endParaRPr>
          </a:p>
        </p:txBody>
      </p:sp>
      <p:sp>
        <p:nvSpPr>
          <p:cNvPr id="5" name="Text Placeholder 4"/>
          <p:cNvSpPr>
            <a:spLocks noGrp="1"/>
          </p:cNvSpPr>
          <p:nvPr>
            <p:ph type="body" idx="1"/>
          </p:nvPr>
        </p:nvSpPr>
        <p:spPr/>
        <p:txBody>
          <a:bodyPr>
            <a:normAutofit/>
          </a:bodyPr>
          <a:lstStyle/>
          <a:p>
            <a:pPr algn="just"/>
            <a:r>
              <a:rPr lang="en-US" sz="2600" b="1" i="1" u="sng" dirty="0" smtClean="0">
                <a:solidFill>
                  <a:srgbClr val="92D050"/>
                </a:solidFill>
                <a:latin typeface="Times New Roman" pitchFamily="18" charset="0"/>
                <a:cs typeface="Times New Roman" pitchFamily="18" charset="0"/>
              </a:rPr>
              <a:t>Formal Letters</a:t>
            </a:r>
            <a:endParaRPr lang="en-US" sz="2600" b="1" i="1" u="sng" dirty="0">
              <a:solidFill>
                <a:srgbClr val="92D050"/>
              </a:solidFill>
              <a:latin typeface="Times New Roman" pitchFamily="18" charset="0"/>
              <a:cs typeface="Times New Roman" pitchFamily="18" charset="0"/>
            </a:endParaRPr>
          </a:p>
        </p:txBody>
      </p:sp>
      <p:sp>
        <p:nvSpPr>
          <p:cNvPr id="6" name="Text Placeholder 5"/>
          <p:cNvSpPr>
            <a:spLocks noGrp="1"/>
          </p:cNvSpPr>
          <p:nvPr>
            <p:ph type="body" sz="quarter" idx="3"/>
          </p:nvPr>
        </p:nvSpPr>
        <p:spPr/>
        <p:txBody>
          <a:bodyPr>
            <a:normAutofit/>
          </a:bodyPr>
          <a:lstStyle/>
          <a:p>
            <a:pPr algn="just"/>
            <a:r>
              <a:rPr lang="en-US" sz="2600" b="1" i="1" u="sng" dirty="0" smtClean="0">
                <a:solidFill>
                  <a:srgbClr val="92D050"/>
                </a:solidFill>
                <a:latin typeface="Times New Roman" pitchFamily="18" charset="0"/>
                <a:cs typeface="Times New Roman" pitchFamily="18" charset="0"/>
              </a:rPr>
              <a:t>Informal Letters</a:t>
            </a:r>
            <a:endParaRPr lang="en-US" sz="2600" b="1" i="1" u="sng" dirty="0">
              <a:solidFill>
                <a:srgbClr val="92D050"/>
              </a:solidFill>
              <a:latin typeface="Times New Roman" pitchFamily="18" charset="0"/>
              <a:cs typeface="Times New Roman" pitchFamily="18" charset="0"/>
            </a:endParaRPr>
          </a:p>
        </p:txBody>
      </p:sp>
      <p:sp>
        <p:nvSpPr>
          <p:cNvPr id="12" name="Content Placeholder 11"/>
          <p:cNvSpPr>
            <a:spLocks noGrp="1"/>
          </p:cNvSpPr>
          <p:nvPr>
            <p:ph sz="quarter" idx="14"/>
          </p:nvPr>
        </p:nvSpPr>
        <p:spPr>
          <a:xfrm>
            <a:off x="4800600" y="2362200"/>
            <a:ext cx="3733800" cy="3505200"/>
          </a:xfrm>
        </p:spPr>
        <p:txBody>
          <a:bodyPr>
            <a:normAutofit/>
          </a:bodyPr>
          <a:lstStyle/>
          <a:p>
            <a:pPr algn="just">
              <a:buFont typeface="Wingdings" pitchFamily="2" charset="2"/>
              <a:buChar char="Ø"/>
            </a:pPr>
            <a:r>
              <a:rPr lang="en-US" sz="2200" dirty="0" smtClean="0">
                <a:latin typeface="Times New Roman" pitchFamily="18" charset="0"/>
                <a:cs typeface="Times New Roman" pitchFamily="18" charset="0"/>
              </a:rPr>
              <a:t>Apologies</a:t>
            </a:r>
          </a:p>
          <a:p>
            <a:pPr algn="just">
              <a:buFont typeface="Wingdings" pitchFamily="2" charset="2"/>
              <a:buChar char="Ø"/>
            </a:pPr>
            <a:r>
              <a:rPr lang="en-US" sz="2200" dirty="0" smtClean="0">
                <a:latin typeface="Times New Roman" pitchFamily="18" charset="0"/>
                <a:cs typeface="Times New Roman" pitchFamily="18" charset="0"/>
              </a:rPr>
              <a:t>Complaints</a:t>
            </a:r>
          </a:p>
          <a:p>
            <a:pPr algn="just">
              <a:buFont typeface="Wingdings" pitchFamily="2" charset="2"/>
              <a:buChar char="Ø"/>
            </a:pPr>
            <a:r>
              <a:rPr lang="en-US" sz="2200" dirty="0" smtClean="0">
                <a:latin typeface="Times New Roman" pitchFamily="18" charset="0"/>
                <a:cs typeface="Times New Roman" pitchFamily="18" charset="0"/>
              </a:rPr>
              <a:t>Invitations</a:t>
            </a:r>
          </a:p>
          <a:p>
            <a:pPr algn="just">
              <a:buFont typeface="Wingdings" pitchFamily="2" charset="2"/>
              <a:buChar char="Ø"/>
            </a:pPr>
            <a:r>
              <a:rPr lang="en-US" sz="2200" dirty="0" smtClean="0">
                <a:latin typeface="Times New Roman" pitchFamily="18" charset="0"/>
                <a:cs typeface="Times New Roman" pitchFamily="18" charset="0"/>
              </a:rPr>
              <a:t>Offering Condolences</a:t>
            </a:r>
          </a:p>
          <a:p>
            <a:pPr algn="just">
              <a:buFont typeface="Wingdings" pitchFamily="2" charset="2"/>
              <a:buChar char="Ø"/>
            </a:pPr>
            <a:r>
              <a:rPr lang="en-US" sz="2200" dirty="0" smtClean="0">
                <a:latin typeface="Times New Roman" pitchFamily="18" charset="0"/>
                <a:cs typeface="Times New Roman" pitchFamily="18" charset="0"/>
              </a:rPr>
              <a:t>Appreciation and </a:t>
            </a:r>
            <a:r>
              <a:rPr lang="en-US" sz="2200" dirty="0">
                <a:latin typeface="Times New Roman" pitchFamily="18" charset="0"/>
                <a:cs typeface="Times New Roman" pitchFamily="18" charset="0"/>
              </a:rPr>
              <a:t>Thank </a:t>
            </a:r>
            <a:r>
              <a:rPr lang="en-US" sz="2200" dirty="0" smtClean="0">
                <a:latin typeface="Times New Roman" pitchFamily="18" charset="0"/>
                <a:cs typeface="Times New Roman" pitchFamily="18" charset="0"/>
              </a:rPr>
              <a:t>you</a:t>
            </a: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400220416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algn="ctr"/>
            <a:r>
              <a:rPr lang="en-US" b="1" i="1" u="sng" dirty="0" smtClean="0">
                <a:latin typeface="Times New Roman" pitchFamily="18" charset="0"/>
                <a:cs typeface="Times New Roman" pitchFamily="18" charset="0"/>
              </a:rPr>
              <a:t>Styles of letter writing</a:t>
            </a:r>
            <a:endParaRPr lang="en-US" b="1" i="1" u="sng" dirty="0">
              <a:latin typeface="Times New Roman" pitchFamily="18" charset="0"/>
              <a:cs typeface="Times New Roman" pitchFamily="18" charset="0"/>
            </a:endParaRPr>
          </a:p>
        </p:txBody>
      </p:sp>
      <p:pic>
        <p:nvPicPr>
          <p:cNvPr id="10" name="Content Placeholder 9"/>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581400" y="2386693"/>
            <a:ext cx="1647825" cy="2266950"/>
          </a:xfr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2343150"/>
            <a:ext cx="1609725" cy="2286000"/>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29400" y="2438400"/>
            <a:ext cx="1600200" cy="2209800"/>
          </a:xfrm>
          <a:prstGeom prst="rect">
            <a:avLst/>
          </a:prstGeom>
        </p:spPr>
      </p:pic>
      <p:sp>
        <p:nvSpPr>
          <p:cNvPr id="14" name="TextBox 13"/>
          <p:cNvSpPr txBox="1"/>
          <p:nvPr/>
        </p:nvSpPr>
        <p:spPr>
          <a:xfrm>
            <a:off x="304119" y="4823114"/>
            <a:ext cx="1915886" cy="769441"/>
          </a:xfrm>
          <a:prstGeom prst="rect">
            <a:avLst/>
          </a:prstGeom>
          <a:noFill/>
        </p:spPr>
        <p:txBody>
          <a:bodyPr wrap="square" rtlCol="0">
            <a:spAutoFit/>
          </a:bodyPr>
          <a:lstStyle/>
          <a:p>
            <a:pPr algn="ctr"/>
            <a:r>
              <a:rPr lang="en-US" sz="2600" dirty="0">
                <a:latin typeface="Times New Roman" pitchFamily="18" charset="0"/>
                <a:cs typeface="Times New Roman" pitchFamily="18" charset="0"/>
              </a:rPr>
              <a:t>Block Style</a:t>
            </a:r>
          </a:p>
          <a:p>
            <a:pPr algn="ctr"/>
            <a:endParaRPr lang="en-US" dirty="0">
              <a:latin typeface="Times New Roman" pitchFamily="18" charset="0"/>
              <a:cs typeface="Times New Roman" pitchFamily="18" charset="0"/>
            </a:endParaRPr>
          </a:p>
        </p:txBody>
      </p:sp>
      <p:sp>
        <p:nvSpPr>
          <p:cNvPr id="15" name="TextBox 14"/>
          <p:cNvSpPr txBox="1"/>
          <p:nvPr/>
        </p:nvSpPr>
        <p:spPr>
          <a:xfrm>
            <a:off x="3124200" y="4870769"/>
            <a:ext cx="2520242" cy="492443"/>
          </a:xfrm>
          <a:prstGeom prst="rect">
            <a:avLst/>
          </a:prstGeom>
          <a:noFill/>
        </p:spPr>
        <p:txBody>
          <a:bodyPr wrap="none" rtlCol="0">
            <a:spAutoFit/>
          </a:bodyPr>
          <a:lstStyle/>
          <a:p>
            <a:pPr algn="ctr"/>
            <a:r>
              <a:rPr lang="en-US" sz="2600" dirty="0">
                <a:latin typeface="Times New Roman" pitchFamily="18" charset="0"/>
                <a:cs typeface="Times New Roman" pitchFamily="18" charset="0"/>
              </a:rPr>
              <a:t>Semi Block Style</a:t>
            </a:r>
          </a:p>
        </p:txBody>
      </p:sp>
      <p:sp>
        <p:nvSpPr>
          <p:cNvPr id="16" name="TextBox 15"/>
          <p:cNvSpPr txBox="1"/>
          <p:nvPr/>
        </p:nvSpPr>
        <p:spPr>
          <a:xfrm>
            <a:off x="6069119" y="4841870"/>
            <a:ext cx="3074881" cy="892552"/>
          </a:xfrm>
          <a:prstGeom prst="rect">
            <a:avLst/>
          </a:prstGeom>
          <a:noFill/>
        </p:spPr>
        <p:txBody>
          <a:bodyPr wrap="none" rtlCol="0">
            <a:spAutoFit/>
          </a:bodyPr>
          <a:lstStyle/>
          <a:p>
            <a:pPr algn="ctr"/>
            <a:r>
              <a:rPr lang="en-US" sz="2600" dirty="0">
                <a:latin typeface="Times New Roman" pitchFamily="18" charset="0"/>
                <a:cs typeface="Times New Roman" pitchFamily="18" charset="0"/>
              </a:rPr>
              <a:t>Modified Block Style</a:t>
            </a:r>
          </a:p>
          <a:p>
            <a:pPr algn="ctr"/>
            <a:endParaRPr lang="en-US" sz="2600" dirty="0">
              <a:latin typeface="Times New Roman" pitchFamily="18" charset="0"/>
              <a:cs typeface="Times New Roman" pitchFamily="18" charset="0"/>
            </a:endParaRPr>
          </a:p>
        </p:txBody>
      </p:sp>
    </p:spTree>
    <p:extLst>
      <p:ext uri="{BB962C8B-B14F-4D97-AF65-F5344CB8AC3E}">
        <p14:creationId xmlns:p14="http://schemas.microsoft.com/office/powerpoint/2010/main" val="359702403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9144000" cy="6155531"/>
          </a:xfrm>
          <a:prstGeom prst="rect">
            <a:avLst/>
          </a:prstGeom>
          <a:noFill/>
        </p:spPr>
        <p:txBody>
          <a:bodyPr wrap="square" rtlCol="0">
            <a:spAutoFit/>
          </a:bodyPr>
          <a:lstStyle/>
          <a:p>
            <a:endParaRPr lang="en-US" sz="2600" b="1" i="1" u="sng" dirty="0" smtClean="0">
              <a:latin typeface="Times New Roman" pitchFamily="18" charset="0"/>
              <a:cs typeface="Times New Roman" pitchFamily="18" charset="0"/>
            </a:endParaRPr>
          </a:p>
          <a:p>
            <a:r>
              <a:rPr lang="en-US" sz="2600" b="1" i="1" dirty="0" smtClean="0">
                <a:solidFill>
                  <a:srgbClr val="FFC000"/>
                </a:solidFill>
                <a:latin typeface="Times New Roman" pitchFamily="18" charset="0"/>
                <a:cs typeface="Times New Roman" pitchFamily="18" charset="0"/>
              </a:rPr>
              <a:t>Block Style:</a:t>
            </a:r>
          </a:p>
          <a:p>
            <a:r>
              <a:rPr lang="en-US" sz="2200" dirty="0" smtClean="0">
                <a:latin typeface="Times New Roman" pitchFamily="18" charset="0"/>
                <a:cs typeface="Times New Roman" pitchFamily="18" charset="0"/>
              </a:rPr>
              <a:t>	A </a:t>
            </a:r>
            <a:r>
              <a:rPr lang="en-US" sz="2200" dirty="0">
                <a:latin typeface="Times New Roman" pitchFamily="18" charset="0"/>
                <a:cs typeface="Times New Roman" pitchFamily="18" charset="0"/>
              </a:rPr>
              <a:t>full block style business letter is when all the components of the letter are aligned at the left margin</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Side, top and bottom margins should be 1 to 1 1/4 </a:t>
            </a:r>
            <a:r>
              <a:rPr lang="en-US" sz="2200" dirty="0" smtClean="0">
                <a:latin typeface="Times New Roman" pitchFamily="18" charset="0"/>
                <a:cs typeface="Times New Roman" pitchFamily="18" charset="0"/>
              </a:rPr>
              <a:t>inches. Font size should be 12 in times new roman.</a:t>
            </a:r>
          </a:p>
          <a:p>
            <a:endParaRPr lang="en-US" dirty="0">
              <a:latin typeface="Times New Roman" pitchFamily="18" charset="0"/>
              <a:cs typeface="Times New Roman" pitchFamily="18" charset="0"/>
            </a:endParaRPr>
          </a:p>
          <a:p>
            <a:r>
              <a:rPr lang="en-US" sz="2600" b="1" i="1" dirty="0" smtClean="0">
                <a:solidFill>
                  <a:srgbClr val="FFC000"/>
                </a:solidFill>
                <a:latin typeface="Times New Roman" pitchFamily="18" charset="0"/>
                <a:cs typeface="Times New Roman" pitchFamily="18" charset="0"/>
              </a:rPr>
              <a:t>Semi Block Style:</a:t>
            </a:r>
          </a:p>
          <a:p>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All </a:t>
            </a:r>
            <a:r>
              <a:rPr lang="en-US" sz="2200" dirty="0">
                <a:latin typeface="Times New Roman" pitchFamily="18" charset="0"/>
                <a:cs typeface="Times New Roman" pitchFamily="18" charset="0"/>
              </a:rPr>
              <a:t>text is aligned to the left margin, except the date, attention line, and complimentary </a:t>
            </a:r>
            <a:r>
              <a:rPr lang="en-US" sz="2200" dirty="0" smtClean="0">
                <a:latin typeface="Times New Roman" pitchFamily="18" charset="0"/>
                <a:cs typeface="Times New Roman" pitchFamily="18" charset="0"/>
              </a:rPr>
              <a:t>close. Paragraphs </a:t>
            </a:r>
            <a:r>
              <a:rPr lang="en-US" sz="2200" dirty="0">
                <a:latin typeface="Times New Roman" pitchFamily="18" charset="0"/>
                <a:cs typeface="Times New Roman" pitchFamily="18" charset="0"/>
              </a:rPr>
              <a:t>are separated by double or triple spacing.</a:t>
            </a:r>
            <a:endParaRPr lang="en-US" sz="2200" dirty="0" smtClean="0">
              <a:latin typeface="Times New Roman" pitchFamily="18" charset="0"/>
              <a:cs typeface="Times New Roman" pitchFamily="18" charset="0"/>
            </a:endParaRPr>
          </a:p>
          <a:p>
            <a:endParaRPr lang="en-US" sz="2600" dirty="0" smtClean="0">
              <a:latin typeface="Times New Roman" pitchFamily="18" charset="0"/>
              <a:cs typeface="Times New Roman" pitchFamily="18" charset="0"/>
            </a:endParaRPr>
          </a:p>
          <a:p>
            <a:endParaRPr lang="en-US" sz="2600" b="1" dirty="0">
              <a:latin typeface="Times New Roman" pitchFamily="18" charset="0"/>
              <a:cs typeface="Times New Roman" pitchFamily="18" charset="0"/>
            </a:endParaRPr>
          </a:p>
          <a:p>
            <a:r>
              <a:rPr lang="en-US" sz="2600" b="1" i="1" dirty="0" smtClean="0">
                <a:solidFill>
                  <a:srgbClr val="FFC000"/>
                </a:solidFill>
                <a:latin typeface="Times New Roman" pitchFamily="18" charset="0"/>
                <a:cs typeface="Times New Roman" pitchFamily="18" charset="0"/>
              </a:rPr>
              <a:t>Modified Block style:</a:t>
            </a:r>
          </a:p>
          <a:p>
            <a:pPr algn="just"/>
            <a:r>
              <a:rPr lang="en-US" sz="2200" dirty="0" smtClean="0">
                <a:latin typeface="Times New Roman" pitchFamily="18" charset="0"/>
                <a:cs typeface="Times New Roman" pitchFamily="18" charset="0"/>
              </a:rPr>
              <a:t>	In this style we </a:t>
            </a:r>
            <a:r>
              <a:rPr lang="en-US" sz="2200" dirty="0">
                <a:latin typeface="Times New Roman" pitchFamily="18" charset="0"/>
                <a:cs typeface="Times New Roman" pitchFamily="18" charset="0"/>
              </a:rPr>
              <a:t>usually put all text  aligned to the left margin, except for the author's address, date, and complimentary closing. All paragraphs we write in a modified block style  are not indented. The author's address, date, and closing begin at the </a:t>
            </a:r>
            <a:r>
              <a:rPr lang="en-US" sz="2200" dirty="0" smtClean="0">
                <a:latin typeface="Times New Roman" pitchFamily="18" charset="0"/>
                <a:cs typeface="Times New Roman" pitchFamily="18" charset="0"/>
              </a:rPr>
              <a:t>right. </a:t>
            </a:r>
            <a:r>
              <a:rPr lang="en-US" sz="2200" dirty="0">
                <a:latin typeface="Times New Roman" pitchFamily="18" charset="0"/>
                <a:cs typeface="Times New Roman" pitchFamily="18" charset="0"/>
              </a:rPr>
              <a:t>See the following modified block style sample</a:t>
            </a:r>
            <a:r>
              <a:rPr lang="en-US" sz="2200" dirty="0" smtClean="0">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192095880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2800" y="457199"/>
            <a:ext cx="2292956" cy="3805315"/>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457199"/>
            <a:ext cx="2484511" cy="3805315"/>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0800" y="457198"/>
            <a:ext cx="2362200" cy="3805315"/>
          </a:xfrm>
          <a:prstGeom prst="rect">
            <a:avLst/>
          </a:prstGeom>
        </p:spPr>
      </p:pic>
      <p:sp>
        <p:nvSpPr>
          <p:cNvPr id="10" name="Rectangle 9"/>
          <p:cNvSpPr/>
          <p:nvPr/>
        </p:nvSpPr>
        <p:spPr>
          <a:xfrm>
            <a:off x="304800" y="4495798"/>
            <a:ext cx="2001243" cy="769441"/>
          </a:xfrm>
          <a:prstGeom prst="rect">
            <a:avLst/>
          </a:prstGeom>
        </p:spPr>
        <p:txBody>
          <a:bodyPr wrap="square">
            <a:spAutoFit/>
          </a:bodyPr>
          <a:lstStyle/>
          <a:p>
            <a:pPr algn="ctr"/>
            <a:r>
              <a:rPr lang="en-US" sz="2200" dirty="0">
                <a:solidFill>
                  <a:srgbClr val="FFFF00"/>
                </a:solidFill>
                <a:latin typeface="Times New Roman" pitchFamily="18" charset="0"/>
                <a:cs typeface="Times New Roman" pitchFamily="18" charset="0"/>
              </a:rPr>
              <a:t>Block Style</a:t>
            </a:r>
          </a:p>
          <a:p>
            <a:pPr algn="ctr"/>
            <a:endParaRPr lang="en-US" sz="2200" dirty="0">
              <a:latin typeface="Times New Roman" pitchFamily="18" charset="0"/>
              <a:cs typeface="Times New Roman" pitchFamily="18" charset="0"/>
            </a:endParaRPr>
          </a:p>
        </p:txBody>
      </p:sp>
      <p:sp>
        <p:nvSpPr>
          <p:cNvPr id="11" name="Rectangle 10"/>
          <p:cNvSpPr/>
          <p:nvPr/>
        </p:nvSpPr>
        <p:spPr>
          <a:xfrm>
            <a:off x="3429434" y="4512581"/>
            <a:ext cx="2159566" cy="430887"/>
          </a:xfrm>
          <a:prstGeom prst="rect">
            <a:avLst/>
          </a:prstGeom>
        </p:spPr>
        <p:txBody>
          <a:bodyPr wrap="none">
            <a:spAutoFit/>
          </a:bodyPr>
          <a:lstStyle/>
          <a:p>
            <a:pPr algn="ctr"/>
            <a:r>
              <a:rPr lang="en-US" sz="2200" dirty="0">
                <a:solidFill>
                  <a:srgbClr val="FFFF00"/>
                </a:solidFill>
                <a:latin typeface="Times New Roman" pitchFamily="18" charset="0"/>
                <a:cs typeface="Times New Roman" pitchFamily="18" charset="0"/>
              </a:rPr>
              <a:t>Semi Block Style</a:t>
            </a:r>
          </a:p>
        </p:txBody>
      </p:sp>
      <p:sp>
        <p:nvSpPr>
          <p:cNvPr id="12" name="Rectangle 11"/>
          <p:cNvSpPr/>
          <p:nvPr/>
        </p:nvSpPr>
        <p:spPr>
          <a:xfrm>
            <a:off x="6248400" y="4493529"/>
            <a:ext cx="2702530" cy="769441"/>
          </a:xfrm>
          <a:prstGeom prst="rect">
            <a:avLst/>
          </a:prstGeom>
        </p:spPr>
        <p:txBody>
          <a:bodyPr wrap="square">
            <a:spAutoFit/>
          </a:bodyPr>
          <a:lstStyle/>
          <a:p>
            <a:pPr algn="ctr"/>
            <a:r>
              <a:rPr lang="en-US" sz="2200" dirty="0">
                <a:solidFill>
                  <a:srgbClr val="FFFF00"/>
                </a:solidFill>
                <a:latin typeface="Times New Roman" pitchFamily="18" charset="0"/>
                <a:cs typeface="Times New Roman" pitchFamily="18" charset="0"/>
              </a:rPr>
              <a:t>Modified Block Style</a:t>
            </a:r>
          </a:p>
          <a:p>
            <a:pPr algn="ct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205384806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274638"/>
            <a:ext cx="9144000" cy="1143000"/>
          </a:xfrm>
        </p:spPr>
        <p:txBody>
          <a:bodyPr/>
          <a:lstStyle/>
          <a:p>
            <a:r>
              <a:rPr lang="en-US" b="1" i="1" u="sng" dirty="0" smtClean="0">
                <a:latin typeface="Times New Roman" pitchFamily="18" charset="0"/>
                <a:cs typeface="Times New Roman" pitchFamily="18" charset="0"/>
              </a:rPr>
              <a:t>Parts of a letter:</a:t>
            </a:r>
            <a:endParaRPr lang="en-US" b="1" i="1" u="sng" dirty="0">
              <a:latin typeface="Times New Roman" pitchFamily="18" charset="0"/>
              <a:cs typeface="Times New Roman" pitchFamily="18" charset="0"/>
            </a:endParaRPr>
          </a:p>
        </p:txBody>
      </p:sp>
      <p:sp>
        <p:nvSpPr>
          <p:cNvPr id="5" name="TextBox 4"/>
          <p:cNvSpPr txBox="1"/>
          <p:nvPr/>
        </p:nvSpPr>
        <p:spPr>
          <a:xfrm>
            <a:off x="0" y="1600200"/>
            <a:ext cx="9144000" cy="3416320"/>
          </a:xfrm>
          <a:prstGeom prst="rect">
            <a:avLst/>
          </a:prstGeom>
          <a:noFill/>
        </p:spPr>
        <p:txBody>
          <a:bodyPr wrap="square" rtlCol="0">
            <a:spAutoFit/>
          </a:bodyPr>
          <a:lstStyle/>
          <a:p>
            <a:pPr marL="342900" indent="-342900">
              <a:buFont typeface="+mj-lt"/>
              <a:buAutoNum type="arabicPeriod"/>
            </a:pPr>
            <a:r>
              <a:rPr lang="en-US" sz="2400" b="1" dirty="0" smtClean="0">
                <a:latin typeface="Times New Roman" pitchFamily="18" charset="0"/>
                <a:cs typeface="Times New Roman" pitchFamily="18" charset="0"/>
              </a:rPr>
              <a:t>Letterhead</a:t>
            </a:r>
          </a:p>
          <a:p>
            <a:pPr marL="342900" indent="-342900">
              <a:buFont typeface="+mj-lt"/>
              <a:buAutoNum type="arabicPeriod"/>
            </a:pPr>
            <a:r>
              <a:rPr lang="en-US" sz="2400" b="1" dirty="0">
                <a:latin typeface="Times New Roman" pitchFamily="18" charset="0"/>
                <a:cs typeface="Times New Roman" pitchFamily="18" charset="0"/>
              </a:rPr>
              <a:t>The date of the </a:t>
            </a:r>
            <a:r>
              <a:rPr lang="en-US" sz="2400" b="1" dirty="0" smtClean="0">
                <a:latin typeface="Times New Roman" pitchFamily="18" charset="0"/>
                <a:cs typeface="Times New Roman" pitchFamily="18" charset="0"/>
              </a:rPr>
              <a:t>letter</a:t>
            </a:r>
          </a:p>
          <a:p>
            <a:pPr marL="342900" indent="-342900">
              <a:buFont typeface="+mj-lt"/>
              <a:buAutoNum type="arabicPeriod"/>
            </a:pPr>
            <a:r>
              <a:rPr lang="en-US" sz="2400" b="1" dirty="0" smtClean="0">
                <a:latin typeface="Times New Roman" pitchFamily="18" charset="0"/>
                <a:cs typeface="Times New Roman" pitchFamily="18" charset="0"/>
              </a:rPr>
              <a:t>The </a:t>
            </a:r>
            <a:r>
              <a:rPr lang="en-US" sz="2400" b="1" dirty="0">
                <a:latin typeface="Times New Roman" pitchFamily="18" charset="0"/>
                <a:cs typeface="Times New Roman" pitchFamily="18" charset="0"/>
              </a:rPr>
              <a:t>Inside </a:t>
            </a:r>
            <a:r>
              <a:rPr lang="en-US" sz="2400" b="1" dirty="0" smtClean="0">
                <a:latin typeface="Times New Roman" pitchFamily="18" charset="0"/>
                <a:cs typeface="Times New Roman" pitchFamily="18" charset="0"/>
              </a:rPr>
              <a:t>Address</a:t>
            </a:r>
          </a:p>
          <a:p>
            <a:pPr marL="342900" indent="-342900">
              <a:buFont typeface="+mj-lt"/>
              <a:buAutoNum type="arabicPeriod"/>
            </a:pPr>
            <a:r>
              <a:rPr lang="en-US" sz="2400" b="1" dirty="0">
                <a:latin typeface="Times New Roman" pitchFamily="18" charset="0"/>
                <a:cs typeface="Times New Roman" pitchFamily="18" charset="0"/>
              </a:rPr>
              <a:t>The Greeting</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 </a:t>
            </a:r>
            <a:r>
              <a:rPr lang="en-US" sz="2400" b="1" dirty="0" smtClean="0">
                <a:latin typeface="Times New Roman" pitchFamily="18" charset="0"/>
                <a:cs typeface="Times New Roman" pitchFamily="18" charset="0"/>
              </a:rPr>
              <a:t>Salutation</a:t>
            </a:r>
          </a:p>
          <a:p>
            <a:pPr marL="342900" indent="-342900">
              <a:buFont typeface="+mj-lt"/>
              <a:buAutoNum type="arabicPeriod"/>
            </a:pPr>
            <a:r>
              <a:rPr lang="en-US" sz="2400" b="1" dirty="0" smtClean="0">
                <a:latin typeface="Times New Roman" pitchFamily="18" charset="0"/>
                <a:cs typeface="Times New Roman" pitchFamily="18" charset="0"/>
              </a:rPr>
              <a:t>Title</a:t>
            </a:r>
          </a:p>
          <a:p>
            <a:pPr marL="342900" indent="-342900">
              <a:buFont typeface="+mj-lt"/>
              <a:buAutoNum type="arabicPeriod"/>
            </a:pPr>
            <a:r>
              <a:rPr lang="en-US" sz="2400" b="1" dirty="0" smtClean="0">
                <a:latin typeface="Times New Roman" pitchFamily="18" charset="0"/>
                <a:cs typeface="Times New Roman" pitchFamily="18" charset="0"/>
              </a:rPr>
              <a:t>Introduction</a:t>
            </a:r>
          </a:p>
          <a:p>
            <a:pPr marL="342900" indent="-342900">
              <a:buFont typeface="+mj-lt"/>
              <a:buAutoNum type="arabicPeriod"/>
            </a:pPr>
            <a:r>
              <a:rPr lang="en-US" sz="2400" b="1" dirty="0" smtClean="0">
                <a:latin typeface="Times New Roman" pitchFamily="18" charset="0"/>
                <a:cs typeface="Times New Roman" pitchFamily="18" charset="0"/>
              </a:rPr>
              <a:t>The </a:t>
            </a:r>
            <a:r>
              <a:rPr lang="en-US" sz="2400" b="1" dirty="0">
                <a:latin typeface="Times New Roman" pitchFamily="18" charset="0"/>
                <a:cs typeface="Times New Roman" pitchFamily="18" charset="0"/>
              </a:rPr>
              <a:t>Body </a:t>
            </a:r>
            <a:r>
              <a:rPr lang="en-US" sz="2400" b="1" dirty="0" smtClean="0">
                <a:latin typeface="Times New Roman" pitchFamily="18" charset="0"/>
                <a:cs typeface="Times New Roman" pitchFamily="18" charset="0"/>
              </a:rPr>
              <a:t>Paragraphs</a:t>
            </a:r>
          </a:p>
          <a:p>
            <a:pPr marL="342900" indent="-342900">
              <a:buFont typeface="+mj-lt"/>
              <a:buAutoNum type="arabicPeriod"/>
            </a:pPr>
            <a:r>
              <a:rPr lang="en-US" sz="2400" b="1" dirty="0">
                <a:latin typeface="Times New Roman" pitchFamily="18" charset="0"/>
                <a:cs typeface="Times New Roman" pitchFamily="18" charset="0"/>
              </a:rPr>
              <a:t>The Complimentary </a:t>
            </a:r>
            <a:r>
              <a:rPr lang="en-US" sz="2400" b="1" dirty="0" smtClean="0">
                <a:latin typeface="Times New Roman" pitchFamily="18" charset="0"/>
                <a:cs typeface="Times New Roman" pitchFamily="18" charset="0"/>
              </a:rPr>
              <a:t>Close</a:t>
            </a:r>
          </a:p>
          <a:p>
            <a:pPr marL="342900" indent="-342900">
              <a:buFont typeface="+mj-lt"/>
              <a:buAutoNum type="arabicPeriod"/>
            </a:pPr>
            <a:r>
              <a:rPr lang="en-US" sz="2400" b="1" dirty="0">
                <a:latin typeface="Times New Roman" pitchFamily="18" charset="0"/>
                <a:cs typeface="Times New Roman" pitchFamily="18" charset="0"/>
              </a:rPr>
              <a:t>Signature and Writer’s </a:t>
            </a:r>
            <a:r>
              <a:rPr lang="en-US" sz="2400" b="1" dirty="0" smtClean="0">
                <a:latin typeface="Times New Roman" pitchFamily="18" charset="0"/>
                <a:cs typeface="Times New Roman" pitchFamily="18" charset="0"/>
              </a:rPr>
              <a:t>identification</a:t>
            </a:r>
          </a:p>
        </p:txBody>
      </p:sp>
    </p:spTree>
    <p:extLst>
      <p:ext uri="{BB962C8B-B14F-4D97-AF65-F5344CB8AC3E}">
        <p14:creationId xmlns:p14="http://schemas.microsoft.com/office/powerpoint/2010/main" val="178490023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3"/>
          </p:nvPr>
        </p:nvSpPr>
        <p:spPr>
          <a:xfrm>
            <a:off x="609600" y="838200"/>
            <a:ext cx="3733800" cy="5867400"/>
          </a:xfrm>
        </p:spPr>
        <p:txBody>
          <a:bodyPr>
            <a:normAutofit/>
          </a:bodyPr>
          <a:lstStyle/>
          <a:p>
            <a:r>
              <a:rPr lang="en-US" sz="2000" i="1" dirty="0" smtClean="0">
                <a:hlinkClick r:id="rId3"/>
              </a:rPr>
              <a:t>1. Heading </a:t>
            </a:r>
            <a:r>
              <a:rPr lang="en-US" sz="2000" i="1" dirty="0">
                <a:hlinkClick r:id="rId3"/>
              </a:rPr>
              <a:t>(or) Letterhead</a:t>
            </a:r>
            <a:r>
              <a:rPr lang="en-US" sz="2000" dirty="0"/>
              <a:t/>
            </a:r>
            <a:br>
              <a:rPr lang="en-US" sz="2000" dirty="0"/>
            </a:br>
            <a:r>
              <a:rPr lang="en-US" sz="2000" dirty="0"/>
              <a:t/>
            </a:r>
            <a:br>
              <a:rPr lang="en-US" sz="2000" dirty="0"/>
            </a:br>
            <a:r>
              <a:rPr lang="en-US" sz="2000" i="1" dirty="0"/>
              <a:t>2. </a:t>
            </a:r>
            <a:r>
              <a:rPr lang="en-US" sz="2000" i="1" dirty="0">
                <a:hlinkClick r:id="rId4"/>
              </a:rPr>
              <a:t>Reference (or) File Number</a:t>
            </a:r>
            <a:r>
              <a:rPr lang="en-US" sz="2000" i="1" dirty="0"/>
              <a:t> (optional)</a:t>
            </a:r>
            <a:r>
              <a:rPr lang="en-US" sz="2000" dirty="0"/>
              <a:t/>
            </a:r>
            <a:br>
              <a:rPr lang="en-US" sz="2000" dirty="0"/>
            </a:br>
            <a:r>
              <a:rPr lang="en-US" sz="2000" dirty="0"/>
              <a:t/>
            </a:r>
            <a:br>
              <a:rPr lang="en-US" sz="2000" dirty="0"/>
            </a:br>
            <a:r>
              <a:rPr lang="en-US" sz="2000" i="1" dirty="0"/>
              <a:t>3. </a:t>
            </a:r>
            <a:r>
              <a:rPr lang="en-US" sz="2000" i="1" dirty="0">
                <a:hlinkClick r:id="rId5"/>
              </a:rPr>
              <a:t>Date of The Letter</a:t>
            </a:r>
            <a:r>
              <a:rPr lang="en-US" sz="2000" dirty="0"/>
              <a:t/>
            </a:r>
            <a:br>
              <a:rPr lang="en-US" sz="2000" dirty="0"/>
            </a:br>
            <a:r>
              <a:rPr lang="en-US" sz="2000" dirty="0"/>
              <a:t/>
            </a:r>
            <a:br>
              <a:rPr lang="en-US" sz="2000" dirty="0"/>
            </a:br>
            <a:r>
              <a:rPr lang="en-US" sz="2000" i="1" dirty="0"/>
              <a:t>4. </a:t>
            </a:r>
            <a:r>
              <a:rPr lang="en-US" sz="2000" i="1" dirty="0">
                <a:hlinkClick r:id="rId6"/>
              </a:rPr>
              <a:t>Private and Confidential</a:t>
            </a:r>
            <a:r>
              <a:rPr lang="en-US" sz="2000" i="1" dirty="0"/>
              <a:t> (optional)</a:t>
            </a:r>
            <a:r>
              <a:rPr lang="en-US" sz="2000" dirty="0"/>
              <a:t/>
            </a:r>
            <a:br>
              <a:rPr lang="en-US" sz="2000" dirty="0"/>
            </a:br>
            <a:r>
              <a:rPr lang="en-US" sz="2000" dirty="0"/>
              <a:t/>
            </a:r>
            <a:br>
              <a:rPr lang="en-US" sz="2000" dirty="0"/>
            </a:br>
            <a:r>
              <a:rPr lang="en-US" sz="2000" i="1" dirty="0"/>
              <a:t>5. </a:t>
            </a:r>
            <a:r>
              <a:rPr lang="en-US" sz="2000" i="1" dirty="0">
                <a:hlinkClick r:id="rId7"/>
              </a:rPr>
              <a:t>Recipient’s Address (Style of Address)</a:t>
            </a:r>
            <a:r>
              <a:rPr lang="en-US" sz="2000" i="1" dirty="0"/>
              <a:t> </a:t>
            </a:r>
            <a:r>
              <a:rPr lang="en-US" sz="2000" dirty="0"/>
              <a:t/>
            </a:r>
            <a:br>
              <a:rPr lang="en-US" sz="2000" dirty="0"/>
            </a:br>
            <a:r>
              <a:rPr lang="en-US" sz="2000" dirty="0"/>
              <a:t/>
            </a:r>
            <a:br>
              <a:rPr lang="en-US" sz="2000" dirty="0"/>
            </a:br>
            <a:r>
              <a:rPr lang="en-US" sz="2000" i="1" dirty="0"/>
              <a:t>6. </a:t>
            </a:r>
            <a:r>
              <a:rPr lang="en-US" sz="2000" i="1" dirty="0">
                <a:hlinkClick r:id="rId8"/>
              </a:rPr>
              <a:t>Attention Line</a:t>
            </a:r>
            <a:r>
              <a:rPr lang="en-US" sz="2000" i="1" dirty="0"/>
              <a:t> (optional)</a:t>
            </a:r>
            <a:r>
              <a:rPr lang="en-US" sz="2000" dirty="0"/>
              <a:t/>
            </a:r>
            <a:br>
              <a:rPr lang="en-US" sz="2000" dirty="0"/>
            </a:br>
            <a:r>
              <a:rPr lang="en-US" sz="2000" dirty="0"/>
              <a:t/>
            </a:r>
            <a:br>
              <a:rPr lang="en-US" sz="2000" dirty="0"/>
            </a:br>
            <a:r>
              <a:rPr lang="en-US" sz="2000" i="1" dirty="0"/>
              <a:t>7. </a:t>
            </a:r>
            <a:r>
              <a:rPr lang="en-US" sz="2000" i="1" dirty="0">
                <a:hlinkClick r:id="rId9"/>
              </a:rPr>
              <a:t>Salutation</a:t>
            </a:r>
            <a:r>
              <a:rPr lang="en-US" sz="2000" dirty="0"/>
              <a:t/>
            </a:r>
            <a:br>
              <a:rPr lang="en-US" sz="2000" dirty="0"/>
            </a:br>
            <a:r>
              <a:rPr lang="en-US" sz="2000" dirty="0"/>
              <a:t/>
            </a:r>
            <a:br>
              <a:rPr lang="en-US" sz="2000" dirty="0"/>
            </a:br>
            <a:r>
              <a:rPr lang="en-US" sz="2000" i="1" dirty="0"/>
              <a:t>8. </a:t>
            </a:r>
            <a:r>
              <a:rPr lang="en-US" sz="2000" i="1" dirty="0">
                <a:hlinkClick r:id="rId10"/>
              </a:rPr>
              <a:t>Subject of The Letter</a:t>
            </a:r>
            <a:r>
              <a:rPr lang="en-US" sz="2000" i="1" dirty="0"/>
              <a:t> (optional</a:t>
            </a:r>
            <a:endParaRPr lang="en-US" sz="2000" dirty="0"/>
          </a:p>
        </p:txBody>
      </p:sp>
      <p:sp>
        <p:nvSpPr>
          <p:cNvPr id="6" name="Content Placeholder 5"/>
          <p:cNvSpPr>
            <a:spLocks noGrp="1"/>
          </p:cNvSpPr>
          <p:nvPr>
            <p:ph sz="quarter" idx="14"/>
          </p:nvPr>
        </p:nvSpPr>
        <p:spPr>
          <a:xfrm>
            <a:off x="4800600" y="838200"/>
            <a:ext cx="3733800" cy="5791200"/>
          </a:xfrm>
        </p:spPr>
        <p:txBody>
          <a:bodyPr>
            <a:normAutofit/>
          </a:bodyPr>
          <a:lstStyle/>
          <a:p>
            <a:r>
              <a:rPr lang="en-US" sz="2000" i="1" dirty="0"/>
              <a:t>9. </a:t>
            </a:r>
            <a:r>
              <a:rPr lang="en-US" sz="2000" i="1" dirty="0">
                <a:hlinkClick r:id="rId11"/>
              </a:rPr>
              <a:t>Body of The Letter</a:t>
            </a:r>
            <a:r>
              <a:rPr lang="en-US" sz="2000" dirty="0"/>
              <a:t/>
            </a:r>
            <a:br>
              <a:rPr lang="en-US" sz="2000" dirty="0"/>
            </a:br>
            <a:r>
              <a:rPr lang="en-US" sz="2000" dirty="0"/>
              <a:t/>
            </a:r>
            <a:br>
              <a:rPr lang="en-US" sz="2000" dirty="0"/>
            </a:br>
            <a:r>
              <a:rPr lang="en-US" sz="2000" i="1" dirty="0"/>
              <a:t>10. </a:t>
            </a:r>
            <a:r>
              <a:rPr lang="en-US" sz="2000" i="1" dirty="0">
                <a:hlinkClick r:id="rId12"/>
              </a:rPr>
              <a:t>Complimentary Closing</a:t>
            </a:r>
            <a:r>
              <a:rPr lang="en-US" sz="2000" i="1" dirty="0"/>
              <a:t> (optional)</a:t>
            </a:r>
            <a:r>
              <a:rPr lang="en-US" sz="2000" dirty="0"/>
              <a:t/>
            </a:r>
            <a:br>
              <a:rPr lang="en-US" sz="2000" dirty="0"/>
            </a:br>
            <a:r>
              <a:rPr lang="en-US" sz="2000" dirty="0"/>
              <a:t/>
            </a:r>
            <a:br>
              <a:rPr lang="en-US" sz="2000" dirty="0"/>
            </a:br>
            <a:r>
              <a:rPr lang="en-US" sz="2000" i="1" dirty="0"/>
              <a:t>11. </a:t>
            </a:r>
            <a:r>
              <a:rPr lang="en-US" sz="2000" i="1" u="sng" dirty="0">
                <a:hlinkClick r:id="rId13"/>
              </a:rPr>
              <a:t>Signature</a:t>
            </a:r>
            <a:r>
              <a:rPr lang="en-US" sz="2000" dirty="0"/>
              <a:t/>
            </a:r>
            <a:br>
              <a:rPr lang="en-US" sz="2000" dirty="0"/>
            </a:br>
            <a:r>
              <a:rPr lang="en-US" sz="2000" dirty="0"/>
              <a:t/>
            </a:r>
            <a:br>
              <a:rPr lang="en-US" sz="2000" dirty="0"/>
            </a:br>
            <a:r>
              <a:rPr lang="en-US" sz="2000" i="1" dirty="0"/>
              <a:t>12. </a:t>
            </a:r>
            <a:r>
              <a:rPr lang="en-US" sz="2000" i="1" dirty="0">
                <a:hlinkClick r:id="rId13"/>
              </a:rPr>
              <a:t>Name and Designation</a:t>
            </a:r>
            <a:r>
              <a:rPr lang="en-US" sz="2000" dirty="0"/>
              <a:t/>
            </a:r>
            <a:br>
              <a:rPr lang="en-US" sz="2000" dirty="0"/>
            </a:br>
            <a:r>
              <a:rPr lang="en-US" sz="2000" dirty="0"/>
              <a:t/>
            </a:r>
            <a:br>
              <a:rPr lang="en-US" sz="2000" dirty="0"/>
            </a:br>
            <a:r>
              <a:rPr lang="en-US" sz="2000" i="1" dirty="0"/>
              <a:t>13. </a:t>
            </a:r>
            <a:r>
              <a:rPr lang="en-US" sz="2000" i="1" dirty="0">
                <a:hlinkClick r:id="rId14"/>
              </a:rPr>
              <a:t>Postscript</a:t>
            </a:r>
            <a:r>
              <a:rPr lang="en-US" sz="2000" i="1" dirty="0"/>
              <a:t> (optional)</a:t>
            </a:r>
            <a:r>
              <a:rPr lang="en-US" sz="2000" dirty="0"/>
              <a:t/>
            </a:r>
            <a:br>
              <a:rPr lang="en-US" sz="2000" dirty="0"/>
            </a:br>
            <a:r>
              <a:rPr lang="en-US" sz="2000" dirty="0"/>
              <a:t/>
            </a:r>
            <a:br>
              <a:rPr lang="en-US" sz="2000" dirty="0"/>
            </a:br>
            <a:r>
              <a:rPr lang="en-US" sz="2000" i="1" dirty="0"/>
              <a:t>14. </a:t>
            </a:r>
            <a:r>
              <a:rPr lang="en-US" sz="2000" i="1" dirty="0">
                <a:hlinkClick r:id="rId15"/>
              </a:rPr>
              <a:t>Enclosures</a:t>
            </a:r>
            <a:r>
              <a:rPr lang="en-US" sz="2000" i="1" dirty="0"/>
              <a:t> (optional)</a:t>
            </a:r>
            <a:r>
              <a:rPr lang="en-US" sz="2000" dirty="0"/>
              <a:t/>
            </a:r>
            <a:br>
              <a:rPr lang="en-US" sz="2000" dirty="0"/>
            </a:br>
            <a:r>
              <a:rPr lang="en-US" sz="2000" dirty="0"/>
              <a:t/>
            </a:r>
            <a:br>
              <a:rPr lang="en-US" sz="2000" dirty="0"/>
            </a:br>
            <a:r>
              <a:rPr lang="en-US" sz="2000" i="1" dirty="0"/>
              <a:t>15. </a:t>
            </a:r>
            <a:r>
              <a:rPr lang="en-US" sz="2000" i="1" dirty="0">
                <a:hlinkClick r:id="rId16"/>
              </a:rPr>
              <a:t>Typist’s Name and Initials</a:t>
            </a:r>
            <a:r>
              <a:rPr lang="en-US" sz="2000" i="1" dirty="0"/>
              <a:t> (optional)</a:t>
            </a:r>
            <a:endParaRPr lang="en-US" sz="2000" dirty="0"/>
          </a:p>
          <a:p>
            <a:r>
              <a:rPr lang="en-US" dirty="0" smtClean="0"/>
              <a:t>`</a:t>
            </a:r>
            <a:endParaRPr lang="en-US" dirty="0"/>
          </a:p>
        </p:txBody>
      </p:sp>
      <p:sp>
        <p:nvSpPr>
          <p:cNvPr id="4" name="Title 3"/>
          <p:cNvSpPr>
            <a:spLocks noGrp="1"/>
          </p:cNvSpPr>
          <p:nvPr>
            <p:ph type="title"/>
          </p:nvPr>
        </p:nvSpPr>
        <p:spPr>
          <a:xfrm>
            <a:off x="609600" y="-533400"/>
            <a:ext cx="7924800" cy="1143000"/>
          </a:xfrm>
        </p:spPr>
        <p:txBody>
          <a:bodyPr/>
          <a:lstStyle/>
          <a:p>
            <a:r>
              <a:rPr lang="en-US" dirty="0" smtClean="0"/>
              <a:t>Compulsory and optional parts </a:t>
            </a:r>
            <a:endParaRPr lang="en-US" dirty="0"/>
          </a:p>
        </p:txBody>
      </p:sp>
    </p:spTree>
    <p:extLst>
      <p:ext uri="{BB962C8B-B14F-4D97-AF65-F5344CB8AC3E}">
        <p14:creationId xmlns:p14="http://schemas.microsoft.com/office/powerpoint/2010/main" val="31878098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1371600"/>
            <a:ext cx="9144000" cy="5509200"/>
          </a:xfrm>
          <a:prstGeom prst="rect">
            <a:avLst/>
          </a:prstGeom>
          <a:noFill/>
        </p:spPr>
        <p:txBody>
          <a:bodyPr wrap="square" rtlCol="0">
            <a:spAutoFit/>
          </a:bodyPr>
          <a:lstStyle/>
          <a:p>
            <a:pPr marL="342900" indent="-342900" algn="just">
              <a:buFont typeface="Wingdings" pitchFamily="2" charset="2"/>
              <a:buChar char="ü"/>
            </a:pPr>
            <a:r>
              <a:rPr lang="en-US" sz="2200" b="1" dirty="0" smtClean="0">
                <a:latin typeface="Times New Roman" pitchFamily="18" charset="0"/>
                <a:cs typeface="Times New Roman" pitchFamily="18" charset="0"/>
              </a:rPr>
              <a:t>Dear Sir or Madam,</a:t>
            </a:r>
          </a:p>
          <a:p>
            <a:pPr algn="just"/>
            <a:r>
              <a:rPr lang="en-US" sz="2200" dirty="0" smtClean="0">
                <a:latin typeface="Times New Roman" pitchFamily="18" charset="0"/>
                <a:cs typeface="Times New Roman" pitchFamily="18" charset="0"/>
              </a:rPr>
              <a:t>	If you do not know the name of the person you are writing to, use this. It is always advisable to try to find out the name.</a:t>
            </a:r>
          </a:p>
          <a:p>
            <a:pPr algn="just"/>
            <a:endParaRPr lang="en-US" sz="2200" dirty="0" smtClean="0">
              <a:latin typeface="Times New Roman" pitchFamily="18" charset="0"/>
              <a:cs typeface="Times New Roman" pitchFamily="18" charset="0"/>
            </a:endParaRPr>
          </a:p>
          <a:p>
            <a:pPr marL="342900" indent="-342900" algn="just">
              <a:buFont typeface="Wingdings" pitchFamily="2" charset="2"/>
              <a:buChar char="ü"/>
            </a:pPr>
            <a:r>
              <a:rPr lang="en-US" sz="2200" b="1" dirty="0" smtClean="0">
                <a:latin typeface="Times New Roman" pitchFamily="18" charset="0"/>
                <a:cs typeface="Times New Roman" pitchFamily="18" charset="0"/>
              </a:rPr>
              <a:t>Dear Mr. Asfand,</a:t>
            </a:r>
          </a:p>
          <a:p>
            <a:pPr algn="just"/>
            <a:r>
              <a:rPr lang="en-US" sz="2200" dirty="0" smtClean="0">
                <a:latin typeface="Times New Roman" pitchFamily="18" charset="0"/>
                <a:cs typeface="Times New Roman" pitchFamily="18" charset="0"/>
              </a:rPr>
              <a:t>	If you the name, use the title (Mr, Mrs, Miss or Ms, Dr, etc.) and the surname only. If you are writing to a woman and do not know if she uses Mrs or Miss, you can use Ms, which is for married and single women.</a:t>
            </a:r>
          </a:p>
          <a:p>
            <a:pPr algn="just"/>
            <a:endParaRPr lang="en-US" sz="2200" dirty="0" smtClean="0">
              <a:latin typeface="Times New Roman" pitchFamily="18" charset="0"/>
              <a:cs typeface="Times New Roman" pitchFamily="18" charset="0"/>
            </a:endParaRPr>
          </a:p>
          <a:p>
            <a:pPr marL="342900" indent="-342900" algn="just">
              <a:buFont typeface="Wingdings" pitchFamily="2" charset="2"/>
              <a:buChar char="ü"/>
            </a:pPr>
            <a:r>
              <a:rPr lang="en-US" sz="2200" dirty="0" smtClean="0">
                <a:latin typeface="Times New Roman" pitchFamily="18" charset="0"/>
                <a:cs typeface="Times New Roman" pitchFamily="18" charset="0"/>
              </a:rPr>
              <a:t>Be </a:t>
            </a:r>
            <a:r>
              <a:rPr lang="en-US" sz="2200" dirty="0">
                <a:latin typeface="Times New Roman" pitchFamily="18" charset="0"/>
                <a:cs typeface="Times New Roman" pitchFamily="18" charset="0"/>
              </a:rPr>
              <a:t>clear , brief and </a:t>
            </a:r>
            <a:r>
              <a:rPr lang="en-US" sz="2200" dirty="0" smtClean="0">
                <a:latin typeface="Times New Roman" pitchFamily="18" charset="0"/>
                <a:cs typeface="Times New Roman" pitchFamily="18" charset="0"/>
              </a:rPr>
              <a:t>businesslike.</a:t>
            </a:r>
          </a:p>
          <a:p>
            <a:pPr marL="342900" indent="-342900" algn="just">
              <a:buFont typeface="Wingdings" pitchFamily="2" charset="2"/>
              <a:buChar char="ü"/>
            </a:pPr>
            <a:r>
              <a:rPr lang="en-US" sz="2200" dirty="0" smtClean="0">
                <a:latin typeface="Times New Roman" pitchFamily="18" charset="0"/>
                <a:cs typeface="Times New Roman" pitchFamily="18" charset="0"/>
              </a:rPr>
              <a:t>Be </a:t>
            </a:r>
            <a:r>
              <a:rPr lang="en-US" sz="2200" dirty="0">
                <a:latin typeface="Times New Roman" pitchFamily="18" charset="0"/>
                <a:cs typeface="Times New Roman" pitchFamily="18" charset="0"/>
              </a:rPr>
              <a:t>polite and </a:t>
            </a:r>
            <a:r>
              <a:rPr lang="en-US" sz="2200" dirty="0" smtClean="0">
                <a:latin typeface="Times New Roman" pitchFamily="18" charset="0"/>
                <a:cs typeface="Times New Roman" pitchFamily="18" charset="0"/>
              </a:rPr>
              <a:t>friendly.</a:t>
            </a:r>
          </a:p>
          <a:p>
            <a:pPr marL="342900" indent="-342900" algn="just">
              <a:buFont typeface="Wingdings" pitchFamily="2" charset="2"/>
              <a:buChar char="ü"/>
            </a:pPr>
            <a:r>
              <a:rPr lang="en-US" sz="2200" dirty="0" smtClean="0">
                <a:latin typeface="Times New Roman" pitchFamily="18" charset="0"/>
                <a:cs typeface="Times New Roman" pitchFamily="18" charset="0"/>
              </a:rPr>
              <a:t>Write </a:t>
            </a:r>
            <a:r>
              <a:rPr lang="en-US" sz="2200" dirty="0">
                <a:latin typeface="Times New Roman" pitchFamily="18" charset="0"/>
                <a:cs typeface="Times New Roman" pitchFamily="18" charset="0"/>
              </a:rPr>
              <a:t>concise and purposeful </a:t>
            </a:r>
            <a:r>
              <a:rPr lang="en-US" sz="2200" dirty="0" smtClean="0">
                <a:latin typeface="Times New Roman" pitchFamily="18" charset="0"/>
                <a:cs typeface="Times New Roman" pitchFamily="18" charset="0"/>
              </a:rPr>
              <a:t>letter.</a:t>
            </a:r>
          </a:p>
          <a:p>
            <a:pPr marL="342900" indent="-342900" algn="just">
              <a:buFont typeface="Wingdings" pitchFamily="2" charset="2"/>
              <a:buChar char="ü"/>
            </a:pPr>
            <a:r>
              <a:rPr lang="en-US" sz="2200" dirty="0" smtClean="0">
                <a:latin typeface="Times New Roman" pitchFamily="18" charset="0"/>
                <a:cs typeface="Times New Roman" pitchFamily="18" charset="0"/>
              </a:rPr>
              <a:t>Do </a:t>
            </a:r>
            <a:r>
              <a:rPr lang="en-US" sz="2200" dirty="0">
                <a:latin typeface="Times New Roman" pitchFamily="18" charset="0"/>
                <a:cs typeface="Times New Roman" pitchFamily="18" charset="0"/>
              </a:rPr>
              <a:t>not try to impress with you writing</a:t>
            </a:r>
            <a:r>
              <a:rPr lang="en-US" sz="2200" dirty="0" smtClean="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p:txBody>
      </p:sp>
      <p:sp>
        <p:nvSpPr>
          <p:cNvPr id="6" name="TextBox 5"/>
          <p:cNvSpPr txBox="1"/>
          <p:nvPr/>
        </p:nvSpPr>
        <p:spPr>
          <a:xfrm>
            <a:off x="0" y="457200"/>
            <a:ext cx="9144000" cy="553998"/>
          </a:xfrm>
          <a:prstGeom prst="rect">
            <a:avLst/>
          </a:prstGeom>
          <a:noFill/>
        </p:spPr>
        <p:txBody>
          <a:bodyPr wrap="square" rtlCol="0">
            <a:spAutoFit/>
          </a:bodyPr>
          <a:lstStyle/>
          <a:p>
            <a:r>
              <a:rPr lang="en-US" sz="3000" b="1" i="1" u="sng" dirty="0" smtClean="0">
                <a:latin typeface="Times New Roman" pitchFamily="18" charset="0"/>
                <a:cs typeface="Times New Roman" pitchFamily="18" charset="0"/>
              </a:rPr>
              <a:t>Things to keep in mind while writing letters: </a:t>
            </a:r>
            <a:endParaRPr lang="en-US" sz="3000" b="1" i="1" u="sng" dirty="0">
              <a:latin typeface="Times New Roman" pitchFamily="18" charset="0"/>
              <a:cs typeface="Times New Roman" pitchFamily="18" charset="0"/>
            </a:endParaRPr>
          </a:p>
        </p:txBody>
      </p:sp>
    </p:spTree>
    <p:extLst>
      <p:ext uri="{BB962C8B-B14F-4D97-AF65-F5344CB8AC3E}">
        <p14:creationId xmlns:p14="http://schemas.microsoft.com/office/powerpoint/2010/main" val="561932668"/>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52400"/>
            <a:ext cx="9144000" cy="5232202"/>
          </a:xfrm>
          <a:prstGeom prst="rect">
            <a:avLst/>
          </a:prstGeom>
          <a:noFill/>
        </p:spPr>
        <p:txBody>
          <a:bodyPr wrap="square" rtlCol="0">
            <a:spAutoFit/>
          </a:bodyPr>
          <a:lstStyle/>
          <a:p>
            <a:pPr algn="ctr"/>
            <a:r>
              <a:rPr lang="en-US" sz="3000" b="1" i="1" u="sng" dirty="0" smtClean="0">
                <a:solidFill>
                  <a:schemeClr val="accent1">
                    <a:lumMod val="60000"/>
                    <a:lumOff val="40000"/>
                  </a:schemeClr>
                </a:solidFill>
                <a:latin typeface="Times New Roman" pitchFamily="18" charset="0"/>
                <a:cs typeface="Times New Roman" pitchFamily="18" charset="0"/>
              </a:rPr>
              <a:t>Ending a letter:</a:t>
            </a:r>
          </a:p>
          <a:p>
            <a:pPr algn="just"/>
            <a:endParaRPr lang="en-US" sz="3000" dirty="0" smtClean="0">
              <a:latin typeface="Times New Roman" pitchFamily="18" charset="0"/>
              <a:cs typeface="Times New Roman" pitchFamily="18" charset="0"/>
            </a:endParaRPr>
          </a:p>
          <a:p>
            <a:pPr algn="just"/>
            <a:endParaRPr lang="en-US" sz="3000" dirty="0" smtClean="0">
              <a:latin typeface="Times New Roman" pitchFamily="18" charset="0"/>
              <a:cs typeface="Times New Roman" pitchFamily="18" charset="0"/>
            </a:endParaRPr>
          </a:p>
          <a:p>
            <a:pPr algn="just"/>
            <a:r>
              <a:rPr lang="en-US" sz="2600" dirty="0" smtClean="0">
                <a:latin typeface="Times New Roman" pitchFamily="18" charset="0"/>
                <a:cs typeface="Times New Roman" pitchFamily="18" charset="0"/>
              </a:rPr>
              <a:t>Yours Faithfully</a:t>
            </a:r>
          </a:p>
          <a:p>
            <a:pPr algn="just"/>
            <a:r>
              <a:rPr lang="en-US" sz="2600" dirty="0">
                <a:latin typeface="Times New Roman" pitchFamily="18" charset="0"/>
                <a:cs typeface="Times New Roman" pitchFamily="18" charset="0"/>
              </a:rPr>
              <a:t>	</a:t>
            </a:r>
            <a:r>
              <a:rPr lang="en-US" sz="2200" dirty="0">
                <a:latin typeface="Times New Roman" pitchFamily="18" charset="0"/>
                <a:cs typeface="Times New Roman" pitchFamily="18" charset="0"/>
              </a:rPr>
              <a:t>I</a:t>
            </a:r>
            <a:r>
              <a:rPr lang="en-US" sz="2200" dirty="0" smtClean="0">
                <a:latin typeface="Times New Roman" pitchFamily="18" charset="0"/>
                <a:cs typeface="Times New Roman" pitchFamily="18" charset="0"/>
              </a:rPr>
              <a:t>f you do not know the name of the person, end the letter this way.</a:t>
            </a:r>
          </a:p>
          <a:p>
            <a:pPr algn="just"/>
            <a:endParaRPr lang="en-US" sz="2200" dirty="0" smtClean="0">
              <a:latin typeface="Times New Roman" pitchFamily="18" charset="0"/>
              <a:cs typeface="Times New Roman" pitchFamily="18" charset="0"/>
            </a:endParaRPr>
          </a:p>
          <a:p>
            <a:pPr algn="just"/>
            <a:r>
              <a:rPr lang="en-US" sz="2600" dirty="0" smtClean="0">
                <a:latin typeface="Times New Roman" pitchFamily="18" charset="0"/>
                <a:cs typeface="Times New Roman" pitchFamily="18" charset="0"/>
              </a:rPr>
              <a:t>Yours Sincerely</a:t>
            </a:r>
          </a:p>
          <a:p>
            <a:pPr algn="just"/>
            <a:r>
              <a:rPr lang="en-US" sz="26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If you know the name of the person, end the letter this way.</a:t>
            </a:r>
          </a:p>
          <a:p>
            <a:pPr algn="just"/>
            <a:endParaRPr lang="en-US" sz="2200" dirty="0" smtClean="0">
              <a:latin typeface="Times New Roman" pitchFamily="18" charset="0"/>
              <a:cs typeface="Times New Roman" pitchFamily="18" charset="0"/>
            </a:endParaRPr>
          </a:p>
          <a:p>
            <a:pPr algn="just"/>
            <a:r>
              <a:rPr lang="en-US" sz="2600" dirty="0" smtClean="0">
                <a:latin typeface="Times New Roman" pitchFamily="18" charset="0"/>
                <a:cs typeface="Times New Roman" pitchFamily="18" charset="0"/>
              </a:rPr>
              <a:t>Your Signature</a:t>
            </a:r>
          </a:p>
          <a:p>
            <a:pPr algn="just"/>
            <a:r>
              <a:rPr lang="en-US" sz="26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Sign your name, then print it underneath the signature. If you think the person you are writing to might not know whether you are male or female, put your title in brackets after your name.</a:t>
            </a: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233632889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68" y="47625"/>
            <a:ext cx="9003732" cy="6743700"/>
          </a:xfrm>
          <a:prstGeom prst="rect">
            <a:avLst/>
          </a:prstGeom>
        </p:spPr>
      </p:pic>
    </p:spTree>
    <p:extLst>
      <p:ext uri="{BB962C8B-B14F-4D97-AF65-F5344CB8AC3E}">
        <p14:creationId xmlns:p14="http://schemas.microsoft.com/office/powerpoint/2010/main" val="371623318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447800"/>
            <a:ext cx="4343400" cy="5181600"/>
          </a:xfrm>
          <a:prstGeom prst="rect">
            <a:avLst/>
          </a:prstGeom>
        </p:spPr>
      </p:pic>
      <p:sp>
        <p:nvSpPr>
          <p:cNvPr id="8" name="TextBox 7"/>
          <p:cNvSpPr txBox="1"/>
          <p:nvPr/>
        </p:nvSpPr>
        <p:spPr>
          <a:xfrm>
            <a:off x="0" y="228600"/>
            <a:ext cx="9144000" cy="553998"/>
          </a:xfrm>
          <a:prstGeom prst="rect">
            <a:avLst/>
          </a:prstGeom>
          <a:noFill/>
        </p:spPr>
        <p:txBody>
          <a:bodyPr wrap="square" rtlCol="0">
            <a:spAutoFit/>
          </a:bodyPr>
          <a:lstStyle/>
          <a:p>
            <a:pPr algn="ctr"/>
            <a:r>
              <a:rPr lang="en-US" sz="3000" b="1" i="1" u="sng" dirty="0" smtClean="0">
                <a:latin typeface="Times New Roman" pitchFamily="18" charset="0"/>
                <a:cs typeface="Times New Roman" pitchFamily="18" charset="0"/>
              </a:rPr>
              <a:t>Samples Of Letters:</a:t>
            </a:r>
            <a:endParaRPr lang="en-US" sz="3000" b="1" i="1" u="sng" dirty="0">
              <a:latin typeface="Times New Roman" pitchFamily="18" charset="0"/>
              <a:cs typeface="Times New Roman" pitchFamily="18" charset="0"/>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3000" y="1447800"/>
            <a:ext cx="3962400" cy="5181600"/>
          </a:xfrm>
          <a:prstGeom prst="rect">
            <a:avLst/>
          </a:prstGeom>
        </p:spPr>
      </p:pic>
    </p:spTree>
    <p:extLst>
      <p:ext uri="{BB962C8B-B14F-4D97-AF65-F5344CB8AC3E}">
        <p14:creationId xmlns:p14="http://schemas.microsoft.com/office/powerpoint/2010/main" val="364596774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838200"/>
            <a:ext cx="4005943" cy="5159829"/>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3000" y="838201"/>
            <a:ext cx="3948150" cy="5148944"/>
          </a:xfrm>
          <a:prstGeom prst="rect">
            <a:avLst/>
          </a:prstGeom>
        </p:spPr>
      </p:pic>
    </p:spTree>
    <p:extLst>
      <p:ext uri="{BB962C8B-B14F-4D97-AF65-F5344CB8AC3E}">
        <p14:creationId xmlns:p14="http://schemas.microsoft.com/office/powerpoint/2010/main" val="127371066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3217" y="457200"/>
            <a:ext cx="9080783" cy="553998"/>
          </a:xfrm>
          <a:prstGeom prst="rect">
            <a:avLst/>
          </a:prstGeom>
        </p:spPr>
        <p:txBody>
          <a:bodyPr wrap="square">
            <a:spAutoFit/>
          </a:bodyPr>
          <a:lstStyle/>
          <a:p>
            <a:pPr algn="ctr"/>
            <a:r>
              <a:rPr lang="en-US" sz="3000" b="1" i="1" u="sng" dirty="0">
                <a:latin typeface="Times New Roman" pitchFamily="18" charset="0"/>
                <a:cs typeface="Times New Roman" pitchFamily="18" charset="0"/>
              </a:rPr>
              <a:t>Samples Of Electronic Mail  (email</a:t>
            </a:r>
            <a:r>
              <a:rPr lang="en-US" sz="3000" b="1" i="1" u="sng" dirty="0" smtClean="0">
                <a:latin typeface="Times New Roman" pitchFamily="18" charset="0"/>
                <a:cs typeface="Times New Roman" pitchFamily="18" charset="0"/>
              </a:rPr>
              <a:t>)</a:t>
            </a:r>
            <a:endParaRPr lang="en-US" sz="3000" b="1" i="1" u="sng" dirty="0">
              <a:latin typeface="Times New Roman" pitchFamily="18" charset="0"/>
              <a:cs typeface="Times New Roman"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874" y="1197429"/>
            <a:ext cx="4248703" cy="5279571"/>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5800" y="1208315"/>
            <a:ext cx="4572000" cy="5236028"/>
          </a:xfrm>
          <a:prstGeom prst="rect">
            <a:avLst/>
          </a:prstGeom>
        </p:spPr>
      </p:pic>
    </p:spTree>
    <p:extLst>
      <p:ext uri="{BB962C8B-B14F-4D97-AF65-F5344CB8AC3E}">
        <p14:creationId xmlns:p14="http://schemas.microsoft.com/office/powerpoint/2010/main" val="76799871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308" y="283364"/>
            <a:ext cx="9144000" cy="553998"/>
          </a:xfrm>
          <a:prstGeom prst="rect">
            <a:avLst/>
          </a:prstGeom>
          <a:noFill/>
        </p:spPr>
        <p:txBody>
          <a:bodyPr wrap="square" rtlCol="0">
            <a:spAutoFit/>
          </a:bodyPr>
          <a:lstStyle/>
          <a:p>
            <a:pPr algn="ctr"/>
            <a:r>
              <a:rPr lang="en-US" sz="3000" b="1" i="1" u="sng" dirty="0" smtClean="0">
                <a:latin typeface="Times New Roman" pitchFamily="18" charset="0"/>
                <a:cs typeface="Times New Roman" pitchFamily="18" charset="0"/>
              </a:rPr>
              <a:t>Difference between Hard letter and Soft letter writing</a:t>
            </a:r>
            <a:endParaRPr lang="en-US" sz="3000" b="1" i="1" u="sng" dirty="0">
              <a:latin typeface="Times New Roman" pitchFamily="18" charset="0"/>
              <a:cs typeface="Times New Roman" pitchFamily="18" charset="0"/>
            </a:endParaRPr>
          </a:p>
        </p:txBody>
      </p:sp>
      <p:sp>
        <p:nvSpPr>
          <p:cNvPr id="4" name="Content Placeholder 3"/>
          <p:cNvSpPr>
            <a:spLocks noGrp="1"/>
          </p:cNvSpPr>
          <p:nvPr>
            <p:ph sz="quarter" idx="13"/>
          </p:nvPr>
        </p:nvSpPr>
        <p:spPr>
          <a:xfrm>
            <a:off x="457200" y="2362200"/>
            <a:ext cx="3733800" cy="4114800"/>
          </a:xfrm>
        </p:spPr>
        <p:txBody>
          <a:bodyPr>
            <a:normAutofit/>
          </a:bodyPr>
          <a:lstStyle/>
          <a:p>
            <a:pPr algn="just"/>
            <a:r>
              <a:rPr lang="en-US" sz="2200" dirty="0" smtClean="0">
                <a:latin typeface="Times New Roman" pitchFamily="18" charset="0"/>
                <a:cs typeface="Times New Roman" pitchFamily="18" charset="0"/>
              </a:rPr>
              <a:t>Hard letters are in the form of printed or written on pages.</a:t>
            </a:r>
          </a:p>
          <a:p>
            <a:pPr algn="just"/>
            <a:r>
              <a:rPr lang="en-US" sz="2200" dirty="0" smtClean="0">
                <a:latin typeface="Times New Roman" pitchFamily="18" charset="0"/>
                <a:cs typeface="Times New Roman" pitchFamily="18" charset="0"/>
              </a:rPr>
              <a:t>Hard letters do not need any electronic mean to read them.</a:t>
            </a:r>
          </a:p>
          <a:p>
            <a:pPr algn="just"/>
            <a:endParaRPr lang="en-US" sz="2200" dirty="0">
              <a:latin typeface="Times New Roman" pitchFamily="18" charset="0"/>
              <a:cs typeface="Times New Roman" pitchFamily="18" charset="0"/>
            </a:endParaRPr>
          </a:p>
        </p:txBody>
      </p:sp>
      <p:sp>
        <p:nvSpPr>
          <p:cNvPr id="5" name="Content Placeholder 4"/>
          <p:cNvSpPr>
            <a:spLocks noGrp="1"/>
          </p:cNvSpPr>
          <p:nvPr>
            <p:ph sz="quarter" idx="14"/>
          </p:nvPr>
        </p:nvSpPr>
        <p:spPr>
          <a:xfrm>
            <a:off x="4800600" y="2286000"/>
            <a:ext cx="3733800" cy="4114800"/>
          </a:xfrm>
        </p:spPr>
        <p:txBody>
          <a:bodyPr>
            <a:normAutofit/>
          </a:bodyPr>
          <a:lstStyle/>
          <a:p>
            <a:r>
              <a:rPr lang="en-US" sz="2200" dirty="0" smtClean="0">
                <a:latin typeface="Times New Roman" pitchFamily="18" charset="0"/>
                <a:cs typeface="Times New Roman" pitchFamily="18" charset="0"/>
              </a:rPr>
              <a:t>Soft letters are in the form of soft copies.</a:t>
            </a:r>
          </a:p>
          <a:p>
            <a:r>
              <a:rPr lang="en-US" sz="2200" dirty="0" smtClean="0">
                <a:latin typeface="Times New Roman" pitchFamily="18" charset="0"/>
                <a:cs typeface="Times New Roman" pitchFamily="18" charset="0"/>
              </a:rPr>
              <a:t>These can either be saved in cd’s, hard disks or flash drives.</a:t>
            </a:r>
          </a:p>
          <a:p>
            <a:r>
              <a:rPr lang="en-US" sz="2200" dirty="0" smtClean="0">
                <a:latin typeface="Times New Roman" pitchFamily="18" charset="0"/>
                <a:cs typeface="Times New Roman" pitchFamily="18" charset="0"/>
              </a:rPr>
              <a:t>These can also be electronic letters.</a:t>
            </a:r>
          </a:p>
          <a:p>
            <a:r>
              <a:rPr lang="en-US" sz="2200" dirty="0" smtClean="0">
                <a:latin typeface="Times New Roman" pitchFamily="18" charset="0"/>
                <a:cs typeface="Times New Roman" pitchFamily="18" charset="0"/>
              </a:rPr>
              <a:t>Soft copy letters need electronic means to read them.</a:t>
            </a:r>
            <a:endParaRPr lang="en-US" sz="2200" dirty="0">
              <a:latin typeface="Times New Roman" pitchFamily="18" charset="0"/>
              <a:cs typeface="Times New Roman" pitchFamily="18" charset="0"/>
            </a:endParaRPr>
          </a:p>
        </p:txBody>
      </p:sp>
      <p:sp>
        <p:nvSpPr>
          <p:cNvPr id="6" name="TextBox 5"/>
          <p:cNvSpPr txBox="1"/>
          <p:nvPr/>
        </p:nvSpPr>
        <p:spPr>
          <a:xfrm>
            <a:off x="481818" y="1294227"/>
            <a:ext cx="3124200" cy="492443"/>
          </a:xfrm>
          <a:prstGeom prst="rect">
            <a:avLst/>
          </a:prstGeom>
          <a:noFill/>
        </p:spPr>
        <p:txBody>
          <a:bodyPr wrap="square" rtlCol="0">
            <a:spAutoFit/>
          </a:bodyPr>
          <a:lstStyle/>
          <a:p>
            <a:r>
              <a:rPr lang="en-US" sz="2600" b="1" i="1" u="sng" dirty="0" smtClean="0">
                <a:solidFill>
                  <a:schemeClr val="accent1">
                    <a:lumMod val="60000"/>
                    <a:lumOff val="40000"/>
                  </a:schemeClr>
                </a:solidFill>
                <a:latin typeface="Times New Roman" pitchFamily="18" charset="0"/>
                <a:cs typeface="Times New Roman" pitchFamily="18" charset="0"/>
              </a:rPr>
              <a:t>Hard Letter Writing</a:t>
            </a:r>
            <a:endParaRPr lang="en-US" sz="2600" b="1" i="1" u="sng" dirty="0">
              <a:solidFill>
                <a:schemeClr val="accent1">
                  <a:lumMod val="60000"/>
                  <a:lumOff val="40000"/>
                </a:schemeClr>
              </a:solidFill>
              <a:latin typeface="Times New Roman" pitchFamily="18" charset="0"/>
              <a:cs typeface="Times New Roman" pitchFamily="18" charset="0"/>
            </a:endParaRPr>
          </a:p>
        </p:txBody>
      </p:sp>
      <p:sp>
        <p:nvSpPr>
          <p:cNvPr id="7" name="Rectangle 6"/>
          <p:cNvSpPr/>
          <p:nvPr/>
        </p:nvSpPr>
        <p:spPr>
          <a:xfrm>
            <a:off x="5410200" y="1294228"/>
            <a:ext cx="2749151" cy="492443"/>
          </a:xfrm>
          <a:prstGeom prst="rect">
            <a:avLst/>
          </a:prstGeom>
        </p:spPr>
        <p:txBody>
          <a:bodyPr wrap="none">
            <a:spAutoFit/>
          </a:bodyPr>
          <a:lstStyle/>
          <a:p>
            <a:r>
              <a:rPr lang="en-US" sz="2600" b="1" i="1" u="sng" dirty="0" smtClean="0">
                <a:solidFill>
                  <a:schemeClr val="accent1">
                    <a:lumMod val="60000"/>
                    <a:lumOff val="40000"/>
                  </a:schemeClr>
                </a:solidFill>
                <a:latin typeface="Times New Roman" pitchFamily="18" charset="0"/>
                <a:cs typeface="Times New Roman" pitchFamily="18" charset="0"/>
              </a:rPr>
              <a:t>Soft </a:t>
            </a:r>
            <a:r>
              <a:rPr lang="en-US" sz="2600" b="1" i="1" u="sng" dirty="0">
                <a:solidFill>
                  <a:schemeClr val="accent1">
                    <a:lumMod val="60000"/>
                    <a:lumOff val="40000"/>
                  </a:schemeClr>
                </a:solidFill>
                <a:latin typeface="Times New Roman" pitchFamily="18" charset="0"/>
                <a:cs typeface="Times New Roman" pitchFamily="18" charset="0"/>
              </a:rPr>
              <a:t>Letter Writing</a:t>
            </a:r>
          </a:p>
        </p:txBody>
      </p:sp>
    </p:spTree>
    <p:extLst>
      <p:ext uri="{BB962C8B-B14F-4D97-AF65-F5344CB8AC3E}">
        <p14:creationId xmlns:p14="http://schemas.microsoft.com/office/powerpoint/2010/main" val="427493768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308" y="685800"/>
            <a:ext cx="9144000" cy="769441"/>
          </a:xfrm>
          <a:prstGeom prst="rect">
            <a:avLst/>
          </a:prstGeom>
          <a:noFill/>
        </p:spPr>
        <p:txBody>
          <a:bodyPr wrap="square" rtlCol="0">
            <a:spAutoFit/>
          </a:bodyPr>
          <a:lstStyle/>
          <a:p>
            <a:pPr algn="just"/>
            <a:endParaRPr lang="en-US"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endParaRPr lang="en-US" sz="2200" dirty="0">
              <a:latin typeface="Times New Roman" pitchFamily="18" charset="0"/>
              <a:cs typeface="Times New Roman" pitchFamily="18" charset="0"/>
            </a:endParaRPr>
          </a:p>
        </p:txBody>
      </p:sp>
      <p:sp>
        <p:nvSpPr>
          <p:cNvPr id="4" name="Text Placeholder 3"/>
          <p:cNvSpPr>
            <a:spLocks noGrp="1"/>
          </p:cNvSpPr>
          <p:nvPr>
            <p:ph type="body" idx="1"/>
          </p:nvPr>
        </p:nvSpPr>
        <p:spPr/>
        <p:txBody>
          <a:bodyPr>
            <a:normAutofit/>
          </a:bodyPr>
          <a:lstStyle/>
          <a:p>
            <a:r>
              <a:rPr lang="en-US" sz="2600" b="1" i="1" u="sng" dirty="0" smtClean="0">
                <a:solidFill>
                  <a:schemeClr val="accent1">
                    <a:lumMod val="60000"/>
                    <a:lumOff val="40000"/>
                  </a:schemeClr>
                </a:solidFill>
                <a:latin typeface="Times New Roman" pitchFamily="18" charset="0"/>
                <a:cs typeface="Times New Roman" pitchFamily="18" charset="0"/>
              </a:rPr>
              <a:t>Letter</a:t>
            </a:r>
            <a:endParaRPr lang="en-US" sz="2600" b="1" i="1" u="sng" dirty="0">
              <a:solidFill>
                <a:schemeClr val="accent1">
                  <a:lumMod val="60000"/>
                  <a:lumOff val="40000"/>
                </a:schemeClr>
              </a:solidFill>
              <a:latin typeface="Times New Roman" pitchFamily="18" charset="0"/>
              <a:cs typeface="Times New Roman" pitchFamily="18" charset="0"/>
            </a:endParaRPr>
          </a:p>
        </p:txBody>
      </p:sp>
      <p:sp>
        <p:nvSpPr>
          <p:cNvPr id="5" name="Text Placeholder 4"/>
          <p:cNvSpPr>
            <a:spLocks noGrp="1"/>
          </p:cNvSpPr>
          <p:nvPr>
            <p:ph type="body" sz="quarter" idx="3"/>
          </p:nvPr>
        </p:nvSpPr>
        <p:spPr/>
        <p:txBody>
          <a:bodyPr>
            <a:normAutofit/>
          </a:bodyPr>
          <a:lstStyle/>
          <a:p>
            <a:r>
              <a:rPr lang="en-US" sz="2600" b="1" i="1" u="sng" dirty="0" smtClean="0">
                <a:solidFill>
                  <a:schemeClr val="accent1">
                    <a:lumMod val="60000"/>
                    <a:lumOff val="40000"/>
                  </a:schemeClr>
                </a:solidFill>
                <a:latin typeface="Times New Roman" pitchFamily="18" charset="0"/>
                <a:cs typeface="Times New Roman" pitchFamily="18" charset="0"/>
              </a:rPr>
              <a:t>Application</a:t>
            </a:r>
            <a:endParaRPr lang="en-US" sz="2600" b="1" i="1" u="sng" dirty="0">
              <a:solidFill>
                <a:schemeClr val="accent1">
                  <a:lumMod val="60000"/>
                  <a:lumOff val="40000"/>
                </a:schemeClr>
              </a:solidFill>
              <a:latin typeface="Times New Roman" pitchFamily="18" charset="0"/>
              <a:cs typeface="Times New Roman" pitchFamily="18" charset="0"/>
            </a:endParaRPr>
          </a:p>
        </p:txBody>
      </p:sp>
      <p:sp>
        <p:nvSpPr>
          <p:cNvPr id="6" name="Content Placeholder 5"/>
          <p:cNvSpPr>
            <a:spLocks noGrp="1"/>
          </p:cNvSpPr>
          <p:nvPr>
            <p:ph sz="quarter" idx="13"/>
          </p:nvPr>
        </p:nvSpPr>
        <p:spPr>
          <a:xfrm>
            <a:off x="609600" y="2209800"/>
            <a:ext cx="3733800" cy="4648200"/>
          </a:xfrm>
        </p:spPr>
        <p:txBody>
          <a:bodyPr>
            <a:normAutofit/>
          </a:bodyPr>
          <a:lstStyle/>
          <a:p>
            <a:r>
              <a:rPr lang="en-US" sz="2200" dirty="0" smtClean="0">
                <a:latin typeface="Times New Roman" pitchFamily="18" charset="0"/>
                <a:cs typeface="Times New Roman" pitchFamily="18" charset="0"/>
              </a:rPr>
              <a:t>A </a:t>
            </a:r>
            <a:r>
              <a:rPr lang="en-US" sz="2200" smtClean="0">
                <a:latin typeface="Times New Roman" pitchFamily="18" charset="0"/>
                <a:cs typeface="Times New Roman" pitchFamily="18" charset="0"/>
              </a:rPr>
              <a:t>letter you write </a:t>
            </a:r>
            <a:r>
              <a:rPr lang="en-US" sz="2200" dirty="0">
                <a:latin typeface="Times New Roman" pitchFamily="18" charset="0"/>
                <a:cs typeface="Times New Roman" pitchFamily="18" charset="0"/>
              </a:rPr>
              <a:t>because you are replying to someone or letting someone </a:t>
            </a:r>
            <a:r>
              <a:rPr lang="en-US" sz="2200" dirty="0" smtClean="0">
                <a:latin typeface="Times New Roman" pitchFamily="18" charset="0"/>
                <a:cs typeface="Times New Roman" pitchFamily="18" charset="0"/>
              </a:rPr>
              <a:t>know </a:t>
            </a:r>
            <a:r>
              <a:rPr lang="en-US" sz="2200" dirty="0">
                <a:latin typeface="Times New Roman" pitchFamily="18" charset="0"/>
                <a:cs typeface="Times New Roman" pitchFamily="18" charset="0"/>
              </a:rPr>
              <a:t>what is happening. </a:t>
            </a:r>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In formal</a:t>
            </a:r>
            <a:r>
              <a:rPr lang="en-US" sz="2200" dirty="0">
                <a:latin typeface="Times New Roman" pitchFamily="18" charset="0"/>
                <a:cs typeface="Times New Roman" pitchFamily="18" charset="0"/>
              </a:rPr>
              <a:t> letter </a:t>
            </a:r>
            <a:r>
              <a:rPr lang="en-US" sz="2200" dirty="0" smtClean="0">
                <a:latin typeface="Times New Roman" pitchFamily="18" charset="0"/>
                <a:cs typeface="Times New Roman" pitchFamily="18" charset="0"/>
              </a:rPr>
              <a:t>you have to mention </a:t>
            </a:r>
            <a:r>
              <a:rPr lang="en-US" sz="2200" dirty="0">
                <a:latin typeface="Times New Roman" pitchFamily="18" charset="0"/>
                <a:cs typeface="Times New Roman" pitchFamily="18" charset="0"/>
              </a:rPr>
              <a:t>the subject </a:t>
            </a:r>
            <a:endParaRPr lang="en-US" sz="2200" dirty="0" smtClean="0">
              <a:latin typeface="Times New Roman" pitchFamily="18" charset="0"/>
              <a:cs typeface="Times New Roman" pitchFamily="18" charset="0"/>
            </a:endParaRPr>
          </a:p>
          <a:p>
            <a:r>
              <a:rPr lang="en-US" sz="2200" dirty="0">
                <a:latin typeface="Times New Roman" pitchFamily="18" charset="0"/>
                <a:cs typeface="Times New Roman" pitchFamily="18" charset="0"/>
              </a:rPr>
              <a:t>W</a:t>
            </a:r>
            <a:r>
              <a:rPr lang="en-US" sz="2200" dirty="0" smtClean="0">
                <a:latin typeface="Times New Roman" pitchFamily="18" charset="0"/>
                <a:cs typeface="Times New Roman" pitchFamily="18" charset="0"/>
              </a:rPr>
              <a:t>riting </a:t>
            </a:r>
            <a:r>
              <a:rPr lang="en-US" sz="2200" dirty="0">
                <a:latin typeface="Times New Roman" pitchFamily="18" charset="0"/>
                <a:cs typeface="Times New Roman" pitchFamily="18" charset="0"/>
              </a:rPr>
              <a:t>a letter you can explain your purpose in more than one or two </a:t>
            </a:r>
            <a:r>
              <a:rPr lang="en-US" sz="2200" dirty="0" smtClean="0">
                <a:latin typeface="Times New Roman" pitchFamily="18" charset="0"/>
                <a:cs typeface="Times New Roman" pitchFamily="18" charset="0"/>
              </a:rPr>
              <a:t>paragraphs.</a:t>
            </a:r>
            <a:endParaRPr lang="en-US" sz="2200" dirty="0">
              <a:latin typeface="Times New Roman" pitchFamily="18" charset="0"/>
              <a:cs typeface="Times New Roman" pitchFamily="18" charset="0"/>
            </a:endParaRPr>
          </a:p>
        </p:txBody>
      </p:sp>
      <p:sp>
        <p:nvSpPr>
          <p:cNvPr id="7" name="Content Placeholder 6"/>
          <p:cNvSpPr>
            <a:spLocks noGrp="1"/>
          </p:cNvSpPr>
          <p:nvPr>
            <p:ph sz="quarter" idx="14"/>
          </p:nvPr>
        </p:nvSpPr>
        <p:spPr>
          <a:xfrm>
            <a:off x="4800600" y="2209800"/>
            <a:ext cx="3733800" cy="4648200"/>
          </a:xfrm>
        </p:spPr>
        <p:txBody>
          <a:bodyPr>
            <a:normAutofit/>
          </a:bodyPr>
          <a:lstStyle/>
          <a:p>
            <a:r>
              <a:rPr lang="en-US" sz="2200" dirty="0" smtClean="0">
                <a:latin typeface="Times New Roman" pitchFamily="18" charset="0"/>
                <a:cs typeface="Times New Roman" pitchFamily="18" charset="0"/>
              </a:rPr>
              <a:t>An application is written to </a:t>
            </a:r>
            <a:r>
              <a:rPr lang="en-US" sz="2200" dirty="0">
                <a:latin typeface="Times New Roman" pitchFamily="18" charset="0"/>
                <a:cs typeface="Times New Roman" pitchFamily="18" charset="0"/>
              </a:rPr>
              <a:t>apply for </a:t>
            </a:r>
            <a:r>
              <a:rPr lang="en-US" sz="2200" dirty="0" smtClean="0">
                <a:latin typeface="Times New Roman" pitchFamily="18" charset="0"/>
                <a:cs typeface="Times New Roman" pitchFamily="18" charset="0"/>
              </a:rPr>
              <a:t>something.</a:t>
            </a:r>
          </a:p>
          <a:p>
            <a:r>
              <a:rPr lang="en-US" sz="2200" dirty="0">
                <a:latin typeface="Times New Roman" pitchFamily="18" charset="0"/>
                <a:cs typeface="Times New Roman" pitchFamily="18" charset="0"/>
              </a:rPr>
              <a:t>A</a:t>
            </a:r>
            <a:r>
              <a:rPr lang="en-US" sz="2200" dirty="0" smtClean="0">
                <a:latin typeface="Times New Roman" pitchFamily="18" charset="0"/>
                <a:cs typeface="Times New Roman" pitchFamily="18" charset="0"/>
              </a:rPr>
              <a:t>pplication</a:t>
            </a:r>
            <a:r>
              <a:rPr lang="en-US" sz="2200" dirty="0">
                <a:latin typeface="Times New Roman" pitchFamily="18" charset="0"/>
                <a:cs typeface="Times New Roman" pitchFamily="18" charset="0"/>
              </a:rPr>
              <a:t> is not </a:t>
            </a:r>
            <a:r>
              <a:rPr lang="en-US" sz="2200" dirty="0" smtClean="0">
                <a:latin typeface="Times New Roman" pitchFamily="18" charset="0"/>
                <a:cs typeface="Times New Roman" pitchFamily="18" charset="0"/>
              </a:rPr>
              <a:t>having</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a subject.</a:t>
            </a:r>
          </a:p>
          <a:p>
            <a:r>
              <a:rPr lang="en-US" sz="2200" dirty="0">
                <a:latin typeface="Times New Roman" pitchFamily="18" charset="0"/>
                <a:cs typeface="Times New Roman" pitchFamily="18" charset="0"/>
              </a:rPr>
              <a:t>W</a:t>
            </a:r>
            <a:r>
              <a:rPr lang="en-US" sz="2200" dirty="0" smtClean="0">
                <a:latin typeface="Times New Roman" pitchFamily="18" charset="0"/>
                <a:cs typeface="Times New Roman" pitchFamily="18" charset="0"/>
              </a:rPr>
              <a:t>hile </a:t>
            </a:r>
            <a:r>
              <a:rPr lang="en-US" sz="2200" dirty="0">
                <a:latin typeface="Times New Roman" pitchFamily="18" charset="0"/>
                <a:cs typeface="Times New Roman" pitchFamily="18" charset="0"/>
              </a:rPr>
              <a:t>writing an application you summarize your purpose.</a:t>
            </a:r>
            <a:endParaRPr lang="en-US" sz="2200" dirty="0" smtClean="0">
              <a:latin typeface="Times New Roman" pitchFamily="18" charset="0"/>
              <a:cs typeface="Times New Roman" pitchFamily="18" charset="0"/>
            </a:endParaRPr>
          </a:p>
        </p:txBody>
      </p:sp>
      <p:sp>
        <p:nvSpPr>
          <p:cNvPr id="9" name="TextBox 8"/>
          <p:cNvSpPr txBox="1"/>
          <p:nvPr/>
        </p:nvSpPr>
        <p:spPr>
          <a:xfrm>
            <a:off x="0" y="228600"/>
            <a:ext cx="9144000" cy="553998"/>
          </a:xfrm>
          <a:prstGeom prst="rect">
            <a:avLst/>
          </a:prstGeom>
          <a:noFill/>
        </p:spPr>
        <p:txBody>
          <a:bodyPr wrap="square" rtlCol="0">
            <a:spAutoFit/>
          </a:bodyPr>
          <a:lstStyle/>
          <a:p>
            <a:pPr algn="ctr"/>
            <a:r>
              <a:rPr lang="en-US" sz="3000" b="1" i="1" u="sng" dirty="0">
                <a:latin typeface="Times New Roman" pitchFamily="18" charset="0"/>
                <a:cs typeface="Times New Roman" pitchFamily="18" charset="0"/>
              </a:rPr>
              <a:t>Difference Between Letter And Application:</a:t>
            </a: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202064793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
            <a:ext cx="6324599" cy="1143000"/>
          </a:xfrm>
        </p:spPr>
        <p:txBody>
          <a:bodyPr/>
          <a:lstStyle/>
          <a:p>
            <a:pPr algn="ctr"/>
            <a:r>
              <a:rPr lang="en-US" b="1" i="1" u="sng" dirty="0" smtClean="0">
                <a:latin typeface="Times New Roman" pitchFamily="18" charset="0"/>
                <a:cs typeface="Times New Roman" pitchFamily="18" charset="0"/>
              </a:rPr>
              <a:t>Application</a:t>
            </a:r>
            <a:endParaRPr lang="en-US" b="1" i="1" u="sng" dirty="0">
              <a:latin typeface="Times New Roman" pitchFamily="18" charset="0"/>
              <a:cs typeface="Times New Roman" pitchFamily="18" charset="0"/>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3989" y="609600"/>
            <a:ext cx="967740" cy="6477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1524000"/>
            <a:ext cx="4495799" cy="5096698"/>
          </a:xfrm>
          <a:prstGeom prst="rect">
            <a:avLst/>
          </a:prstGeom>
        </p:spPr>
      </p:pic>
    </p:spTree>
    <p:extLst>
      <p:ext uri="{BB962C8B-B14F-4D97-AF65-F5344CB8AC3E}">
        <p14:creationId xmlns:p14="http://schemas.microsoft.com/office/powerpoint/2010/main" val="65220625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2111" y="3733800"/>
            <a:ext cx="2338754" cy="2413567"/>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6911" y="3733800"/>
            <a:ext cx="3505200" cy="241901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1600" y="228600"/>
            <a:ext cx="5839265" cy="3505200"/>
          </a:xfrm>
          <a:prstGeom prst="rect">
            <a:avLst/>
          </a:prstGeom>
        </p:spPr>
      </p:pic>
    </p:spTree>
    <p:extLst>
      <p:ext uri="{BB962C8B-B14F-4D97-AF65-F5344CB8AC3E}">
        <p14:creationId xmlns:p14="http://schemas.microsoft.com/office/powerpoint/2010/main" val="15166654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Horizon">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Thatch</Template>
  <TotalTime>679</TotalTime>
  <Words>325</Words>
  <Application>Microsoft Office PowerPoint</Application>
  <PresentationFormat>On-screen Show (4:3)</PresentationFormat>
  <Paragraphs>140</Paragraphs>
  <Slides>23</Slides>
  <Notes>6</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Horizon</vt:lpstr>
      <vt:lpstr>PowerPoint Presentation</vt:lpstr>
      <vt:lpstr>PowerPoint Presentation</vt:lpstr>
      <vt:lpstr>PowerPoint Presentation</vt:lpstr>
      <vt:lpstr>LETTERS</vt:lpstr>
      <vt:lpstr>Letter:</vt:lpstr>
      <vt:lpstr>PowerPoint Presentation</vt:lpstr>
      <vt:lpstr>PowerPoint Presentation</vt:lpstr>
      <vt:lpstr>Types of formal and informal letters</vt:lpstr>
      <vt:lpstr>Styles of letter writing</vt:lpstr>
      <vt:lpstr>PowerPoint Presentation</vt:lpstr>
      <vt:lpstr>PowerPoint Presentation</vt:lpstr>
      <vt:lpstr>Parts of a letter:</vt:lpstr>
      <vt:lpstr>Compulsory and optional parts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Application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Uzair Abbas</dc:creator>
  <cp:lastModifiedBy>aabi</cp:lastModifiedBy>
  <cp:revision>111</cp:revision>
  <dcterms:created xsi:type="dcterms:W3CDTF">2006-08-16T00:00:00Z</dcterms:created>
  <dcterms:modified xsi:type="dcterms:W3CDTF">2018-04-06T07:49:17Z</dcterms:modified>
</cp:coreProperties>
</file>