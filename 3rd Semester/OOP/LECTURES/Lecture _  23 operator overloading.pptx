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9"/>
  </p:notesMasterIdLst>
  <p:sldIdLst>
    <p:sldId id="256" r:id="rId2"/>
    <p:sldId id="579" r:id="rId3"/>
    <p:sldId id="580" r:id="rId4"/>
    <p:sldId id="626" r:id="rId5"/>
    <p:sldId id="627" r:id="rId6"/>
    <p:sldId id="628" r:id="rId7"/>
    <p:sldId id="629" r:id="rId8"/>
    <p:sldId id="620" r:id="rId9"/>
    <p:sldId id="631" r:id="rId10"/>
    <p:sldId id="630" r:id="rId11"/>
    <p:sldId id="632" r:id="rId12"/>
    <p:sldId id="640" r:id="rId13"/>
    <p:sldId id="633" r:id="rId14"/>
    <p:sldId id="634" r:id="rId15"/>
    <p:sldId id="635" r:id="rId16"/>
    <p:sldId id="638" r:id="rId17"/>
    <p:sldId id="637" r:id="rId1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770" autoAdjust="0"/>
    <p:restoredTop sz="87977" autoAdjust="0"/>
  </p:normalViewPr>
  <p:slideViewPr>
    <p:cSldViewPr>
      <p:cViewPr varScale="1">
        <p:scale>
          <a:sx n="65" d="100"/>
          <a:sy n="65" d="100"/>
        </p:scale>
        <p:origin x="1446" y="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149658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46.62116" units="1/cm"/>
          <inkml:channelProperty channel="Y" name="resolution" value="46.54546" units="1/cm"/>
          <inkml:channelProperty channel="T" name="resolution" value="1" units="1/dev"/>
        </inkml:channelProperties>
      </inkml:inkSource>
      <inkml:timestamp xml:id="ts0" timeString="2020-04-07T07:46:34.12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2679 16321 0,'25'0'15,"49"0"1,26 0 0,-26 0-16,-24 0 15,24 0-15,25 0 16,-24 0-16,-1 0 15,25 0-15,1 0 16,73 0-16,-49 0 16,50 0-16,24 0 15,1 0-15,-75 0 16,25 0-16,-50 0 16,25 0-16,-50 0 15,-24 0-15,0 0 16,-1 0-16,-24 0 15,0 0-15,24 0 16,-24 0-16,0 0 31,0 0-15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46.62116" units="1/cm"/>
          <inkml:channelProperty channel="Y" name="resolution" value="46.54546" units="1/cm"/>
          <inkml:channelProperty channel="T" name="resolution" value="1" units="1/dev"/>
        </inkml:channelProperties>
      </inkml:inkSource>
      <inkml:timestamp xml:id="ts0" timeString="2020-04-13T06:37:01.87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11237 2753 0,'0'-24'16,"74"24"109,1 0-110,-1 0-15,1 0 16,-1 0-16,-24 0 16,24 0-16,-24 0 15,49 0-15,-50 0 16,1 0-16,-25 0 15,-25-25 142,0 0-142,-25 25-15,25-25 16</inkml:trace>
  <inkml:trace contextRef="#ctx0" brushRef="#br0" timeOffset="1443.46">7690 4093 0,'49'0'172,"-24"0"-156,0 0-16,0 0 15,0 0 1,-1 0-16,1 0 0,0 25 16,0-25-1,0 0-15,24 0 0,-24 0 16,25 0 0,-1 0-16,1 0 15,0 0-15,-1 0 16,1 0-16,-25 0 15,24 0-15,1 0 16,-25 0-16,24 0 16,-24 0-16,25 0 15,-1 0-15,-24 0 16,0 0-16,49 0 16,-24 0-16,-1 0 15,-24 0-15,25 0 16,-25 0-16,-1 0 15,1 0 1,0 0 0,0 0-1,-50 0 157,0 0-156,0 0-1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87CC95-1805-4589-B3C5-62CD2CD2AA07}" type="datetimeFigureOut">
              <a:rPr lang="en-US" smtClean="0"/>
              <a:pPr/>
              <a:t>11/23/2020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2BB922-0DC4-4F8B-823D-B8E7EC57498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45832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371600"/>
            <a:ext cx="7848600" cy="1927225"/>
          </a:xfrm>
        </p:spPr>
        <p:txBody>
          <a:bodyPr anchor="b">
            <a:no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505200"/>
            <a:ext cx="64008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3CE582-C91F-4942-8661-D4B9923CBD73}" type="datetimeFigureOut">
              <a:rPr lang="en-US" smtClean="0"/>
              <a:pPr/>
              <a:t>11/23/2020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4E671-2CE7-4BC4-9D6E-ED7B9AC95417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685800" y="3398520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3CE582-C91F-4942-8661-D4B9923CBD73}" type="datetimeFigureOut">
              <a:rPr lang="en-US" smtClean="0"/>
              <a:pPr/>
              <a:t>11/23/2020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4E671-2CE7-4BC4-9D6E-ED7B9AC95417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2362200"/>
            <a:ext cx="7772400" cy="2200275"/>
          </a:xfrm>
        </p:spPr>
        <p:txBody>
          <a:bodyPr anchor="b">
            <a:normAutofit/>
          </a:bodyPr>
          <a:lstStyle>
            <a:lvl1pPr algn="l">
              <a:defRPr sz="4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626864"/>
            <a:ext cx="77724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3CE582-C91F-4942-8661-D4B9923CBD73}" type="datetimeFigureOut">
              <a:rPr lang="en-US" smtClean="0"/>
              <a:pPr/>
              <a:t>11/23/2020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4E671-2CE7-4BC4-9D6E-ED7B9AC95417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731520" y="4599432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3CE582-C91F-4942-8661-D4B9923CBD73}" type="datetimeFigureOut">
              <a:rPr lang="en-US" smtClean="0"/>
              <a:pPr/>
              <a:t>11/23/2020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4E671-2CE7-4BC4-9D6E-ED7B9AC95417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488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lang="en-US" sz="20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488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3CE582-C91F-4942-8661-D4B9923CBD73}" type="datetimeFigureOut">
              <a:rPr lang="en-US" smtClean="0"/>
              <a:pPr/>
              <a:t>11/23/2020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4E671-2CE7-4BC4-9D6E-ED7B9AC95417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2217817" y="4045823"/>
            <a:ext cx="4709160" cy="794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3CE582-C91F-4942-8661-D4B9923CBD73}" type="datetimeFigureOut">
              <a:rPr lang="en-US" smtClean="0"/>
              <a:pPr/>
              <a:t>11/23/2020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4E671-2CE7-4BC4-9D6E-ED7B9AC95417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3CE582-C91F-4942-8661-D4B9923CBD73}" type="datetimeFigureOut">
              <a:rPr lang="en-US" smtClean="0"/>
              <a:pPr/>
              <a:t>11/23/2020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4E671-2CE7-4BC4-9D6E-ED7B9AC95417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080"/>
            <a:ext cx="2139696" cy="1261872"/>
          </a:xfrm>
        </p:spPr>
        <p:txBody>
          <a:bodyPr anchor="b">
            <a:no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1800" y="792080"/>
            <a:ext cx="5715000" cy="55778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0552"/>
            <a:ext cx="2139696" cy="42436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3CE582-C91F-4942-8661-D4B9923CBD73}" type="datetimeFigureOut">
              <a:rPr lang="en-US" smtClean="0"/>
              <a:pPr/>
              <a:t>11/23/2020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4E671-2CE7-4BC4-9D6E-ED7B9AC95417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 rot="5400000">
            <a:off x="-13116" y="3580206"/>
            <a:ext cx="557784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480"/>
            <a:ext cx="2142680" cy="126492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58610" y="838201"/>
            <a:ext cx="5904390" cy="5500456"/>
          </a:xfrm>
          <a:solidFill>
            <a:schemeClr val="bg2"/>
          </a:solidFill>
          <a:ln w="76200">
            <a:solidFill>
              <a:srgbClr val="FFFFFF"/>
            </a:solidFill>
            <a:miter lim="800000"/>
          </a:ln>
          <a:effectLst>
            <a:outerShdw blurRad="50800" dist="12700" dir="5400000" algn="t" rotWithShape="0">
              <a:prstClr val="black">
                <a:alpha val="59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133600"/>
            <a:ext cx="2139696" cy="424281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3CE582-C91F-4942-8661-D4B9923CBD73}" type="datetimeFigureOut">
              <a:rPr lang="en-US" smtClean="0"/>
              <a:pPr/>
              <a:t>11/23/2020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4E671-2CE7-4BC4-9D6E-ED7B9AC95417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3CE582-C91F-4942-8661-D4B9923CBD73}" type="datetimeFigureOut">
              <a:rPr lang="en-US" smtClean="0"/>
              <a:pPr/>
              <a:t>11/23/2020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4E671-2CE7-4BC4-9D6E-ED7B9AC95417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609600"/>
            <a:ext cx="2057400" cy="5867400"/>
          </a:xfrm>
        </p:spPr>
        <p:txBody>
          <a:bodyPr vert="eaVert"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6019800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3CE582-C91F-4942-8661-D4B9923CBD73}" type="datetimeFigureOut">
              <a:rPr lang="en-US" smtClean="0"/>
              <a:pPr/>
              <a:t>11/23/2020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4E671-2CE7-4BC4-9D6E-ED7B9AC95417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20786"/>
            <a:ext cx="91440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87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18288"/>
            <a:ext cx="28956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fld id="{C53CE582-C91F-4942-8661-D4B9923CBD73}" type="datetimeFigureOut">
              <a:rPr lang="en-US" smtClean="0"/>
              <a:pPr/>
              <a:t>11/23/2020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29000" y="18288"/>
            <a:ext cx="4114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0000" y="18288"/>
            <a:ext cx="1066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rgbClr val="FFFFFF"/>
                </a:solidFill>
              </a:defRPr>
            </a:lvl1pPr>
          </a:lstStyle>
          <a:p>
            <a:fld id="{9DF4E671-2CE7-4BC4-9D6E-ED7B9AC95417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000" kern="1200" spc="-1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spcBef>
          <a:spcPct val="20000"/>
        </a:spcBef>
        <a:buClr>
          <a:schemeClr val="accent1"/>
        </a:buClr>
        <a:buSzPct val="9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3716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emf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400" dirty="0"/>
              <a:t>Operator overloading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505200"/>
            <a:ext cx="7848600" cy="1752600"/>
          </a:xfrm>
        </p:spPr>
        <p:txBody>
          <a:bodyPr>
            <a:normAutofit/>
          </a:bodyPr>
          <a:lstStyle/>
          <a:p>
            <a:endParaRPr 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10014789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>
                <a:latin typeface="Arial" charset="0"/>
              </a:rPr>
              <a:t>C++ Programming: From Problem Analysis to Program Design, Third Edition</a:t>
            </a:r>
          </a:p>
        </p:txBody>
      </p:sp>
      <p:sp>
        <p:nvSpPr>
          <p:cNvPr id="409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5021C081-2846-49D7-AD25-09CA33D19FA6}" type="slidenum">
              <a:rPr lang="en-US" smtClean="0">
                <a:latin typeface="Arial" charset="0"/>
              </a:rPr>
              <a:pPr/>
              <a:t>2</a:t>
            </a:fld>
            <a:endParaRPr lang="en-US">
              <a:latin typeface="Arial" charset="0"/>
            </a:endParaRPr>
          </a:p>
        </p:txBody>
      </p:sp>
      <p:sp>
        <p:nvSpPr>
          <p:cNvPr id="4100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/>
              <a:t>Operator Overloading</a:t>
            </a:r>
          </a:p>
        </p:txBody>
      </p:sp>
      <p:sp>
        <p:nvSpPr>
          <p:cNvPr id="4101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dirty="0"/>
              <a:t>The only built-in operations on classes are  assignment and member selection</a:t>
            </a:r>
          </a:p>
          <a:p>
            <a:pPr eaLnBrk="1" hangingPunct="1"/>
            <a:r>
              <a:rPr lang="en-US" dirty="0"/>
              <a:t>Other operators cannot be applied directly to class objects</a:t>
            </a:r>
          </a:p>
          <a:p>
            <a:pPr eaLnBrk="1" hangingPunct="1"/>
            <a:r>
              <a:rPr lang="en-US" dirty="0"/>
              <a:t>C++ allows you to extend the definitions of most of the operators to work with classes </a:t>
            </a:r>
          </a:p>
          <a:p>
            <a:pPr eaLnBrk="1" hangingPunct="1"/>
            <a:r>
              <a:rPr lang="en-US" dirty="0"/>
              <a:t>This is called operator overloading</a:t>
            </a:r>
          </a:p>
          <a:p>
            <a:r>
              <a:rPr lang="en-US" dirty="0"/>
              <a:t>That is, the + in </a:t>
            </a:r>
            <a:r>
              <a:rPr lang="en-US" b="1" dirty="0" err="1"/>
              <a:t>a</a:t>
            </a:r>
            <a:r>
              <a:rPr lang="en-US" dirty="0" err="1"/>
              <a:t>+</a:t>
            </a:r>
            <a:r>
              <a:rPr lang="en-US" b="1" dirty="0" err="1"/>
              <a:t>b</a:t>
            </a:r>
            <a:r>
              <a:rPr lang="en-US" b="1" dirty="0"/>
              <a:t> </a:t>
            </a:r>
            <a:r>
              <a:rPr lang="en-US" dirty="0"/>
              <a:t>will add the variables if </a:t>
            </a:r>
            <a:r>
              <a:rPr lang="en-US" b="1" dirty="0"/>
              <a:t>a </a:t>
            </a:r>
            <a:r>
              <a:rPr lang="en-US" dirty="0"/>
              <a:t>and </a:t>
            </a:r>
            <a:r>
              <a:rPr lang="en-US" b="1" dirty="0"/>
              <a:t>b </a:t>
            </a:r>
            <a:r>
              <a:rPr lang="en-US" dirty="0"/>
              <a:t>are integers, but will call a different function (if overloaded) if </a:t>
            </a:r>
            <a:r>
              <a:rPr lang="en-US" b="1" dirty="0"/>
              <a:t>a </a:t>
            </a:r>
            <a:r>
              <a:rPr lang="en-US" dirty="0"/>
              <a:t>and </a:t>
            </a:r>
            <a:r>
              <a:rPr lang="en-US" b="1" dirty="0"/>
              <a:t>b </a:t>
            </a:r>
            <a:r>
              <a:rPr lang="en-US" dirty="0"/>
              <a:t>are variables of a user defined type.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>
                <a:latin typeface="Arial" charset="0"/>
              </a:rPr>
              <a:t>C++ Programming: From Problem Analysis to Program Design, Third Edition</a:t>
            </a:r>
          </a:p>
        </p:txBody>
      </p:sp>
      <p:sp>
        <p:nvSpPr>
          <p:cNvPr id="512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209CB475-E7CD-412C-A0B2-BE62B1DA69A6}" type="slidenum">
              <a:rPr lang="en-US" smtClean="0">
                <a:latin typeface="Arial" charset="0"/>
              </a:rPr>
              <a:pPr/>
              <a:t>3</a:t>
            </a:fld>
            <a:endParaRPr lang="en-US">
              <a:latin typeface="Arial" charset="0"/>
            </a:endParaRPr>
          </a:p>
        </p:txBody>
      </p:sp>
      <p:sp>
        <p:nvSpPr>
          <p:cNvPr id="512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Operator Overloading (continued)</a:t>
            </a:r>
          </a:p>
        </p:txBody>
      </p:sp>
      <p:sp>
        <p:nvSpPr>
          <p:cNvPr id="512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567721"/>
            <a:ext cx="8229600" cy="4876800"/>
          </a:xfrm>
        </p:spPr>
        <p:txBody>
          <a:bodyPr/>
          <a:lstStyle/>
          <a:p>
            <a:pPr eaLnBrk="1" hangingPunct="1">
              <a:spcBef>
                <a:spcPct val="60000"/>
              </a:spcBef>
            </a:pPr>
            <a:r>
              <a:rPr lang="en-US" dirty="0"/>
              <a:t>Type of Polymorphism</a:t>
            </a:r>
          </a:p>
          <a:p>
            <a:pPr lvl="1">
              <a:spcBef>
                <a:spcPct val="60000"/>
              </a:spcBef>
            </a:pPr>
            <a:r>
              <a:rPr lang="en-US" dirty="0"/>
              <a:t>Providing implementation of an already existing operator for user defined types.</a:t>
            </a:r>
          </a:p>
          <a:p>
            <a:pPr eaLnBrk="1" hangingPunct="1">
              <a:spcBef>
                <a:spcPct val="60000"/>
              </a:spcBef>
            </a:pPr>
            <a:r>
              <a:rPr lang="en-US" dirty="0"/>
              <a:t>Can overload most C++ operators</a:t>
            </a:r>
          </a:p>
          <a:p>
            <a:pPr eaLnBrk="1" hangingPunct="1">
              <a:spcBef>
                <a:spcPct val="60000"/>
              </a:spcBef>
            </a:pPr>
            <a:r>
              <a:rPr lang="en-US" dirty="0"/>
              <a:t>Cannot create new operators</a:t>
            </a:r>
          </a:p>
          <a:p>
            <a:pPr eaLnBrk="1" hangingPunct="1">
              <a:spcBef>
                <a:spcPct val="60000"/>
              </a:spcBef>
            </a:pPr>
            <a:r>
              <a:rPr lang="en-US" dirty="0"/>
              <a:t>Most existing operators can be overloaded to manipulate class objects</a:t>
            </a:r>
          </a:p>
          <a:p>
            <a:pPr eaLnBrk="1" hangingPunct="1">
              <a:spcBef>
                <a:spcPct val="60000"/>
              </a:spcBef>
            </a:pPr>
            <a:r>
              <a:rPr lang="en-US" dirty="0"/>
              <a:t>Write an operator function to overload an operator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2D541D-A2F9-4BB9-B961-F145EDD18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Operator Overloading: Rules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5DCEF1-427C-4089-82B7-6120535F4F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can not change numbers of operands. A binary operator (for example +) must always take two operands.</a:t>
            </a:r>
          </a:p>
          <a:p>
            <a:r>
              <a:rPr lang="en-US" dirty="0"/>
              <a:t>You can not change the precedence of the operators.</a:t>
            </a:r>
          </a:p>
          <a:p>
            <a:pPr lvl="1"/>
            <a:r>
              <a:rPr lang="en-US" sz="2400" b="1" dirty="0"/>
              <a:t>* </a:t>
            </a:r>
            <a:r>
              <a:rPr lang="en-US" sz="2400" dirty="0"/>
              <a:t>comes always before </a:t>
            </a:r>
            <a:r>
              <a:rPr lang="en-US" sz="2400" b="1" dirty="0"/>
              <a:t>+</a:t>
            </a:r>
          </a:p>
          <a:p>
            <a:r>
              <a:rPr lang="en-US" dirty="0"/>
              <a:t>Everything you can do with an overloaded operator you can also do with a function. However, by making your listing more intuitive, overloaded operators make your programs easier to write, read, and maintain.</a:t>
            </a:r>
          </a:p>
          <a:p>
            <a:r>
              <a:rPr lang="en-US" dirty="0"/>
              <a:t>Operator overloading is mostly used with objects. We will discuss this topic later more in detail.</a:t>
            </a:r>
          </a:p>
        </p:txBody>
      </p:sp>
    </p:spTree>
    <p:extLst>
      <p:ext uri="{BB962C8B-B14F-4D97-AF65-F5344CB8AC3E}">
        <p14:creationId xmlns:p14="http://schemas.microsoft.com/office/powerpoint/2010/main" val="40353874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2D541D-A2F9-4BB9-B961-F145EDD18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Syntax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5DCEF1-427C-4089-82B7-6120535F4F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00B0F0"/>
                </a:solidFill>
                <a:latin typeface="Consolas" panose="020B0609020204030204" pitchFamily="49" charset="0"/>
              </a:rPr>
              <a:t>return-type </a:t>
            </a:r>
            <a:r>
              <a:rPr lang="en-US" sz="2000" dirty="0">
                <a:latin typeface="Consolas" panose="020B0609020204030204" pitchFamily="49" charset="0"/>
              </a:rPr>
              <a:t>class-name :: operator op 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(</a:t>
            </a:r>
            <a:r>
              <a:rPr 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argList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US" sz="2000" dirty="0">
                <a:latin typeface="Consolas" panose="020B0609020204030204" pitchFamily="49" charset="0"/>
              </a:rPr>
              <a:t>{</a:t>
            </a:r>
          </a:p>
          <a:p>
            <a:pPr marL="548640" lvl="2" indent="0">
              <a:buNone/>
            </a:pPr>
            <a:r>
              <a:rPr lang="en-US" sz="2000" dirty="0">
                <a:latin typeface="Consolas" panose="020B0609020204030204" pitchFamily="49" charset="0"/>
              </a:rPr>
              <a:t>//function body</a:t>
            </a:r>
          </a:p>
          <a:p>
            <a:pPr marL="0" indent="0">
              <a:buNone/>
            </a:pPr>
            <a:r>
              <a:rPr lang="en-US" sz="2000" dirty="0">
                <a:latin typeface="Consolas" panose="020B0609020204030204" pitchFamily="49" charset="0"/>
              </a:rPr>
              <a:t>}</a:t>
            </a:r>
          </a:p>
          <a:p>
            <a:pPr marL="0" indent="0" algn="ctr">
              <a:buNone/>
            </a:pPr>
            <a:r>
              <a:rPr lang="en-US" sz="2800" b="1" dirty="0">
                <a:latin typeface="Consolas" panose="020B0609020204030204" pitchFamily="49" charset="0"/>
              </a:rPr>
              <a:t>OR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00B0F0"/>
                </a:solidFill>
                <a:latin typeface="Consolas" panose="020B0609020204030204" pitchFamily="49" charset="0"/>
              </a:rPr>
              <a:t>return-type </a:t>
            </a:r>
            <a:r>
              <a:rPr lang="en-US" sz="2000" dirty="0">
                <a:latin typeface="Consolas" panose="020B0609020204030204" pitchFamily="49" charset="0"/>
              </a:rPr>
              <a:t>operator op 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(</a:t>
            </a:r>
            <a:r>
              <a:rPr 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argList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US" sz="2000" dirty="0">
                <a:latin typeface="Consolas" panose="020B0609020204030204" pitchFamily="49" charset="0"/>
              </a:rPr>
              <a:t>{</a:t>
            </a:r>
          </a:p>
          <a:p>
            <a:pPr marL="548640" lvl="2" indent="0">
              <a:buNone/>
            </a:pPr>
            <a:r>
              <a:rPr lang="en-US" sz="2000" dirty="0">
                <a:latin typeface="Consolas" panose="020B0609020204030204" pitchFamily="49" charset="0"/>
              </a:rPr>
              <a:t>//function body</a:t>
            </a:r>
          </a:p>
          <a:p>
            <a:pPr marL="0" indent="0">
              <a:buNone/>
            </a:pPr>
            <a:r>
              <a:rPr lang="en-US" sz="2000" dirty="0">
                <a:latin typeface="Consolas" panose="020B0609020204030204" pitchFamily="49" charset="0"/>
              </a:rPr>
              <a:t>}</a:t>
            </a:r>
          </a:p>
          <a:p>
            <a:r>
              <a:rPr lang="en-US" sz="2000" dirty="0">
                <a:latin typeface="+mj-lt"/>
              </a:rPr>
              <a:t>Where </a:t>
            </a:r>
            <a:r>
              <a:rPr lang="en-US" sz="2000" b="1" dirty="0">
                <a:latin typeface="+mj-lt"/>
              </a:rPr>
              <a:t>return-type </a:t>
            </a:r>
            <a:r>
              <a:rPr lang="en-US" sz="2000" dirty="0">
                <a:latin typeface="+mj-lt"/>
              </a:rPr>
              <a:t>is the type of value returned by the specific operation.</a:t>
            </a:r>
          </a:p>
          <a:p>
            <a:r>
              <a:rPr lang="en-US" sz="2000" b="1" dirty="0">
                <a:latin typeface="+mj-lt"/>
              </a:rPr>
              <a:t>op</a:t>
            </a:r>
            <a:r>
              <a:rPr lang="en-US" sz="2000" dirty="0">
                <a:latin typeface="Consolas" panose="020B0609020204030204" pitchFamily="49" charset="0"/>
              </a:rPr>
              <a:t> </a:t>
            </a:r>
            <a:r>
              <a:rPr lang="en-US" sz="2000" dirty="0">
                <a:latin typeface="+mj-lt"/>
              </a:rPr>
              <a:t>is the operator being overloaded.</a:t>
            </a:r>
          </a:p>
          <a:p>
            <a:r>
              <a:rPr lang="en-US" sz="2000" b="1" dirty="0">
                <a:latin typeface="+mj-lt"/>
              </a:rPr>
              <a:t>operator op</a:t>
            </a:r>
            <a:r>
              <a:rPr lang="en-US" sz="1800" b="1" dirty="0">
                <a:latin typeface="+mj-lt"/>
              </a:rPr>
              <a:t> </a:t>
            </a:r>
            <a:r>
              <a:rPr lang="en-US" sz="2000" dirty="0">
                <a:latin typeface="+mj-lt"/>
              </a:rPr>
              <a:t>is the function name where, where operator is a keyword</a:t>
            </a:r>
            <a:r>
              <a:rPr lang="en-US" sz="1800" dirty="0">
                <a:latin typeface="Consolas" panose="020B0609020204030204" pitchFamily="49" charset="0"/>
              </a:rPr>
              <a:t>.</a:t>
            </a:r>
          </a:p>
          <a:p>
            <a:pPr marL="0" indent="0">
              <a:buNone/>
            </a:pPr>
            <a:endParaRPr lang="en-US" sz="20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sz="20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52229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33F097-6031-4A77-982F-43E7FD3C77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What can’t be overloaded?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ABB620-25EC-40BC-9E9A-2C7EFC81C5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can’t overload operators that don’t already exist in C++. You can overload only the built-in operators.</a:t>
            </a:r>
          </a:p>
          <a:p>
            <a:r>
              <a:rPr lang="en-US" dirty="0"/>
              <a:t>You cannot overload the following </a:t>
            </a:r>
            <a:r>
              <a:rPr lang="en-US" dirty="0" err="1"/>
              <a:t>opertors</a:t>
            </a:r>
            <a:r>
              <a:rPr lang="en-US" dirty="0"/>
              <a:t>:</a:t>
            </a:r>
          </a:p>
          <a:p>
            <a:pPr lvl="1"/>
            <a:r>
              <a:rPr lang="en-US" sz="2400" dirty="0"/>
              <a:t>Class member access operator (</a:t>
            </a:r>
            <a:r>
              <a:rPr lang="en-US" sz="2400" b="1" dirty="0"/>
              <a:t>. (dot)</a:t>
            </a:r>
            <a:r>
              <a:rPr lang="en-US" sz="2400" dirty="0"/>
              <a:t>)</a:t>
            </a:r>
          </a:p>
          <a:p>
            <a:pPr lvl="1"/>
            <a:r>
              <a:rPr lang="en-US" sz="2400" dirty="0"/>
              <a:t>Pointer to members ( </a:t>
            </a:r>
            <a:r>
              <a:rPr lang="en-US" sz="2400" b="1" dirty="0"/>
              <a:t>.* (dot-asterisk)</a:t>
            </a:r>
            <a:r>
              <a:rPr lang="en-US" sz="2400" dirty="0"/>
              <a:t>)</a:t>
            </a:r>
          </a:p>
          <a:p>
            <a:pPr lvl="1"/>
            <a:r>
              <a:rPr lang="en-US" sz="2400" dirty="0"/>
              <a:t>Scope resolution operator (</a:t>
            </a:r>
            <a:r>
              <a:rPr lang="en-US" sz="2400" b="1" dirty="0"/>
              <a:t>::</a:t>
            </a:r>
            <a:r>
              <a:rPr lang="en-US" sz="2400" dirty="0"/>
              <a:t>)</a:t>
            </a:r>
          </a:p>
          <a:p>
            <a:pPr lvl="1"/>
            <a:r>
              <a:rPr lang="en-US" sz="2400" dirty="0"/>
              <a:t>Conditional Operator (</a:t>
            </a:r>
            <a:r>
              <a:rPr lang="en-US" sz="2400" b="1" dirty="0"/>
              <a:t>?:</a:t>
            </a:r>
            <a:r>
              <a:rPr lang="en-US" sz="2400" dirty="0"/>
              <a:t>)</a:t>
            </a:r>
          </a:p>
          <a:p>
            <a:pPr lvl="1"/>
            <a:r>
              <a:rPr lang="en-US" sz="2400" dirty="0"/>
              <a:t>Size Operator (</a:t>
            </a:r>
            <a:r>
              <a:rPr lang="en-US" sz="2400" b="1" dirty="0" err="1"/>
              <a:t>sizeof</a:t>
            </a:r>
            <a:r>
              <a:rPr lang="en-US" sz="2400" dirty="0"/>
              <a:t>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33675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F3176A-6C4A-4F50-853D-CE70F973DE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Operators that can be overloaded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25AB54-9F6C-408D-94B9-9A2F10D29A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C0AD88E-574A-4D95-989E-3EEEEA7EFC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439" y="2132856"/>
            <a:ext cx="7923122" cy="3497239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143617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>
                <a:latin typeface="Arial" charset="0"/>
              </a:rPr>
              <a:t>C++ Programming: From Problem Analysis to Program Design, Third Edition</a:t>
            </a:r>
          </a:p>
        </p:txBody>
      </p:sp>
      <p:sp>
        <p:nvSpPr>
          <p:cNvPr id="1126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B92223F3-B2A6-4F1A-B6E6-9A42765FA4DD}" type="slidenum">
              <a:rPr lang="en-US" smtClean="0">
                <a:latin typeface="Arial" charset="0"/>
              </a:rPr>
              <a:pPr/>
              <a:t>8</a:t>
            </a:fld>
            <a:endParaRPr lang="en-US">
              <a:latin typeface="Arial" charset="0"/>
            </a:endParaRPr>
          </a:p>
        </p:txBody>
      </p:sp>
      <p:sp>
        <p:nvSpPr>
          <p:cNvPr id="11268" name="Rectangle 2"/>
          <p:cNvSpPr>
            <a:spLocks noGrp="1" noChangeArrowheads="1"/>
          </p:cNvSpPr>
          <p:nvPr>
            <p:ph type="title"/>
          </p:nvPr>
        </p:nvSpPr>
        <p:spPr>
          <a:xfrm>
            <a:off x="428596" y="714356"/>
            <a:ext cx="8229600" cy="990600"/>
          </a:xfrm>
        </p:spPr>
        <p:txBody>
          <a:bodyPr>
            <a:normAutofit/>
          </a:bodyPr>
          <a:lstStyle/>
          <a:p>
            <a:pPr eaLnBrk="1" hangingPunct="1"/>
            <a:r>
              <a:rPr lang="en-US" sz="3800" dirty="0"/>
              <a:t>Overloading the + operator</a:t>
            </a:r>
          </a:p>
        </p:txBody>
      </p:sp>
      <p:sp>
        <p:nvSpPr>
          <p:cNvPr id="1126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72100" y="1658932"/>
            <a:ext cx="7147900" cy="4866412"/>
          </a:xfrm>
          <a:ln>
            <a:solidFill>
              <a:schemeClr val="tx1"/>
            </a:solidFill>
          </a:ln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/* A class to define complex numbers */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TComplex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float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real,img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public: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TComplex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(){ real = 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 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img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= 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;}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TComplex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float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r, 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float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): real(r), 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img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 {}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TComplex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operator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+ (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TComplex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&amp;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 // header of operator+  function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/* The Body of the function for operator + */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</a:p>
          <a:p>
            <a:pPr marL="0" indent="0">
              <a:buNone/>
            </a:pP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TComplex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TComplex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operator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+ (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TComplex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&amp;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z) 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TComplex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result;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result.real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= real + 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z.real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    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result.img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= 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img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+ 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z.img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   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result;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}   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05F08B5-D814-4F44-817F-5DB4CC89A7D3}"/>
              </a:ext>
            </a:extLst>
          </p:cNvPr>
          <p:cNvSpPr txBox="1"/>
          <p:nvPr/>
        </p:nvSpPr>
        <p:spPr>
          <a:xfrm>
            <a:off x="5272706" y="4574314"/>
            <a:ext cx="3438124" cy="160043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l-PL" sz="1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l-PL" sz="1400" dirty="0">
                <a:solidFill>
                  <a:srgbClr val="000000"/>
                </a:solidFill>
                <a:latin typeface="Consolas" panose="020B0609020204030204" pitchFamily="49" charset="0"/>
              </a:rPr>
              <a:t> main()</a:t>
            </a:r>
          </a:p>
          <a:p>
            <a:r>
              <a:rPr lang="pl-PL" sz="14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pl-PL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 TComplex z1(</a:t>
            </a:r>
            <a:r>
              <a:rPr lang="pl-PL" sz="1400" dirty="0">
                <a:solidFill>
                  <a:srgbClr val="098658"/>
                </a:solidFill>
                <a:latin typeface="Consolas" panose="020B0609020204030204" pitchFamily="49" charset="0"/>
              </a:rPr>
              <a:t>3.2</a:t>
            </a:r>
            <a:r>
              <a:rPr lang="pl-PL" sz="14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pl-PL" sz="1400" dirty="0">
                <a:solidFill>
                  <a:srgbClr val="098658"/>
                </a:solidFill>
                <a:latin typeface="Consolas" panose="020B0609020204030204" pitchFamily="49" charset="0"/>
              </a:rPr>
              <a:t>5.5</a:t>
            </a:r>
            <a:r>
              <a:rPr lang="pl-PL" sz="1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l-PL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 TComplex z2(</a:t>
            </a:r>
            <a:r>
              <a:rPr lang="pl-PL" sz="1400" dirty="0">
                <a:solidFill>
                  <a:srgbClr val="098658"/>
                </a:solidFill>
                <a:latin typeface="Consolas" panose="020B0609020204030204" pitchFamily="49" charset="0"/>
              </a:rPr>
              <a:t>1.5</a:t>
            </a:r>
            <a:r>
              <a:rPr lang="pl-PL" sz="14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pl-PL" sz="1400" dirty="0">
                <a:solidFill>
                  <a:srgbClr val="098658"/>
                </a:solidFill>
                <a:latin typeface="Consolas" panose="020B0609020204030204" pitchFamily="49" charset="0"/>
              </a:rPr>
              <a:t>7.0</a:t>
            </a:r>
            <a:r>
              <a:rPr lang="pl-PL" sz="1400" dirty="0">
                <a:solidFill>
                  <a:srgbClr val="000000"/>
                </a:solidFill>
                <a:latin typeface="Consolas" panose="020B0609020204030204" pitchFamily="49" charset="0"/>
              </a:rPr>
              <a:t>), z3;</a:t>
            </a:r>
          </a:p>
          <a:p>
            <a:r>
              <a:rPr lang="pl-PL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 z3 = z1 + z2;</a:t>
            </a:r>
            <a:r>
              <a:rPr lang="pl-PL" sz="1400" dirty="0">
                <a:solidFill>
                  <a:srgbClr val="008000"/>
                </a:solidFill>
                <a:latin typeface="Consolas" panose="020B0609020204030204" pitchFamily="49" charset="0"/>
              </a:rPr>
              <a:t>  //operator +</a:t>
            </a:r>
            <a:endParaRPr lang="pl-PL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l-PL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 </a:t>
            </a:r>
            <a:r>
              <a:rPr lang="pl-PL" sz="14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pl-PL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pl-PL" sz="14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pl-PL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l-PL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173D6C-86F2-45C6-8B5A-E78AC2B0C2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Overloading the assignment operator (=)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A21473-C3A8-4292-B319-C444780583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544" y="1600200"/>
            <a:ext cx="8229600" cy="4876800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TComplex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operator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=(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ComplexT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&amp;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 z)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    real = 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z.real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img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 = 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z.img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/>
              <a:t>You don't need to write such an assignment operator function, because the operator provided by the compiler does the same thing.</a:t>
            </a:r>
          </a:p>
          <a:p>
            <a:r>
              <a:rPr lang="en-US" dirty="0"/>
              <a:t>In general, you don’t want to let the compiler do this for you.</a:t>
            </a:r>
          </a:p>
          <a:p>
            <a:r>
              <a:rPr lang="en-US" dirty="0"/>
              <a:t>With classes of any sophistication (especially if they contain pointers!) you want to explicitly create an operator =.</a:t>
            </a:r>
          </a:p>
          <a:p>
            <a:pPr marL="0" indent="0">
              <a:buNone/>
            </a:pPr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C02571F0-6B27-4234-8414-DFF1E4B9204D}"/>
                  </a:ext>
                </a:extLst>
              </p14:cNvPr>
              <p14:cNvContentPartPr/>
              <p14:nvPr/>
            </p14:nvContentPartPr>
            <p14:xfrm>
              <a:off x="964440" y="5875560"/>
              <a:ext cx="938160" cy="3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C02571F0-6B27-4234-8414-DFF1E4B9204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55080" y="5866200"/>
                <a:ext cx="956880" cy="19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313764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173D6C-86F2-45C6-8B5A-E78AC2B0C2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Overloading the assignment operator (=)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A21473-C3A8-4292-B319-C444780583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 err="1"/>
              <a:t>IntArray</a:t>
            </a:r>
            <a:r>
              <a:rPr lang="en-US" sz="2000" dirty="0"/>
              <a:t> example (</a:t>
            </a:r>
            <a:r>
              <a:rPr lang="en-US" sz="2000" b="1" dirty="0"/>
              <a:t>assign_op.cpp</a:t>
            </a:r>
            <a:r>
              <a:rPr lang="en-US" sz="2000" dirty="0"/>
              <a:t>)</a:t>
            </a:r>
            <a:endParaRPr lang="en-US" sz="2000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sz="2000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IntArray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operator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 = (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IntArray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&amp;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s)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    size = 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s.size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    contents = 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[size];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008000"/>
                </a:solidFill>
                <a:latin typeface="Consolas" panose="020B0609020204030204" pitchFamily="49" charset="0"/>
              </a:rPr>
              <a:t>    //copies contents of one array to another</a:t>
            </a:r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 (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 = </a:t>
            </a:r>
            <a:r>
              <a:rPr lang="en-US" sz="20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; 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 &lt; size; 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++)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contents[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] = 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s.contents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46289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23C9E8-C415-4FDD-9938-B418CA1282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600" dirty="0"/>
              <a:t>Return value of the assignment operator (=)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431BF6-AEB6-4EF5-9C33-8026719779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>
                <a:solidFill>
                  <a:srgbClr val="000000"/>
                </a:solidFill>
                <a:latin typeface="+mj-lt"/>
              </a:rPr>
              <a:t>When there’s a void return value, you can’t chain the assignment operator (as in a = b = c ).</a:t>
            </a:r>
          </a:p>
          <a:p>
            <a:r>
              <a:rPr lang="en-US" dirty="0">
                <a:solidFill>
                  <a:srgbClr val="000000"/>
                </a:solidFill>
                <a:latin typeface="+mj-lt"/>
              </a:rPr>
              <a:t>To fix this, the assignment operator must return a reference to the object that called the operator function (its address).</a:t>
            </a:r>
          </a:p>
          <a:p>
            <a:endParaRPr lang="en-US" dirty="0">
              <a:solidFill>
                <a:srgbClr val="000000"/>
              </a:solidFill>
              <a:latin typeface="+mj-lt"/>
            </a:endParaRPr>
          </a:p>
          <a:p>
            <a:pPr marL="0" indent="0">
              <a:buNone/>
            </a:pP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IntArray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&amp;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IntArray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operator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= (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IntArray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&amp;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s)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&lt;&lt;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"Overloaded Operator"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&lt;&lt;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size = 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s.size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contents = 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[size];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    //copies contents of one array to another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(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= </a:t>
            </a:r>
            <a:r>
              <a:rPr lang="en-US" sz="16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 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&lt; size; 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++)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contents[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] = 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s.contents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*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this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} //</a:t>
            </a:r>
            <a:r>
              <a:rPr lang="en-US" sz="1600" dirty="0" err="1"/>
              <a:t>IntArray</a:t>
            </a:r>
            <a:r>
              <a:rPr lang="en-US" sz="1600" dirty="0"/>
              <a:t> example (</a:t>
            </a:r>
            <a:r>
              <a:rPr lang="en-US" sz="1600" b="1" dirty="0"/>
              <a:t>assign_op.cpp</a:t>
            </a:r>
            <a:r>
              <a:rPr lang="en-US" sz="1600" dirty="0"/>
              <a:t>)</a:t>
            </a:r>
            <a:endParaRPr lang="en-US" sz="1600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91104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D60D5-5DEE-454D-A943-E0FA8A1666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Operator Functions as Member Functions and Nonmember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508D4B-CD95-4498-894F-D3A1088B5A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Most of the operators can be overloaded either as member or nonmember functions.</a:t>
            </a:r>
          </a:p>
          <a:p>
            <a:endParaRPr lang="en-US" dirty="0"/>
          </a:p>
          <a:p>
            <a:r>
              <a:rPr lang="en-US" dirty="0"/>
              <a:t>To make an operator function be a member or nonmember function of a class, keep the following in mind:</a:t>
            </a:r>
          </a:p>
          <a:p>
            <a:pPr lvl="1"/>
            <a:r>
              <a:rPr lang="en-US" dirty="0"/>
              <a:t>The function that overloads any of the operators (), [], -&gt;, or = for a class must be declared as a member of the class.</a:t>
            </a:r>
          </a:p>
          <a:p>
            <a:pPr lvl="1"/>
            <a:endParaRPr lang="en-US" dirty="0"/>
          </a:p>
          <a:p>
            <a:r>
              <a:rPr lang="en-US" dirty="0"/>
              <a:t>Example (</a:t>
            </a:r>
            <a:r>
              <a:rPr lang="en-US" b="1" dirty="0"/>
              <a:t>Rect.cpp</a:t>
            </a:r>
            <a:r>
              <a:rPr lang="en-US" dirty="0"/>
              <a:t>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76160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116D04-B29C-47D9-8012-2F33BA63B4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Overloading Unary Operators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60E05B-09A8-4716-8B73-DF2CB34114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Unary operators operate on a single operand. Examples are the increment (++) and decrement (--) operators; the unary minus, as in -5; and the logical not (!) operator.</a:t>
            </a:r>
          </a:p>
          <a:p>
            <a:r>
              <a:rPr lang="en-US" dirty="0"/>
              <a:t>Unary operators take no arguments, they operate on the object for which they were called. Normally, this operator appears on the left side of the object, as in !obj, -obj, and ++obj.</a:t>
            </a:r>
          </a:p>
          <a:p>
            <a:r>
              <a:rPr lang="en-US" dirty="0"/>
              <a:t>Overloading the unary ++ operator (</a:t>
            </a:r>
            <a:r>
              <a:rPr lang="en-US" b="1" dirty="0"/>
              <a:t>unary.cpp</a:t>
            </a:r>
            <a:r>
              <a:rPr lang="en-US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30600036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0D5734-489B-4416-B87A-90FAD0AA0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Overloading the “[ ]” operator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C327E1-9545-4859-9DDA-3E3CB42410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Same rules apply to all operators. So we don’t need to discuss each operator. However, we will examine some interesting operators.</a:t>
            </a:r>
          </a:p>
          <a:p>
            <a:r>
              <a:rPr lang="en-US" dirty="0"/>
              <a:t>One of the interesting operators is the subscript operator.</a:t>
            </a:r>
          </a:p>
          <a:p>
            <a:r>
              <a:rPr lang="en-US" dirty="0"/>
              <a:t>It can be declared in two different ways:</a:t>
            </a:r>
          </a:p>
          <a:p>
            <a:pPr marL="274320" lvl="1" indent="0">
              <a:buNone/>
            </a:pPr>
            <a:r>
              <a:rPr lang="en-US" sz="2200" dirty="0">
                <a:latin typeface="Consolas" panose="020B0609020204030204" pitchFamily="49" charset="0"/>
              </a:rPr>
              <a:t>return-type&amp; operator [ ](</a:t>
            </a:r>
            <a:r>
              <a:rPr lang="en-US" sz="2200" dirty="0" err="1">
                <a:latin typeface="Consolas" panose="020B0609020204030204" pitchFamily="49" charset="0"/>
              </a:rPr>
              <a:t>paramtype</a:t>
            </a:r>
            <a:r>
              <a:rPr lang="en-US" sz="2200" dirty="0">
                <a:latin typeface="Consolas" panose="020B0609020204030204" pitchFamily="49" charset="0"/>
              </a:rPr>
              <a:t>)</a:t>
            </a:r>
          </a:p>
          <a:p>
            <a:pPr marL="274320" lvl="1" indent="0">
              <a:buNone/>
            </a:pPr>
            <a:r>
              <a:rPr lang="en-US" sz="2200" dirty="0">
                <a:latin typeface="Consolas" panose="020B0609020204030204" pitchFamily="49" charset="0"/>
              </a:rPr>
              <a:t>{ }</a:t>
            </a:r>
          </a:p>
          <a:p>
            <a:pPr marL="274320" lvl="1" indent="0" algn="ctr">
              <a:buNone/>
            </a:pPr>
            <a:r>
              <a:rPr lang="en-US" sz="2800" b="1" dirty="0">
                <a:latin typeface="Consolas" panose="020B0609020204030204" pitchFamily="49" charset="0"/>
              </a:rPr>
              <a:t>OR</a:t>
            </a:r>
          </a:p>
          <a:p>
            <a:pPr marL="274320" lvl="1" indent="0">
              <a:buNone/>
            </a:pPr>
            <a:r>
              <a:rPr lang="en-US" sz="2200" dirty="0">
                <a:latin typeface="Consolas" panose="020B0609020204030204" pitchFamily="49" charset="0"/>
              </a:rPr>
              <a:t>const </a:t>
            </a:r>
            <a:r>
              <a:rPr lang="en-US" sz="2200" dirty="0" err="1">
                <a:latin typeface="Consolas" panose="020B0609020204030204" pitchFamily="49" charset="0"/>
              </a:rPr>
              <a:t>returntype</a:t>
            </a:r>
            <a:r>
              <a:rPr lang="en-US" sz="2200" dirty="0">
                <a:latin typeface="Consolas" panose="020B0609020204030204" pitchFamily="49" charset="0"/>
              </a:rPr>
              <a:t>&amp; operator [] (</a:t>
            </a:r>
            <a:r>
              <a:rPr lang="en-US" sz="2200" dirty="0" err="1">
                <a:latin typeface="Consolas" panose="020B0609020204030204" pitchFamily="49" charset="0"/>
              </a:rPr>
              <a:t>paramtype</a:t>
            </a:r>
            <a:r>
              <a:rPr lang="en-US" sz="2200" dirty="0">
                <a:latin typeface="Consolas" panose="020B0609020204030204" pitchFamily="49" charset="0"/>
              </a:rPr>
              <a:t>) const {}</a:t>
            </a:r>
          </a:p>
        </p:txBody>
      </p:sp>
    </p:spTree>
    <p:extLst>
      <p:ext uri="{BB962C8B-B14F-4D97-AF65-F5344CB8AC3E}">
        <p14:creationId xmlns:p14="http://schemas.microsoft.com/office/powerpoint/2010/main" val="42788651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0D5734-489B-4416-B87A-90FAD0AA0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Overloading the “[ ]” operator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C327E1-9545-4859-9DDA-3E3CB42410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first declaration can be used when the overloaded subscript operator modifies the object. The second declaration is used with a const object; in this case, the overloaded subscript operator can access but not modify the object.</a:t>
            </a:r>
          </a:p>
          <a:p>
            <a:r>
              <a:rPr lang="en-US" sz="2000" dirty="0" err="1">
                <a:latin typeface="+mj-lt"/>
              </a:rPr>
              <a:t>SafeArray</a:t>
            </a:r>
            <a:r>
              <a:rPr lang="en-US" sz="2000" dirty="0">
                <a:latin typeface="+mj-lt"/>
              </a:rPr>
              <a:t> Example (</a:t>
            </a:r>
            <a:r>
              <a:rPr lang="en-US" sz="2000" b="1" dirty="0"/>
              <a:t>safe_array_func.cpp </a:t>
            </a:r>
            <a:r>
              <a:rPr lang="en-US" sz="2000" dirty="0"/>
              <a:t>and  </a:t>
            </a:r>
            <a:r>
              <a:rPr lang="en-US" sz="2000" b="1" dirty="0">
                <a:latin typeface="+mj-lt"/>
              </a:rPr>
              <a:t>safe_array.cpp</a:t>
            </a:r>
            <a:r>
              <a:rPr lang="en-US" sz="2000" dirty="0">
                <a:latin typeface="+mj-lt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8378780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B2E94C-D902-4391-8397-1ECAC82493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Stream insertion (&lt;&lt;) and Stream extraction (&gt;&gt;) operators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68A686-4858-4107-9087-3E37DE9BCE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Explanation with example (</a:t>
            </a:r>
            <a:r>
              <a:rPr lang="en-US" b="1" dirty="0"/>
              <a:t>StreamOperators.cpp</a:t>
            </a:r>
            <a:r>
              <a:rPr lang="en-US" dirty="0"/>
              <a:t>)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50AA175E-A463-468D-AC62-92235DC98D5C}"/>
                  </a:ext>
                </a:extLst>
              </p14:cNvPr>
              <p14:cNvContentPartPr/>
              <p14:nvPr/>
            </p14:nvContentPartPr>
            <p14:xfrm>
              <a:off x="2768400" y="955440"/>
              <a:ext cx="1554120" cy="5274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50AA175E-A463-468D-AC62-92235DC98D5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759040" y="946080"/>
                <a:ext cx="1572840" cy="546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44278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25ABA-4EB1-40E9-B92D-65AEEB59BF3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FE6EB9-F7FF-4634-BDE3-DC2A9A120AB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627594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larity">
  <a:themeElements>
    <a:clrScheme name="Clarity">
      <a:dk1>
        <a:srgbClr val="292934"/>
      </a:dk1>
      <a:lt1>
        <a:srgbClr val="FFFFFF"/>
      </a:lt1>
      <a:dk2>
        <a:srgbClr val="D2533C"/>
      </a:dk2>
      <a:lt2>
        <a:srgbClr val="F3F2DC"/>
      </a:lt2>
      <a:accent1>
        <a:srgbClr val="93A299"/>
      </a:accent1>
      <a:accent2>
        <a:srgbClr val="AD8F67"/>
      </a:accent2>
      <a:accent3>
        <a:srgbClr val="726056"/>
      </a:accent3>
      <a:accent4>
        <a:srgbClr val="4C5A6A"/>
      </a:accent4>
      <a:accent5>
        <a:srgbClr val="808DA0"/>
      </a:accent5>
      <a:accent6>
        <a:srgbClr val="79463D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cs101</Template>
  <TotalTime>27456</TotalTime>
  <Words>771</Words>
  <Application>Microsoft Office PowerPoint</Application>
  <PresentationFormat>On-screen Show (4:3)</PresentationFormat>
  <Paragraphs>133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Consolas</vt:lpstr>
      <vt:lpstr>Clarity</vt:lpstr>
      <vt:lpstr>Operator overloading</vt:lpstr>
      <vt:lpstr>Operator Overloading</vt:lpstr>
      <vt:lpstr>Operator Overloading (continued)</vt:lpstr>
      <vt:lpstr>Operator Overloading: Rules</vt:lpstr>
      <vt:lpstr>Syntax</vt:lpstr>
      <vt:lpstr>What can’t be overloaded?</vt:lpstr>
      <vt:lpstr>Operators that can be overloaded</vt:lpstr>
      <vt:lpstr>Overloading the + operator</vt:lpstr>
      <vt:lpstr>Overloading the assignment operator (=)</vt:lpstr>
      <vt:lpstr>Overloading the assignment operator (=)</vt:lpstr>
      <vt:lpstr>Return value of the assignment operator (=)</vt:lpstr>
      <vt:lpstr>Operator Functions as Member Functions and Nonmember Functions</vt:lpstr>
      <vt:lpstr>Overloading Unary Operators</vt:lpstr>
      <vt:lpstr>Overloading the “[ ]” operator</vt:lpstr>
      <vt:lpstr>Overloading the “[ ]” operator</vt:lpstr>
      <vt:lpstr>Stream insertion (&lt;&lt;) and Stream extraction (&gt;&gt;) operators</vt:lpstr>
      <vt:lpstr>thanks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</dc:title>
  <dc:creator>Dr Wail Mardini</dc:creator>
  <cp:lastModifiedBy>Lenovo</cp:lastModifiedBy>
  <cp:revision>1684</cp:revision>
  <dcterms:created xsi:type="dcterms:W3CDTF">2017-12-20T08:30:18Z</dcterms:created>
  <dcterms:modified xsi:type="dcterms:W3CDTF">2020-11-23T05:19:29Z</dcterms:modified>
</cp:coreProperties>
</file>