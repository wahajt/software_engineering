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626" r:id="rId3"/>
    <p:sldId id="627" r:id="rId4"/>
    <p:sldId id="628" r:id="rId5"/>
    <p:sldId id="629" r:id="rId6"/>
    <p:sldId id="631" r:id="rId7"/>
    <p:sldId id="642" r:id="rId8"/>
    <p:sldId id="643" r:id="rId9"/>
    <p:sldId id="644" r:id="rId10"/>
    <p:sldId id="651" r:id="rId11"/>
    <p:sldId id="645" r:id="rId12"/>
    <p:sldId id="646" r:id="rId13"/>
    <p:sldId id="652" r:id="rId14"/>
    <p:sldId id="64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0" autoAdjust="0"/>
    <p:restoredTop sz="87977" autoAdjust="0"/>
  </p:normalViewPr>
  <p:slideViewPr>
    <p:cSldViewPr>
      <p:cViewPr varScale="1">
        <p:scale>
          <a:sx n="65" d="100"/>
          <a:sy n="65" d="100"/>
        </p:scale>
        <p:origin x="14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96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7CC95-1805-4589-B3C5-62CD2CD2AA07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BB922-0DC4-4F8B-823D-B8E7EC5749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8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8100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828800"/>
            <a:ext cx="38100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76800" y="4056063"/>
            <a:ext cx="38100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C++ Programming: From Problem Analysis to Program Design, Third Edition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D36E2-7449-A54C-9E34-463C537D75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586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53CE582-C91F-4942-8661-D4B9923CBD73}" type="datetimeFigureOut">
              <a:rPr lang="en-US" smtClean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-fact-34/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0E4824-493D-4152-9E97-B314A155F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Friends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B48BF09-199D-4DD1-8FFA-52F0C79E9A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7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C++ Programming: From Problem Analysis to Program Design, Third Edition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AF1B1C-A897-3340-9731-83F8F5E94AC0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 dirty="0"/>
              <a:t>this</a:t>
            </a:r>
            <a:r>
              <a:rPr lang="en-US" altLang="en-US" dirty="0"/>
              <a:t> Pointer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en-US" altLang="en-US"/>
              <a:t>Every object of a class maintains a (hidden) pointer to itself called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this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this</a:t>
            </a:r>
            <a:r>
              <a:rPr lang="en-US" altLang="en-US"/>
              <a:t> is a reserved word 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/>
              <a:t>When an object invokes a member function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/>
              <a:t>the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this</a:t>
            </a:r>
            <a:r>
              <a:rPr lang="en-US" altLang="en-US"/>
              <a:t> pointer is referenced by the member function</a:t>
            </a:r>
          </a:p>
        </p:txBody>
      </p:sp>
    </p:spTree>
    <p:extLst>
      <p:ext uri="{BB962C8B-B14F-4D97-AF65-F5344CB8AC3E}">
        <p14:creationId xmlns:p14="http://schemas.microsoft.com/office/powerpoint/2010/main" val="78845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C++ Programming: From Problem Analysis to Program Design, Third Edition</a:t>
            </a:r>
          </a:p>
        </p:txBody>
      </p:sp>
      <p:sp>
        <p:nvSpPr>
          <p:cNvPr id="717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0E0CE8-4EA4-B64E-99BB-1EDEC3DA53B7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i="1" dirty="0"/>
              <a:t>this </a:t>
            </a:r>
            <a:r>
              <a:rPr lang="en-US" altLang="en-US" dirty="0"/>
              <a:t>Pointer</a:t>
            </a:r>
          </a:p>
        </p:txBody>
      </p:sp>
      <p:pic>
        <p:nvPicPr>
          <p:cNvPr id="332805" name="Picture 5" descr="untitl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0" y="0"/>
            <a:ext cx="6096000" cy="2806700"/>
          </a:xfr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819400"/>
            <a:ext cx="5257800" cy="2278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5" name="Text Box 4"/>
          <p:cNvSpPr txBox="1">
            <a:spLocks noChangeArrowheads="1"/>
          </p:cNvSpPr>
          <p:nvPr/>
        </p:nvSpPr>
        <p:spPr bwMode="auto">
          <a:xfrm>
            <a:off x="6781800" y="3048000"/>
            <a:ext cx="1905000" cy="928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Comic Sans MS" charset="0"/>
                <a:ea typeface="Osaka" charset="-128"/>
                <a:cs typeface="Arial" charset="0"/>
              </a:rPr>
              <a:t>Copies the value of object x into object y</a:t>
            </a:r>
          </a:p>
        </p:txBody>
      </p:sp>
      <p:pic>
        <p:nvPicPr>
          <p:cNvPr id="332806" name="Picture 6" descr="untitl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819400"/>
            <a:ext cx="3843338" cy="4038600"/>
          </a:xfr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332808" name="Text Box 8"/>
          <p:cNvSpPr txBox="1">
            <a:spLocks noChangeArrowheads="1"/>
          </p:cNvSpPr>
          <p:nvPr/>
        </p:nvSpPr>
        <p:spPr bwMode="auto">
          <a:xfrm>
            <a:off x="2971800" y="5638800"/>
            <a:ext cx="533400" cy="8080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8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707129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C++ Programming: From Problem Analysis to Program Design, Third Edition</a:t>
            </a: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3E6998F-8879-544F-8FF4-4D21E0B65164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Friend Functions of Classes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en-US" dirty="0"/>
              <a:t>A </a:t>
            </a:r>
            <a:r>
              <a:rPr lang="en-US" altLang="en-US" b="1" dirty="0"/>
              <a:t>friend function </a:t>
            </a:r>
            <a:r>
              <a:rPr lang="en-US" altLang="en-US" dirty="0"/>
              <a:t>of a class is a nonmember function of the class, but has access to all the </a:t>
            </a:r>
            <a:r>
              <a:rPr lang="en-US" altLang="en-US" dirty="0" smtClean="0"/>
              <a:t>members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or non-public) of 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class</a:t>
            </a:r>
            <a:r>
              <a:rPr lang="en-US" altLang="en-US" dirty="0"/>
              <a:t>.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 dirty="0"/>
              <a:t>To make a function friend to a class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 dirty="0"/>
              <a:t>The reserved word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friend</a:t>
            </a:r>
            <a:r>
              <a:rPr lang="en-US" altLang="en-US" dirty="0"/>
              <a:t> precedes the function prototype in the class definition</a:t>
            </a:r>
          </a:p>
        </p:txBody>
      </p:sp>
    </p:spTree>
    <p:extLst>
      <p:ext uri="{BB962C8B-B14F-4D97-AF65-F5344CB8AC3E}">
        <p14:creationId xmlns:p14="http://schemas.microsoft.com/office/powerpoint/2010/main" val="210371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C++ Programming: From Problem Analysis to Program Design, Third Edition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B003B0-57DC-9A47-8093-8AAFC07B6FF9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Friend Functions of Classes (continued)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en-US" altLang="en-US" dirty="0"/>
              <a:t>The word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friend</a:t>
            </a:r>
            <a:r>
              <a:rPr lang="en-US" altLang="en-US" dirty="0"/>
              <a:t> appears only in the function prototype (in 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class</a:t>
            </a:r>
            <a:r>
              <a:rPr lang="en-US" altLang="en-US" dirty="0"/>
              <a:t> definition), not in the definition of 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friend</a:t>
            </a:r>
            <a:r>
              <a:rPr lang="en-US" altLang="en-US" dirty="0"/>
              <a:t> function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 dirty="0"/>
              <a:t>When writing 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friend</a:t>
            </a:r>
            <a:r>
              <a:rPr lang="en-US" altLang="en-US" dirty="0"/>
              <a:t> function definition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dirty="0"/>
              <a:t>The name of 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class</a:t>
            </a:r>
            <a:r>
              <a:rPr lang="en-US" altLang="en-US" dirty="0"/>
              <a:t> and the scope resolution operator are not used</a:t>
            </a:r>
          </a:p>
        </p:txBody>
      </p:sp>
    </p:spTree>
    <p:extLst>
      <p:ext uri="{BB962C8B-B14F-4D97-AF65-F5344CB8AC3E}">
        <p14:creationId xmlns:p14="http://schemas.microsoft.com/office/powerpoint/2010/main" val="9334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C++ Programming: From Problem Analysis to Program Design, Third Edition</a:t>
            </a:r>
          </a:p>
        </p:txBody>
      </p:sp>
      <p:sp>
        <p:nvSpPr>
          <p:cNvPr id="1126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94C461-1B8E-174C-AF0A-68667F6D9728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11269" name="Rectangle 11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7158F-7339-4FE0-AEA9-3E102BD2891A}"/>
              </a:ext>
            </a:extLst>
          </p:cNvPr>
          <p:cNvSpPr txBox="1"/>
          <p:nvPr/>
        </p:nvSpPr>
        <p:spPr>
          <a:xfrm>
            <a:off x="611560" y="1268760"/>
            <a:ext cx="6192688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name;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raiseSalary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Employee::Employee() : name(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 salary(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s): name(n), salary(s)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name; 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 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5CC7C-D85B-48BE-9673-E8A693C3D539}"/>
              </a:ext>
            </a:extLst>
          </p:cNvPr>
          <p:cNvSpPr txBox="1"/>
          <p:nvPr/>
        </p:nvSpPr>
        <p:spPr>
          <a:xfrm>
            <a:off x="611560" y="5181878"/>
            <a:ext cx="619268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raiseSalary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+= amount;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1FB5E3-65A9-4CC5-B0C9-DB522EF2C117}"/>
              </a:ext>
            </a:extLst>
          </p:cNvPr>
          <p:cNvGrpSpPr/>
          <p:nvPr/>
        </p:nvGrpSpPr>
        <p:grpSpPr>
          <a:xfrm>
            <a:off x="1043608" y="5647465"/>
            <a:ext cx="3384376" cy="965571"/>
            <a:chOff x="1043608" y="5301208"/>
            <a:chExt cx="3384376" cy="96557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86BD26-D6DB-4B6C-9106-0652770E9A4B}"/>
                </a:ext>
              </a:extLst>
            </p:cNvPr>
            <p:cNvSpPr/>
            <p:nvPr/>
          </p:nvSpPr>
          <p:spPr>
            <a:xfrm>
              <a:off x="1043608" y="5301208"/>
              <a:ext cx="864096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4943350-BF21-4B2F-8FEC-0FE30C006604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1475656" y="5589240"/>
              <a:ext cx="576064" cy="35873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E4ABE8-EF88-45B9-9531-56E8ADFCA99D}"/>
                </a:ext>
              </a:extLst>
            </p:cNvPr>
            <p:cNvSpPr txBox="1"/>
            <p:nvPr/>
          </p:nvSpPr>
          <p:spPr>
            <a:xfrm>
              <a:off x="1979712" y="5743561"/>
              <a:ext cx="2448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Cannot access private member of Employee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7BDF5E-A28F-4BD5-8267-20B5765AEE68}"/>
              </a:ext>
            </a:extLst>
          </p:cNvPr>
          <p:cNvSpPr txBox="1"/>
          <p:nvPr/>
        </p:nvSpPr>
        <p:spPr>
          <a:xfrm>
            <a:off x="2483768" y="1340768"/>
            <a:ext cx="6336704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4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C++ Programming: From Problem Analysis to Program Design, Third Edition</a:t>
            </a:r>
          </a:p>
        </p:txBody>
      </p:sp>
      <p:sp>
        <p:nvSpPr>
          <p:cNvPr id="1126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94C461-1B8E-174C-AF0A-68667F6D9728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11269" name="Rectangle 11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7158F-7339-4FE0-AEA9-3E102BD2891A}"/>
              </a:ext>
            </a:extLst>
          </p:cNvPr>
          <p:cNvSpPr txBox="1"/>
          <p:nvPr/>
        </p:nvSpPr>
        <p:spPr>
          <a:xfrm>
            <a:off x="611560" y="1268760"/>
            <a:ext cx="6192688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name;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Employee::Employee() : name(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 salary(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s): name(n), salary(s)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name; 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 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5CC7C-D85B-48BE-9673-E8A693C3D539}"/>
              </a:ext>
            </a:extLst>
          </p:cNvPr>
          <p:cNvSpPr txBox="1"/>
          <p:nvPr/>
        </p:nvSpPr>
        <p:spPr>
          <a:xfrm>
            <a:off x="611560" y="5181878"/>
            <a:ext cx="619268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raiseSalary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+= amount;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1FB5E3-65A9-4CC5-B0C9-DB522EF2C117}"/>
              </a:ext>
            </a:extLst>
          </p:cNvPr>
          <p:cNvGrpSpPr/>
          <p:nvPr/>
        </p:nvGrpSpPr>
        <p:grpSpPr>
          <a:xfrm>
            <a:off x="1043608" y="5647465"/>
            <a:ext cx="3384376" cy="965571"/>
            <a:chOff x="1043608" y="5301208"/>
            <a:chExt cx="3384376" cy="96557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86BD26-D6DB-4B6C-9106-0652770E9A4B}"/>
                </a:ext>
              </a:extLst>
            </p:cNvPr>
            <p:cNvSpPr/>
            <p:nvPr/>
          </p:nvSpPr>
          <p:spPr>
            <a:xfrm>
              <a:off x="1043608" y="5301208"/>
              <a:ext cx="864096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4943350-BF21-4B2F-8FEC-0FE30C006604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1475656" y="5589240"/>
              <a:ext cx="576064" cy="35873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E4ABE8-EF88-45B9-9531-56E8ADFCA99D}"/>
                </a:ext>
              </a:extLst>
            </p:cNvPr>
            <p:cNvSpPr txBox="1"/>
            <p:nvPr/>
          </p:nvSpPr>
          <p:spPr>
            <a:xfrm>
              <a:off x="1979712" y="5743561"/>
              <a:ext cx="2448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Can now access private members of Employee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7BDF5E-A28F-4BD5-8267-20B5765AEE68}"/>
              </a:ext>
            </a:extLst>
          </p:cNvPr>
          <p:cNvSpPr txBox="1"/>
          <p:nvPr/>
        </p:nvSpPr>
        <p:spPr>
          <a:xfrm>
            <a:off x="2483768" y="1340768"/>
            <a:ext cx="6336704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9C4EF-B82B-4016-88EF-B674F04EAEB9}"/>
              </a:ext>
            </a:extLst>
          </p:cNvPr>
          <p:cNvSpPr txBox="1"/>
          <p:nvPr/>
        </p:nvSpPr>
        <p:spPr>
          <a:xfrm>
            <a:off x="3203848" y="620688"/>
            <a:ext cx="4680520" cy="48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BC070-2606-4CFF-B0B9-DC8AA2A1C69E}"/>
              </a:ext>
            </a:extLst>
          </p:cNvPr>
          <p:cNvSpPr txBox="1"/>
          <p:nvPr/>
        </p:nvSpPr>
        <p:spPr>
          <a:xfrm>
            <a:off x="1403648" y="3429000"/>
            <a:ext cx="5328592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friend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raiseSalary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e);</a:t>
            </a:r>
          </a:p>
        </p:txBody>
      </p:sp>
    </p:spTree>
    <p:extLst>
      <p:ext uri="{BB962C8B-B14F-4D97-AF65-F5344CB8AC3E}">
        <p14:creationId xmlns:p14="http://schemas.microsoft.com/office/powerpoint/2010/main" val="260397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94C461-1B8E-174C-AF0A-68667F6D9728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11269" name="Rectangle 11"/>
          <p:cNvSpPr>
            <a:spLocks noGrp="1" noChangeArrowheads="1"/>
          </p:cNvSpPr>
          <p:nvPr>
            <p:ph type="title"/>
          </p:nvPr>
        </p:nvSpPr>
        <p:spPr>
          <a:xfrm>
            <a:off x="381000" y="487726"/>
            <a:ext cx="7772400" cy="712787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Friend Functions &amp; Inheritance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BDF5E-A28F-4BD5-8267-20B5765AEE68}"/>
              </a:ext>
            </a:extLst>
          </p:cNvPr>
          <p:cNvSpPr txBox="1"/>
          <p:nvPr/>
        </p:nvSpPr>
        <p:spPr>
          <a:xfrm>
            <a:off x="2483768" y="1340768"/>
            <a:ext cx="6336704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9C4EF-B82B-4016-88EF-B674F04EAEB9}"/>
              </a:ext>
            </a:extLst>
          </p:cNvPr>
          <p:cNvSpPr txBox="1"/>
          <p:nvPr/>
        </p:nvSpPr>
        <p:spPr>
          <a:xfrm>
            <a:off x="3203848" y="620688"/>
            <a:ext cx="4680520" cy="48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5EF6E-2EC0-4D0D-AAF8-EDF3D7C0BE8E}"/>
              </a:ext>
            </a:extLst>
          </p:cNvPr>
          <p:cNvSpPr txBox="1"/>
          <p:nvPr/>
        </p:nvSpPr>
        <p:spPr>
          <a:xfrm>
            <a:off x="387946" y="1748539"/>
            <a:ext cx="5472608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friend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func1();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B: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friend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func2();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y;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17A6F-3E60-44F4-BFD2-256AEC121C99}"/>
              </a:ext>
            </a:extLst>
          </p:cNvPr>
          <p:cNvSpPr txBox="1"/>
          <p:nvPr/>
        </p:nvSpPr>
        <p:spPr>
          <a:xfrm>
            <a:off x="3286125" y="3262563"/>
            <a:ext cx="5472608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func1()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B obj;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obj.x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obj.y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= 2     cannot access, not a friend of B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func2()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B obj;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obj.x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= 1;    cannot access, not a friend of A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obj.y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18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BEAE-EB3F-4B8A-84C2-F70B9440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001B-50C5-461A-B1EB-F6B53A357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friend class</a:t>
            </a:r>
            <a:r>
              <a:rPr lang="en-US" dirty="0"/>
              <a:t> is a class that can access the private and protected members of a class in which it is declared as </a:t>
            </a:r>
            <a:r>
              <a:rPr lang="en-US" b="1" dirty="0"/>
              <a:t>friend</a:t>
            </a:r>
            <a:r>
              <a:rPr lang="en-US" dirty="0"/>
              <a:t>.</a:t>
            </a:r>
          </a:p>
          <a:p>
            <a:r>
              <a:rPr lang="en-US" dirty="0"/>
              <a:t>This is needed when we want to allow a particular class to access the </a:t>
            </a:r>
            <a:r>
              <a:rPr lang="en-US" b="1" dirty="0"/>
              <a:t>private</a:t>
            </a:r>
            <a:r>
              <a:rPr lang="en-US" dirty="0"/>
              <a:t> and </a:t>
            </a:r>
            <a:r>
              <a:rPr lang="en-US" b="1" dirty="0"/>
              <a:t>protected </a:t>
            </a:r>
            <a:r>
              <a:rPr lang="en-US" dirty="0"/>
              <a:t>members of a class.</a:t>
            </a:r>
          </a:p>
        </p:txBody>
      </p:sp>
    </p:spTree>
    <p:extLst>
      <p:ext uri="{BB962C8B-B14F-4D97-AF65-F5344CB8AC3E}">
        <p14:creationId xmlns:p14="http://schemas.microsoft.com/office/powerpoint/2010/main" val="75280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 </a:t>
            </a:r>
          </a:p>
          <a:p>
            <a:pPr marL="0" indent="0">
              <a:buNone/>
            </a:pPr>
            <a:r>
              <a:rPr lang="en-US" dirty="0"/>
              <a:t>class A { </a:t>
            </a:r>
          </a:p>
          <a:p>
            <a:pPr marL="0" indent="0">
              <a:buNone/>
            </a:pPr>
            <a:r>
              <a:rPr lang="en-US" dirty="0"/>
              <a:t>private: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a;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 </a:t>
            </a:r>
          </a:p>
          <a:p>
            <a:pPr marL="0" indent="0">
              <a:buNone/>
            </a:pPr>
            <a:r>
              <a:rPr lang="en-US" dirty="0"/>
              <a:t>	A() { a = 0; } </a:t>
            </a:r>
          </a:p>
          <a:p>
            <a:pPr marL="0" indent="0">
              <a:buNone/>
            </a:pPr>
            <a:r>
              <a:rPr lang="en-US" dirty="0"/>
              <a:t>	friend class B; // Friend Class </a:t>
            </a:r>
          </a:p>
          <a:p>
            <a:pPr marL="0" indent="0">
              <a:buNone/>
            </a:pPr>
            <a:r>
              <a:rPr lang="en-US" dirty="0"/>
              <a:t>};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B { </a:t>
            </a:r>
          </a:p>
          <a:p>
            <a:pPr marL="0" indent="0">
              <a:buNone/>
            </a:pPr>
            <a:r>
              <a:rPr lang="en-US" dirty="0"/>
              <a:t>private: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b;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showA</a:t>
            </a:r>
            <a:r>
              <a:rPr lang="en-US" dirty="0"/>
              <a:t>(A&amp; x) </a:t>
            </a:r>
          </a:p>
          <a:p>
            <a:pPr marL="0" indent="0">
              <a:buNone/>
            </a:pPr>
            <a:r>
              <a:rPr lang="en-US" dirty="0"/>
              <a:t>	{ </a:t>
            </a:r>
          </a:p>
          <a:p>
            <a:pPr marL="0" indent="0">
              <a:buNone/>
            </a:pPr>
            <a:r>
              <a:rPr lang="en-US" dirty="0"/>
              <a:t>		// Since B is friend of A, it can access </a:t>
            </a:r>
          </a:p>
          <a:p>
            <a:pPr marL="0" indent="0">
              <a:buNone/>
            </a:pPr>
            <a:r>
              <a:rPr lang="en-US" dirty="0"/>
              <a:t>		// private members of A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err="1"/>
              <a:t>cout</a:t>
            </a:r>
            <a:r>
              <a:rPr lang="en-US" dirty="0"/>
              <a:t> &lt;&lt; "A::a=" &lt;&lt; </a:t>
            </a:r>
            <a:r>
              <a:rPr lang="en-US" dirty="0" err="1"/>
              <a:t>x.a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	A </a:t>
            </a:r>
            <a:r>
              <a:rPr lang="en-US" dirty="0" err="1"/>
              <a:t>a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B </a:t>
            </a:r>
            <a:r>
              <a:rPr lang="en-US" dirty="0" err="1"/>
              <a:t>b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b.showA</a:t>
            </a:r>
            <a:r>
              <a:rPr lang="en-US" dirty="0"/>
              <a:t>(a); </a:t>
            </a:r>
          </a:p>
          <a:p>
            <a:pPr marL="0" indent="0">
              <a:buNone/>
            </a:pPr>
            <a:r>
              <a:rPr lang="en-US" dirty="0"/>
              <a:t>	return 0;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5426317"/>
            <a:ext cx="2088232" cy="105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94C461-1B8E-174C-AF0A-68667F6D9728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11269" name="Rectangle 11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7158F-7339-4FE0-AEA9-3E102BD2891A}"/>
              </a:ext>
            </a:extLst>
          </p:cNvPr>
          <p:cNvSpPr txBox="1"/>
          <p:nvPr/>
        </p:nvSpPr>
        <p:spPr>
          <a:xfrm>
            <a:off x="323528" y="1988840"/>
            <a:ext cx="6192688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name;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Employee::Employee() : name(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 salary(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s): name(n), salary(s)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name; 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 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BDF5E-A28F-4BD5-8267-20B5765AEE68}"/>
              </a:ext>
            </a:extLst>
          </p:cNvPr>
          <p:cNvSpPr txBox="1"/>
          <p:nvPr/>
        </p:nvSpPr>
        <p:spPr>
          <a:xfrm>
            <a:off x="2483768" y="1340768"/>
            <a:ext cx="6336704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8C564-6824-4929-BA92-BFCE71C4D758}"/>
              </a:ext>
            </a:extLst>
          </p:cNvPr>
          <p:cNvSpPr txBox="1"/>
          <p:nvPr/>
        </p:nvSpPr>
        <p:spPr>
          <a:xfrm>
            <a:off x="3429000" y="780850"/>
            <a:ext cx="5391472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Boss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Boss();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giveRaise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Boss::Boss() {}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Boss::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giveRaise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+= amount;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86853F-CBB4-414C-B215-F55982DB6823}"/>
              </a:ext>
            </a:extLst>
          </p:cNvPr>
          <p:cNvGrpSpPr/>
          <p:nvPr/>
        </p:nvGrpSpPr>
        <p:grpSpPr>
          <a:xfrm>
            <a:off x="3779912" y="2924944"/>
            <a:ext cx="4032448" cy="1243301"/>
            <a:chOff x="3779912" y="2924944"/>
            <a:chExt cx="4032448" cy="124330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DF7286-9A06-4959-BBD4-CB2D70D534E2}"/>
                </a:ext>
              </a:extLst>
            </p:cNvPr>
            <p:cNvSpPr/>
            <p:nvPr/>
          </p:nvSpPr>
          <p:spPr>
            <a:xfrm>
              <a:off x="3779912" y="2924944"/>
              <a:ext cx="1008112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A1FCC0C-7FFB-46B6-8655-405DE61BAF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3212976"/>
              <a:ext cx="432048" cy="4320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92C5A8-DAEF-44F8-B78B-1662488CBC88}"/>
                </a:ext>
              </a:extLst>
            </p:cNvPr>
            <p:cNvSpPr txBox="1"/>
            <p:nvPr/>
          </p:nvSpPr>
          <p:spPr>
            <a:xfrm>
              <a:off x="4788024" y="3645025"/>
              <a:ext cx="3024336" cy="52322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Cannot access, private member of Employee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700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94C461-1B8E-174C-AF0A-68667F6D9728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11269" name="Rectangle 11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7158F-7339-4FE0-AEA9-3E102BD2891A}"/>
              </a:ext>
            </a:extLst>
          </p:cNvPr>
          <p:cNvSpPr txBox="1"/>
          <p:nvPr/>
        </p:nvSpPr>
        <p:spPr>
          <a:xfrm>
            <a:off x="323528" y="1988840"/>
            <a:ext cx="6192688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name;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string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Employee::Employee() : name(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 salary(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Employee::Employee(string n,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s): name(n), salary(s) {}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name; 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Employee::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salary; 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BDF5E-A28F-4BD5-8267-20B5765AEE68}"/>
              </a:ext>
            </a:extLst>
          </p:cNvPr>
          <p:cNvSpPr txBox="1"/>
          <p:nvPr/>
        </p:nvSpPr>
        <p:spPr>
          <a:xfrm>
            <a:off x="2483768" y="1340768"/>
            <a:ext cx="6336704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8C564-6824-4929-BA92-BFCE71C4D758}"/>
              </a:ext>
            </a:extLst>
          </p:cNvPr>
          <p:cNvSpPr txBox="1"/>
          <p:nvPr/>
        </p:nvSpPr>
        <p:spPr>
          <a:xfrm>
            <a:off x="3429000" y="780850"/>
            <a:ext cx="5391472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Boss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Boss();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giveRaise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Boss::Boss() {}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Boss::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giveRaise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amount, Employee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e)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e.salary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+= amount;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E86F6-B116-455C-962B-0E8164DA6793}"/>
              </a:ext>
            </a:extLst>
          </p:cNvPr>
          <p:cNvSpPr txBox="1"/>
          <p:nvPr/>
        </p:nvSpPr>
        <p:spPr>
          <a:xfrm>
            <a:off x="1115616" y="4149080"/>
            <a:ext cx="2160240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friend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Boss;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CBDA8-DB2A-4428-8502-5856D2D44D16}"/>
              </a:ext>
            </a:extLst>
          </p:cNvPr>
          <p:cNvGrpSpPr/>
          <p:nvPr/>
        </p:nvGrpSpPr>
        <p:grpSpPr>
          <a:xfrm>
            <a:off x="3779912" y="2924944"/>
            <a:ext cx="4032448" cy="1243301"/>
            <a:chOff x="3779912" y="2924944"/>
            <a:chExt cx="4032448" cy="12433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AF72C2-3B92-40A0-939C-E17EC69245AA}"/>
                </a:ext>
              </a:extLst>
            </p:cNvPr>
            <p:cNvSpPr/>
            <p:nvPr/>
          </p:nvSpPr>
          <p:spPr>
            <a:xfrm>
              <a:off x="3779912" y="2924944"/>
              <a:ext cx="1008112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266E76A-A283-4B45-A8EF-5D4C7DA1BF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3212976"/>
              <a:ext cx="432048" cy="4320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6296E9-E765-462B-9218-569CE09F4E43}"/>
                </a:ext>
              </a:extLst>
            </p:cNvPr>
            <p:cNvSpPr txBox="1"/>
            <p:nvPr/>
          </p:nvSpPr>
          <p:spPr>
            <a:xfrm>
              <a:off x="4788024" y="3645025"/>
              <a:ext cx="3024336" cy="52322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Can access private and protected members of Employee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88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important points about friend functions and classes: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907464" y="1700808"/>
            <a:ext cx="7913008" cy="424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/>
              <a:t>Following are some important points about friend functions and classes:</a:t>
            </a:r>
            <a:br>
              <a:rPr lang="en-US" sz="2400" dirty="0"/>
            </a:br>
            <a:r>
              <a:rPr lang="en-US" sz="2400" dirty="0"/>
              <a:t>1) Friends should be used only for limited purpose. too many functions or external classes are declared as friends of a class with protected or private data, it lessens the value of encapsulation of separate classes in object-oriented programming.</a:t>
            </a:r>
          </a:p>
          <a:p>
            <a:pPr fontAlgn="base"/>
            <a:r>
              <a:rPr lang="en-US" sz="2400" dirty="0"/>
              <a:t>2) Friendship is not mutual. If class A is a friend of B, then B doesn’t become a friend of A automatically.</a:t>
            </a:r>
          </a:p>
          <a:p>
            <a:pPr fontAlgn="base"/>
            <a:r>
              <a:rPr lang="en-US" sz="2400" dirty="0"/>
              <a:t>3) Friendship is not inherited (See </a:t>
            </a:r>
            <a:r>
              <a:rPr lang="en-US" sz="2400" dirty="0">
                <a:hlinkClick r:id="rId2"/>
              </a:rPr>
              <a:t>this </a:t>
            </a:r>
            <a:r>
              <a:rPr lang="en-US" sz="2400" dirty="0"/>
              <a:t>for more details)</a:t>
            </a:r>
          </a:p>
          <a:p>
            <a:pPr fontAlgn="base"/>
            <a:r>
              <a:rPr lang="en-US" sz="2400" dirty="0"/>
              <a:t>4) The concept of friends is not there in Java.</a:t>
            </a:r>
          </a:p>
        </p:txBody>
      </p:sp>
    </p:spTree>
    <p:extLst>
      <p:ext uri="{BB962C8B-B14F-4D97-AF65-F5344CB8AC3E}">
        <p14:creationId xmlns:p14="http://schemas.microsoft.com/office/powerpoint/2010/main" val="309972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1C12-4A7D-410F-B956-10CF0AFD2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7038A-4258-4C0D-8483-41B7BC367B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09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cs101</Template>
  <TotalTime>27218</TotalTime>
  <Words>324</Words>
  <Application>Microsoft Office PowerPoint</Application>
  <PresentationFormat>On-screen Show (4:3)</PresentationFormat>
  <Paragraphs>199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Comic Sans MS</vt:lpstr>
      <vt:lpstr>Consolas</vt:lpstr>
      <vt:lpstr>Courier New</vt:lpstr>
      <vt:lpstr>Osaka</vt:lpstr>
      <vt:lpstr>Clarity</vt:lpstr>
      <vt:lpstr>Friends</vt:lpstr>
      <vt:lpstr>this Pointer</vt:lpstr>
      <vt:lpstr>this Pointer</vt:lpstr>
      <vt:lpstr>Friend Functions of Classes</vt:lpstr>
      <vt:lpstr>Friend Functions of Classes (continued)</vt:lpstr>
      <vt:lpstr>Example</vt:lpstr>
      <vt:lpstr>Example</vt:lpstr>
      <vt:lpstr>Friend Functions &amp; Inheritance</vt:lpstr>
      <vt:lpstr>Friend Classes</vt:lpstr>
      <vt:lpstr>PowerPoint Presentation</vt:lpstr>
      <vt:lpstr>Example</vt:lpstr>
      <vt:lpstr>Example</vt:lpstr>
      <vt:lpstr>some important points about friend functions and classes: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Dr Wail Mardini</dc:creator>
  <cp:lastModifiedBy>Lenovo</cp:lastModifiedBy>
  <cp:revision>1602</cp:revision>
  <dcterms:created xsi:type="dcterms:W3CDTF">2017-12-20T08:30:18Z</dcterms:created>
  <dcterms:modified xsi:type="dcterms:W3CDTF">2020-11-09T07:03:44Z</dcterms:modified>
</cp:coreProperties>
</file>