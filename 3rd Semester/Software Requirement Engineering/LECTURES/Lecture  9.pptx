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74" r:id="rId2"/>
    <p:sldMasterId id="2147483687" r:id="rId3"/>
  </p:sldMasterIdLst>
  <p:sldIdLst>
    <p:sldId id="277"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660"/>
  </p:normalViewPr>
  <p:slideViewPr>
    <p:cSldViewPr snapToGrid="0">
      <p:cViewPr varScale="1">
        <p:scale>
          <a:sx n="79" d="100"/>
          <a:sy n="79" d="100"/>
        </p:scale>
        <p:origin x="16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17"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1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2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2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4"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2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2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3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3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3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3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4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4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US" sz="4400" b="0" strike="noStrike" spc="-1">
              <a:latin typeface="Arial"/>
            </a:endParaRPr>
          </a:p>
        </p:txBody>
      </p:sp>
      <p:sp>
        <p:nvSpPr>
          <p:cNvPr id="14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4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4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4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lstStyle/>
          <a:p>
            <a:pPr algn="ctr"/>
            <a:r>
              <a:rPr lang="en-US" sz="4400" b="0" strike="noStrike" spc="-1">
                <a:latin typeface="Arial"/>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4880" cy="1324800"/>
          </a:xfrm>
          <a:prstGeom prst="rect">
            <a:avLst/>
          </a:prstGeom>
        </p:spPr>
        <p:txBody>
          <a:bodyPr lIns="0" tIns="0" rIns="0" bIns="0" anchor="ctr"/>
          <a:lstStyle/>
          <a:p>
            <a:r>
              <a:rPr lang="en-US" sz="1800" b="0" strike="noStrike" spc="-1">
                <a:latin typeface="Arial"/>
              </a:rPr>
              <a:t>Click to edit the title text format</a:t>
            </a:r>
          </a:p>
        </p:txBody>
      </p:sp>
      <p:sp>
        <p:nvSpPr>
          <p:cNvPr id="7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365040"/>
            <a:ext cx="10514880" cy="1324800"/>
          </a:xfrm>
          <a:prstGeom prst="rect">
            <a:avLst/>
          </a:prstGeom>
        </p:spPr>
        <p:txBody>
          <a:bodyPr lIns="0" tIns="0" rIns="0" bIns="0" anchor="ctr"/>
          <a:lstStyle/>
          <a:p>
            <a:r>
              <a:rPr lang="en-US" sz="1800" b="0" strike="noStrike" spc="-1">
                <a:latin typeface="Arial"/>
              </a:rPr>
              <a:t>Click to edit the title text format</a:t>
            </a:r>
          </a:p>
        </p:txBody>
      </p:sp>
      <p:sp>
        <p:nvSpPr>
          <p:cNvPr id="115" name="PlaceHolder 2"/>
          <p:cNvSpPr>
            <a:spLocks noGrp="1"/>
          </p:cNvSpPr>
          <p:nvPr>
            <p:ph type="body"/>
          </p:nvPr>
        </p:nvSpPr>
        <p:spPr>
          <a:xfrm>
            <a:off x="838080" y="1825560"/>
            <a:ext cx="10514880" cy="435060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624" y="2273088"/>
            <a:ext cx="10972440" cy="1144800"/>
          </a:xfrm>
        </p:spPr>
        <p:txBody>
          <a:bodyPr/>
          <a:lstStyle/>
          <a:p>
            <a:r>
              <a:rPr lang="en-US" dirty="0" smtClean="0"/>
              <a:t>Software Requirements Engineering</a:t>
            </a:r>
            <a:endParaRPr lang="en-US" dirty="0"/>
          </a:p>
        </p:txBody>
      </p:sp>
      <p:sp>
        <p:nvSpPr>
          <p:cNvPr id="3" name="Subtitle 2"/>
          <p:cNvSpPr>
            <a:spLocks noGrp="1"/>
          </p:cNvSpPr>
          <p:nvPr>
            <p:ph type="subTitle"/>
          </p:nvPr>
        </p:nvSpPr>
        <p:spPr>
          <a:xfrm>
            <a:off x="1524000" y="3602038"/>
            <a:ext cx="9144000" cy="1655762"/>
          </a:xfrm>
          <a:prstGeom prst="rect">
            <a:avLst/>
          </a:prstGeom>
        </p:spPr>
        <p:txBody>
          <a:bodyPr/>
          <a:lstStyle/>
          <a:p>
            <a:pPr algn="r"/>
            <a:r>
              <a:rPr lang="en-US" dirty="0" smtClean="0"/>
              <a:t>Lecture 10 and 11</a:t>
            </a:r>
          </a:p>
          <a:p>
            <a:pPr algn="r"/>
            <a:r>
              <a:rPr lang="en-US" dirty="0" smtClean="0"/>
              <a:t>Engr. Sara Rehmat</a:t>
            </a:r>
            <a:endParaRPr lang="en-US" dirty="0"/>
          </a:p>
        </p:txBody>
      </p:sp>
    </p:spTree>
    <p:extLst>
      <p:ext uri="{BB962C8B-B14F-4D97-AF65-F5344CB8AC3E}">
        <p14:creationId xmlns:p14="http://schemas.microsoft.com/office/powerpoint/2010/main" val="853816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1" strike="noStrike" spc="-1">
                <a:solidFill>
                  <a:srgbClr val="000000"/>
                </a:solidFill>
                <a:latin typeface="Calibri Light"/>
              </a:rPr>
              <a:t>2. Scope and limitations</a:t>
            </a:r>
            <a:endParaRPr lang="en-US" sz="4400" b="0" strike="noStrike" spc="-1">
              <a:latin typeface="Arial"/>
            </a:endParaRPr>
          </a:p>
        </p:txBody>
      </p:sp>
      <p:sp>
        <p:nvSpPr>
          <p:cNvPr id="155"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85000" lnSpcReduction="10000"/>
          </a:bodyPr>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 software project should define its scope and limitations. You need to state both what the solution being developed </a:t>
            </a:r>
            <a:r>
              <a:rPr lang="en-US" sz="2800" b="0" i="1" strike="noStrike" spc="-1">
                <a:solidFill>
                  <a:srgbClr val="000000"/>
                </a:solidFill>
                <a:latin typeface="Calibri"/>
              </a:rPr>
              <a:t>is (scope) </a:t>
            </a:r>
            <a:r>
              <a:rPr lang="en-US" sz="2800" b="0" strike="noStrike" spc="-1">
                <a:solidFill>
                  <a:srgbClr val="000000"/>
                </a:solidFill>
                <a:latin typeface="Calibri"/>
              </a:rPr>
              <a:t>and what it </a:t>
            </a:r>
            <a:r>
              <a:rPr lang="en-US" sz="2800" b="0" i="1" strike="noStrike" spc="-1">
                <a:solidFill>
                  <a:srgbClr val="000000"/>
                </a:solidFill>
                <a:latin typeface="Calibri"/>
              </a:rPr>
              <a:t>is not (limtitations)</a:t>
            </a:r>
            <a:r>
              <a:rPr lang="en-US" sz="2800" b="0" strike="noStrike" spc="-1">
                <a:solidFill>
                  <a:srgbClr val="000000"/>
                </a:solidFill>
                <a:latin typeface="Calibri"/>
              </a:rPr>
              <a:t>.</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The first step to controlling scope creep is to define the project’s scope.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At the highest level, scope is defined when the customer decides which business objectives to target.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At a lower level, scope is defined at the level of features, user stories, use cases, or events and responses to include.</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 Scope ultimately is defined through the set of functional requirements planned for implementation in a specific release or iteration.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At each level, the scope must stay within the bounds of the level above it. For example, in-scope user requirements must map to the business objectives, and functional requirements must map to user requirements that are in scope.</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5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15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4800" b="1" strike="noStrike" spc="-1">
                <a:solidFill>
                  <a:srgbClr val="000000"/>
                </a:solidFill>
                <a:latin typeface="Calibri"/>
              </a:rPr>
              <a:t>2.1 Major Features</a:t>
            </a:r>
            <a:endParaRPr lang="en-US" sz="4800" b="0" strike="noStrike" spc="-1">
              <a:latin typeface="Arial"/>
            </a:endParaRPr>
          </a:p>
        </p:txBody>
      </p:sp>
      <p:sp>
        <p:nvSpPr>
          <p:cNvPr id="157"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List the product’s major features or user capabilities, emphasizing those that distinguish it from previous or competing products.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Think about how users will use the features, to ensure that the list is complete and that it does not include unnecessary features that sound interesting but don’t provide customer value.</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 Give each feature a unique and persistent label to permit tracing it to other system elements. You might include a feature tree diagram.</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5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5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5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CustomShape 1"/>
          <p:cNvSpPr/>
          <p:nvPr/>
        </p:nvSpPr>
        <p:spPr>
          <a:xfrm>
            <a:off x="838080" y="1038600"/>
            <a:ext cx="10514880" cy="59248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pPr>
            <a:endParaRPr lang="en-US" sz="1800" b="0" strike="noStrike" spc="-1">
              <a:latin typeface="Arial"/>
            </a:endParaRPr>
          </a:p>
          <a:p>
            <a:pPr marL="216000" indent="-215640">
              <a:lnSpc>
                <a:spcPct val="100000"/>
              </a:lnSpc>
              <a:buClr>
                <a:srgbClr val="000000"/>
              </a:buClr>
              <a:buSzPct val="45000"/>
              <a:buFont typeface="Wingdings" charset="2"/>
              <a:buChar char=""/>
            </a:pPr>
            <a:r>
              <a:rPr lang="en-US" sz="3200" b="0" strike="noStrike" spc="-1">
                <a:latin typeface="Arial"/>
              </a:rPr>
              <a:t>Summarize the capabilities that are planned for inclusion in the initial product release. </a:t>
            </a:r>
          </a:p>
          <a:p>
            <a:pPr marL="216000" indent="-215640">
              <a:lnSpc>
                <a:spcPct val="100000"/>
              </a:lnSpc>
              <a:buClr>
                <a:srgbClr val="000000"/>
              </a:buClr>
              <a:buSzPct val="45000"/>
              <a:buFont typeface="Wingdings" charset="2"/>
              <a:buChar char=""/>
            </a:pPr>
            <a:r>
              <a:rPr lang="en-US" sz="3200" b="0" strike="noStrike" spc="-1">
                <a:latin typeface="Arial"/>
              </a:rPr>
              <a:t>Often defined in terms of features,user stories, use cases, use case flows, or external events. </a:t>
            </a:r>
          </a:p>
          <a:p>
            <a:pPr marL="216000" indent="-215640">
              <a:lnSpc>
                <a:spcPct val="100000"/>
              </a:lnSpc>
              <a:buClr>
                <a:srgbClr val="000000"/>
              </a:buClr>
              <a:buSzPct val="45000"/>
              <a:buFont typeface="Wingdings" charset="2"/>
              <a:buChar char=""/>
            </a:pPr>
            <a:r>
              <a:rPr lang="en-US" sz="3200" b="0" strike="noStrike" spc="-1">
                <a:latin typeface="Arial"/>
              </a:rPr>
              <a:t>Describe the quality characteristics </a:t>
            </a:r>
          </a:p>
          <a:p>
            <a:pPr marL="216000" indent="-215640">
              <a:lnSpc>
                <a:spcPct val="100000"/>
              </a:lnSpc>
              <a:buClr>
                <a:srgbClr val="000000"/>
              </a:buClr>
              <a:buSzPct val="45000"/>
              <a:buFont typeface="Wingdings" charset="2"/>
              <a:buChar char=""/>
            </a:pPr>
            <a:r>
              <a:rPr lang="en-US" sz="3200" b="0" strike="noStrike" spc="-1">
                <a:latin typeface="Arial"/>
              </a:rPr>
              <a:t>Avoid the temptation to include every feature that any ­potential customer might eventually want in release 1.0.</a:t>
            </a:r>
          </a:p>
          <a:p>
            <a:pPr marL="216000" indent="-215640">
              <a:lnSpc>
                <a:spcPct val="100000"/>
              </a:lnSpc>
              <a:buClr>
                <a:srgbClr val="000000"/>
              </a:buClr>
              <a:buSzPct val="45000"/>
              <a:buFont typeface="Wingdings" charset="2"/>
              <a:buChar char=""/>
            </a:pPr>
            <a:r>
              <a:rPr lang="en-US" sz="3200" b="0" strike="noStrike" spc="-1">
                <a:latin typeface="Arial"/>
              </a:rPr>
              <a:t> Bloatware and slipped schedules are common outcomes of such insidious scope stuffing. </a:t>
            </a:r>
          </a:p>
          <a:p>
            <a:pPr marL="216000" indent="-215640">
              <a:lnSpc>
                <a:spcPct val="100000"/>
              </a:lnSpc>
              <a:buClr>
                <a:srgbClr val="000000"/>
              </a:buClr>
              <a:buSzPct val="45000"/>
              <a:buFont typeface="Wingdings" charset="2"/>
              <a:buChar char=""/>
            </a:pPr>
            <a:r>
              <a:rPr lang="en-US" sz="3200" b="0" strike="noStrike" spc="-1">
                <a:latin typeface="Arial"/>
              </a:rPr>
              <a:t>Focus on those features that will provide the </a:t>
            </a:r>
            <a:r>
              <a:rPr lang="en-US" sz="3200" b="1" strike="noStrike" spc="-1">
                <a:latin typeface="Arial"/>
              </a:rPr>
              <a:t>most value,</a:t>
            </a:r>
            <a:r>
              <a:rPr lang="en-US" sz="3200" b="0" strike="noStrike" spc="-1">
                <a:latin typeface="Arial"/>
              </a:rPr>
              <a:t> at the </a:t>
            </a:r>
            <a:r>
              <a:rPr lang="en-US" sz="3200" b="1" strike="noStrike" spc="-1">
                <a:latin typeface="Arial"/>
              </a:rPr>
              <a:t>most acceptable cost</a:t>
            </a:r>
            <a:r>
              <a:rPr lang="en-US" sz="3200" b="0" strike="noStrike" spc="-1">
                <a:latin typeface="Arial"/>
              </a:rPr>
              <a:t>, to the </a:t>
            </a:r>
            <a:r>
              <a:rPr lang="en-US" sz="3200" b="1" strike="noStrike" spc="-1">
                <a:latin typeface="Arial"/>
              </a:rPr>
              <a:t>broadest community</a:t>
            </a:r>
            <a:r>
              <a:rPr lang="en-US" sz="3200" b="0" strike="noStrike" spc="-1">
                <a:latin typeface="Arial"/>
              </a:rPr>
              <a:t>, in the </a:t>
            </a:r>
            <a:r>
              <a:rPr lang="en-US" sz="3200" b="1" strike="noStrike" spc="-1">
                <a:latin typeface="Arial"/>
              </a:rPr>
              <a:t>earliest time frame</a:t>
            </a:r>
            <a:r>
              <a:rPr lang="en-US" sz="3200" b="0" strike="noStrike" spc="-1">
                <a:latin typeface="Arial"/>
              </a:rPr>
              <a:t>.</a:t>
            </a:r>
          </a:p>
        </p:txBody>
      </p:sp>
      <p:sp>
        <p:nvSpPr>
          <p:cNvPr id="159" name="CustomShape 2"/>
          <p:cNvSpPr/>
          <p:nvPr/>
        </p:nvSpPr>
        <p:spPr>
          <a:xfrm>
            <a:off x="731880" y="137880"/>
            <a:ext cx="10514880" cy="1324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pPr>
            <a:r>
              <a:rPr lang="en-US" sz="4400" b="1" strike="noStrike" spc="-1">
                <a:solidFill>
                  <a:srgbClr val="000000"/>
                </a:solidFill>
                <a:latin typeface="Calibri Light"/>
                <a:ea typeface="Noto Sans CJK SC"/>
              </a:rPr>
              <a:t>2.2 Scope of the initial release</a:t>
            </a:r>
            <a:endParaRPr lang="en-US" sz="44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1" strike="noStrike" spc="-1">
                <a:solidFill>
                  <a:srgbClr val="000000"/>
                </a:solidFill>
                <a:latin typeface="Calibri Light"/>
              </a:rPr>
              <a:t>2.3 Scope of the subsequent releases</a:t>
            </a:r>
            <a:endParaRPr lang="en-US" sz="4400" b="0" strike="noStrike" spc="-1">
              <a:latin typeface="Arial"/>
            </a:endParaRPr>
          </a:p>
        </p:txBody>
      </p:sp>
      <p:sp>
        <p:nvSpPr>
          <p:cNvPr id="161"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If you are following an iterative or incremental life cycle, build a release roadmap that indicates which functionality chunks will be deferred and the desired timing of later releases.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The farther out you look, the fuzzier these future scope statements will be and the more they will change over time.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Short release cycles provide frequent opportunities for learning based on customer feedback.</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6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6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1" strike="noStrike" spc="-1">
                <a:solidFill>
                  <a:srgbClr val="000000"/>
                </a:solidFill>
                <a:latin typeface="Calibri Light"/>
              </a:rPr>
              <a:t>2.4 Limitations or exclusions</a:t>
            </a:r>
            <a:endParaRPr lang="en-US" sz="4400" b="0" strike="noStrike" spc="-1">
              <a:latin typeface="Arial"/>
            </a:endParaRPr>
          </a:p>
        </p:txBody>
      </p:sp>
      <p:sp>
        <p:nvSpPr>
          <p:cNvPr id="163"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List any product capabilities or characteristics that a stakeholder might expect but that are not planned for inclusion in the product or in a specific release.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List items that were cut from scope, so the scope decision is not forgotten. </a:t>
            </a:r>
            <a:endParaRPr lang="en-US" sz="2800" b="0" strike="noStrike" spc="-1">
              <a:latin typeface="Arial"/>
            </a:endParaRPr>
          </a:p>
          <a:p>
            <a:pPr marL="685800" lvl="1" indent="-227880">
              <a:lnSpc>
                <a:spcPct val="90000"/>
              </a:lnSpc>
              <a:spcBef>
                <a:spcPts val="499"/>
              </a:spcBef>
              <a:buClr>
                <a:srgbClr val="000000"/>
              </a:buClr>
              <a:buFont typeface="Arial"/>
              <a:buChar char="•"/>
            </a:pPr>
            <a:r>
              <a:rPr lang="en-US" sz="2400" b="0" strike="noStrike" spc="-1">
                <a:solidFill>
                  <a:srgbClr val="000000"/>
                </a:solidFill>
                <a:latin typeface="Calibri"/>
              </a:rPr>
              <a:t>Maybe a user requested that she be able to access the system from her phone while away from her desk, but this was deemed to be out of scope. State that explicitly in this section: “The new system will not provide mobile platform support.”</a:t>
            </a:r>
            <a:endParaRPr lang="en-US" sz="24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63">
                                            <p:txEl>
                                              <p:pRg st="1" end="1"/>
                                            </p:txEl>
                                          </p:spTgt>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1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1"/>
          <p:cNvSpPr/>
          <p:nvPr/>
        </p:nvSpPr>
        <p:spPr>
          <a:xfrm>
            <a:off x="838080" y="48960"/>
            <a:ext cx="10514880" cy="19569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lstStyle/>
          <a:p>
            <a:pPr>
              <a:lnSpc>
                <a:spcPct val="100000"/>
              </a:lnSpc>
            </a:pPr>
            <a:r>
              <a:rPr lang="en-US" sz="4400" b="1" strike="noStrike" spc="-1">
                <a:solidFill>
                  <a:srgbClr val="000000"/>
                </a:solidFill>
                <a:latin typeface="Calibri Light"/>
              </a:rPr>
              <a:t>3. Business context</a:t>
            </a:r>
            <a:r>
              <a:t/>
            </a:r>
            <a:br/>
            <a:r>
              <a:t/>
            </a:r>
            <a:br/>
            <a:endParaRPr lang="en-US" sz="4400" b="0" strike="noStrike" spc="-1">
              <a:latin typeface="Arial"/>
            </a:endParaRPr>
          </a:p>
        </p:txBody>
      </p:sp>
      <p:sp>
        <p:nvSpPr>
          <p:cNvPr id="165"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marL="432000" indent="-323640">
              <a:lnSpc>
                <a:spcPct val="100000"/>
              </a:lnSpc>
              <a:spcBef>
                <a:spcPts val="1417"/>
              </a:spcBef>
              <a:buClr>
                <a:srgbClr val="000000"/>
              </a:buClr>
              <a:buSzPct val="45000"/>
              <a:buFont typeface="Wingdings" charset="2"/>
              <a:buChar char=""/>
            </a:pPr>
            <a:r>
              <a:rPr lang="en-US" sz="2800" b="0" strike="noStrike" spc="-1">
                <a:solidFill>
                  <a:srgbClr val="000000"/>
                </a:solidFill>
                <a:latin typeface="Calibri"/>
              </a:rPr>
              <a:t>Stakeholder profiles</a:t>
            </a:r>
            <a:endParaRPr lang="en-US" sz="28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800" b="0" strike="noStrike" spc="-1">
                <a:solidFill>
                  <a:srgbClr val="000000"/>
                </a:solidFill>
                <a:latin typeface="Calibri"/>
              </a:rPr>
              <a:t>Project Priorities</a:t>
            </a:r>
            <a:endParaRPr lang="en-US" sz="2800" b="0" strike="noStrike" spc="-1">
              <a:latin typeface="Arial"/>
            </a:endParaRPr>
          </a:p>
          <a:p>
            <a:pPr marL="432000" indent="-323640">
              <a:lnSpc>
                <a:spcPct val="100000"/>
              </a:lnSpc>
              <a:spcBef>
                <a:spcPts val="1417"/>
              </a:spcBef>
              <a:buClr>
                <a:srgbClr val="000000"/>
              </a:buClr>
              <a:buSzPct val="45000"/>
              <a:buFont typeface="Wingdings" charset="2"/>
              <a:buChar char=""/>
            </a:pPr>
            <a:r>
              <a:rPr lang="en-US" sz="2800" b="0" strike="noStrike" spc="-1">
                <a:solidFill>
                  <a:srgbClr val="000000"/>
                </a:solidFill>
                <a:latin typeface="Calibri"/>
              </a:rPr>
              <a:t>Deployment Considerations</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4800" b="0" strike="noStrike" spc="-1">
                <a:solidFill>
                  <a:srgbClr val="000000"/>
                </a:solidFill>
                <a:latin typeface="Calibri"/>
              </a:rPr>
              <a:t>3.1 Stakeholder profiles</a:t>
            </a:r>
            <a:endParaRPr lang="en-US" sz="4800" b="0" strike="noStrike" spc="-1">
              <a:latin typeface="Arial"/>
            </a:endParaRPr>
          </a:p>
        </p:txBody>
      </p:sp>
      <p:sp>
        <p:nvSpPr>
          <p:cNvPr id="167"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55000" lnSpcReduction="20000"/>
          </a:bodyPr>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 The stakeholder profiles describe different categories of customers and other key stakeholders for the project.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Each stakeholder profile should include the following information:</a:t>
            </a:r>
            <a:endParaRPr lang="en-US" sz="2800" b="0" strike="noStrike" spc="-1">
              <a:latin typeface="Arial"/>
            </a:endParaRPr>
          </a:p>
          <a:p>
            <a:pPr marL="216000" indent="-215640">
              <a:lnSpc>
                <a:spcPct val="90000"/>
              </a:lnSpc>
              <a:spcBef>
                <a:spcPts val="499"/>
              </a:spcBef>
              <a:buClr>
                <a:srgbClr val="000000"/>
              </a:buClr>
              <a:buSzPct val="45000"/>
              <a:buFont typeface="Wingdings" charset="2"/>
              <a:buChar char=""/>
            </a:pPr>
            <a:r>
              <a:rPr lang="en-US" sz="2400" b="0" strike="noStrike" spc="-1">
                <a:solidFill>
                  <a:srgbClr val="000000"/>
                </a:solidFill>
                <a:latin typeface="Calibri"/>
              </a:rPr>
              <a:t>The major value or benefit that the stakeholder will receive from the product. Stakeholder value could be defined in terms of:</a:t>
            </a:r>
            <a:endParaRPr lang="en-US" sz="24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Improved productivity.</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Reduced rework and waste.</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Cost savings.</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Streamlined business processes.</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Automation of previously manual tasks.</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Ability to perform entirely new tasks.</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Compliance with pertinent standards or regulations.</a:t>
            </a:r>
            <a:endParaRPr lang="en-US" sz="2000" b="0" strike="noStrike" spc="-1">
              <a:latin typeface="Arial"/>
            </a:endParaRPr>
          </a:p>
          <a:p>
            <a:pPr marL="864000" lvl="1" indent="-323640">
              <a:lnSpc>
                <a:spcPct val="100000"/>
              </a:lnSpc>
              <a:spcBef>
                <a:spcPts val="1134"/>
              </a:spcBef>
              <a:buClr>
                <a:srgbClr val="000000"/>
              </a:buClr>
              <a:buSzPct val="75000"/>
              <a:buFont typeface="Symbol"/>
              <a:buChar char=""/>
            </a:pPr>
            <a:r>
              <a:rPr lang="en-US" sz="2000" b="0" strike="noStrike" spc="-1">
                <a:solidFill>
                  <a:srgbClr val="000000"/>
                </a:solidFill>
                <a:latin typeface="Calibri"/>
              </a:rPr>
              <a:t>Improved usability compared to current products</a:t>
            </a:r>
            <a:endParaRPr lang="en-US" sz="20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Their likely attitudes toward the product.</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Major features and characteristics of interest.</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Any known constraints that must be accommodated.</a:t>
            </a:r>
            <a:endParaRPr lang="en-US" sz="2800" b="0" strike="noStrike" spc="-1">
              <a:latin typeface="Arial"/>
            </a:endParaRPr>
          </a:p>
          <a:p>
            <a:pPr>
              <a:lnSpc>
                <a:spcPct val="90000"/>
              </a:lnSpc>
              <a:spcBef>
                <a:spcPts val="1001"/>
              </a:spcBef>
            </a:pPr>
            <a:endParaRPr lang="en-US" sz="2800" b="0" strike="noStrike" spc="-1">
              <a:latin typeface="Arial"/>
            </a:endParaRPr>
          </a:p>
          <a:p>
            <a:pPr>
              <a:lnSpc>
                <a:spcPct val="100000"/>
              </a:lnSpc>
            </a:pPr>
            <a:endParaRPr lang="en-US" sz="2800" b="0" strike="noStrike" spc="-1">
              <a:latin typeface="Arial"/>
            </a:endParaRPr>
          </a:p>
          <a:p>
            <a:pPr>
              <a:lnSpc>
                <a:spcPct val="90000"/>
              </a:lnSpc>
              <a:spcBef>
                <a:spcPts val="1001"/>
              </a:spcBef>
            </a:pPr>
            <a:endParaRPr lang="en-US" sz="2800" b="0" strike="noStrike" spc="-1">
              <a:latin typeface="Arial"/>
            </a:endParaRPr>
          </a:p>
          <a:p>
            <a:pPr>
              <a:lnSpc>
                <a:spcPct val="90000"/>
              </a:lnSpc>
              <a:spcBef>
                <a:spcPts val="1001"/>
              </a:spcBef>
            </a:pP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r>
              <a:rPr lang="en-US" sz="4800" b="0" strike="noStrike" spc="-1">
                <a:solidFill>
                  <a:srgbClr val="000000"/>
                </a:solidFill>
                <a:latin typeface="Calibri"/>
              </a:rPr>
              <a:t>3.2 Project priorities</a:t>
            </a:r>
            <a:endParaRPr lang="en-US" sz="4800" b="0" strike="noStrike" spc="-1">
              <a:latin typeface="Arial"/>
            </a:endParaRPr>
          </a:p>
        </p:txBody>
      </p:sp>
      <p:sp>
        <p:nvSpPr>
          <p:cNvPr id="169"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To enable effective decision making, the stakeholders must agree on the project’s priorities.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One way to approach this is to consider the five dimensions of features, quality, schedule, cost, and staff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Each dimension fits in one of the following three categories on any given project:</a:t>
            </a:r>
            <a:endParaRPr lang="en-US" sz="2800" b="0" strike="noStrike" spc="-1">
              <a:latin typeface="Arial"/>
            </a:endParaRPr>
          </a:p>
          <a:p>
            <a:pPr marL="685800" lvl="1" indent="-227880">
              <a:lnSpc>
                <a:spcPct val="90000"/>
              </a:lnSpc>
              <a:spcBef>
                <a:spcPts val="499"/>
              </a:spcBef>
              <a:buClr>
                <a:srgbClr val="000000"/>
              </a:buClr>
              <a:buFont typeface="Arial"/>
              <a:buChar char="•"/>
            </a:pPr>
            <a:r>
              <a:rPr lang="en-US" sz="2400" b="1" strike="noStrike" spc="-1">
                <a:solidFill>
                  <a:srgbClr val="000000"/>
                </a:solidFill>
                <a:latin typeface="Calibri"/>
              </a:rPr>
              <a:t>Constraint </a:t>
            </a:r>
            <a:r>
              <a:rPr lang="en-US" sz="2400" b="0" strike="noStrike" spc="-1">
                <a:solidFill>
                  <a:srgbClr val="000000"/>
                </a:solidFill>
                <a:latin typeface="Calibri"/>
              </a:rPr>
              <a:t>A limiting factor within which the project manager must operate</a:t>
            </a:r>
            <a:endParaRPr lang="en-US" sz="2400" b="0" strike="noStrike" spc="-1">
              <a:latin typeface="Arial"/>
            </a:endParaRPr>
          </a:p>
          <a:p>
            <a:pPr marL="685800" lvl="1" indent="-227880">
              <a:lnSpc>
                <a:spcPct val="90000"/>
              </a:lnSpc>
              <a:spcBef>
                <a:spcPts val="499"/>
              </a:spcBef>
              <a:buClr>
                <a:srgbClr val="000000"/>
              </a:buClr>
              <a:buFont typeface="Arial"/>
              <a:buChar char="•"/>
            </a:pPr>
            <a:r>
              <a:rPr lang="en-US" sz="2400" b="1" strike="noStrike" spc="-1">
                <a:solidFill>
                  <a:srgbClr val="000000"/>
                </a:solidFill>
                <a:latin typeface="Calibri"/>
              </a:rPr>
              <a:t>Driver </a:t>
            </a:r>
            <a:r>
              <a:rPr lang="en-US" sz="2400" b="0" strike="noStrike" spc="-1">
                <a:solidFill>
                  <a:srgbClr val="000000"/>
                </a:solidFill>
                <a:latin typeface="Calibri"/>
              </a:rPr>
              <a:t>A significant success objective with limited flexibility for adjustment</a:t>
            </a:r>
            <a:endParaRPr lang="en-US" sz="2400" b="0" strike="noStrike" spc="-1">
              <a:latin typeface="Arial"/>
            </a:endParaRPr>
          </a:p>
          <a:p>
            <a:pPr marL="685800" lvl="1" indent="-227880">
              <a:lnSpc>
                <a:spcPct val="90000"/>
              </a:lnSpc>
              <a:spcBef>
                <a:spcPts val="499"/>
              </a:spcBef>
              <a:buClr>
                <a:srgbClr val="000000"/>
              </a:buClr>
              <a:buFont typeface="Arial"/>
              <a:buChar char="•"/>
            </a:pPr>
            <a:r>
              <a:rPr lang="en-US" sz="2400" b="1" strike="noStrike" spc="-1">
                <a:solidFill>
                  <a:srgbClr val="000000"/>
                </a:solidFill>
                <a:latin typeface="Calibri"/>
              </a:rPr>
              <a:t>Degree of freedom </a:t>
            </a:r>
            <a:r>
              <a:rPr lang="en-US" sz="2400" b="0" strike="noStrike" spc="-1">
                <a:solidFill>
                  <a:srgbClr val="000000"/>
                </a:solidFill>
                <a:latin typeface="Calibri"/>
              </a:rPr>
              <a:t>A factor that the project manager has some latitude to adjust and balance against the other dimensions</a:t>
            </a:r>
            <a:endParaRPr lang="en-US" sz="2400" b="0" strike="noStrike" spc="-1">
              <a:latin typeface="Arial"/>
            </a:endParaRPr>
          </a:p>
          <a:p>
            <a:pPr>
              <a:lnSpc>
                <a:spcPct val="90000"/>
              </a:lnSpc>
              <a:spcBef>
                <a:spcPts val="1001"/>
              </a:spcBef>
            </a:pPr>
            <a:endParaRPr lang="en-US" sz="24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6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169">
                                            <p:txEl>
                                              <p:pRg st="2" end="2"/>
                                            </p:txEl>
                                          </p:spTgt>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169">
                                            <p:txEl>
                                              <p:pRg st="3" end="3"/>
                                            </p:txEl>
                                          </p:spTgt>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169">
                                            <p:txEl>
                                              <p:pRg st="4" end="4"/>
                                            </p:txEl>
                                          </p:spTgt>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16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000000"/>
                </a:solidFill>
                <a:latin typeface="Calibri Light"/>
              </a:rPr>
              <a:t>3.3 Deployment Considerations</a:t>
            </a:r>
            <a:endParaRPr lang="en-US" sz="4400" b="0" strike="noStrike" spc="-1">
              <a:latin typeface="Arial"/>
            </a:endParaRPr>
          </a:p>
        </p:txBody>
      </p:sp>
      <p:sp>
        <p:nvSpPr>
          <p:cNvPr id="171"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lnSpcReduction="10000"/>
          </a:bodyPr>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Summarize the information and activities that are needed to ensure an effective deployment of the solution into its operating environment. </a:t>
            </a:r>
            <a:endParaRPr lang="en-US" sz="2800" b="0" strike="noStrike" spc="-1">
              <a:latin typeface="Arial"/>
            </a:endParaRPr>
          </a:p>
          <a:p>
            <a:pPr marL="685800" lvl="1" indent="-227880">
              <a:lnSpc>
                <a:spcPct val="90000"/>
              </a:lnSpc>
              <a:spcBef>
                <a:spcPts val="499"/>
              </a:spcBef>
              <a:buClr>
                <a:srgbClr val="000000"/>
              </a:buClr>
              <a:buFont typeface="Arial"/>
              <a:buChar char="•"/>
            </a:pPr>
            <a:r>
              <a:rPr lang="en-US" sz="2400" b="0" strike="noStrike" spc="-1">
                <a:solidFill>
                  <a:srgbClr val="000000"/>
                </a:solidFill>
                <a:latin typeface="Calibri"/>
              </a:rPr>
              <a:t>Describe the access that users will require to use the system, such as whether the users are distributed over multiple time zones or located close to each other.  State when the users in various locations need to access the system. </a:t>
            </a:r>
            <a:endParaRPr lang="en-US" sz="2400" b="0" strike="noStrike" spc="-1">
              <a:latin typeface="Arial"/>
            </a:endParaRPr>
          </a:p>
          <a:p>
            <a:pPr marL="685800" lvl="1" indent="-227880">
              <a:lnSpc>
                <a:spcPct val="90000"/>
              </a:lnSpc>
              <a:spcBef>
                <a:spcPts val="499"/>
              </a:spcBef>
              <a:buClr>
                <a:srgbClr val="000000"/>
              </a:buClr>
              <a:buFont typeface="Arial"/>
              <a:buChar char="•"/>
            </a:pPr>
            <a:r>
              <a:rPr lang="en-US" sz="2400" b="0" strike="noStrike" spc="-1">
                <a:solidFill>
                  <a:srgbClr val="000000"/>
                </a:solidFill>
                <a:latin typeface="Calibri"/>
              </a:rPr>
              <a:t>If infrastructure changes are needed to support the software’s need for capacity, network access, data storage, or data migration, describe those changes. </a:t>
            </a:r>
            <a:endParaRPr lang="en-US" sz="2400" b="0" strike="noStrike" spc="-1">
              <a:latin typeface="Arial"/>
            </a:endParaRPr>
          </a:p>
          <a:p>
            <a:pPr marL="685800" lvl="1" indent="-227880">
              <a:lnSpc>
                <a:spcPct val="90000"/>
              </a:lnSpc>
              <a:spcBef>
                <a:spcPts val="499"/>
              </a:spcBef>
              <a:buClr>
                <a:srgbClr val="000000"/>
              </a:buClr>
              <a:buFont typeface="Arial"/>
              <a:buChar char="•"/>
            </a:pPr>
            <a:r>
              <a:rPr lang="en-US" sz="2400" b="0" strike="noStrike" spc="-1">
                <a:solidFill>
                  <a:srgbClr val="000000"/>
                </a:solidFill>
                <a:latin typeface="Calibri"/>
              </a:rPr>
              <a:t>Record any information that will be needed by people who will be preparing training or modifying business processes in conjunction with deployment of the new solution.</a:t>
            </a:r>
            <a:endParaRPr lang="en-US" sz="24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71">
                                            <p:txEl>
                                              <p:pRg st="0" end="0"/>
                                            </p:txEl>
                                          </p:spTgt>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171">
                                            <p:txEl>
                                              <p:pRg st="1" end="1"/>
                                            </p:txEl>
                                          </p:spTgt>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171">
                                            <p:txEl>
                                              <p:pRg st="2" end="2"/>
                                            </p:txEl>
                                          </p:spTgt>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800" b="0" strike="noStrike" spc="-1">
                <a:solidFill>
                  <a:srgbClr val="000000"/>
                </a:solidFill>
                <a:latin typeface="Calibri Light"/>
              </a:rPr>
              <a:t>Scope Representation Techniques</a:t>
            </a:r>
            <a:endParaRPr lang="en-US" sz="4800" b="0" strike="noStrike" spc="-1">
              <a:latin typeface="Arial"/>
            </a:endParaRPr>
          </a:p>
        </p:txBody>
      </p:sp>
      <p:sp>
        <p:nvSpPr>
          <p:cNvPr id="173"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The models described in this section can be used to represent project scope in various ways.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You don’t need to create all of these models; consider which ones provide the most useful insight for each project. </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7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000000"/>
                </a:solidFill>
                <a:latin typeface="Calibri Light"/>
              </a:rPr>
              <a:t>Context Diagrams</a:t>
            </a:r>
            <a:endParaRPr lang="en-US" sz="4400" b="0" strike="noStrike" spc="-1">
              <a:latin typeface="Arial"/>
            </a:endParaRPr>
          </a:p>
        </p:txBody>
      </p:sp>
      <p:sp>
        <p:nvSpPr>
          <p:cNvPr id="175"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The </a:t>
            </a:r>
            <a:r>
              <a:rPr lang="en-US" sz="2800" b="0" i="1" strike="noStrike" spc="-1">
                <a:solidFill>
                  <a:srgbClr val="000000"/>
                </a:solidFill>
                <a:latin typeface="Calibri"/>
              </a:rPr>
              <a:t>context diagram </a:t>
            </a:r>
            <a:r>
              <a:rPr lang="en-US" sz="2800" b="0" strike="noStrike" spc="-1">
                <a:solidFill>
                  <a:srgbClr val="000000"/>
                </a:solidFill>
                <a:latin typeface="Calibri"/>
              </a:rPr>
              <a:t>visually illustrates scope i.e. the boundary between the system you’re developing and everything else in the universe.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It identifies </a:t>
            </a:r>
            <a:r>
              <a:rPr lang="en-US" sz="2800" b="0" i="1" strike="noStrike" spc="-1">
                <a:solidFill>
                  <a:srgbClr val="000000"/>
                </a:solidFill>
                <a:latin typeface="Calibri"/>
              </a:rPr>
              <a:t>external entities </a:t>
            </a:r>
            <a:r>
              <a:rPr lang="en-US" sz="2800" b="0" strike="noStrike" spc="-1">
                <a:solidFill>
                  <a:srgbClr val="000000"/>
                </a:solidFill>
                <a:latin typeface="Calibri"/>
              </a:rPr>
              <a:t>(also called </a:t>
            </a:r>
            <a:r>
              <a:rPr lang="en-US" sz="2800" b="1" i="1" strike="noStrike" spc="-1">
                <a:solidFill>
                  <a:srgbClr val="000000"/>
                </a:solidFill>
                <a:latin typeface="Calibri"/>
              </a:rPr>
              <a:t>terminators</a:t>
            </a:r>
            <a:r>
              <a:rPr lang="en-US" sz="2800" b="0" strike="noStrike" spc="-1">
                <a:solidFill>
                  <a:srgbClr val="000000"/>
                </a:solidFill>
                <a:latin typeface="Calibri"/>
              </a:rPr>
              <a:t>) outside the system that interface to it in some way, as well as data, control, and material </a:t>
            </a:r>
            <a:r>
              <a:rPr lang="en-US" sz="2800" b="1" i="1" strike="noStrike" spc="-1">
                <a:solidFill>
                  <a:srgbClr val="000000"/>
                </a:solidFill>
                <a:latin typeface="Calibri"/>
              </a:rPr>
              <a:t>flows</a:t>
            </a:r>
            <a:r>
              <a:rPr lang="en-US" sz="2800" b="0" i="1" strike="noStrike" spc="-1">
                <a:solidFill>
                  <a:srgbClr val="000000"/>
                </a:solidFill>
                <a:latin typeface="Calibri"/>
              </a:rPr>
              <a:t> </a:t>
            </a:r>
            <a:r>
              <a:rPr lang="en-US" sz="2800" b="0" strike="noStrike" spc="-1">
                <a:solidFill>
                  <a:srgbClr val="000000"/>
                </a:solidFill>
                <a:latin typeface="Calibri"/>
              </a:rPr>
              <a:t>between the terminators and the system. </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1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sp>
        <p:nvSpPr>
          <p:cNvPr id="177"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sp>
      <p:pic>
        <p:nvPicPr>
          <p:cNvPr id="178" name="Picture 177"/>
          <p:cNvPicPr/>
          <p:nvPr/>
        </p:nvPicPr>
        <p:blipFill>
          <a:blip r:embed="rId2"/>
          <a:stretch/>
        </p:blipFill>
        <p:spPr>
          <a:xfrm>
            <a:off x="3105000" y="182880"/>
            <a:ext cx="6404760" cy="63162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000000"/>
                </a:solidFill>
                <a:latin typeface="Calibri Light"/>
              </a:rPr>
              <a:t>Ecosystem map</a:t>
            </a:r>
            <a:endParaRPr lang="en-US" sz="4400" b="0" strike="noStrike" spc="-1">
              <a:latin typeface="Arial"/>
            </a:endParaRPr>
          </a:p>
        </p:txBody>
      </p:sp>
      <p:sp>
        <p:nvSpPr>
          <p:cNvPr id="180"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fontScale="92500" lnSpcReduction="20000"/>
          </a:bodyPr>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An </a:t>
            </a:r>
            <a:r>
              <a:rPr lang="en-US" sz="2800" b="0" i="1" strike="noStrike" spc="-1">
                <a:solidFill>
                  <a:srgbClr val="000000"/>
                </a:solidFill>
                <a:latin typeface="Calibri"/>
              </a:rPr>
              <a:t>ecosystem map </a:t>
            </a:r>
            <a:r>
              <a:rPr lang="en-US" sz="2800" b="0" strike="noStrike" spc="-1">
                <a:solidFill>
                  <a:srgbClr val="000000"/>
                </a:solidFill>
                <a:latin typeface="Calibri"/>
              </a:rPr>
              <a:t>shows all of the systems related to the system of interest that interact with one another and the nature of those interactions. </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An ecosystem map represents scope by showing all the systems that interconnect and that therefore might need to be modified to accommodate your new system.</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 Ecosystem maps differ from context diagrams in that they show other systems that have a relationship with the system you’re working on, including those without direct interfaces.</a:t>
            </a:r>
            <a:endParaRPr lang="en-US" sz="2800" b="0" strike="noStrike" spc="-1">
              <a:latin typeface="Arial"/>
            </a:endParaRPr>
          </a:p>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 You can identify the affected systems by determining which ones consume data from your system. When you reach the point that your project does not affect any additional data, you’ve identified the scope boundary of systems that participate in the solution.</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pic>
        <p:nvPicPr>
          <p:cNvPr id="182" name="Picture 181"/>
          <p:cNvPicPr/>
          <p:nvPr/>
        </p:nvPicPr>
        <p:blipFill>
          <a:blip r:embed="rId2"/>
          <a:stretch/>
        </p:blipFill>
        <p:spPr>
          <a:xfrm>
            <a:off x="548640" y="469800"/>
            <a:ext cx="9966960" cy="62046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CustomShape 1"/>
          <p:cNvSpPr/>
          <p:nvPr/>
        </p:nvSpPr>
        <p:spPr>
          <a:xfrm>
            <a:off x="640080" y="-91440"/>
            <a:ext cx="1051488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90000"/>
              </a:lnSpc>
            </a:pPr>
            <a:r>
              <a:rPr lang="en-US" sz="4400" b="0" strike="noStrike" spc="-1">
                <a:solidFill>
                  <a:srgbClr val="000000"/>
                </a:solidFill>
                <a:latin typeface="Calibri Light"/>
              </a:rPr>
              <a:t>Feature Tree</a:t>
            </a:r>
            <a:endParaRPr lang="en-US" sz="4400" b="0" strike="noStrike" spc="-1">
              <a:latin typeface="Arial"/>
            </a:endParaRPr>
          </a:p>
        </p:txBody>
      </p:sp>
      <p:sp>
        <p:nvSpPr>
          <p:cNvPr id="184" name="CustomShape 2"/>
          <p:cNvSpPr/>
          <p:nvPr/>
        </p:nvSpPr>
        <p:spPr>
          <a:xfrm>
            <a:off x="548640" y="1188720"/>
            <a:ext cx="1051488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28600" indent="-227880">
              <a:lnSpc>
                <a:spcPct val="90000"/>
              </a:lnSpc>
              <a:spcBef>
                <a:spcPts val="1001"/>
              </a:spcBef>
              <a:buClr>
                <a:srgbClr val="000000"/>
              </a:buClr>
              <a:buFont typeface="Arial"/>
              <a:buChar char="•"/>
            </a:pPr>
            <a:r>
              <a:rPr lang="en-US" sz="2800" b="0" strike="noStrike" spc="-1">
                <a:solidFill>
                  <a:srgbClr val="000000"/>
                </a:solidFill>
                <a:latin typeface="Calibri"/>
              </a:rPr>
              <a:t>A </a:t>
            </a:r>
            <a:r>
              <a:rPr lang="en-US" sz="2800" b="0" i="1" strike="noStrike" spc="-1">
                <a:solidFill>
                  <a:srgbClr val="000000"/>
                </a:solidFill>
                <a:latin typeface="Calibri"/>
              </a:rPr>
              <a:t>feature tree </a:t>
            </a:r>
            <a:r>
              <a:rPr lang="en-US" sz="2800" b="0" strike="noStrike" spc="-1">
                <a:solidFill>
                  <a:srgbClr val="000000"/>
                </a:solidFill>
                <a:latin typeface="Calibri"/>
              </a:rPr>
              <a:t>is a visual depiction of the product’s features organized in logical groups, hierarchically subdividing each feature into further levels of detail.</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8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pic>
        <p:nvPicPr>
          <p:cNvPr id="186" name="Picture 185"/>
          <p:cNvPicPr/>
          <p:nvPr/>
        </p:nvPicPr>
        <p:blipFill>
          <a:blip r:embed="rId2"/>
          <a:stretch/>
        </p:blipFill>
        <p:spPr>
          <a:xfrm>
            <a:off x="3383280" y="1624680"/>
            <a:ext cx="7242840" cy="46004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sp>
        <p:nvSpPr>
          <p:cNvPr id="188"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sp>
      <p:sp>
        <p:nvSpPr>
          <p:cNvPr id="189" name="TextShape 3"/>
          <p:cNvSpPr txBox="1"/>
          <p:nvPr/>
        </p:nvSpPr>
        <p:spPr>
          <a:xfrm>
            <a:off x="609480" y="273600"/>
            <a:ext cx="10972440" cy="1144800"/>
          </a:xfrm>
          <a:prstGeom prst="rect">
            <a:avLst/>
          </a:prstGeom>
          <a:noFill/>
          <a:ln>
            <a:noFill/>
          </a:ln>
        </p:spPr>
        <p:txBody>
          <a:bodyPr lIns="0" tIns="0" rIns="0" bIns="0" anchor="ctr"/>
          <a:lstStyle/>
          <a:p>
            <a:pPr algn="ctr"/>
            <a:r>
              <a:rPr lang="en-US" sz="4400" b="0" strike="noStrike" spc="-1">
                <a:latin typeface="Arial"/>
              </a:rPr>
              <a:t>Feature Tree</a:t>
            </a:r>
          </a:p>
        </p:txBody>
      </p:sp>
      <p:sp>
        <p:nvSpPr>
          <p:cNvPr id="190" name="TextShape 4"/>
          <p:cNvSpPr txBox="1"/>
          <p:nvPr/>
        </p:nvSpPr>
        <p:spPr>
          <a:xfrm>
            <a:off x="609480" y="1604520"/>
            <a:ext cx="10972440" cy="3977280"/>
          </a:xfrm>
          <a:prstGeom prst="rect">
            <a:avLst/>
          </a:prstGeom>
          <a:noFill/>
          <a:ln>
            <a:noFill/>
          </a:ln>
        </p:spPr>
        <p:txBody>
          <a:bodyPr lIns="0" tIns="0" rIns="0" bIns="0">
            <a:normAutofit/>
          </a:bodyPr>
          <a:lstStyle/>
          <a:p>
            <a:pPr marL="432000" indent="-324000">
              <a:lnSpc>
                <a:spcPct val="90000"/>
              </a:lnSpc>
              <a:spcBef>
                <a:spcPts val="1001"/>
              </a:spcBef>
              <a:buClr>
                <a:srgbClr val="000000"/>
              </a:buClr>
              <a:buSzPct val="45000"/>
              <a:buFont typeface="Wingdings" charset="2"/>
              <a:buChar char=""/>
            </a:pPr>
            <a:r>
              <a:rPr lang="en-US" sz="2800" b="0" strike="noStrike" spc="-1">
                <a:solidFill>
                  <a:srgbClr val="000000"/>
                </a:solidFill>
                <a:latin typeface="Calibri"/>
              </a:rPr>
              <a:t>When planning a release or an iteration, you can define its scope by selecting a specific set of features and subfeatures to be implemented. </a:t>
            </a:r>
            <a:endParaRPr lang="en-US" sz="2800" b="0" strike="noStrike" spc="-1">
              <a:latin typeface="Arial"/>
            </a:endParaRPr>
          </a:p>
          <a:p>
            <a:pPr marL="432000" indent="-324000">
              <a:lnSpc>
                <a:spcPct val="90000"/>
              </a:lnSpc>
              <a:spcBef>
                <a:spcPts val="1001"/>
              </a:spcBef>
              <a:buClr>
                <a:srgbClr val="000000"/>
              </a:buClr>
              <a:buSzPct val="45000"/>
              <a:buFont typeface="Wingdings" charset="2"/>
              <a:buChar char=""/>
            </a:pPr>
            <a:r>
              <a:rPr lang="en-US" sz="2800" b="0" strike="noStrike" spc="-1">
                <a:solidFill>
                  <a:srgbClr val="000000"/>
                </a:solidFill>
                <a:latin typeface="Calibri"/>
              </a:rPr>
              <a:t>You could implement a feature in its entirety in a specific release, or you could implement only a portion of it by choosing just certain L2 and L3 subfeatures.</a:t>
            </a:r>
            <a:endParaRPr lang="en-US" sz="2800" b="0" strike="noStrike" spc="-1">
              <a:latin typeface="Arial"/>
            </a:endParaRPr>
          </a:p>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 Future releases could enrich these rudimentary implementations by adding more L2 and L3 subfeatures until each feature is fully implemented in the final product. </a:t>
            </a:r>
            <a:endParaRPr lang="en-US" sz="2800" b="0" strike="noStrike" spc="-1">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sp>
        <p:nvSpPr>
          <p:cNvPr id="192"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sp>
      <p:sp>
        <p:nvSpPr>
          <p:cNvPr id="193" name="TextShape 3"/>
          <p:cNvSpPr txBox="1"/>
          <p:nvPr/>
        </p:nvSpPr>
        <p:spPr>
          <a:xfrm>
            <a:off x="838080" y="365040"/>
            <a:ext cx="10514880" cy="1324800"/>
          </a:xfrm>
          <a:prstGeom prst="rect">
            <a:avLst/>
          </a:prstGeom>
          <a:noFill/>
          <a:ln>
            <a:noFill/>
          </a:ln>
        </p:spPr>
        <p:txBody>
          <a:bodyPr lIns="0" tIns="0" rIns="0" bIns="0" anchor="ctr"/>
          <a:lstStyle/>
          <a:p>
            <a:pPr algn="ctr"/>
            <a:r>
              <a:rPr lang="en-US" sz="4400" b="0" strike="noStrike" spc="-1">
                <a:latin typeface="Arial"/>
              </a:rPr>
              <a:t>Event list</a:t>
            </a:r>
          </a:p>
        </p:txBody>
      </p:sp>
      <p:sp>
        <p:nvSpPr>
          <p:cNvPr id="194" name="TextShape 4"/>
          <p:cNvSpPr txBox="1"/>
          <p:nvPr/>
        </p:nvSpPr>
        <p:spPr>
          <a:xfrm>
            <a:off x="838080" y="1825560"/>
            <a:ext cx="10514880" cy="4350600"/>
          </a:xfrm>
          <a:prstGeom prst="rect">
            <a:avLst/>
          </a:prstGeom>
          <a:noFill/>
          <a:ln>
            <a:noFill/>
          </a:ln>
        </p:spPr>
        <p:txBody>
          <a:bodyPr lIns="0" tIns="0" rIns="0" bIns="0">
            <a:normAutofit lnSpcReduction="10000"/>
          </a:bodyPr>
          <a:lstStyle/>
          <a:p>
            <a:pPr marL="432000" indent="-324000">
              <a:lnSpc>
                <a:spcPct val="100000"/>
              </a:lnSpc>
              <a:spcBef>
                <a:spcPts val="1417"/>
              </a:spcBef>
              <a:buClr>
                <a:srgbClr val="000000"/>
              </a:buClr>
              <a:buSzPct val="45000"/>
              <a:buFont typeface="Wingdings" charset="2"/>
              <a:buChar char=""/>
            </a:pPr>
            <a:r>
              <a:rPr lang="en-US" sz="2800" b="0" strike="noStrike" spc="-1">
                <a:solidFill>
                  <a:srgbClr val="000000"/>
                </a:solidFill>
                <a:latin typeface="Calibri"/>
              </a:rPr>
              <a:t>An event list identifies external events that could trigger behavior in the system. </a:t>
            </a:r>
            <a:endParaRPr lang="en-US" sz="2800" b="0" strike="noStrike" spc="-1">
              <a:latin typeface="Arial"/>
            </a:endParaRPr>
          </a:p>
          <a:p>
            <a:pPr marL="432000" indent="-324000">
              <a:lnSpc>
                <a:spcPct val="100000"/>
              </a:lnSpc>
              <a:spcBef>
                <a:spcPts val="1417"/>
              </a:spcBef>
              <a:buClr>
                <a:srgbClr val="000000"/>
              </a:buClr>
              <a:buSzPct val="45000"/>
              <a:buFont typeface="Wingdings" charset="2"/>
              <a:buChar char=""/>
            </a:pPr>
            <a:r>
              <a:rPr lang="en-US" sz="2800" b="0" strike="noStrike" spc="-1">
                <a:solidFill>
                  <a:srgbClr val="000000"/>
                </a:solidFill>
                <a:latin typeface="Calibri"/>
              </a:rPr>
              <a:t>The event list depicts the scope boundary for the system by naming possible business events which are</a:t>
            </a:r>
            <a:endParaRPr lang="en-US" sz="2800" b="0" strike="noStrike" spc="-1">
              <a:latin typeface="Arial"/>
            </a:endParaRPr>
          </a:p>
          <a:p>
            <a:pPr marL="432000" indent="-324000">
              <a:lnSpc>
                <a:spcPct val="100000"/>
              </a:lnSpc>
              <a:spcBef>
                <a:spcPts val="1134"/>
              </a:spcBef>
              <a:buClr>
                <a:srgbClr val="000000"/>
              </a:buClr>
              <a:buSzPct val="45000"/>
              <a:buFont typeface="Wingdings" charset="2"/>
              <a:buChar char=""/>
            </a:pPr>
            <a:r>
              <a:rPr lang="en-US" sz="2000" b="0" strike="noStrike" spc="-1">
                <a:solidFill>
                  <a:srgbClr val="000000"/>
                </a:solidFill>
                <a:latin typeface="Calibri"/>
              </a:rPr>
              <a:t>triggered by users, </a:t>
            </a:r>
            <a:endParaRPr lang="en-US" sz="2000" b="0" strike="noStrike" spc="-1">
              <a:latin typeface="Arial"/>
            </a:endParaRPr>
          </a:p>
          <a:p>
            <a:pPr marL="432000" indent="-324000">
              <a:lnSpc>
                <a:spcPct val="100000"/>
              </a:lnSpc>
              <a:spcBef>
                <a:spcPts val="1134"/>
              </a:spcBef>
              <a:buClr>
                <a:srgbClr val="000000"/>
              </a:buClr>
              <a:buSzPct val="45000"/>
              <a:buFont typeface="Wingdings" charset="2"/>
              <a:buChar char=""/>
            </a:pPr>
            <a:r>
              <a:rPr lang="en-US" sz="2000" b="0" strike="noStrike" spc="-1">
                <a:solidFill>
                  <a:srgbClr val="000000"/>
                </a:solidFill>
                <a:latin typeface="Calibri"/>
              </a:rPr>
              <a:t>time-triggered (temporal) events,</a:t>
            </a:r>
            <a:endParaRPr lang="en-US" sz="2000" b="0" strike="noStrike" spc="-1">
              <a:latin typeface="Arial"/>
            </a:endParaRPr>
          </a:p>
          <a:p>
            <a:pPr marL="432000" indent="-324000">
              <a:lnSpc>
                <a:spcPct val="100000"/>
              </a:lnSpc>
              <a:spcBef>
                <a:spcPts val="1134"/>
              </a:spcBef>
              <a:buClr>
                <a:srgbClr val="000000"/>
              </a:buClr>
              <a:buSzPct val="45000"/>
              <a:buFont typeface="Wingdings" charset="2"/>
              <a:buChar char=""/>
            </a:pPr>
            <a:r>
              <a:rPr lang="en-US" sz="2000" b="0" strike="noStrike" spc="-1">
                <a:solidFill>
                  <a:srgbClr val="000000"/>
                </a:solidFill>
                <a:latin typeface="Calibri"/>
              </a:rPr>
              <a:t>signal events received from external components, such as hardware devices. </a:t>
            </a:r>
            <a:endParaRPr lang="en-US" sz="2000" b="0" strike="noStrike" spc="-1">
              <a:latin typeface="Arial"/>
            </a:endParaRPr>
          </a:p>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The event list only names the events; the functional requirements that describe how the system responds to the events would be detailed in the SRS by using event-response tables.</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sp>
        <p:nvSpPr>
          <p:cNvPr id="196"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txBody>
          <a:bodyPr lIns="0" tIns="0" rIns="0" bIns="0">
            <a:normAutofit/>
          </a:bodyPr>
          <a:lstStyle/>
          <a:p>
            <a:pPr marL="432000" indent="-323640">
              <a:lnSpc>
                <a:spcPct val="100000"/>
              </a:lnSpc>
              <a:spcBef>
                <a:spcPts val="1417"/>
              </a:spcBef>
              <a:buClr>
                <a:srgbClr val="000000"/>
              </a:buClr>
              <a:buSzPct val="45000"/>
              <a:buFont typeface="Wingdings" charset="2"/>
              <a:buChar char=""/>
            </a:pPr>
            <a:r>
              <a:rPr lang="en-US" sz="2800" b="0" strike="noStrike" spc="-1">
                <a:solidFill>
                  <a:srgbClr val="000000"/>
                </a:solidFill>
                <a:latin typeface="Calibri"/>
              </a:rPr>
              <a:t>An event list is a useful scoping tool because you can allocate certain events to be implemented in specific product releases or development iterations.</a:t>
            </a:r>
            <a:endParaRPr lang="en-US" sz="2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CustomShape 1"/>
          <p:cNvSpPr/>
          <p:nvPr/>
        </p:nvSpPr>
        <p:spPr>
          <a:xfrm>
            <a:off x="838080" y="365040"/>
            <a:ext cx="10514880" cy="1324800"/>
          </a:xfrm>
          <a:prstGeom prst="rect">
            <a:avLst/>
          </a:prstGeom>
          <a:noFill/>
          <a:ln>
            <a:noFill/>
          </a:ln>
        </p:spPr>
        <p:style>
          <a:lnRef idx="0">
            <a:scrgbClr r="0" g="0" b="0"/>
          </a:lnRef>
          <a:fillRef idx="0">
            <a:scrgbClr r="0" g="0" b="0"/>
          </a:fillRef>
          <a:effectRef idx="0">
            <a:scrgbClr r="0" g="0" b="0"/>
          </a:effectRef>
          <a:fontRef idx="minor"/>
        </p:style>
      </p:sp>
      <p:sp>
        <p:nvSpPr>
          <p:cNvPr id="198" name="CustomShape 2"/>
          <p:cNvSpPr/>
          <p:nvPr/>
        </p:nvSpPr>
        <p:spPr>
          <a:xfrm>
            <a:off x="838080" y="1825560"/>
            <a:ext cx="10514880" cy="4350600"/>
          </a:xfrm>
          <a:prstGeom prst="rect">
            <a:avLst/>
          </a:prstGeom>
          <a:noFill/>
          <a:ln>
            <a:noFill/>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160</TotalTime>
  <Words>1324</Words>
  <Application>Microsoft Office PowerPoint</Application>
  <PresentationFormat>Widescreen</PresentationFormat>
  <Paragraphs>88</Paragraphs>
  <Slides>21</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21</vt:i4>
      </vt:variant>
    </vt:vector>
  </HeadingPairs>
  <TitlesOfParts>
    <vt:vector size="31" baseType="lpstr">
      <vt:lpstr>Arial</vt:lpstr>
      <vt:lpstr>Calibri</vt:lpstr>
      <vt:lpstr>Calibri Light</vt:lpstr>
      <vt:lpstr>DejaVu Sans</vt:lpstr>
      <vt:lpstr>Noto Sans CJK SC</vt:lpstr>
      <vt:lpstr>Symbol</vt:lpstr>
      <vt:lpstr>Wingdings</vt:lpstr>
      <vt:lpstr>Office Theme</vt:lpstr>
      <vt:lpstr>Office Theme</vt:lpstr>
      <vt:lpstr>Office Theme</vt:lpstr>
      <vt:lpstr>Software Requirements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Sara Qasim</dc:creator>
  <dc:description/>
  <cp:lastModifiedBy>Sara Rehmat</cp:lastModifiedBy>
  <cp:revision>6</cp:revision>
  <dcterms:created xsi:type="dcterms:W3CDTF">2020-09-23T10:31:14Z</dcterms:created>
  <dcterms:modified xsi:type="dcterms:W3CDTF">2020-10-13T10:31:53Z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20</vt:i4>
  </property>
</Properties>
</file>