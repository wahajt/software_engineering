
<file path=[Content_Types].xml><?xml version="1.0" encoding="utf-8"?>
<Types xmlns="http://schemas.openxmlformats.org/package/2006/content-types">
  <Override PartName="/_rels/.rels" ContentType="application/vnd.openxmlformats-package.relationship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_rels/presentation.xml.rels" ContentType="application/vnd.openxmlformats-package.relationships+xml"/>
  <Override PartName="/ppt/media/image2.wmf" ContentType="image/x-wmf"/>
  <Override PartName="/ppt/media/image1.wmf" ContentType="image/x-wmf"/>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entation.xml" ContentType="application/vnd.openxmlformats-officedocument.presentationml.presentation.main+xml"/>
  <Override PartName="/ppt/theme/theme2.xml" ContentType="application/vnd.openxmlformats-officedocument.theme+xml"/>
  <Override PartName="/ppt/theme/theme1.xml" ContentType="application/vnd.openxmlformats-officedocument.theme+xml"/>
  <Override PartName="/ppt/slideLayouts/_rels/slideLayout24.xml.rels" ContentType="application/vnd.openxmlformats-package.relationships+xml"/>
  <Override PartName="/ppt/slideLayouts/_rels/slideLayout23.xml.rels" ContentType="application/vnd.openxmlformats-package.relationships+xml"/>
  <Override PartName="/ppt/slideLayouts/_rels/slideLayout22.xml.rels" ContentType="application/vnd.openxmlformats-package.relationships+xml"/>
  <Override PartName="/ppt/slideLayouts/_rels/slideLayout21.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14.xml.rels" ContentType="application/vnd.openxmlformats-package.relationships+xml"/>
  <Override PartName="/ppt/slideLayouts/_rels/slideLayout13.xml.rels" ContentType="application/vnd.openxmlformats-package.relationships+xml"/>
  <Override PartName="/ppt/slideLayouts/_rels/slideLayout18.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_rels/slideLayout17.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15.xml.rels" ContentType="application/vnd.openxmlformats-package.relationships+xml"/>
  <Override PartName="/ppt/slideLayouts/_rels/slideLayout8.xml.rels" ContentType="application/vnd.openxmlformats-package.relationships+xml"/>
  <Override PartName="/ppt/slideLayouts/_rels/slideLayout2.xml.rels" ContentType="application/vnd.openxmlformats-package.relationships+xml"/>
  <Override PartName="/ppt/slideLayouts/_rels/slideLayout16.xml.rels" ContentType="application/vnd.openxmlformats-package.relationships+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s/_rels/slide23.xml.rels" ContentType="application/vnd.openxmlformats-package.relationships+xml"/>
  <Override PartName="/ppt/slides/_rels/slide22.xml.rels" ContentType="application/vnd.openxmlformats-package.relationships+xml"/>
  <Override PartName="/ppt/slides/_rels/slide21.xml.rels" ContentType="application/vnd.openxmlformats-package.relationships+xml"/>
  <Override PartName="/ppt/slides/_rels/slide20.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1.xml.rels" ContentType="application/vnd.openxmlformats-package.relationships+xml"/>
  <Override PartName="/ppt/slides/_rels/slide9.xml.rels" ContentType="application/vnd.openxmlformats-package.relationships+xml"/>
  <Override PartName="/ppt/slides/_rels/slide2.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12192000" cy="6858000"/>
  <p:notesSz cx="7772400" cy="100584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
        <p:nvSpPr>
          <p:cNvPr id="8" name="PlaceHolder 2"/>
          <p:cNvSpPr>
            <a:spLocks noGrp="1"/>
          </p:cNvSpPr>
          <p:nvPr>
            <p:ph type="body"/>
          </p:nvPr>
        </p:nvSpPr>
        <p:spPr>
          <a:xfrm>
            <a:off x="838080" y="1825560"/>
            <a:ext cx="10515240" cy="435096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
        <p:nvSpPr>
          <p:cNvPr id="10" name="PlaceHolder 2"/>
          <p:cNvSpPr>
            <a:spLocks noGrp="1"/>
          </p:cNvSpPr>
          <p:nvPr>
            <p:ph type="body"/>
          </p:nvPr>
        </p:nvSpPr>
        <p:spPr>
          <a:xfrm>
            <a:off x="83808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
        <p:nvSpPr>
          <p:cNvPr id="11" name="PlaceHolder 3"/>
          <p:cNvSpPr>
            <a:spLocks noGrp="1"/>
          </p:cNvSpPr>
          <p:nvPr>
            <p:ph type="body"/>
          </p:nvPr>
        </p:nvSpPr>
        <p:spPr>
          <a:xfrm>
            <a:off x="622620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
        <p:nvSpPr>
          <p:cNvPr id="15" name="PlaceHolder 2"/>
          <p:cNvSpPr>
            <a:spLocks noGrp="1"/>
          </p:cNvSpPr>
          <p:nvPr>
            <p:ph type="body"/>
          </p:nvPr>
        </p:nvSpPr>
        <p:spPr>
          <a:xfrm>
            <a:off x="83808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16" name="PlaceHolder 3"/>
          <p:cNvSpPr>
            <a:spLocks noGrp="1"/>
          </p:cNvSpPr>
          <p:nvPr>
            <p:ph type="body"/>
          </p:nvPr>
        </p:nvSpPr>
        <p:spPr>
          <a:xfrm>
            <a:off x="622620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
        <p:nvSpPr>
          <p:cNvPr id="17" name="PlaceHolder 4"/>
          <p:cNvSpPr>
            <a:spLocks noGrp="1"/>
          </p:cNvSpPr>
          <p:nvPr>
            <p:ph type="body"/>
          </p:nvPr>
        </p:nvSpPr>
        <p:spPr>
          <a:xfrm>
            <a:off x="83808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
        <p:nvSpPr>
          <p:cNvPr id="19" name="PlaceHolder 2"/>
          <p:cNvSpPr>
            <a:spLocks noGrp="1"/>
          </p:cNvSpPr>
          <p:nvPr>
            <p:ph type="body"/>
          </p:nvPr>
        </p:nvSpPr>
        <p:spPr>
          <a:xfrm>
            <a:off x="83808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
        <p:nvSpPr>
          <p:cNvPr id="20" name="PlaceHolder 3"/>
          <p:cNvSpPr>
            <a:spLocks noGrp="1"/>
          </p:cNvSpPr>
          <p:nvPr>
            <p:ph type="body"/>
          </p:nvPr>
        </p:nvSpPr>
        <p:spPr>
          <a:xfrm>
            <a:off x="622620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21" name="PlaceHolder 4"/>
          <p:cNvSpPr>
            <a:spLocks noGrp="1"/>
          </p:cNvSpPr>
          <p:nvPr>
            <p:ph type="body"/>
          </p:nvPr>
        </p:nvSpPr>
        <p:spPr>
          <a:xfrm>
            <a:off x="622620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
        <p:nvSpPr>
          <p:cNvPr id="23" name="PlaceHolder 2"/>
          <p:cNvSpPr>
            <a:spLocks noGrp="1"/>
          </p:cNvSpPr>
          <p:nvPr>
            <p:ph type="body"/>
          </p:nvPr>
        </p:nvSpPr>
        <p:spPr>
          <a:xfrm>
            <a:off x="83808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24" name="PlaceHolder 3"/>
          <p:cNvSpPr>
            <a:spLocks noGrp="1"/>
          </p:cNvSpPr>
          <p:nvPr>
            <p:ph type="body"/>
          </p:nvPr>
        </p:nvSpPr>
        <p:spPr>
          <a:xfrm>
            <a:off x="622620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25" name="PlaceHolder 4"/>
          <p:cNvSpPr>
            <a:spLocks noGrp="1"/>
          </p:cNvSpPr>
          <p:nvPr>
            <p:ph type="body"/>
          </p:nvPr>
        </p:nvSpPr>
        <p:spPr>
          <a:xfrm>
            <a:off x="838080" y="4098240"/>
            <a:ext cx="1051524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
        <p:nvSpPr>
          <p:cNvPr id="27" name="PlaceHolder 2"/>
          <p:cNvSpPr>
            <a:spLocks noGrp="1"/>
          </p:cNvSpPr>
          <p:nvPr>
            <p:ph type="body"/>
          </p:nvPr>
        </p:nvSpPr>
        <p:spPr>
          <a:xfrm>
            <a:off x="838080" y="1825560"/>
            <a:ext cx="1051524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28" name="PlaceHolder 3"/>
          <p:cNvSpPr>
            <a:spLocks noGrp="1"/>
          </p:cNvSpPr>
          <p:nvPr>
            <p:ph type="body"/>
          </p:nvPr>
        </p:nvSpPr>
        <p:spPr>
          <a:xfrm>
            <a:off x="838080" y="4098240"/>
            <a:ext cx="1051524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
        <p:nvSpPr>
          <p:cNvPr id="30" name="PlaceHolder 2"/>
          <p:cNvSpPr>
            <a:spLocks noGrp="1"/>
          </p:cNvSpPr>
          <p:nvPr>
            <p:ph type="body"/>
          </p:nvPr>
        </p:nvSpPr>
        <p:spPr>
          <a:xfrm>
            <a:off x="83808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31" name="PlaceHolder 3"/>
          <p:cNvSpPr>
            <a:spLocks noGrp="1"/>
          </p:cNvSpPr>
          <p:nvPr>
            <p:ph type="body"/>
          </p:nvPr>
        </p:nvSpPr>
        <p:spPr>
          <a:xfrm>
            <a:off x="622620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32" name="PlaceHolder 4"/>
          <p:cNvSpPr>
            <a:spLocks noGrp="1"/>
          </p:cNvSpPr>
          <p:nvPr>
            <p:ph type="body"/>
          </p:nvPr>
        </p:nvSpPr>
        <p:spPr>
          <a:xfrm>
            <a:off x="83808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33" name="PlaceHolder 5"/>
          <p:cNvSpPr>
            <a:spLocks noGrp="1"/>
          </p:cNvSpPr>
          <p:nvPr>
            <p:ph type="body"/>
          </p:nvPr>
        </p:nvSpPr>
        <p:spPr>
          <a:xfrm>
            <a:off x="622620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
        <p:nvSpPr>
          <p:cNvPr id="35" name="PlaceHolder 2"/>
          <p:cNvSpPr>
            <a:spLocks noGrp="1"/>
          </p:cNvSpPr>
          <p:nvPr>
            <p:ph type="body"/>
          </p:nvPr>
        </p:nvSpPr>
        <p:spPr>
          <a:xfrm>
            <a:off x="838080" y="182556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36" name="PlaceHolder 3"/>
          <p:cNvSpPr>
            <a:spLocks noGrp="1"/>
          </p:cNvSpPr>
          <p:nvPr>
            <p:ph type="body"/>
          </p:nvPr>
        </p:nvSpPr>
        <p:spPr>
          <a:xfrm>
            <a:off x="4393440" y="182556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37" name="PlaceHolder 4"/>
          <p:cNvSpPr>
            <a:spLocks noGrp="1"/>
          </p:cNvSpPr>
          <p:nvPr>
            <p:ph type="body"/>
          </p:nvPr>
        </p:nvSpPr>
        <p:spPr>
          <a:xfrm>
            <a:off x="7949160" y="182556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38" name="PlaceHolder 5"/>
          <p:cNvSpPr>
            <a:spLocks noGrp="1"/>
          </p:cNvSpPr>
          <p:nvPr>
            <p:ph type="body"/>
          </p:nvPr>
        </p:nvSpPr>
        <p:spPr>
          <a:xfrm>
            <a:off x="838080" y="409824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39" name="PlaceHolder 6"/>
          <p:cNvSpPr>
            <a:spLocks noGrp="1"/>
          </p:cNvSpPr>
          <p:nvPr>
            <p:ph type="body"/>
          </p:nvPr>
        </p:nvSpPr>
        <p:spPr>
          <a:xfrm>
            <a:off x="4393440" y="409824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40" name="PlaceHolder 7"/>
          <p:cNvSpPr>
            <a:spLocks noGrp="1"/>
          </p:cNvSpPr>
          <p:nvPr>
            <p:ph type="body"/>
          </p:nvPr>
        </p:nvSpPr>
        <p:spPr>
          <a:xfrm>
            <a:off x="7949160" y="409824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
        <p:nvSpPr>
          <p:cNvPr id="47" name="PlaceHolder 2"/>
          <p:cNvSpPr>
            <a:spLocks noGrp="1"/>
          </p:cNvSpPr>
          <p:nvPr>
            <p:ph type="subTitle"/>
          </p:nvPr>
        </p:nvSpPr>
        <p:spPr>
          <a:xfrm>
            <a:off x="838080" y="1825560"/>
            <a:ext cx="10515240" cy="435096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
        <p:nvSpPr>
          <p:cNvPr id="49" name="PlaceHolder 2"/>
          <p:cNvSpPr>
            <a:spLocks noGrp="1"/>
          </p:cNvSpPr>
          <p:nvPr>
            <p:ph type="body"/>
          </p:nvPr>
        </p:nvSpPr>
        <p:spPr>
          <a:xfrm>
            <a:off x="838080" y="1825560"/>
            <a:ext cx="10515240" cy="435096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
        <p:nvSpPr>
          <p:cNvPr id="51" name="PlaceHolder 2"/>
          <p:cNvSpPr>
            <a:spLocks noGrp="1"/>
          </p:cNvSpPr>
          <p:nvPr>
            <p:ph type="body"/>
          </p:nvPr>
        </p:nvSpPr>
        <p:spPr>
          <a:xfrm>
            <a:off x="83808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
        <p:nvSpPr>
          <p:cNvPr id="52" name="PlaceHolder 3"/>
          <p:cNvSpPr>
            <a:spLocks noGrp="1"/>
          </p:cNvSpPr>
          <p:nvPr>
            <p:ph type="body"/>
          </p:nvPr>
        </p:nvSpPr>
        <p:spPr>
          <a:xfrm>
            <a:off x="622620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
        <p:nvSpPr>
          <p:cNvPr id="56" name="PlaceHolder 2"/>
          <p:cNvSpPr>
            <a:spLocks noGrp="1"/>
          </p:cNvSpPr>
          <p:nvPr>
            <p:ph type="body"/>
          </p:nvPr>
        </p:nvSpPr>
        <p:spPr>
          <a:xfrm>
            <a:off x="83808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57" name="PlaceHolder 3"/>
          <p:cNvSpPr>
            <a:spLocks noGrp="1"/>
          </p:cNvSpPr>
          <p:nvPr>
            <p:ph type="body"/>
          </p:nvPr>
        </p:nvSpPr>
        <p:spPr>
          <a:xfrm>
            <a:off x="622620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
        <p:nvSpPr>
          <p:cNvPr id="58" name="PlaceHolder 4"/>
          <p:cNvSpPr>
            <a:spLocks noGrp="1"/>
          </p:cNvSpPr>
          <p:nvPr>
            <p:ph type="body"/>
          </p:nvPr>
        </p:nvSpPr>
        <p:spPr>
          <a:xfrm>
            <a:off x="83808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
        <p:nvSpPr>
          <p:cNvPr id="60" name="PlaceHolder 2"/>
          <p:cNvSpPr>
            <a:spLocks noGrp="1"/>
          </p:cNvSpPr>
          <p:nvPr>
            <p:ph type="body"/>
          </p:nvPr>
        </p:nvSpPr>
        <p:spPr>
          <a:xfrm>
            <a:off x="838080" y="1825560"/>
            <a:ext cx="5131080" cy="4350960"/>
          </a:xfrm>
          <a:prstGeom prst="rect">
            <a:avLst/>
          </a:prstGeom>
        </p:spPr>
        <p:txBody>
          <a:bodyPr lIns="0" rIns="0" tIns="0" bIns="0">
            <a:normAutofit/>
          </a:bodyPr>
          <a:p>
            <a:endParaRPr b="0" lang="en-US" sz="2800" spc="-1" strike="noStrike">
              <a:solidFill>
                <a:srgbClr val="000000"/>
              </a:solidFill>
              <a:latin typeface="Calibri"/>
            </a:endParaRPr>
          </a:p>
        </p:txBody>
      </p:sp>
      <p:sp>
        <p:nvSpPr>
          <p:cNvPr id="61" name="PlaceHolder 3"/>
          <p:cNvSpPr>
            <a:spLocks noGrp="1"/>
          </p:cNvSpPr>
          <p:nvPr>
            <p:ph type="body"/>
          </p:nvPr>
        </p:nvSpPr>
        <p:spPr>
          <a:xfrm>
            <a:off x="622620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62" name="PlaceHolder 4"/>
          <p:cNvSpPr>
            <a:spLocks noGrp="1"/>
          </p:cNvSpPr>
          <p:nvPr>
            <p:ph type="body"/>
          </p:nvPr>
        </p:nvSpPr>
        <p:spPr>
          <a:xfrm>
            <a:off x="622620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
        <p:nvSpPr>
          <p:cNvPr id="64" name="PlaceHolder 2"/>
          <p:cNvSpPr>
            <a:spLocks noGrp="1"/>
          </p:cNvSpPr>
          <p:nvPr>
            <p:ph type="body"/>
          </p:nvPr>
        </p:nvSpPr>
        <p:spPr>
          <a:xfrm>
            <a:off x="83808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65" name="PlaceHolder 3"/>
          <p:cNvSpPr>
            <a:spLocks noGrp="1"/>
          </p:cNvSpPr>
          <p:nvPr>
            <p:ph type="body"/>
          </p:nvPr>
        </p:nvSpPr>
        <p:spPr>
          <a:xfrm>
            <a:off x="622620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66" name="PlaceHolder 4"/>
          <p:cNvSpPr>
            <a:spLocks noGrp="1"/>
          </p:cNvSpPr>
          <p:nvPr>
            <p:ph type="body"/>
          </p:nvPr>
        </p:nvSpPr>
        <p:spPr>
          <a:xfrm>
            <a:off x="838080" y="4098240"/>
            <a:ext cx="1051524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
        <p:nvSpPr>
          <p:cNvPr id="68" name="PlaceHolder 2"/>
          <p:cNvSpPr>
            <a:spLocks noGrp="1"/>
          </p:cNvSpPr>
          <p:nvPr>
            <p:ph type="body"/>
          </p:nvPr>
        </p:nvSpPr>
        <p:spPr>
          <a:xfrm>
            <a:off x="838080" y="1825560"/>
            <a:ext cx="1051524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69" name="PlaceHolder 3"/>
          <p:cNvSpPr>
            <a:spLocks noGrp="1"/>
          </p:cNvSpPr>
          <p:nvPr>
            <p:ph type="body"/>
          </p:nvPr>
        </p:nvSpPr>
        <p:spPr>
          <a:xfrm>
            <a:off x="838080" y="4098240"/>
            <a:ext cx="1051524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
        <p:nvSpPr>
          <p:cNvPr id="71" name="PlaceHolder 2"/>
          <p:cNvSpPr>
            <a:spLocks noGrp="1"/>
          </p:cNvSpPr>
          <p:nvPr>
            <p:ph type="body"/>
          </p:nvPr>
        </p:nvSpPr>
        <p:spPr>
          <a:xfrm>
            <a:off x="83808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72" name="PlaceHolder 3"/>
          <p:cNvSpPr>
            <a:spLocks noGrp="1"/>
          </p:cNvSpPr>
          <p:nvPr>
            <p:ph type="body"/>
          </p:nvPr>
        </p:nvSpPr>
        <p:spPr>
          <a:xfrm>
            <a:off x="6226200" y="182556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73" name="PlaceHolder 4"/>
          <p:cNvSpPr>
            <a:spLocks noGrp="1"/>
          </p:cNvSpPr>
          <p:nvPr>
            <p:ph type="body"/>
          </p:nvPr>
        </p:nvSpPr>
        <p:spPr>
          <a:xfrm>
            <a:off x="83808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74" name="PlaceHolder 5"/>
          <p:cNvSpPr>
            <a:spLocks noGrp="1"/>
          </p:cNvSpPr>
          <p:nvPr>
            <p:ph type="body"/>
          </p:nvPr>
        </p:nvSpPr>
        <p:spPr>
          <a:xfrm>
            <a:off x="6226200" y="4098240"/>
            <a:ext cx="513108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p:spPr>
        <p:txBody>
          <a:bodyPr lIns="0" rIns="0" tIns="0" bIns="0" anchor="ctr"/>
          <a:p>
            <a:endParaRPr b="0" lang="en-US" sz="1800" spc="-1" strike="noStrike">
              <a:solidFill>
                <a:srgbClr val="000000"/>
              </a:solidFill>
              <a:latin typeface="Calibri"/>
            </a:endParaRPr>
          </a:p>
        </p:txBody>
      </p:sp>
      <p:sp>
        <p:nvSpPr>
          <p:cNvPr id="76" name="PlaceHolder 2"/>
          <p:cNvSpPr>
            <a:spLocks noGrp="1"/>
          </p:cNvSpPr>
          <p:nvPr>
            <p:ph type="body"/>
          </p:nvPr>
        </p:nvSpPr>
        <p:spPr>
          <a:xfrm>
            <a:off x="838080" y="182556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77" name="PlaceHolder 3"/>
          <p:cNvSpPr>
            <a:spLocks noGrp="1"/>
          </p:cNvSpPr>
          <p:nvPr>
            <p:ph type="body"/>
          </p:nvPr>
        </p:nvSpPr>
        <p:spPr>
          <a:xfrm>
            <a:off x="4393440" y="182556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78" name="PlaceHolder 4"/>
          <p:cNvSpPr>
            <a:spLocks noGrp="1"/>
          </p:cNvSpPr>
          <p:nvPr>
            <p:ph type="body"/>
          </p:nvPr>
        </p:nvSpPr>
        <p:spPr>
          <a:xfrm>
            <a:off x="7949160" y="182556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79" name="PlaceHolder 5"/>
          <p:cNvSpPr>
            <a:spLocks noGrp="1"/>
          </p:cNvSpPr>
          <p:nvPr>
            <p:ph type="body"/>
          </p:nvPr>
        </p:nvSpPr>
        <p:spPr>
          <a:xfrm>
            <a:off x="838080" y="409824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80" name="PlaceHolder 6"/>
          <p:cNvSpPr>
            <a:spLocks noGrp="1"/>
          </p:cNvSpPr>
          <p:nvPr>
            <p:ph type="body"/>
          </p:nvPr>
        </p:nvSpPr>
        <p:spPr>
          <a:xfrm>
            <a:off x="4393440" y="409824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
        <p:nvSpPr>
          <p:cNvPr id="81" name="PlaceHolder 7"/>
          <p:cNvSpPr>
            <a:spLocks noGrp="1"/>
          </p:cNvSpPr>
          <p:nvPr>
            <p:ph type="body"/>
          </p:nvPr>
        </p:nvSpPr>
        <p:spPr>
          <a:xfrm>
            <a:off x="7949160" y="4098240"/>
            <a:ext cx="3385800" cy="20750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p:spPr>
        <p:txBody>
          <a:bodyPr anchor="b"/>
          <a:p>
            <a:pPr algn="ctr">
              <a:lnSpc>
                <a:spcPct val="90000"/>
              </a:lnSpc>
            </a:pPr>
            <a:r>
              <a:rPr b="0" lang="en-US" sz="6000" spc="-1" strike="noStrike">
                <a:solidFill>
                  <a:srgbClr val="000000"/>
                </a:solidFill>
                <a:latin typeface="Calibri Light"/>
              </a:rPr>
              <a:t>Click to edit Master title style</a:t>
            </a:r>
            <a:endParaRPr b="0" lang="en-US" sz="6000" spc="-1" strike="noStrike">
              <a:solidFill>
                <a:srgbClr val="000000"/>
              </a:solidFill>
              <a:latin typeface="Calibri"/>
            </a:endParaRPr>
          </a:p>
        </p:txBody>
      </p:sp>
      <p:sp>
        <p:nvSpPr>
          <p:cNvPr id="1" name="PlaceHolder 2"/>
          <p:cNvSpPr>
            <a:spLocks noGrp="1"/>
          </p:cNvSpPr>
          <p:nvPr>
            <p:ph type="dt"/>
          </p:nvPr>
        </p:nvSpPr>
        <p:spPr>
          <a:xfrm>
            <a:off x="838080" y="6356520"/>
            <a:ext cx="2742840" cy="364680"/>
          </a:xfrm>
          <a:prstGeom prst="rect">
            <a:avLst/>
          </a:prstGeom>
        </p:spPr>
        <p:txBody>
          <a:bodyPr anchor="ctr"/>
          <a:p>
            <a:pPr>
              <a:lnSpc>
                <a:spcPct val="100000"/>
              </a:lnSpc>
            </a:pPr>
            <a:fld id="{B6563CE6-9D56-4BD4-8B31-85E1A9B65509}" type="datetime">
              <a:rPr b="0" lang="en-US" sz="1200" spc="-1" strike="noStrike">
                <a:solidFill>
                  <a:srgbClr val="8b8b8b"/>
                </a:solidFill>
                <a:latin typeface="Calibri"/>
              </a:rPr>
              <a:t>10/14/20</a:t>
            </a:fld>
            <a:endParaRPr b="0" lang="en-US" sz="1200" spc="-1" strike="noStrike">
              <a:latin typeface="Times New Roman"/>
            </a:endParaRPr>
          </a:p>
        </p:txBody>
      </p:sp>
      <p:sp>
        <p:nvSpPr>
          <p:cNvPr id="2" name="PlaceHolder 3"/>
          <p:cNvSpPr>
            <a:spLocks noGrp="1"/>
          </p:cNvSpPr>
          <p:nvPr>
            <p:ph type="ftr"/>
          </p:nvPr>
        </p:nvSpPr>
        <p:spPr>
          <a:xfrm>
            <a:off x="4038480" y="6356520"/>
            <a:ext cx="4114440" cy="364680"/>
          </a:xfrm>
          <a:prstGeom prst="rect">
            <a:avLst/>
          </a:prstGeom>
        </p:spPr>
        <p:txBody>
          <a:bodyPr anchor="ctr"/>
          <a:p>
            <a:endParaRPr b="0" lang="en-US" sz="2400" spc="-1" strike="noStrike">
              <a:latin typeface="Times New Roman"/>
            </a:endParaRPr>
          </a:p>
        </p:txBody>
      </p:sp>
      <p:sp>
        <p:nvSpPr>
          <p:cNvPr id="3" name="PlaceHolder 4"/>
          <p:cNvSpPr>
            <a:spLocks noGrp="1"/>
          </p:cNvSpPr>
          <p:nvPr>
            <p:ph type="sldNum"/>
          </p:nvPr>
        </p:nvSpPr>
        <p:spPr>
          <a:xfrm>
            <a:off x="8610480" y="6356520"/>
            <a:ext cx="2742840" cy="364680"/>
          </a:xfrm>
          <a:prstGeom prst="rect">
            <a:avLst/>
          </a:prstGeom>
        </p:spPr>
        <p:txBody>
          <a:bodyPr anchor="ctr"/>
          <a:p>
            <a:pPr algn="r">
              <a:lnSpc>
                <a:spcPct val="100000"/>
              </a:lnSpc>
            </a:pPr>
            <a:fld id="{989F7475-2452-45CA-8A7B-1D4DA0686703}" type="slidenum">
              <a:rPr b="0" lang="en-US" sz="1200" spc="-1" strike="noStrike">
                <a:solidFill>
                  <a:srgbClr val="8b8b8b"/>
                </a:solidFill>
                <a:latin typeface="Calibri"/>
              </a:rPr>
              <a:t>&lt;number&gt;</a:t>
            </a:fld>
            <a:endParaRPr b="0" lang="en-US" sz="1200" spc="-1" strike="noStrike">
              <a:latin typeface="Times New Roman"/>
            </a:endParaRPr>
          </a:p>
        </p:txBody>
      </p:sp>
      <p:sp>
        <p:nvSpPr>
          <p:cNvPr id="4" name="PlaceHolder 5"/>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Calibri"/>
              </a:rPr>
              <a:t>Click to edit the outline text format</a:t>
            </a:r>
            <a:endParaRPr b="0" lang="en-US" sz="28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000" spc="-1" strike="noStrike">
                <a:solidFill>
                  <a:srgbClr val="000000"/>
                </a:solidFill>
                <a:latin typeface="Calibri"/>
              </a:rPr>
              <a:t>Second Outline Level</a:t>
            </a:r>
            <a:endParaRPr b="0" lang="en-US" sz="20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Calibri"/>
              </a:rPr>
              <a:t>Third Outline Level</a:t>
            </a:r>
            <a:endParaRPr b="0" lang="en-US" sz="18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Calibri"/>
              </a:rPr>
              <a:t>Fourth Outline Level</a:t>
            </a:r>
            <a:endParaRPr b="0" lang="en-US" sz="18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p:spPr>
        <p:txBody>
          <a:bodyPr anchor="ctr"/>
          <a:p>
            <a:pPr>
              <a:lnSpc>
                <a:spcPct val="90000"/>
              </a:lnSpc>
            </a:pPr>
            <a:r>
              <a:rPr b="0" lang="en-US" sz="4400" spc="-1" strike="noStrike">
                <a:solidFill>
                  <a:srgbClr val="000000"/>
                </a:solidFill>
                <a:latin typeface="Calibri Light"/>
              </a:rPr>
              <a:t>Click to edit Master title style</a:t>
            </a:r>
            <a:endParaRPr b="0" lang="en-US" sz="4400" spc="-1" strike="noStrike">
              <a:solidFill>
                <a:srgbClr val="000000"/>
              </a:solidFill>
              <a:latin typeface="Calibri"/>
            </a:endParaRPr>
          </a:p>
        </p:txBody>
      </p:sp>
      <p:sp>
        <p:nvSpPr>
          <p:cNvPr id="42" name="PlaceHolder 2"/>
          <p:cNvSpPr>
            <a:spLocks noGrp="1"/>
          </p:cNvSpPr>
          <p:nvPr>
            <p:ph type="body"/>
          </p:nvPr>
        </p:nvSpPr>
        <p:spPr>
          <a:xfrm>
            <a:off x="838080" y="1825560"/>
            <a:ext cx="10515240" cy="4350960"/>
          </a:xfrm>
          <a:prstGeom prst="rect">
            <a:avLst/>
          </a:prstGeom>
        </p:spPr>
        <p:txBody>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Click to edit Master text styles</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Second level</a:t>
            </a:r>
            <a:endParaRPr b="0" lang="en-US" sz="2400" spc="-1" strike="noStrike">
              <a:solidFill>
                <a:srgbClr val="000000"/>
              </a:solidFill>
              <a:latin typeface="Calibri"/>
            </a:endParaRPr>
          </a:p>
          <a:p>
            <a:pPr lvl="2" marL="1143000" indent="-228240">
              <a:lnSpc>
                <a:spcPct val="90000"/>
              </a:lnSpc>
              <a:spcBef>
                <a:spcPts val="499"/>
              </a:spcBef>
              <a:buClr>
                <a:srgbClr val="000000"/>
              </a:buClr>
              <a:buFont typeface="Arial"/>
              <a:buChar char="•"/>
            </a:pPr>
            <a:r>
              <a:rPr b="0" lang="en-US" sz="2000" spc="-1" strike="noStrike">
                <a:solidFill>
                  <a:srgbClr val="000000"/>
                </a:solidFill>
                <a:latin typeface="Calibri"/>
              </a:rPr>
              <a:t>Third level</a:t>
            </a:r>
            <a:endParaRPr b="0" lang="en-US" sz="2000" spc="-1" strike="noStrike">
              <a:solidFill>
                <a:srgbClr val="000000"/>
              </a:solidFill>
              <a:latin typeface="Calibri"/>
            </a:endParaRPr>
          </a:p>
          <a:p>
            <a:pPr lvl="3" marL="1600200" indent="-228240">
              <a:lnSpc>
                <a:spcPct val="90000"/>
              </a:lnSpc>
              <a:spcBef>
                <a:spcPts val="499"/>
              </a:spcBef>
              <a:buClr>
                <a:srgbClr val="000000"/>
              </a:buClr>
              <a:buFont typeface="Arial"/>
              <a:buChar char="•"/>
            </a:pPr>
            <a:r>
              <a:rPr b="0" lang="en-US" sz="1800" spc="-1" strike="noStrike">
                <a:solidFill>
                  <a:srgbClr val="000000"/>
                </a:solidFill>
                <a:latin typeface="Calibri"/>
              </a:rPr>
              <a:t>Fourth level</a:t>
            </a:r>
            <a:endParaRPr b="0" lang="en-US" sz="1800" spc="-1" strike="noStrike">
              <a:solidFill>
                <a:srgbClr val="000000"/>
              </a:solidFill>
              <a:latin typeface="Calibri"/>
            </a:endParaRPr>
          </a:p>
          <a:p>
            <a:pPr lvl="4" marL="2057400" indent="-228240">
              <a:lnSpc>
                <a:spcPct val="90000"/>
              </a:lnSpc>
              <a:spcBef>
                <a:spcPts val="499"/>
              </a:spcBef>
              <a:buClr>
                <a:srgbClr val="000000"/>
              </a:buClr>
              <a:buFont typeface="Arial"/>
              <a:buChar char="•"/>
            </a:pPr>
            <a:r>
              <a:rPr b="0" lang="en-US" sz="1800" spc="-1" strike="noStrike">
                <a:solidFill>
                  <a:srgbClr val="000000"/>
                </a:solidFill>
                <a:latin typeface="Calibri"/>
              </a:rPr>
              <a:t>Fifth level</a:t>
            </a:r>
            <a:endParaRPr b="0" lang="en-US" sz="1800" spc="-1" strike="noStrike">
              <a:solidFill>
                <a:srgbClr val="000000"/>
              </a:solidFill>
              <a:latin typeface="Calibri"/>
            </a:endParaRPr>
          </a:p>
        </p:txBody>
      </p:sp>
      <p:sp>
        <p:nvSpPr>
          <p:cNvPr id="43" name="PlaceHolder 3"/>
          <p:cNvSpPr>
            <a:spLocks noGrp="1"/>
          </p:cNvSpPr>
          <p:nvPr>
            <p:ph type="dt"/>
          </p:nvPr>
        </p:nvSpPr>
        <p:spPr>
          <a:xfrm>
            <a:off x="838080" y="6356520"/>
            <a:ext cx="2742840" cy="364680"/>
          </a:xfrm>
          <a:prstGeom prst="rect">
            <a:avLst/>
          </a:prstGeom>
        </p:spPr>
        <p:txBody>
          <a:bodyPr anchor="ctr"/>
          <a:p>
            <a:pPr>
              <a:lnSpc>
                <a:spcPct val="100000"/>
              </a:lnSpc>
            </a:pPr>
            <a:fld id="{A579E781-8C37-43F7-BC65-6CB4D8056A45}" type="datetime">
              <a:rPr b="0" lang="en-US" sz="1200" spc="-1" strike="noStrike">
                <a:solidFill>
                  <a:srgbClr val="8b8b8b"/>
                </a:solidFill>
                <a:latin typeface="Calibri"/>
              </a:rPr>
              <a:t>10/14/20</a:t>
            </a:fld>
            <a:endParaRPr b="0" lang="en-US" sz="1200" spc="-1" strike="noStrike">
              <a:latin typeface="Times New Roman"/>
            </a:endParaRPr>
          </a:p>
        </p:txBody>
      </p:sp>
      <p:sp>
        <p:nvSpPr>
          <p:cNvPr id="44" name="PlaceHolder 4"/>
          <p:cNvSpPr>
            <a:spLocks noGrp="1"/>
          </p:cNvSpPr>
          <p:nvPr>
            <p:ph type="ftr"/>
          </p:nvPr>
        </p:nvSpPr>
        <p:spPr>
          <a:xfrm>
            <a:off x="4038480" y="6356520"/>
            <a:ext cx="4114440" cy="364680"/>
          </a:xfrm>
          <a:prstGeom prst="rect">
            <a:avLst/>
          </a:prstGeom>
        </p:spPr>
        <p:txBody>
          <a:bodyPr anchor="ctr"/>
          <a:p>
            <a:endParaRPr b="0" lang="en-US" sz="2400" spc="-1" strike="noStrike">
              <a:latin typeface="Times New Roman"/>
            </a:endParaRPr>
          </a:p>
        </p:txBody>
      </p:sp>
      <p:sp>
        <p:nvSpPr>
          <p:cNvPr id="45" name="PlaceHolder 5"/>
          <p:cNvSpPr>
            <a:spLocks noGrp="1"/>
          </p:cNvSpPr>
          <p:nvPr>
            <p:ph type="sldNum"/>
          </p:nvPr>
        </p:nvSpPr>
        <p:spPr>
          <a:xfrm>
            <a:off x="8610480" y="6356520"/>
            <a:ext cx="2742840" cy="364680"/>
          </a:xfrm>
          <a:prstGeom prst="rect">
            <a:avLst/>
          </a:prstGeom>
        </p:spPr>
        <p:txBody>
          <a:bodyPr anchor="ctr"/>
          <a:p>
            <a:pPr algn="r">
              <a:lnSpc>
                <a:spcPct val="100000"/>
              </a:lnSpc>
            </a:pPr>
            <a:fld id="{791D9F6C-75C3-4DC7-A5F1-A569E2812EBA}" type="slidenum">
              <a:rPr b="0" lang="en-US" sz="1200" spc="-1" strike="noStrike">
                <a:solidFill>
                  <a:srgbClr val="8b8b8b"/>
                </a:solidFill>
                <a:latin typeface="Calibri"/>
              </a:rPr>
              <a:t>1</a:t>
            </a:fld>
            <a:endParaRPr b="0" lang="en-U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1.wmf"/><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2.wmf"/><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TextShape 1"/>
          <p:cNvSpPr txBox="1"/>
          <p:nvPr/>
        </p:nvSpPr>
        <p:spPr>
          <a:xfrm>
            <a:off x="1523880" y="1122480"/>
            <a:ext cx="9143640" cy="2387160"/>
          </a:xfrm>
          <a:prstGeom prst="rect">
            <a:avLst/>
          </a:prstGeom>
          <a:noFill/>
          <a:ln>
            <a:noFill/>
          </a:ln>
        </p:spPr>
        <p:txBody>
          <a:bodyPr anchor="b"/>
          <a:p>
            <a:endParaRPr b="0" lang="en-US" sz="1800" spc="-1" strike="noStrike">
              <a:solidFill>
                <a:srgbClr val="000000"/>
              </a:solidFill>
              <a:latin typeface="Calibri"/>
            </a:endParaRPr>
          </a:p>
        </p:txBody>
      </p:sp>
      <p:sp>
        <p:nvSpPr>
          <p:cNvPr id="83" name="TextShape 2"/>
          <p:cNvSpPr txBox="1"/>
          <p:nvPr/>
        </p:nvSpPr>
        <p:spPr>
          <a:xfrm>
            <a:off x="1523880" y="3602160"/>
            <a:ext cx="9143640" cy="1655280"/>
          </a:xfrm>
          <a:prstGeom prst="rect">
            <a:avLst/>
          </a:prstGeom>
          <a:noFill/>
          <a:ln>
            <a:noFill/>
          </a:ln>
        </p:spPr>
        <p:txBody>
          <a:bodyPr/>
          <a:p>
            <a:pPr algn="ctr"/>
            <a:endParaRPr b="0" lang="en-US" sz="3200" spc="-1" strike="noStrike">
              <a:latin typeface="Arial"/>
            </a:endParaRPr>
          </a:p>
        </p:txBody>
      </p:sp>
    </p:spTree>
  </p:cSld>
  <p:timing>
    <p:tnLst>
      <p:par>
        <p:cTn id="1" dur="indefinite" restart="never" nodeType="tmRoot">
          <p:childTnLst>
            <p:seq>
              <p:cTn id="2" dur="indefinite" nodeType="mainSeq"/>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TextShape 1"/>
          <p:cNvSpPr txBox="1"/>
          <p:nvPr/>
        </p:nvSpPr>
        <p:spPr>
          <a:xfrm>
            <a:off x="838080" y="365040"/>
            <a:ext cx="10515240" cy="1325160"/>
          </a:xfrm>
          <a:prstGeom prst="rect">
            <a:avLst/>
          </a:prstGeom>
          <a:noFill/>
          <a:ln>
            <a:noFill/>
          </a:ln>
        </p:spPr>
        <p:txBody>
          <a:bodyPr anchor="ctr"/>
          <a:p>
            <a:pPr>
              <a:lnSpc>
                <a:spcPct val="90000"/>
              </a:lnSpc>
            </a:pPr>
            <a:r>
              <a:rPr b="0" lang="en-US" sz="4400" spc="-1" strike="noStrike">
                <a:solidFill>
                  <a:srgbClr val="000000"/>
                </a:solidFill>
                <a:latin typeface="Calibri Light"/>
              </a:rPr>
              <a:t>Recap of the last lecture</a:t>
            </a:r>
            <a:endParaRPr b="0" lang="en-US" sz="4400" spc="-1" strike="noStrike">
              <a:solidFill>
                <a:srgbClr val="000000"/>
              </a:solidFill>
              <a:latin typeface="Calibri"/>
            </a:endParaRPr>
          </a:p>
        </p:txBody>
      </p:sp>
      <p:sp>
        <p:nvSpPr>
          <p:cNvPr id="85" name="TextShape 2"/>
          <p:cNvSpPr txBox="1"/>
          <p:nvPr/>
        </p:nvSpPr>
        <p:spPr>
          <a:xfrm>
            <a:off x="838080" y="1825560"/>
            <a:ext cx="10515240" cy="4350960"/>
          </a:xfrm>
          <a:prstGeom prst="rect">
            <a:avLst/>
          </a:prstGeom>
          <a:noFill/>
          <a:ln>
            <a:noFill/>
          </a:ln>
        </p:spPr>
        <p:txBody>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Requirements elicitation techniques</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Facilitated techniques</a:t>
            </a:r>
            <a:endParaRPr b="0" lang="en-US" sz="2400" spc="-1" strike="noStrike">
              <a:solidFill>
                <a:srgbClr val="000000"/>
              </a:solidFill>
              <a:latin typeface="Calibri"/>
            </a:endParaRPr>
          </a:p>
          <a:p>
            <a:pPr lvl="2" marL="1143000" indent="-228240">
              <a:lnSpc>
                <a:spcPct val="90000"/>
              </a:lnSpc>
              <a:spcBef>
                <a:spcPts val="499"/>
              </a:spcBef>
              <a:buClr>
                <a:srgbClr val="000000"/>
              </a:buClr>
              <a:buFont typeface="Arial"/>
              <a:buChar char="•"/>
            </a:pPr>
            <a:r>
              <a:rPr b="0" lang="en-US" sz="2000" spc="-1" strike="noStrike">
                <a:solidFill>
                  <a:srgbClr val="000000"/>
                </a:solidFill>
                <a:latin typeface="Calibri"/>
              </a:rPr>
              <a:t>Interviews</a:t>
            </a:r>
            <a:endParaRPr b="0" lang="en-US" sz="2000" spc="-1" strike="noStrike">
              <a:solidFill>
                <a:srgbClr val="000000"/>
              </a:solidFill>
              <a:latin typeface="Calibri"/>
            </a:endParaRPr>
          </a:p>
          <a:p>
            <a:pPr lvl="2" marL="1143000" indent="-228240">
              <a:lnSpc>
                <a:spcPct val="90000"/>
              </a:lnSpc>
              <a:spcBef>
                <a:spcPts val="499"/>
              </a:spcBef>
              <a:buClr>
                <a:srgbClr val="000000"/>
              </a:buClr>
              <a:buFont typeface="Arial"/>
              <a:buChar char="•"/>
            </a:pPr>
            <a:r>
              <a:rPr b="0" lang="en-US" sz="2000" spc="-1" strike="noStrike">
                <a:solidFill>
                  <a:srgbClr val="000000"/>
                </a:solidFill>
                <a:latin typeface="Calibri"/>
              </a:rPr>
              <a:t>Workshops</a:t>
            </a:r>
            <a:endParaRPr b="0" lang="en-US" sz="2000" spc="-1" strike="noStrike">
              <a:solidFill>
                <a:srgbClr val="000000"/>
              </a:solidFill>
              <a:latin typeface="Calibri"/>
            </a:endParaRPr>
          </a:p>
          <a:p>
            <a:pPr lvl="2" marL="1143000" indent="-228240">
              <a:lnSpc>
                <a:spcPct val="90000"/>
              </a:lnSpc>
              <a:spcBef>
                <a:spcPts val="499"/>
              </a:spcBef>
              <a:buClr>
                <a:srgbClr val="000000"/>
              </a:buClr>
              <a:buFont typeface="Arial"/>
              <a:buChar char="•"/>
            </a:pPr>
            <a:r>
              <a:rPr b="0" lang="en-US" sz="2000" spc="-1" strike="noStrike">
                <a:solidFill>
                  <a:srgbClr val="000000"/>
                </a:solidFill>
                <a:latin typeface="Calibri"/>
              </a:rPr>
              <a:t>Focus Groups</a:t>
            </a:r>
            <a:endParaRPr b="0" lang="en-US" sz="2000" spc="-1" strike="noStrike">
              <a:solidFill>
                <a:srgbClr val="000000"/>
              </a:solidFill>
              <a:latin typeface="Calibri"/>
            </a:endParaRPr>
          </a:p>
          <a:p>
            <a:pPr lvl="2" marL="1143000" indent="-228240">
              <a:lnSpc>
                <a:spcPct val="90000"/>
              </a:lnSpc>
              <a:spcBef>
                <a:spcPts val="499"/>
              </a:spcBef>
              <a:buClr>
                <a:srgbClr val="000000"/>
              </a:buClr>
              <a:buFont typeface="Arial"/>
              <a:buChar char="•"/>
            </a:pPr>
            <a:r>
              <a:rPr b="0" lang="en-US" sz="2000" spc="-1" strike="noStrike">
                <a:solidFill>
                  <a:srgbClr val="000000"/>
                </a:solidFill>
                <a:latin typeface="Calibri"/>
              </a:rPr>
              <a:t>Observations</a:t>
            </a:r>
            <a:endParaRPr b="0" lang="en-US" sz="2000" spc="-1" strike="noStrike">
              <a:solidFill>
                <a:srgbClr val="000000"/>
              </a:solidFill>
              <a:latin typeface="Calibri"/>
            </a:endParaRPr>
          </a:p>
          <a:p>
            <a:pPr lvl="2" marL="1143000" indent="-228240">
              <a:lnSpc>
                <a:spcPct val="90000"/>
              </a:lnSpc>
              <a:spcBef>
                <a:spcPts val="499"/>
              </a:spcBef>
              <a:buClr>
                <a:srgbClr val="000000"/>
              </a:buClr>
              <a:buFont typeface="Arial"/>
              <a:buChar char="•"/>
            </a:pPr>
            <a:r>
              <a:rPr b="0" lang="en-US" sz="2000" spc="-1" strike="noStrike">
                <a:solidFill>
                  <a:srgbClr val="000000"/>
                </a:solidFill>
                <a:latin typeface="Calibri"/>
              </a:rPr>
              <a:t>Questionnaires</a:t>
            </a:r>
            <a:endParaRPr b="0" lang="en-US" sz="20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Independent techniques</a:t>
            </a:r>
            <a:endParaRPr b="0" lang="en-US" sz="2400" spc="-1" strike="noStrike">
              <a:solidFill>
                <a:srgbClr val="000000"/>
              </a:solidFill>
              <a:latin typeface="Calibri"/>
            </a:endParaRPr>
          </a:p>
          <a:p>
            <a:pPr lvl="2" marL="1143000" indent="-228240">
              <a:lnSpc>
                <a:spcPct val="90000"/>
              </a:lnSpc>
              <a:spcBef>
                <a:spcPts val="499"/>
              </a:spcBef>
              <a:buClr>
                <a:srgbClr val="000000"/>
              </a:buClr>
              <a:buFont typeface="Arial"/>
              <a:buChar char="•"/>
            </a:pPr>
            <a:r>
              <a:rPr b="0" lang="en-US" sz="2000" spc="-1" strike="noStrike">
                <a:solidFill>
                  <a:srgbClr val="000000"/>
                </a:solidFill>
                <a:latin typeface="Calibri"/>
              </a:rPr>
              <a:t>System Interface analysis</a:t>
            </a:r>
            <a:endParaRPr b="0" lang="en-US" sz="2000" spc="-1" strike="noStrike">
              <a:solidFill>
                <a:srgbClr val="000000"/>
              </a:solidFill>
              <a:latin typeface="Calibri"/>
            </a:endParaRPr>
          </a:p>
          <a:p>
            <a:pPr lvl="2" marL="1143000" indent="-228240">
              <a:lnSpc>
                <a:spcPct val="90000"/>
              </a:lnSpc>
              <a:spcBef>
                <a:spcPts val="499"/>
              </a:spcBef>
              <a:buClr>
                <a:srgbClr val="000000"/>
              </a:buClr>
              <a:buFont typeface="Arial"/>
              <a:buChar char="•"/>
            </a:pPr>
            <a:r>
              <a:rPr b="0" lang="en-US" sz="2000" spc="-1" strike="noStrike">
                <a:solidFill>
                  <a:srgbClr val="000000"/>
                </a:solidFill>
                <a:latin typeface="Calibri"/>
              </a:rPr>
              <a:t>User Interface analysis</a:t>
            </a:r>
            <a:endParaRPr b="0" lang="en-US" sz="2000" spc="-1" strike="noStrike">
              <a:solidFill>
                <a:srgbClr val="000000"/>
              </a:solidFill>
              <a:latin typeface="Calibri"/>
            </a:endParaRPr>
          </a:p>
          <a:p>
            <a:pPr lvl="2" marL="1143000" indent="-228240">
              <a:lnSpc>
                <a:spcPct val="90000"/>
              </a:lnSpc>
              <a:spcBef>
                <a:spcPts val="499"/>
              </a:spcBef>
              <a:buClr>
                <a:srgbClr val="000000"/>
              </a:buClr>
              <a:buFont typeface="Arial"/>
              <a:buChar char="•"/>
            </a:pPr>
            <a:r>
              <a:rPr b="0" lang="en-US" sz="2000" spc="-1" strike="noStrike">
                <a:solidFill>
                  <a:srgbClr val="000000"/>
                </a:solidFill>
                <a:latin typeface="Calibri"/>
              </a:rPr>
              <a:t>Document analysis</a:t>
            </a:r>
            <a:endParaRPr b="0" lang="en-US" sz="2000" spc="-1" strike="noStrike">
              <a:solidFill>
                <a:srgbClr val="000000"/>
              </a:solidFill>
              <a:latin typeface="Calibri"/>
            </a:endParaRPr>
          </a:p>
        </p:txBody>
      </p:sp>
    </p:spTree>
  </p:cSld>
  <p:timing>
    <p:tnLst>
      <p:par>
        <p:cTn id="3" dur="indefinite" restart="never" nodeType="tmRoot">
          <p:childTnLst>
            <p:seq>
              <p:cTn id="4" dur="indefinite" nodeType="mainSeq"/>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TextShape 1"/>
          <p:cNvSpPr txBox="1"/>
          <p:nvPr/>
        </p:nvSpPr>
        <p:spPr>
          <a:xfrm>
            <a:off x="838080" y="365040"/>
            <a:ext cx="10515240" cy="1325160"/>
          </a:xfrm>
          <a:prstGeom prst="rect">
            <a:avLst/>
          </a:prstGeom>
          <a:noFill/>
          <a:ln>
            <a:noFill/>
          </a:ln>
        </p:spPr>
        <p:txBody>
          <a:bodyPr anchor="ctr"/>
          <a:p>
            <a:pPr>
              <a:lnSpc>
                <a:spcPct val="90000"/>
              </a:lnSpc>
            </a:pPr>
            <a:r>
              <a:rPr b="0" lang="en-US" sz="4400" spc="-1" strike="noStrike">
                <a:solidFill>
                  <a:srgbClr val="000000"/>
                </a:solidFill>
                <a:latin typeface="Calibri Light"/>
              </a:rPr>
              <a:t>Elicitation Process</a:t>
            </a:r>
            <a:endParaRPr b="0" lang="en-US" sz="4400" spc="-1" strike="noStrike">
              <a:solidFill>
                <a:srgbClr val="000000"/>
              </a:solidFill>
              <a:latin typeface="Calibri"/>
            </a:endParaRPr>
          </a:p>
        </p:txBody>
      </p:sp>
      <p:pic>
        <p:nvPicPr>
          <p:cNvPr id="87" name="Content Placeholder 3" descr=""/>
          <p:cNvPicPr/>
          <p:nvPr/>
        </p:nvPicPr>
        <p:blipFill>
          <a:blip r:embed="rId1"/>
          <a:stretch/>
        </p:blipFill>
        <p:spPr>
          <a:xfrm>
            <a:off x="838080" y="2689200"/>
            <a:ext cx="10515240" cy="2624040"/>
          </a:xfrm>
          <a:prstGeom prst="rect">
            <a:avLst/>
          </a:prstGeom>
          <a:ln>
            <a:noFill/>
          </a:ln>
        </p:spPr>
      </p:pic>
    </p:spTree>
  </p:cSld>
  <p:timing>
    <p:tnLst>
      <p:par>
        <p:cTn id="5" dur="indefinite" restart="never" nodeType="tmRoot">
          <p:childTnLst>
            <p:seq>
              <p:cTn id="6" dur="indefinite" nodeType="mainSeq"/>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TextShape 1"/>
          <p:cNvSpPr txBox="1"/>
          <p:nvPr/>
        </p:nvSpPr>
        <p:spPr>
          <a:xfrm>
            <a:off x="838080" y="365040"/>
            <a:ext cx="10515240" cy="1325160"/>
          </a:xfrm>
          <a:prstGeom prst="rect">
            <a:avLst/>
          </a:prstGeom>
          <a:noFill/>
          <a:ln>
            <a:noFill/>
          </a:ln>
        </p:spPr>
        <p:txBody>
          <a:bodyPr anchor="ctr"/>
          <a:p>
            <a:pPr>
              <a:lnSpc>
                <a:spcPct val="90000"/>
              </a:lnSpc>
            </a:pPr>
            <a:r>
              <a:rPr b="1" lang="en-US" sz="4400" spc="-1" strike="noStrike">
                <a:solidFill>
                  <a:srgbClr val="000000"/>
                </a:solidFill>
                <a:latin typeface="Calibri Light"/>
              </a:rPr>
              <a:t>1. Preparing for elicitation</a:t>
            </a:r>
            <a:endParaRPr b="0" lang="en-US" sz="4400" spc="-1" strike="noStrike">
              <a:solidFill>
                <a:srgbClr val="000000"/>
              </a:solidFill>
              <a:latin typeface="Calibri"/>
            </a:endParaRPr>
          </a:p>
        </p:txBody>
      </p:sp>
      <p:sp>
        <p:nvSpPr>
          <p:cNvPr id="89" name="TextShape 2"/>
          <p:cNvSpPr txBox="1"/>
          <p:nvPr/>
        </p:nvSpPr>
        <p:spPr>
          <a:xfrm>
            <a:off x="838080" y="1825560"/>
            <a:ext cx="10515240" cy="4350960"/>
          </a:xfrm>
          <a:prstGeom prst="rect">
            <a:avLst/>
          </a:prstGeom>
          <a:noFill/>
          <a:ln>
            <a:noFill/>
          </a:ln>
        </p:spPr>
        <p:txBody>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Facilitated elicitation sessions require preparation to make the best use of everyone’s time.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The larger the group participating in the session, the more important preparation is. </a:t>
            </a:r>
            <a:endParaRPr b="0" lang="en-US" sz="2800" spc="-1" strike="noStrike">
              <a:solidFill>
                <a:srgbClr val="000000"/>
              </a:solidFill>
              <a:latin typeface="Calibri"/>
            </a:endParaRPr>
          </a:p>
          <a:p>
            <a:pPr marL="571680" indent="-571320">
              <a:lnSpc>
                <a:spcPct val="90000"/>
              </a:lnSpc>
              <a:spcBef>
                <a:spcPts val="1001"/>
              </a:spcBef>
              <a:buClr>
                <a:srgbClr val="000000"/>
              </a:buClr>
              <a:buFont typeface="Calibri Light"/>
              <a:buAutoNum type="romanLcPeriod"/>
            </a:pPr>
            <a:r>
              <a:rPr b="1" lang="en-US" sz="2800" spc="-1" strike="noStrike">
                <a:solidFill>
                  <a:srgbClr val="000000"/>
                </a:solidFill>
                <a:latin typeface="Calibri"/>
              </a:rPr>
              <a:t>Plan session scope and agenda </a:t>
            </a:r>
            <a:endParaRPr b="0" lang="en-US" sz="2800" spc="-1" strike="noStrike">
              <a:solidFill>
                <a:srgbClr val="000000"/>
              </a:solidFill>
              <a:latin typeface="Calibri"/>
            </a:endParaRPr>
          </a:p>
          <a:p>
            <a:pPr marL="571680" indent="-571320">
              <a:lnSpc>
                <a:spcPct val="90000"/>
              </a:lnSpc>
              <a:spcBef>
                <a:spcPts val="1001"/>
              </a:spcBef>
              <a:buClr>
                <a:srgbClr val="000000"/>
              </a:buClr>
              <a:buFont typeface="Calibri Light"/>
              <a:buAutoNum type="romanLcPeriod"/>
            </a:pPr>
            <a:r>
              <a:rPr b="1" lang="en-US" sz="2800" spc="-1" strike="noStrike">
                <a:solidFill>
                  <a:srgbClr val="000000"/>
                </a:solidFill>
                <a:latin typeface="Calibri"/>
              </a:rPr>
              <a:t>Prepare resources </a:t>
            </a:r>
            <a:endParaRPr b="0" lang="en-US" sz="2800" spc="-1" strike="noStrike">
              <a:solidFill>
                <a:srgbClr val="000000"/>
              </a:solidFill>
              <a:latin typeface="Calibri"/>
            </a:endParaRPr>
          </a:p>
          <a:p>
            <a:pPr marL="571680" indent="-571320">
              <a:lnSpc>
                <a:spcPct val="90000"/>
              </a:lnSpc>
              <a:spcBef>
                <a:spcPts val="1001"/>
              </a:spcBef>
              <a:buClr>
                <a:srgbClr val="000000"/>
              </a:buClr>
              <a:buFont typeface="Calibri Light"/>
              <a:buAutoNum type="romanLcPeriod"/>
            </a:pPr>
            <a:r>
              <a:rPr b="1" lang="en-US" sz="2800" spc="-1" strike="noStrike">
                <a:solidFill>
                  <a:srgbClr val="000000"/>
                </a:solidFill>
                <a:latin typeface="Calibri"/>
              </a:rPr>
              <a:t>Learn about the stakeholders </a:t>
            </a:r>
            <a:endParaRPr b="0" lang="en-US" sz="2800" spc="-1" strike="noStrike">
              <a:solidFill>
                <a:srgbClr val="000000"/>
              </a:solidFill>
              <a:latin typeface="Calibri"/>
            </a:endParaRPr>
          </a:p>
          <a:p>
            <a:pPr marL="571680" indent="-571320">
              <a:lnSpc>
                <a:spcPct val="90000"/>
              </a:lnSpc>
              <a:spcBef>
                <a:spcPts val="1001"/>
              </a:spcBef>
              <a:buClr>
                <a:srgbClr val="000000"/>
              </a:buClr>
              <a:buFont typeface="Calibri Light"/>
              <a:buAutoNum type="romanLcPeriod"/>
            </a:pPr>
            <a:r>
              <a:rPr b="1" lang="en-US" sz="2800" spc="-1" strike="noStrike">
                <a:solidFill>
                  <a:srgbClr val="000000"/>
                </a:solidFill>
                <a:latin typeface="Calibri"/>
              </a:rPr>
              <a:t>Prepare questions and straw man models</a:t>
            </a:r>
            <a:endParaRPr b="0" lang="en-US" sz="2800" spc="-1" strike="noStrike">
              <a:solidFill>
                <a:srgbClr val="000000"/>
              </a:solidFill>
              <a:latin typeface="Calibri"/>
            </a:endParaRPr>
          </a:p>
        </p:txBody>
      </p:sp>
    </p:spTree>
  </p:cSld>
  <p:timing>
    <p:tnLst>
      <p:par>
        <p:cTn id="7" dur="indefinite" restart="never" nodeType="tmRoot">
          <p:childTnLst>
            <p:seq>
              <p:cTn id="8" dur="indefinite" nodeType="mainSeq">
                <p:childTnLst>
                  <p:par>
                    <p:cTn id="9" fill="hold">
                      <p:stCondLst>
                        <p:cond delay="indefinite"/>
                      </p:stCondLst>
                      <p:childTnLst>
                        <p:par>
                          <p:cTn id="10" fill="hold">
                            <p:stCondLst>
                              <p:cond delay="0"/>
                            </p:stCondLst>
                            <p:childTnLst>
                              <p:par>
                                <p:cTn id="11" nodeType="clickEffect" fill="hold" presetClass="entr" presetID="1">
                                  <p:stCondLst>
                                    <p:cond delay="0"/>
                                  </p:stCondLst>
                                  <p:childTnLst>
                                    <p:set>
                                      <p:cBhvr>
                                        <p:cTn id="12" dur="1" fill="hold">
                                          <p:stCondLst>
                                            <p:cond delay="0"/>
                                          </p:stCondLst>
                                        </p:cTn>
                                        <p:tgtEl>
                                          <p:spTgt spid="89">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nodeType="clickEffect" fill="hold" presetClass="entr" presetID="1">
                                  <p:stCondLst>
                                    <p:cond delay="0"/>
                                  </p:stCondLst>
                                  <p:childTnLst>
                                    <p:set>
                                      <p:cBhvr>
                                        <p:cTn id="16" dur="1" fill="hold">
                                          <p:stCondLst>
                                            <p:cond delay="0"/>
                                          </p:stCondLst>
                                        </p:cTn>
                                        <p:tgtEl>
                                          <p:spTgt spid="89">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nodeType="clickEffect" fill="hold" presetClass="entr" presetID="1">
                                  <p:stCondLst>
                                    <p:cond delay="0"/>
                                  </p:stCondLst>
                                  <p:childTnLst>
                                    <p:set>
                                      <p:cBhvr>
                                        <p:cTn id="20" dur="1" fill="hold">
                                          <p:stCondLst>
                                            <p:cond delay="0"/>
                                          </p:stCondLst>
                                        </p:cTn>
                                        <p:tgtEl>
                                          <p:spTgt spid="89">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nodeType="clickEffect" fill="hold" presetClass="entr" presetID="1">
                                  <p:stCondLst>
                                    <p:cond delay="0"/>
                                  </p:stCondLst>
                                  <p:childTnLst>
                                    <p:set>
                                      <p:cBhvr>
                                        <p:cTn id="24" dur="1" fill="hold">
                                          <p:stCondLst>
                                            <p:cond delay="0"/>
                                          </p:stCondLst>
                                        </p:cTn>
                                        <p:tgtEl>
                                          <p:spTgt spid="89">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nodeType="clickEffect" fill="hold" presetClass="entr" presetID="1">
                                  <p:stCondLst>
                                    <p:cond delay="0"/>
                                  </p:stCondLst>
                                  <p:childTnLst>
                                    <p:set>
                                      <p:cBhvr>
                                        <p:cTn id="28" dur="1" fill="hold">
                                          <p:stCondLst>
                                            <p:cond delay="0"/>
                                          </p:stCondLst>
                                        </p:cTn>
                                        <p:tgtEl>
                                          <p:spTgt spid="89">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nodeType="clickEffect" fill="hold" presetClass="entr" presetID="1">
                                  <p:stCondLst>
                                    <p:cond delay="0"/>
                                  </p:stCondLst>
                                  <p:childTnLst>
                                    <p:set>
                                      <p:cBhvr>
                                        <p:cTn id="32" dur="1" fill="hold">
                                          <p:stCondLst>
                                            <p:cond delay="0"/>
                                          </p:stCondLst>
                                        </p:cTn>
                                        <p:tgtEl>
                                          <p:spTgt spid="89">
                                            <p:txEl>
                                              <p:pRg st="5" end="5"/>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TextShape 1"/>
          <p:cNvSpPr txBox="1"/>
          <p:nvPr/>
        </p:nvSpPr>
        <p:spPr>
          <a:xfrm>
            <a:off x="838080" y="365040"/>
            <a:ext cx="10515240" cy="1325160"/>
          </a:xfrm>
          <a:prstGeom prst="rect">
            <a:avLst/>
          </a:prstGeom>
          <a:noFill/>
          <a:ln>
            <a:noFill/>
          </a:ln>
        </p:spPr>
        <p:txBody>
          <a:bodyPr anchor="ctr"/>
          <a:p>
            <a:pPr>
              <a:lnSpc>
                <a:spcPct val="90000"/>
              </a:lnSpc>
            </a:pPr>
            <a:br/>
            <a:r>
              <a:rPr b="1" lang="en-US" sz="4400" spc="-1" strike="noStrike">
                <a:solidFill>
                  <a:srgbClr val="000000"/>
                </a:solidFill>
                <a:latin typeface="Calibri Light"/>
              </a:rPr>
              <a:t>iv. Prepare Questions</a:t>
            </a:r>
            <a:endParaRPr b="0" lang="en-US" sz="4400" spc="-1" strike="noStrike">
              <a:solidFill>
                <a:srgbClr val="000000"/>
              </a:solidFill>
              <a:latin typeface="Calibri"/>
            </a:endParaRPr>
          </a:p>
        </p:txBody>
      </p:sp>
      <p:sp>
        <p:nvSpPr>
          <p:cNvPr id="91" name="TextShape 2"/>
          <p:cNvSpPr txBox="1"/>
          <p:nvPr/>
        </p:nvSpPr>
        <p:spPr>
          <a:xfrm>
            <a:off x="838080" y="1825560"/>
            <a:ext cx="10515240" cy="4350960"/>
          </a:xfrm>
          <a:prstGeom prst="rect">
            <a:avLst/>
          </a:prstGeom>
          <a:noFill/>
          <a:ln>
            <a:noFill/>
          </a:ln>
        </p:spPr>
        <p:txBody>
          <a:bodyPr>
            <a:norm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What could prevent the user from successfully completing a task?</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 </a:t>
            </a:r>
            <a:r>
              <a:rPr b="0" lang="en-US" sz="2800" spc="-1" strike="noStrike">
                <a:solidFill>
                  <a:srgbClr val="000000"/>
                </a:solidFill>
                <a:latin typeface="Calibri"/>
              </a:rPr>
              <a:t>How should the system respond to various error conditions?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Ask questions that begin with “What else could . . . ,” “What happens when . . . ,” “Would you ever need to . . . ,” “Where do you get . . . ,” “Why do you (or don’t you) . . . ,” and “Does anyone ever . . .”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a:t>
            </a:r>
            <a:r>
              <a:rPr b="0" lang="en-US" sz="2800" spc="-1" strike="noStrike">
                <a:solidFill>
                  <a:srgbClr val="000000"/>
                </a:solidFill>
                <a:latin typeface="Calibri"/>
              </a:rPr>
              <a:t>What three things annoy you the most about the existing system?”</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At the end of your session, ask “Is there anything else you expected me to ask?” to try to surface issues you just didn’t think of.</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Document the source of each requirement so that you can obtain further clarification if needed and trace development activities back to specific customer origins.</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The prepared questions are to help you if you get stuck.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The questions should seem natural and comfortable—like a conversation, not an interrogation. </a:t>
            </a:r>
            <a:endParaRPr b="0" lang="en-US" sz="2800" spc="-1" strike="noStrike">
              <a:solidFill>
                <a:srgbClr val="000000"/>
              </a:solidFill>
              <a:latin typeface="Calibri"/>
            </a:endParaRPr>
          </a:p>
        </p:txBody>
      </p:sp>
    </p:spTree>
  </p:cSld>
  <p:timing>
    <p:tnLst>
      <p:par>
        <p:cTn id="33" dur="indefinite" restart="never" nodeType="tmRoot">
          <p:childTnLst>
            <p:seq>
              <p:cTn id="34" dur="indefinite" nodeType="mainSeq">
                <p:childTnLst>
                  <p:par>
                    <p:cTn id="35" fill="hold">
                      <p:stCondLst>
                        <p:cond delay="indefinite"/>
                      </p:stCondLst>
                      <p:childTnLst>
                        <p:par>
                          <p:cTn id="36" fill="hold">
                            <p:stCondLst>
                              <p:cond delay="0"/>
                            </p:stCondLst>
                            <p:childTnLst>
                              <p:par>
                                <p:cTn id="37" nodeType="clickEffect" fill="hold" presetClass="entr" presetID="1">
                                  <p:stCondLst>
                                    <p:cond delay="0"/>
                                  </p:stCondLst>
                                  <p:childTnLst>
                                    <p:set>
                                      <p:cBhvr>
                                        <p:cTn id="38" dur="1" fill="hold">
                                          <p:stCondLst>
                                            <p:cond delay="0"/>
                                          </p:stCondLst>
                                        </p:cTn>
                                        <p:tgtEl>
                                          <p:spTgt spid="91">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nodeType="clickEffect" fill="hold" presetClass="entr" presetID="1">
                                  <p:stCondLst>
                                    <p:cond delay="0"/>
                                  </p:stCondLst>
                                  <p:childTnLst>
                                    <p:set>
                                      <p:cBhvr>
                                        <p:cTn id="42" dur="1" fill="hold">
                                          <p:stCondLst>
                                            <p:cond delay="0"/>
                                          </p:stCondLst>
                                        </p:cTn>
                                        <p:tgtEl>
                                          <p:spTgt spid="91">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91">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nodeType="clickEffect" fill="hold" presetClass="entr" presetID="1">
                                  <p:stCondLst>
                                    <p:cond delay="0"/>
                                  </p:stCondLst>
                                  <p:childTnLst>
                                    <p:set>
                                      <p:cBhvr>
                                        <p:cTn id="50" dur="1" fill="hold">
                                          <p:stCondLst>
                                            <p:cond delay="0"/>
                                          </p:stCondLst>
                                        </p:cTn>
                                        <p:tgtEl>
                                          <p:spTgt spid="91">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nodeType="clickEffect" fill="hold" presetClass="entr" presetID="1">
                                  <p:stCondLst>
                                    <p:cond delay="0"/>
                                  </p:stCondLst>
                                  <p:childTnLst>
                                    <p:set>
                                      <p:cBhvr>
                                        <p:cTn id="54" dur="1" fill="hold">
                                          <p:stCondLst>
                                            <p:cond delay="0"/>
                                          </p:stCondLst>
                                        </p:cTn>
                                        <p:tgtEl>
                                          <p:spTgt spid="91">
                                            <p:txEl>
                                              <p:pRg st="4" end="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nodeType="clickEffect" fill="hold" presetClass="entr" presetID="1">
                                  <p:stCondLst>
                                    <p:cond delay="0"/>
                                  </p:stCondLst>
                                  <p:childTnLst>
                                    <p:set>
                                      <p:cBhvr>
                                        <p:cTn id="58" dur="1" fill="hold">
                                          <p:stCondLst>
                                            <p:cond delay="0"/>
                                          </p:stCondLst>
                                        </p:cTn>
                                        <p:tgtEl>
                                          <p:spTgt spid="91">
                                            <p:txEl>
                                              <p:pRg st="5" end="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nodeType="clickEffect" fill="hold" presetClass="entr" presetID="1">
                                  <p:stCondLst>
                                    <p:cond delay="0"/>
                                  </p:stCondLst>
                                  <p:childTnLst>
                                    <p:set>
                                      <p:cBhvr>
                                        <p:cTn id="62" dur="1" fill="hold">
                                          <p:stCondLst>
                                            <p:cond delay="0"/>
                                          </p:stCondLst>
                                        </p:cTn>
                                        <p:tgtEl>
                                          <p:spTgt spid="91">
                                            <p:txEl>
                                              <p:pRg st="6" end="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nodeType="clickEffect" fill="hold" presetClass="entr" presetID="1">
                                  <p:stCondLst>
                                    <p:cond delay="0"/>
                                  </p:stCondLst>
                                  <p:childTnLst>
                                    <p:set>
                                      <p:cBhvr>
                                        <p:cTn id="66" dur="1" fill="hold">
                                          <p:stCondLst>
                                            <p:cond delay="0"/>
                                          </p:stCondLst>
                                        </p:cTn>
                                        <p:tgtEl>
                                          <p:spTgt spid="91">
                                            <p:txEl>
                                              <p:pRg st="7" end="7"/>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TextShape 1"/>
          <p:cNvSpPr txBox="1"/>
          <p:nvPr/>
        </p:nvSpPr>
        <p:spPr>
          <a:xfrm>
            <a:off x="838080" y="365040"/>
            <a:ext cx="10515240" cy="1325160"/>
          </a:xfrm>
          <a:prstGeom prst="rect">
            <a:avLst/>
          </a:prstGeom>
          <a:noFill/>
          <a:ln>
            <a:noFill/>
          </a:ln>
        </p:spPr>
        <p:txBody>
          <a:bodyPr anchor="ctr"/>
          <a:p>
            <a:pPr>
              <a:lnSpc>
                <a:spcPct val="90000"/>
              </a:lnSpc>
            </a:pPr>
            <a:r>
              <a:rPr b="0" lang="en-US" sz="4400" spc="-1" strike="noStrike">
                <a:solidFill>
                  <a:srgbClr val="000000"/>
                </a:solidFill>
                <a:latin typeface="Calibri Light"/>
              </a:rPr>
              <a:t>iv. Prepare straw man models</a:t>
            </a:r>
            <a:endParaRPr b="0" lang="en-US" sz="4400" spc="-1" strike="noStrike">
              <a:solidFill>
                <a:srgbClr val="000000"/>
              </a:solidFill>
              <a:latin typeface="Calibri"/>
            </a:endParaRPr>
          </a:p>
        </p:txBody>
      </p:sp>
      <p:sp>
        <p:nvSpPr>
          <p:cNvPr id="93" name="TextShape 2"/>
          <p:cNvSpPr txBox="1"/>
          <p:nvPr/>
        </p:nvSpPr>
        <p:spPr>
          <a:xfrm>
            <a:off x="838080" y="1825560"/>
            <a:ext cx="10515240" cy="4350960"/>
          </a:xfrm>
          <a:prstGeom prst="rect">
            <a:avLst/>
          </a:prstGeom>
          <a:noFill/>
          <a:ln>
            <a:noFill/>
          </a:ln>
        </p:spPr>
        <p:txBody>
          <a:bodyPr>
            <a:norm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Analysis models can be used during elicitation sessions to help users provide better requirements. </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Some of the most useful models are use cases and process flows because they closely align with how people think about doing their jobs. </a:t>
            </a:r>
            <a:endParaRPr b="0" lang="en-US" sz="24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Create straw man, or draft, models ahead of your elicitation sessions.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A straw man serves as a starting point that helps you learn about the topic and inspires your users to think of ideas.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It is easier to revise a draft model than to create one from scratch.</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If you are new to the project’s domain, it might be hard to create a draft model on your own. </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Use other elicitation techniques to glean enough knowledge to work from. </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Read existing documents, examine existing systems for models you can reuse as a starting point, or hold a one-on-one interview with a subject matter expert to learn enough to get started. </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Then tell the group you’re working with, “This model will probably be wrong. Please tear it apart and tell me how it should look. You won’t hurt my feelings.”</a:t>
            </a:r>
            <a:endParaRPr b="0" lang="en-US" sz="2400" spc="-1" strike="noStrike">
              <a:solidFill>
                <a:srgbClr val="000000"/>
              </a:solidFill>
              <a:latin typeface="Calibri"/>
            </a:endParaRPr>
          </a:p>
        </p:txBody>
      </p:sp>
    </p:spTree>
  </p:cSld>
  <p:timing>
    <p:tnLst>
      <p:par>
        <p:cTn id="67" dur="indefinite" restart="never" nodeType="tmRoot">
          <p:childTnLst>
            <p:seq>
              <p:cTn id="68" dur="indefinite" nodeType="mainSeq"/>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TextShape 1"/>
          <p:cNvSpPr txBox="1"/>
          <p:nvPr/>
        </p:nvSpPr>
        <p:spPr>
          <a:xfrm>
            <a:off x="838080" y="365040"/>
            <a:ext cx="10515240" cy="1325160"/>
          </a:xfrm>
          <a:prstGeom prst="rect">
            <a:avLst/>
          </a:prstGeom>
          <a:noFill/>
          <a:ln>
            <a:noFill/>
          </a:ln>
        </p:spPr>
        <p:txBody>
          <a:bodyPr anchor="ctr"/>
          <a:p>
            <a:pPr>
              <a:lnSpc>
                <a:spcPct val="90000"/>
              </a:lnSpc>
            </a:pPr>
            <a:r>
              <a:rPr b="0" lang="en-US" sz="4400" spc="-1" strike="noStrike">
                <a:solidFill>
                  <a:srgbClr val="000000"/>
                </a:solidFill>
                <a:latin typeface="Calibri Light"/>
              </a:rPr>
              <a:t>Tips for performing facilitated elicitation activities</a:t>
            </a:r>
            <a:endParaRPr b="0" lang="en-US" sz="4400" spc="-1" strike="noStrike">
              <a:solidFill>
                <a:srgbClr val="000000"/>
              </a:solidFill>
              <a:latin typeface="Calibri"/>
            </a:endParaRPr>
          </a:p>
        </p:txBody>
      </p:sp>
      <p:sp>
        <p:nvSpPr>
          <p:cNvPr id="95" name="TextShape 2"/>
          <p:cNvSpPr txBox="1"/>
          <p:nvPr/>
        </p:nvSpPr>
        <p:spPr>
          <a:xfrm>
            <a:off x="838080" y="1825560"/>
            <a:ext cx="10515240" cy="4350960"/>
          </a:xfrm>
          <a:prstGeom prst="rect">
            <a:avLst/>
          </a:prstGeom>
          <a:noFill/>
          <a:ln>
            <a:noFill/>
          </a:ln>
        </p:spPr>
        <p:txBody>
          <a:bodyPr/>
          <a:p>
            <a:pPr marL="228600" indent="-228240">
              <a:lnSpc>
                <a:spcPct val="90000"/>
              </a:lnSpc>
              <a:spcBef>
                <a:spcPts val="1001"/>
              </a:spcBef>
              <a:buClr>
                <a:srgbClr val="000000"/>
              </a:buClr>
              <a:buFont typeface="Arial"/>
              <a:buChar char="•"/>
            </a:pPr>
            <a:r>
              <a:rPr b="1" lang="en-US" sz="2800" spc="-1" strike="noStrike">
                <a:solidFill>
                  <a:srgbClr val="000000"/>
                </a:solidFill>
                <a:latin typeface="Calibri"/>
              </a:rPr>
              <a:t>Educate stakeholders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1" lang="en-US" sz="2800" spc="-1" strike="noStrike">
                <a:solidFill>
                  <a:srgbClr val="000000"/>
                </a:solidFill>
                <a:latin typeface="Calibri"/>
              </a:rPr>
              <a:t>Take good notes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1" lang="en-US" sz="2800" spc="-1" strike="noStrike">
                <a:solidFill>
                  <a:srgbClr val="000000"/>
                </a:solidFill>
                <a:latin typeface="Calibri"/>
              </a:rPr>
              <a:t>Exploit the physical space  </a:t>
            </a:r>
            <a:endParaRPr b="0" lang="en-US" sz="2800" spc="-1" strike="noStrike">
              <a:solidFill>
                <a:srgbClr val="000000"/>
              </a:solidFill>
              <a:latin typeface="Calibri"/>
            </a:endParaRPr>
          </a:p>
        </p:txBody>
      </p:sp>
    </p:spTree>
  </p:cSld>
  <p:timing>
    <p:tnLst>
      <p:par>
        <p:cTn id="69" dur="indefinite" restart="never" nodeType="tmRoot">
          <p:childTnLst>
            <p:seq>
              <p:cTn id="70" dur="indefinite" nodeType="mainSeq"/>
              <p:prevCondLst>
                <p:cond delay="0" evt="onPrev">
                  <p:tgtEl>
                    <p:sldTgt/>
                  </p:tgtEl>
                </p:cond>
              </p:prevCondLst>
              <p:nextCondLst>
                <p:cond delay="0"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TextShape 1"/>
          <p:cNvSpPr txBox="1"/>
          <p:nvPr/>
        </p:nvSpPr>
        <p:spPr>
          <a:xfrm>
            <a:off x="838080" y="365040"/>
            <a:ext cx="10515240" cy="1325160"/>
          </a:xfrm>
          <a:prstGeom prst="rect">
            <a:avLst/>
          </a:prstGeom>
          <a:noFill/>
          <a:ln>
            <a:noFill/>
          </a:ln>
        </p:spPr>
        <p:txBody>
          <a:bodyPr anchor="ctr"/>
          <a:p>
            <a:pPr>
              <a:lnSpc>
                <a:spcPct val="90000"/>
              </a:lnSpc>
            </a:pPr>
            <a:r>
              <a:rPr b="1" lang="en-US" sz="4400" spc="-1" strike="noStrike">
                <a:solidFill>
                  <a:srgbClr val="000000"/>
                </a:solidFill>
                <a:latin typeface="Calibri Light"/>
              </a:rPr>
              <a:t>Following up after elicitation</a:t>
            </a:r>
            <a:endParaRPr b="0" lang="en-US" sz="4400" spc="-1" strike="noStrike">
              <a:solidFill>
                <a:srgbClr val="000000"/>
              </a:solidFill>
              <a:latin typeface="Calibri"/>
            </a:endParaRPr>
          </a:p>
        </p:txBody>
      </p:sp>
      <p:sp>
        <p:nvSpPr>
          <p:cNvPr id="97" name="TextShape 2"/>
          <p:cNvSpPr txBox="1"/>
          <p:nvPr/>
        </p:nvSpPr>
        <p:spPr>
          <a:xfrm>
            <a:off x="838080" y="1825560"/>
            <a:ext cx="10515240" cy="4350960"/>
          </a:xfrm>
          <a:prstGeom prst="rect">
            <a:avLst/>
          </a:prstGeom>
          <a:noFill/>
          <a:ln>
            <a:noFill/>
          </a:ln>
        </p:spPr>
        <p:txBody>
          <a:bodyPr>
            <a:norm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You need to</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Organizing and sharing the notes</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Documenting open issues</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 </a:t>
            </a:r>
            <a:endParaRPr b="0" lang="en-US" sz="2400" spc="-1" strike="noStrike">
              <a:solidFill>
                <a:srgbClr val="000000"/>
              </a:solidFill>
              <a:latin typeface="Calibri"/>
            </a:endParaRPr>
          </a:p>
        </p:txBody>
      </p:sp>
    </p:spTree>
  </p:cSld>
  <p:timing>
    <p:tnLst>
      <p:par>
        <p:cTn id="71" dur="indefinite" restart="never" nodeType="tmRoot">
          <p:childTnLst>
            <p:seq>
              <p:cTn id="72" dur="indefinite" nodeType="mainSeq">
                <p:childTnLst>
                  <p:par>
                    <p:cTn id="73" fill="hold">
                      <p:stCondLst>
                        <p:cond delay="indefinite"/>
                      </p:stCondLst>
                      <p:childTnLst>
                        <p:par>
                          <p:cTn id="74" fill="hold">
                            <p:stCondLst>
                              <p:cond delay="0"/>
                            </p:stCondLst>
                            <p:childTnLst>
                              <p:par>
                                <p:cTn id="75" nodeType="clickEffect" fill="hold" presetClass="entr" presetID="1">
                                  <p:stCondLst>
                                    <p:cond delay="0"/>
                                  </p:stCondLst>
                                  <p:childTnLst>
                                    <p:set>
                                      <p:cBhvr>
                                        <p:cTn id="76" dur="1" fill="hold">
                                          <p:stCondLst>
                                            <p:cond delay="0"/>
                                          </p:stCondLst>
                                        </p:cTn>
                                        <p:tgtEl>
                                          <p:spTgt spid="97">
                                            <p:txEl>
                                              <p:pRg st="0" end="0"/>
                                            </p:txEl>
                                          </p:spTgt>
                                        </p:tgtEl>
                                        <p:attrNameLst>
                                          <p:attrName>style.visibility</p:attrName>
                                        </p:attrNameLst>
                                      </p:cBhvr>
                                      <p:to>
                                        <p:strVal val="visible"/>
                                      </p:to>
                                    </p:set>
                                  </p:childTnLst>
                                </p:cTn>
                              </p:par>
                              <p:par>
                                <p:cTn id="77" nodeType="withEffect" fill="hold" presetClass="entr" presetID="1">
                                  <p:stCondLst>
                                    <p:cond delay="0"/>
                                  </p:stCondLst>
                                  <p:childTnLst>
                                    <p:set>
                                      <p:cBhvr>
                                        <p:cTn id="78" dur="1" fill="hold">
                                          <p:stCondLst>
                                            <p:cond delay="0"/>
                                          </p:stCondLst>
                                        </p:cTn>
                                        <p:tgtEl>
                                          <p:spTgt spid="97">
                                            <p:txEl>
                                              <p:pRg st="1" end="1"/>
                                            </p:txEl>
                                          </p:spTgt>
                                        </p:tgtEl>
                                        <p:attrNameLst>
                                          <p:attrName>style.visibility</p:attrName>
                                        </p:attrNameLst>
                                      </p:cBhvr>
                                      <p:to>
                                        <p:strVal val="visible"/>
                                      </p:to>
                                    </p:set>
                                  </p:childTnLst>
                                </p:cTn>
                              </p:par>
                              <p:par>
                                <p:cTn id="79" nodeType="withEffect" fill="hold" presetClass="entr" presetID="1">
                                  <p:stCondLst>
                                    <p:cond delay="0"/>
                                  </p:stCondLst>
                                  <p:childTnLst>
                                    <p:set>
                                      <p:cBhvr>
                                        <p:cTn id="80" dur="1" fill="hold">
                                          <p:stCondLst>
                                            <p:cond delay="0"/>
                                          </p:stCondLst>
                                        </p:cTn>
                                        <p:tgtEl>
                                          <p:spTgt spid="97">
                                            <p:txEl>
                                              <p:pRg st="2" end="2"/>
                                            </p:txEl>
                                          </p:spTgt>
                                        </p:tgtEl>
                                        <p:attrNameLst>
                                          <p:attrName>style.visibility</p:attrName>
                                        </p:attrNameLst>
                                      </p:cBhvr>
                                      <p:to>
                                        <p:strVal val="visible"/>
                                      </p:to>
                                    </p:set>
                                  </p:childTnLst>
                                </p:cTn>
                              </p:par>
                              <p:par>
                                <p:cTn id="81" nodeType="withEffect" fill="hold" presetClass="entr" presetID="1">
                                  <p:stCondLst>
                                    <p:cond delay="0"/>
                                  </p:stCondLst>
                                  <p:childTnLst>
                                    <p:set>
                                      <p:cBhvr>
                                        <p:cTn id="82" dur="1" fill="hold">
                                          <p:stCondLst>
                                            <p:cond delay="0"/>
                                          </p:stCondLst>
                                        </p:cTn>
                                        <p:tgtEl>
                                          <p:spTgt spid="97">
                                            <p:txEl>
                                              <p:pRg st="3" end="3"/>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TextShape 1"/>
          <p:cNvSpPr txBox="1"/>
          <p:nvPr/>
        </p:nvSpPr>
        <p:spPr>
          <a:xfrm>
            <a:off x="838080" y="365040"/>
            <a:ext cx="10515240" cy="1325160"/>
          </a:xfrm>
          <a:prstGeom prst="rect">
            <a:avLst/>
          </a:prstGeom>
          <a:noFill/>
          <a:ln>
            <a:noFill/>
          </a:ln>
        </p:spPr>
        <p:txBody>
          <a:bodyPr anchor="ctr"/>
          <a:p>
            <a:pPr>
              <a:lnSpc>
                <a:spcPct val="90000"/>
              </a:lnSpc>
            </a:pPr>
            <a:r>
              <a:rPr b="1" lang="en-US" sz="4400" spc="-1" strike="noStrike">
                <a:solidFill>
                  <a:srgbClr val="000000"/>
                </a:solidFill>
                <a:latin typeface="Calibri Light"/>
              </a:rPr>
              <a:t>Organizing and sharing the notes</a:t>
            </a:r>
            <a:br/>
            <a:endParaRPr b="0" lang="en-US" sz="4400" spc="-1" strike="noStrike">
              <a:solidFill>
                <a:srgbClr val="000000"/>
              </a:solidFill>
              <a:latin typeface="Calibri"/>
            </a:endParaRPr>
          </a:p>
        </p:txBody>
      </p:sp>
      <p:sp>
        <p:nvSpPr>
          <p:cNvPr id="99" name="TextShape 2"/>
          <p:cNvSpPr txBox="1"/>
          <p:nvPr/>
        </p:nvSpPr>
        <p:spPr>
          <a:xfrm>
            <a:off x="838080" y="1825560"/>
            <a:ext cx="10515240" cy="4350960"/>
          </a:xfrm>
          <a:prstGeom prst="rect">
            <a:avLst/>
          </a:prstGeom>
          <a:noFill/>
          <a:ln>
            <a:noFill/>
          </a:ln>
        </p:spPr>
        <p:txBody>
          <a:bodyPr>
            <a:norm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Organizing notes of a facilitated activity probably requires more effort than if you organized information as you encountered it during an independent elicitation activity.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Consolidate your input from multiple sources.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Review and update your notes soon after the session is complete, while the content is still fresh in your mind.</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Editing the elicitation notes is a risk. </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You might be incorrectly remembering what something meant, thereby unknowingly changing the meaning</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Keep a set of the raw notes to refer to later if necessary. </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Soon after each interview or workshop, share the consolidated notes with the participants and ask them to review them to ensure that they accurately represent the session. </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Hold additional discussions to resolve any inconsistencies and to fill in any blanks. </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Consider sharing the consolidated notes with other project stakeholders who weren’t present in the session, so that they are aware of progress. This gives them the opportunity to flag any issues or concerns immediately.</a:t>
            </a:r>
            <a:endParaRPr b="0" lang="en-US" sz="2400" spc="-1" strike="noStrike">
              <a:solidFill>
                <a:srgbClr val="000000"/>
              </a:solidFill>
              <a:latin typeface="Calibri"/>
            </a:endParaRPr>
          </a:p>
        </p:txBody>
      </p:sp>
    </p:spTree>
  </p:cSld>
  <p:timing>
    <p:tnLst>
      <p:par>
        <p:cTn id="83" dur="indefinite" restart="never" nodeType="tmRoot">
          <p:childTnLst>
            <p:seq>
              <p:cTn id="84" dur="indefinite" nodeType="mainSeq">
                <p:childTnLst>
                  <p:par>
                    <p:cTn id="85" fill="hold">
                      <p:stCondLst>
                        <p:cond delay="indefinite"/>
                      </p:stCondLst>
                      <p:childTnLst>
                        <p:par>
                          <p:cTn id="86" fill="hold">
                            <p:stCondLst>
                              <p:cond delay="0"/>
                            </p:stCondLst>
                            <p:childTnLst>
                              <p:par>
                                <p:cTn id="87" nodeType="clickEffect" fill="hold" presetClass="entr" presetID="1">
                                  <p:stCondLst>
                                    <p:cond delay="0"/>
                                  </p:stCondLst>
                                  <p:childTnLst>
                                    <p:set>
                                      <p:cBhvr>
                                        <p:cTn id="88" dur="1" fill="hold">
                                          <p:stCondLst>
                                            <p:cond delay="0"/>
                                          </p:stCondLst>
                                        </p:cTn>
                                        <p:tgtEl>
                                          <p:spTgt spid="99">
                                            <p:txEl>
                                              <p:pRg st="0" end="0"/>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nodeType="clickEffect" fill="hold" presetClass="entr" presetID="1">
                                  <p:stCondLst>
                                    <p:cond delay="0"/>
                                  </p:stCondLst>
                                  <p:childTnLst>
                                    <p:set>
                                      <p:cBhvr>
                                        <p:cTn id="92" dur="1" fill="hold">
                                          <p:stCondLst>
                                            <p:cond delay="0"/>
                                          </p:stCondLst>
                                        </p:cTn>
                                        <p:tgtEl>
                                          <p:spTgt spid="99">
                                            <p:txEl>
                                              <p:pRg st="1" end="1"/>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nodeType="clickEffect" fill="hold" presetClass="entr" presetID="1">
                                  <p:stCondLst>
                                    <p:cond delay="0"/>
                                  </p:stCondLst>
                                  <p:childTnLst>
                                    <p:set>
                                      <p:cBhvr>
                                        <p:cTn id="96" dur="1" fill="hold">
                                          <p:stCondLst>
                                            <p:cond delay="0"/>
                                          </p:stCondLst>
                                        </p:cTn>
                                        <p:tgtEl>
                                          <p:spTgt spid="99">
                                            <p:txEl>
                                              <p:pRg st="2" end="2"/>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nodeType="clickEffect" fill="hold" presetClass="entr" presetID="1">
                                  <p:stCondLst>
                                    <p:cond delay="0"/>
                                  </p:stCondLst>
                                  <p:childTnLst>
                                    <p:set>
                                      <p:cBhvr>
                                        <p:cTn id="100" dur="1" fill="hold">
                                          <p:stCondLst>
                                            <p:cond delay="0"/>
                                          </p:stCondLst>
                                        </p:cTn>
                                        <p:tgtEl>
                                          <p:spTgt spid="99">
                                            <p:txEl>
                                              <p:pRg st="3" end="3"/>
                                            </p:txEl>
                                          </p:spTgt>
                                        </p:tgtEl>
                                        <p:attrNameLst>
                                          <p:attrName>style.visibility</p:attrName>
                                        </p:attrNameLst>
                                      </p:cBhvr>
                                      <p:to>
                                        <p:strVal val="visible"/>
                                      </p:to>
                                    </p:set>
                                  </p:childTnLst>
                                </p:cTn>
                              </p:par>
                              <p:par>
                                <p:cTn id="101" nodeType="withEffect" fill="hold" presetClass="entr" presetID="1">
                                  <p:stCondLst>
                                    <p:cond delay="0"/>
                                  </p:stCondLst>
                                  <p:childTnLst>
                                    <p:set>
                                      <p:cBhvr>
                                        <p:cTn id="102" dur="1" fill="hold">
                                          <p:stCondLst>
                                            <p:cond delay="0"/>
                                          </p:stCondLst>
                                        </p:cTn>
                                        <p:tgtEl>
                                          <p:spTgt spid="99">
                                            <p:txEl>
                                              <p:pRg st="4" end="4"/>
                                            </p:txEl>
                                          </p:spTgt>
                                        </p:tgtEl>
                                        <p:attrNameLst>
                                          <p:attrName>style.visibility</p:attrName>
                                        </p:attrNameLst>
                                      </p:cBhvr>
                                      <p:to>
                                        <p:strVal val="visible"/>
                                      </p:to>
                                    </p:set>
                                  </p:childTnLst>
                                </p:cTn>
                              </p:par>
                              <p:par>
                                <p:cTn id="103" nodeType="withEffect" fill="hold" presetClass="entr" presetID="1">
                                  <p:stCondLst>
                                    <p:cond delay="0"/>
                                  </p:stCondLst>
                                  <p:childTnLst>
                                    <p:set>
                                      <p:cBhvr>
                                        <p:cTn id="104" dur="1" fill="hold">
                                          <p:stCondLst>
                                            <p:cond delay="0"/>
                                          </p:stCondLst>
                                        </p:cTn>
                                        <p:tgtEl>
                                          <p:spTgt spid="99">
                                            <p:txEl>
                                              <p:pRg st="5" end="5"/>
                                            </p:txEl>
                                          </p:spTgt>
                                        </p:tgtEl>
                                        <p:attrNameLst>
                                          <p:attrName>style.visibility</p:attrName>
                                        </p:attrNameLst>
                                      </p:cBhvr>
                                      <p:to>
                                        <p:strVal val="visible"/>
                                      </p:to>
                                    </p:set>
                                  </p:childTnLst>
                                </p:cTn>
                              </p:par>
                              <p:par>
                                <p:cTn id="105" nodeType="withEffect" fill="hold" presetClass="entr" presetID="1">
                                  <p:stCondLst>
                                    <p:cond delay="0"/>
                                  </p:stCondLst>
                                  <p:childTnLst>
                                    <p:set>
                                      <p:cBhvr>
                                        <p:cTn id="106" dur="1" fill="hold">
                                          <p:stCondLst>
                                            <p:cond delay="0"/>
                                          </p:stCondLst>
                                        </p:cTn>
                                        <p:tgtEl>
                                          <p:spTgt spid="99">
                                            <p:txEl>
                                              <p:pRg st="6" end="6"/>
                                            </p:txEl>
                                          </p:spTgt>
                                        </p:tgtEl>
                                        <p:attrNameLst>
                                          <p:attrName>style.visibility</p:attrName>
                                        </p:attrNameLst>
                                      </p:cBhvr>
                                      <p:to>
                                        <p:strVal val="visible"/>
                                      </p:to>
                                    </p:set>
                                  </p:childTnLst>
                                </p:cTn>
                              </p:par>
                              <p:par>
                                <p:cTn id="107" nodeType="withEffect" fill="hold" presetClass="entr" presetID="1">
                                  <p:stCondLst>
                                    <p:cond delay="0"/>
                                  </p:stCondLst>
                                  <p:childTnLst>
                                    <p:set>
                                      <p:cBhvr>
                                        <p:cTn id="108" dur="1" fill="hold">
                                          <p:stCondLst>
                                            <p:cond delay="0"/>
                                          </p:stCondLst>
                                        </p:cTn>
                                        <p:tgtEl>
                                          <p:spTgt spid="99">
                                            <p:txEl>
                                              <p:pRg st="7" end="7"/>
                                            </p:txEl>
                                          </p:spTgt>
                                        </p:tgtEl>
                                        <p:attrNameLst>
                                          <p:attrName>style.visibility</p:attrName>
                                        </p:attrNameLst>
                                      </p:cBhvr>
                                      <p:to>
                                        <p:strVal val="visible"/>
                                      </p:to>
                                    </p:set>
                                  </p:childTnLst>
                                </p:cTn>
                              </p:par>
                              <p:par>
                                <p:cTn id="109" nodeType="withEffect" fill="hold" presetClass="entr" presetID="1">
                                  <p:stCondLst>
                                    <p:cond delay="0"/>
                                  </p:stCondLst>
                                  <p:childTnLst>
                                    <p:set>
                                      <p:cBhvr>
                                        <p:cTn id="110" dur="1" fill="hold">
                                          <p:stCondLst>
                                            <p:cond delay="0"/>
                                          </p:stCondLst>
                                        </p:cTn>
                                        <p:tgtEl>
                                          <p:spTgt spid="99">
                                            <p:txEl>
                                              <p:pRg st="8" end="8"/>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TextShape 1"/>
          <p:cNvSpPr txBox="1"/>
          <p:nvPr/>
        </p:nvSpPr>
        <p:spPr>
          <a:xfrm>
            <a:off x="838080" y="365040"/>
            <a:ext cx="10515240" cy="1325160"/>
          </a:xfrm>
          <a:prstGeom prst="rect">
            <a:avLst/>
          </a:prstGeom>
          <a:noFill/>
          <a:ln>
            <a:noFill/>
          </a:ln>
        </p:spPr>
        <p:txBody>
          <a:bodyPr anchor="ctr"/>
          <a:p>
            <a:pPr>
              <a:lnSpc>
                <a:spcPct val="90000"/>
              </a:lnSpc>
            </a:pPr>
            <a:r>
              <a:rPr b="1" lang="en-US" sz="4400" spc="-1" strike="noStrike">
                <a:solidFill>
                  <a:srgbClr val="000000"/>
                </a:solidFill>
                <a:latin typeface="Calibri Light"/>
              </a:rPr>
              <a:t>Documenting open issues</a:t>
            </a:r>
            <a:br/>
            <a:endParaRPr b="0" lang="en-US" sz="4400" spc="-1" strike="noStrike">
              <a:solidFill>
                <a:srgbClr val="000000"/>
              </a:solidFill>
              <a:latin typeface="Calibri"/>
            </a:endParaRPr>
          </a:p>
        </p:txBody>
      </p:sp>
      <p:sp>
        <p:nvSpPr>
          <p:cNvPr id="101" name="TextShape 2"/>
          <p:cNvSpPr txBox="1"/>
          <p:nvPr/>
        </p:nvSpPr>
        <p:spPr>
          <a:xfrm>
            <a:off x="838080" y="1825560"/>
            <a:ext cx="10515240" cy="4350960"/>
          </a:xfrm>
          <a:prstGeom prst="rect">
            <a:avLst/>
          </a:prstGeom>
          <a:noFill/>
          <a:ln>
            <a:noFill/>
          </a:ln>
        </p:spPr>
        <p:txBody>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During elicitation activities, you might have encountered items that need to be further explored at a later date or knowledge gaps you need to close. Or you might have identified new questions while reviewing your notes.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For each issue, record any relevant notes related to resolving the issues, progress already made, an owner, and a due date.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Consider using the same issue-tracking tool that the development and testing teams use.</a:t>
            </a:r>
            <a:endParaRPr b="0" lang="en-US" sz="2800" spc="-1" strike="noStrike">
              <a:solidFill>
                <a:srgbClr val="000000"/>
              </a:solidFill>
              <a:latin typeface="Calibri"/>
            </a:endParaRPr>
          </a:p>
        </p:txBody>
      </p:sp>
    </p:spTree>
  </p:cSld>
  <p:timing>
    <p:tnLst>
      <p:par>
        <p:cTn id="111" dur="indefinite" restart="never" nodeType="tmRoot">
          <p:childTnLst>
            <p:seq>
              <p:cTn id="112" dur="indefinite" nodeType="mainSeq"/>
              <p:prevCondLst>
                <p:cond delay="0" evt="onPrev">
                  <p:tgtEl>
                    <p:sldTgt/>
                  </p:tgtEl>
                </p:cond>
              </p:prevCondLst>
              <p:nextCondLst>
                <p:cond delay="0"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TextShape 1"/>
          <p:cNvSpPr txBox="1"/>
          <p:nvPr/>
        </p:nvSpPr>
        <p:spPr>
          <a:xfrm>
            <a:off x="838080" y="365040"/>
            <a:ext cx="10515240" cy="1325160"/>
          </a:xfrm>
          <a:prstGeom prst="rect">
            <a:avLst/>
          </a:prstGeom>
          <a:noFill/>
          <a:ln>
            <a:noFill/>
          </a:ln>
        </p:spPr>
        <p:txBody>
          <a:bodyPr anchor="ctr"/>
          <a:p>
            <a:pPr>
              <a:lnSpc>
                <a:spcPct val="90000"/>
              </a:lnSpc>
            </a:pPr>
            <a:r>
              <a:rPr b="1" lang="en-US" sz="4400" spc="-1" strike="noStrike">
                <a:solidFill>
                  <a:srgbClr val="000000"/>
                </a:solidFill>
                <a:latin typeface="Calibri Light"/>
              </a:rPr>
              <a:t>Classifying customer input</a:t>
            </a:r>
            <a:endParaRPr b="0" lang="en-US" sz="4400" spc="-1" strike="noStrike">
              <a:solidFill>
                <a:srgbClr val="000000"/>
              </a:solidFill>
              <a:latin typeface="Calibri"/>
            </a:endParaRPr>
          </a:p>
        </p:txBody>
      </p:sp>
      <p:sp>
        <p:nvSpPr>
          <p:cNvPr id="103" name="TextShape 2"/>
          <p:cNvSpPr txBox="1"/>
          <p:nvPr/>
        </p:nvSpPr>
        <p:spPr>
          <a:xfrm>
            <a:off x="838080" y="1825560"/>
            <a:ext cx="10515240" cy="2099880"/>
          </a:xfrm>
          <a:prstGeom prst="rect">
            <a:avLst/>
          </a:prstGeom>
          <a:noFill/>
          <a:ln>
            <a:noFill/>
          </a:ln>
        </p:spPr>
        <p:txBody>
          <a:bodyPr>
            <a:norm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Don’t expect your customers to present a succinct, complete, and well-organized list of their needs.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Analysts must classify the myriad bits of requirements information they hear into various categories so that they can document and use it appropriately. </a:t>
            </a:r>
            <a:endParaRPr b="0" lang="en-US" sz="2800" spc="-1" strike="noStrike">
              <a:solidFill>
                <a:srgbClr val="000000"/>
              </a:solidFill>
              <a:latin typeface="Calibri"/>
            </a:endParaRPr>
          </a:p>
          <a:p>
            <a:pPr>
              <a:lnSpc>
                <a:spcPct val="90000"/>
              </a:lnSpc>
              <a:spcBef>
                <a:spcPts val="1001"/>
              </a:spcBef>
            </a:pPr>
            <a:endParaRPr b="0" lang="en-US" sz="2800" spc="-1" strike="noStrike">
              <a:solidFill>
                <a:srgbClr val="000000"/>
              </a:solidFill>
              <a:latin typeface="Calibri"/>
            </a:endParaRPr>
          </a:p>
        </p:txBody>
      </p:sp>
      <p:pic>
        <p:nvPicPr>
          <p:cNvPr id="104" name="Picture 3" descr=""/>
          <p:cNvPicPr/>
          <p:nvPr/>
        </p:nvPicPr>
        <p:blipFill>
          <a:blip r:embed="rId1"/>
          <a:stretch/>
        </p:blipFill>
        <p:spPr>
          <a:xfrm>
            <a:off x="4145400" y="3722040"/>
            <a:ext cx="3900960" cy="2879640"/>
          </a:xfrm>
          <a:prstGeom prst="rect">
            <a:avLst/>
          </a:prstGeom>
          <a:ln>
            <a:noFill/>
          </a:ln>
        </p:spPr>
      </p:pic>
    </p:spTree>
  </p:cSld>
  <p:timing>
    <p:tnLst>
      <p:par>
        <p:cTn id="113" dur="indefinite" restart="never" nodeType="tmRoot">
          <p:childTnLst>
            <p:seq>
              <p:cTn id="114" dur="indefinite" nodeType="mainSeq"/>
              <p:prevCondLst>
                <p:cond delay="0" evt="onPrev">
                  <p:tgtEl>
                    <p:sldTgt/>
                  </p:tgtEl>
                </p:cond>
              </p:prevCondLst>
              <p:nextCondLst>
                <p:cond delay="0"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TextShape 1"/>
          <p:cNvSpPr txBox="1"/>
          <p:nvPr/>
        </p:nvSpPr>
        <p:spPr>
          <a:xfrm>
            <a:off x="838080" y="365040"/>
            <a:ext cx="10515240" cy="1325160"/>
          </a:xfrm>
          <a:prstGeom prst="rect">
            <a:avLst/>
          </a:prstGeom>
          <a:noFill/>
          <a:ln>
            <a:noFill/>
          </a:ln>
        </p:spPr>
        <p:txBody>
          <a:bodyPr anchor="ctr"/>
          <a:p>
            <a:pPr>
              <a:lnSpc>
                <a:spcPct val="90000"/>
              </a:lnSpc>
            </a:pPr>
            <a:r>
              <a:rPr b="1" lang="en-US" sz="4400" spc="-1" strike="noStrike">
                <a:solidFill>
                  <a:srgbClr val="000000"/>
                </a:solidFill>
                <a:latin typeface="Calibri Light"/>
              </a:rPr>
              <a:t>Requirements other than mentioned classes</a:t>
            </a:r>
            <a:endParaRPr b="0" lang="en-US" sz="4400" spc="-1" strike="noStrike">
              <a:solidFill>
                <a:srgbClr val="000000"/>
              </a:solidFill>
              <a:latin typeface="Calibri"/>
            </a:endParaRPr>
          </a:p>
        </p:txBody>
      </p:sp>
      <p:sp>
        <p:nvSpPr>
          <p:cNvPr id="106" name="TextShape 2"/>
          <p:cNvSpPr txBox="1"/>
          <p:nvPr/>
        </p:nvSpPr>
        <p:spPr>
          <a:xfrm>
            <a:off x="838080" y="1825560"/>
            <a:ext cx="10515240" cy="4350960"/>
          </a:xfrm>
          <a:prstGeom prst="rect">
            <a:avLst/>
          </a:prstGeom>
          <a:noFill/>
          <a:ln>
            <a:noFill/>
          </a:ln>
        </p:spPr>
        <p:txBody>
          <a:bodyPr>
            <a:norm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As with many categorizations, the information gathered might not fit precisely into these nine buckets.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Anything that doesn’t fit into one of these categories might be:</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A project requirement not related to the software development, such as the need to train users on the new system.</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A project constraint, such as a cost or schedule restriction (as opposed to the design or implementation constraints described in this chapter).</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An assumption or a dependency.</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Extraneous information that does not add value.</a:t>
            </a:r>
            <a:endParaRPr b="0" lang="en-US" sz="2400" spc="-1" strike="noStrike">
              <a:solidFill>
                <a:srgbClr val="000000"/>
              </a:solidFill>
              <a:latin typeface="Calibri"/>
            </a:endParaRPr>
          </a:p>
          <a:p>
            <a:endParaRPr b="0" lang="en-US" sz="2400" spc="-1" strike="noStrike">
              <a:solidFill>
                <a:srgbClr val="000000"/>
              </a:solidFill>
              <a:latin typeface="Calibri"/>
            </a:endParaRPr>
          </a:p>
        </p:txBody>
      </p:sp>
    </p:spTree>
  </p:cSld>
  <p:timing>
    <p:tnLst>
      <p:par>
        <p:cTn id="115" dur="indefinite" restart="never" nodeType="tmRoot">
          <p:childTnLst>
            <p:seq>
              <p:cTn id="116" dur="indefinite" nodeType="mainSeq">
                <p:childTnLst>
                  <p:par>
                    <p:cTn id="117" fill="hold">
                      <p:stCondLst>
                        <p:cond delay="indefinite"/>
                      </p:stCondLst>
                      <p:childTnLst>
                        <p:par>
                          <p:cTn id="118" fill="hold">
                            <p:stCondLst>
                              <p:cond delay="0"/>
                            </p:stCondLst>
                            <p:childTnLst>
                              <p:par>
                                <p:cTn id="119" nodeType="clickEffect" fill="hold" presetClass="entr" presetID="1">
                                  <p:stCondLst>
                                    <p:cond delay="0"/>
                                  </p:stCondLst>
                                  <p:childTnLst>
                                    <p:set>
                                      <p:cBhvr>
                                        <p:cTn id="120" dur="1" fill="hold">
                                          <p:stCondLst>
                                            <p:cond delay="0"/>
                                          </p:stCondLst>
                                        </p:cTn>
                                        <p:tgtEl>
                                          <p:spTgt spid="106">
                                            <p:txEl>
                                              <p:pRg st="0" end="0"/>
                                            </p:txEl>
                                          </p:spTgt>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nodeType="clickEffect" fill="hold" presetClass="entr" presetID="1">
                                  <p:stCondLst>
                                    <p:cond delay="0"/>
                                  </p:stCondLst>
                                  <p:childTnLst>
                                    <p:set>
                                      <p:cBhvr>
                                        <p:cTn id="124" dur="1" fill="hold">
                                          <p:stCondLst>
                                            <p:cond delay="0"/>
                                          </p:stCondLst>
                                        </p:cTn>
                                        <p:tgtEl>
                                          <p:spTgt spid="106">
                                            <p:txEl>
                                              <p:pRg st="1" end="1"/>
                                            </p:txEl>
                                          </p:spTgt>
                                        </p:tgtEl>
                                        <p:attrNameLst>
                                          <p:attrName>style.visibility</p:attrName>
                                        </p:attrNameLst>
                                      </p:cBhvr>
                                      <p:to>
                                        <p:strVal val="visible"/>
                                      </p:to>
                                    </p:set>
                                  </p:childTnLst>
                                </p:cTn>
                              </p:par>
                              <p:par>
                                <p:cTn id="125" nodeType="withEffect" fill="hold" presetClass="entr" presetID="1">
                                  <p:stCondLst>
                                    <p:cond delay="0"/>
                                  </p:stCondLst>
                                  <p:childTnLst>
                                    <p:set>
                                      <p:cBhvr>
                                        <p:cTn id="126" dur="1" fill="hold">
                                          <p:stCondLst>
                                            <p:cond delay="0"/>
                                          </p:stCondLst>
                                        </p:cTn>
                                        <p:tgtEl>
                                          <p:spTgt spid="106">
                                            <p:txEl>
                                              <p:pRg st="2" end="2"/>
                                            </p:txEl>
                                          </p:spTgt>
                                        </p:tgtEl>
                                        <p:attrNameLst>
                                          <p:attrName>style.visibility</p:attrName>
                                        </p:attrNameLst>
                                      </p:cBhvr>
                                      <p:to>
                                        <p:strVal val="visible"/>
                                      </p:to>
                                    </p:set>
                                  </p:childTnLst>
                                </p:cTn>
                              </p:par>
                              <p:par>
                                <p:cTn id="127" nodeType="withEffect" fill="hold" presetClass="entr" presetID="1">
                                  <p:stCondLst>
                                    <p:cond delay="0"/>
                                  </p:stCondLst>
                                  <p:childTnLst>
                                    <p:set>
                                      <p:cBhvr>
                                        <p:cTn id="128" dur="1" fill="hold">
                                          <p:stCondLst>
                                            <p:cond delay="0"/>
                                          </p:stCondLst>
                                        </p:cTn>
                                        <p:tgtEl>
                                          <p:spTgt spid="106">
                                            <p:txEl>
                                              <p:pRg st="3" end="3"/>
                                            </p:txEl>
                                          </p:spTgt>
                                        </p:tgtEl>
                                        <p:attrNameLst>
                                          <p:attrName>style.visibility</p:attrName>
                                        </p:attrNameLst>
                                      </p:cBhvr>
                                      <p:to>
                                        <p:strVal val="visible"/>
                                      </p:to>
                                    </p:set>
                                  </p:childTnLst>
                                </p:cTn>
                              </p:par>
                              <p:par>
                                <p:cTn id="129" nodeType="withEffect" fill="hold" presetClass="entr" presetID="1">
                                  <p:stCondLst>
                                    <p:cond delay="0"/>
                                  </p:stCondLst>
                                  <p:childTnLst>
                                    <p:set>
                                      <p:cBhvr>
                                        <p:cTn id="130" dur="1" fill="hold">
                                          <p:stCondLst>
                                            <p:cond delay="0"/>
                                          </p:stCondLst>
                                        </p:cTn>
                                        <p:tgtEl>
                                          <p:spTgt spid="106">
                                            <p:txEl>
                                              <p:pRg st="4" end="4"/>
                                            </p:txEl>
                                          </p:spTgt>
                                        </p:tgtEl>
                                        <p:attrNameLst>
                                          <p:attrName>style.visibility</p:attrName>
                                        </p:attrNameLst>
                                      </p:cBhvr>
                                      <p:to>
                                        <p:strVal val="visible"/>
                                      </p:to>
                                    </p:set>
                                  </p:childTnLst>
                                </p:cTn>
                              </p:par>
                              <p:par>
                                <p:cTn id="131" nodeType="withEffect" fill="hold" presetClass="entr" presetID="1">
                                  <p:stCondLst>
                                    <p:cond delay="0"/>
                                  </p:stCondLst>
                                  <p:childTnLst>
                                    <p:set>
                                      <p:cBhvr>
                                        <p:cTn id="132" dur="1" fill="hold">
                                          <p:stCondLst>
                                            <p:cond delay="0"/>
                                          </p:stCondLst>
                                        </p:cTn>
                                        <p:tgtEl>
                                          <p:spTgt spid="106">
                                            <p:txEl>
                                              <p:pRg st="5" end="5"/>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TextShape 1"/>
          <p:cNvSpPr txBox="1"/>
          <p:nvPr/>
        </p:nvSpPr>
        <p:spPr>
          <a:xfrm>
            <a:off x="838080" y="365040"/>
            <a:ext cx="10515240" cy="1325160"/>
          </a:xfrm>
          <a:prstGeom prst="rect">
            <a:avLst/>
          </a:prstGeom>
          <a:noFill/>
          <a:ln>
            <a:noFill/>
          </a:ln>
        </p:spPr>
        <p:txBody>
          <a:bodyPr anchor="ctr"/>
          <a:p>
            <a:pPr>
              <a:lnSpc>
                <a:spcPct val="90000"/>
              </a:lnSpc>
            </a:pPr>
            <a:r>
              <a:rPr b="1" lang="en-US" sz="4400" spc="-1" strike="noStrike">
                <a:solidFill>
                  <a:srgbClr val="000000"/>
                </a:solidFill>
                <a:latin typeface="Calibri Light"/>
              </a:rPr>
              <a:t>Business requirements </a:t>
            </a:r>
            <a:endParaRPr b="0" lang="en-US" sz="4400" spc="-1" strike="noStrike">
              <a:solidFill>
                <a:srgbClr val="000000"/>
              </a:solidFill>
              <a:latin typeface="Calibri"/>
            </a:endParaRPr>
          </a:p>
        </p:txBody>
      </p:sp>
      <p:sp>
        <p:nvSpPr>
          <p:cNvPr id="108" name="TextShape 2"/>
          <p:cNvSpPr txBox="1"/>
          <p:nvPr/>
        </p:nvSpPr>
        <p:spPr>
          <a:xfrm>
            <a:off x="838080" y="1825560"/>
            <a:ext cx="10515240" cy="4350960"/>
          </a:xfrm>
          <a:prstGeom prst="rect">
            <a:avLst/>
          </a:prstGeom>
          <a:noFill/>
          <a:ln>
            <a:noFill/>
          </a:ln>
        </p:spPr>
        <p:txBody>
          <a:bodyPr>
            <a:norm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Anything that describes the financial, marketplace, or other business benefit that either customers or the developing organization wish to gain from the product is a business requirement.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Listen for statements about the value that buyers or users of the software will receive, such as these:</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a:t>
            </a:r>
            <a:r>
              <a:rPr b="0" lang="en-US" sz="2400" spc="-1" strike="noStrike">
                <a:solidFill>
                  <a:srgbClr val="000000"/>
                </a:solidFill>
                <a:latin typeface="Calibri"/>
              </a:rPr>
              <a:t>Increase market share in region X by Y percent within Z months.”</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a:t>
            </a:r>
            <a:r>
              <a:rPr b="0" lang="en-US" sz="2400" spc="-1" strike="noStrike">
                <a:solidFill>
                  <a:srgbClr val="000000"/>
                </a:solidFill>
                <a:latin typeface="Calibri"/>
              </a:rPr>
              <a:t>Save $X per year on electricity now wasted by inefficient units.”</a:t>
            </a:r>
            <a:endParaRPr b="0" lang="en-US" sz="2400" spc="-1" strike="noStrike">
              <a:solidFill>
                <a:srgbClr val="000000"/>
              </a:solidFill>
              <a:latin typeface="Calibri"/>
            </a:endParaRPr>
          </a:p>
        </p:txBody>
      </p:sp>
    </p:spTree>
  </p:cSld>
  <p:timing>
    <p:tnLst>
      <p:par>
        <p:cTn id="133" dur="indefinite" restart="never" nodeType="tmRoot">
          <p:childTnLst>
            <p:seq>
              <p:cTn id="134" dur="indefinite" nodeType="mainSeq">
                <p:childTnLst>
                  <p:par>
                    <p:cTn id="135" fill="hold">
                      <p:stCondLst>
                        <p:cond delay="indefinite"/>
                      </p:stCondLst>
                      <p:childTnLst>
                        <p:par>
                          <p:cTn id="136" fill="hold">
                            <p:stCondLst>
                              <p:cond delay="0"/>
                            </p:stCondLst>
                            <p:childTnLst>
                              <p:par>
                                <p:cTn id="137" nodeType="clickEffect" fill="hold" presetClass="entr" presetID="1">
                                  <p:stCondLst>
                                    <p:cond delay="0"/>
                                  </p:stCondLst>
                                  <p:childTnLst>
                                    <p:set>
                                      <p:cBhvr>
                                        <p:cTn id="138" dur="1" fill="hold">
                                          <p:stCondLst>
                                            <p:cond delay="0"/>
                                          </p:stCondLst>
                                        </p:cTn>
                                        <p:tgtEl>
                                          <p:spTgt spid="108">
                                            <p:txEl>
                                              <p:pRg st="0" end="0"/>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nodeType="clickEffect" fill="hold" presetClass="entr" presetID="1">
                                  <p:stCondLst>
                                    <p:cond delay="0"/>
                                  </p:stCondLst>
                                  <p:childTnLst>
                                    <p:set>
                                      <p:cBhvr>
                                        <p:cTn id="142" dur="1" fill="hold">
                                          <p:stCondLst>
                                            <p:cond delay="0"/>
                                          </p:stCondLst>
                                        </p:cTn>
                                        <p:tgtEl>
                                          <p:spTgt spid="108">
                                            <p:txEl>
                                              <p:pRg st="1" end="1"/>
                                            </p:txEl>
                                          </p:spTgt>
                                        </p:tgtEl>
                                        <p:attrNameLst>
                                          <p:attrName>style.visibility</p:attrName>
                                        </p:attrNameLst>
                                      </p:cBhvr>
                                      <p:to>
                                        <p:strVal val="visible"/>
                                      </p:to>
                                    </p:set>
                                  </p:childTnLst>
                                </p:cTn>
                              </p:par>
                              <p:par>
                                <p:cTn id="143" nodeType="withEffect" fill="hold" presetClass="entr" presetID="1">
                                  <p:stCondLst>
                                    <p:cond delay="0"/>
                                  </p:stCondLst>
                                  <p:childTnLst>
                                    <p:set>
                                      <p:cBhvr>
                                        <p:cTn id="144" dur="1" fill="hold">
                                          <p:stCondLst>
                                            <p:cond delay="0"/>
                                          </p:stCondLst>
                                        </p:cTn>
                                        <p:tgtEl>
                                          <p:spTgt spid="108">
                                            <p:txEl>
                                              <p:pRg st="2" end="2"/>
                                            </p:txEl>
                                          </p:spTgt>
                                        </p:tgtEl>
                                        <p:attrNameLst>
                                          <p:attrName>style.visibility</p:attrName>
                                        </p:attrNameLst>
                                      </p:cBhvr>
                                      <p:to>
                                        <p:strVal val="visible"/>
                                      </p:to>
                                    </p:set>
                                  </p:childTnLst>
                                </p:cTn>
                              </p:par>
                              <p:par>
                                <p:cTn id="145" nodeType="withEffect" fill="hold" presetClass="entr" presetID="1">
                                  <p:stCondLst>
                                    <p:cond delay="0"/>
                                  </p:stCondLst>
                                  <p:childTnLst>
                                    <p:set>
                                      <p:cBhvr>
                                        <p:cTn id="146" dur="1" fill="hold">
                                          <p:stCondLst>
                                            <p:cond delay="0"/>
                                          </p:stCondLst>
                                        </p:cTn>
                                        <p:tgtEl>
                                          <p:spTgt spid="108">
                                            <p:txEl>
                                              <p:pRg st="3" end="3"/>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TextShape 1"/>
          <p:cNvSpPr txBox="1"/>
          <p:nvPr/>
        </p:nvSpPr>
        <p:spPr>
          <a:xfrm>
            <a:off x="838080" y="365040"/>
            <a:ext cx="10515240" cy="1325160"/>
          </a:xfrm>
          <a:prstGeom prst="rect">
            <a:avLst/>
          </a:prstGeom>
          <a:noFill/>
          <a:ln>
            <a:noFill/>
          </a:ln>
        </p:spPr>
        <p:txBody>
          <a:bodyPr anchor="ctr"/>
          <a:p>
            <a:pPr>
              <a:lnSpc>
                <a:spcPct val="90000"/>
              </a:lnSpc>
            </a:pPr>
            <a:r>
              <a:rPr b="1" lang="en-US" sz="4400" spc="-1" strike="noStrike">
                <a:solidFill>
                  <a:srgbClr val="000000"/>
                </a:solidFill>
                <a:latin typeface="Calibri Light"/>
              </a:rPr>
              <a:t>User requirements</a:t>
            </a:r>
            <a:endParaRPr b="0" lang="en-US" sz="4400" spc="-1" strike="noStrike">
              <a:solidFill>
                <a:srgbClr val="000000"/>
              </a:solidFill>
              <a:latin typeface="Calibri"/>
            </a:endParaRPr>
          </a:p>
        </p:txBody>
      </p:sp>
      <p:sp>
        <p:nvSpPr>
          <p:cNvPr id="110" name="TextShape 2"/>
          <p:cNvSpPr txBox="1"/>
          <p:nvPr/>
        </p:nvSpPr>
        <p:spPr>
          <a:xfrm>
            <a:off x="838080" y="1825560"/>
            <a:ext cx="10515240" cy="4350960"/>
          </a:xfrm>
          <a:prstGeom prst="rect">
            <a:avLst/>
          </a:prstGeom>
          <a:noFill/>
          <a:ln>
            <a:noFill/>
          </a:ln>
        </p:spPr>
        <p:txBody>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General statements of user goals or business tasks that users need to perform are user requirements, most typically represented as use cases, scenarios, or user stories</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A user who says, “I need to &lt;do something&gt;” is probably describing a user requirement, as in the following examples:</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a:t>
            </a:r>
            <a:r>
              <a:rPr b="0" lang="en-US" sz="2400" spc="-1" strike="noStrike">
                <a:solidFill>
                  <a:srgbClr val="000000"/>
                </a:solidFill>
                <a:latin typeface="Calibri"/>
              </a:rPr>
              <a:t>I need to print a mailing label for a package.”</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a:t>
            </a:r>
            <a:r>
              <a:rPr b="0" lang="en-US" sz="2400" spc="-1" strike="noStrike">
                <a:solidFill>
                  <a:srgbClr val="000000"/>
                </a:solidFill>
                <a:latin typeface="Calibri"/>
              </a:rPr>
              <a:t>As the lead machine operator, I need to calibrate the pump controller first thing every morning.”</a:t>
            </a:r>
            <a:endParaRPr b="0" lang="en-US" sz="2400" spc="-1" strike="noStrike">
              <a:solidFill>
                <a:srgbClr val="000000"/>
              </a:solidFill>
              <a:latin typeface="Calibri"/>
            </a:endParaRPr>
          </a:p>
          <a:p>
            <a:pPr>
              <a:lnSpc>
                <a:spcPct val="90000"/>
              </a:lnSpc>
              <a:spcBef>
                <a:spcPts val="1001"/>
              </a:spcBef>
            </a:pPr>
            <a:endParaRPr b="0" lang="en-US" sz="2400" spc="-1" strike="noStrike">
              <a:solidFill>
                <a:srgbClr val="000000"/>
              </a:solidFill>
              <a:latin typeface="Calibri"/>
            </a:endParaRPr>
          </a:p>
        </p:txBody>
      </p:sp>
    </p:spTree>
  </p:cSld>
  <p:timing>
    <p:tnLst>
      <p:par>
        <p:cTn id="147" dur="indefinite" restart="never" nodeType="tmRoot">
          <p:childTnLst>
            <p:seq>
              <p:cTn id="148" dur="indefinite" nodeType="mainSeq">
                <p:childTnLst>
                  <p:par>
                    <p:cTn id="149" fill="hold">
                      <p:stCondLst>
                        <p:cond delay="indefinite"/>
                      </p:stCondLst>
                      <p:childTnLst>
                        <p:par>
                          <p:cTn id="150" fill="hold">
                            <p:stCondLst>
                              <p:cond delay="0"/>
                            </p:stCondLst>
                            <p:childTnLst>
                              <p:par>
                                <p:cTn id="151" nodeType="clickEffect" fill="hold" presetClass="entr" presetID="1">
                                  <p:stCondLst>
                                    <p:cond delay="0"/>
                                  </p:stCondLst>
                                  <p:childTnLst>
                                    <p:set>
                                      <p:cBhvr>
                                        <p:cTn id="152" dur="1" fill="hold">
                                          <p:stCondLst>
                                            <p:cond delay="0"/>
                                          </p:stCondLst>
                                        </p:cTn>
                                        <p:tgtEl>
                                          <p:spTgt spid="110">
                                            <p:txEl>
                                              <p:pRg st="0" end="0"/>
                                            </p:txEl>
                                          </p:spTgt>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nodeType="clickEffect" fill="hold" presetClass="entr" presetID="1">
                                  <p:stCondLst>
                                    <p:cond delay="0"/>
                                  </p:stCondLst>
                                  <p:childTnLst>
                                    <p:set>
                                      <p:cBhvr>
                                        <p:cTn id="156" dur="1" fill="hold">
                                          <p:stCondLst>
                                            <p:cond delay="0"/>
                                          </p:stCondLst>
                                        </p:cTn>
                                        <p:tgtEl>
                                          <p:spTgt spid="110">
                                            <p:txEl>
                                              <p:pRg st="1" end="1"/>
                                            </p:txEl>
                                          </p:spTgt>
                                        </p:tgtEl>
                                        <p:attrNameLst>
                                          <p:attrName>style.visibility</p:attrName>
                                        </p:attrNameLst>
                                      </p:cBhvr>
                                      <p:to>
                                        <p:strVal val="visible"/>
                                      </p:to>
                                    </p:set>
                                  </p:childTnLst>
                                </p:cTn>
                              </p:par>
                              <p:par>
                                <p:cTn id="157" nodeType="withEffect" fill="hold" presetClass="entr" presetID="1">
                                  <p:stCondLst>
                                    <p:cond delay="0"/>
                                  </p:stCondLst>
                                  <p:childTnLst>
                                    <p:set>
                                      <p:cBhvr>
                                        <p:cTn id="158" dur="1" fill="hold">
                                          <p:stCondLst>
                                            <p:cond delay="0"/>
                                          </p:stCondLst>
                                        </p:cTn>
                                        <p:tgtEl>
                                          <p:spTgt spid="110">
                                            <p:txEl>
                                              <p:pRg st="2" end="2"/>
                                            </p:txEl>
                                          </p:spTgt>
                                        </p:tgtEl>
                                        <p:attrNameLst>
                                          <p:attrName>style.visibility</p:attrName>
                                        </p:attrNameLst>
                                      </p:cBhvr>
                                      <p:to>
                                        <p:strVal val="visible"/>
                                      </p:to>
                                    </p:set>
                                  </p:childTnLst>
                                </p:cTn>
                              </p:par>
                              <p:par>
                                <p:cTn id="159" nodeType="withEffect" fill="hold" presetClass="entr" presetID="1">
                                  <p:stCondLst>
                                    <p:cond delay="0"/>
                                  </p:stCondLst>
                                  <p:childTnLst>
                                    <p:set>
                                      <p:cBhvr>
                                        <p:cTn id="160" dur="1" fill="hold">
                                          <p:stCondLst>
                                            <p:cond delay="0"/>
                                          </p:stCondLst>
                                        </p:cTn>
                                        <p:tgtEl>
                                          <p:spTgt spid="110">
                                            <p:txEl>
                                              <p:pRg st="3" end="3"/>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TextShape 1"/>
          <p:cNvSpPr txBox="1"/>
          <p:nvPr/>
        </p:nvSpPr>
        <p:spPr>
          <a:xfrm>
            <a:off x="838080" y="365040"/>
            <a:ext cx="10515240" cy="1325160"/>
          </a:xfrm>
          <a:prstGeom prst="rect">
            <a:avLst/>
          </a:prstGeom>
          <a:noFill/>
          <a:ln>
            <a:noFill/>
          </a:ln>
        </p:spPr>
        <p:txBody>
          <a:bodyPr anchor="ctr"/>
          <a:p>
            <a:pPr>
              <a:lnSpc>
                <a:spcPct val="90000"/>
              </a:lnSpc>
            </a:pPr>
            <a:r>
              <a:rPr b="1" lang="en-US" sz="4400" spc="-1" strike="noStrike">
                <a:solidFill>
                  <a:srgbClr val="000000"/>
                </a:solidFill>
                <a:latin typeface="Calibri Light"/>
              </a:rPr>
              <a:t>Business rules</a:t>
            </a:r>
            <a:endParaRPr b="0" lang="en-US" sz="4400" spc="-1" strike="noStrike">
              <a:solidFill>
                <a:srgbClr val="000000"/>
              </a:solidFill>
              <a:latin typeface="Calibri"/>
            </a:endParaRPr>
          </a:p>
        </p:txBody>
      </p:sp>
      <p:sp>
        <p:nvSpPr>
          <p:cNvPr id="112" name="TextShape 2"/>
          <p:cNvSpPr txBox="1"/>
          <p:nvPr/>
        </p:nvSpPr>
        <p:spPr>
          <a:xfrm>
            <a:off x="838080" y="1825560"/>
            <a:ext cx="10515240" cy="4350960"/>
          </a:xfrm>
          <a:prstGeom prst="rect">
            <a:avLst/>
          </a:prstGeom>
          <a:noFill/>
          <a:ln>
            <a:noFill/>
          </a:ln>
        </p:spPr>
        <p:txBody>
          <a:bodyPr>
            <a:norm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When a customer says that only certain users can perform an activity under specific conditions, he might be presenting a business rule.</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These aren’t software requirements as they stand, but you might derive some functional requirements to enforce the rules. Phrases such as “Must comply with . . . ,” “If &lt;some condition is true&gt;, then &lt;something happens&gt;,” or “Must be calculated according to . . . ” suggest that the user is describing a business rule. Here are some examples:</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a:t>
            </a:r>
            <a:r>
              <a:rPr b="0" lang="en-US" sz="2800" spc="-1" strike="noStrike">
                <a:solidFill>
                  <a:srgbClr val="000000"/>
                </a:solidFill>
                <a:latin typeface="Calibri"/>
              </a:rPr>
              <a:t>A new client must pay 30 percent of the estimated consulting fee and travel expenses in advance.”</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a:t>
            </a:r>
            <a:r>
              <a:rPr b="0" lang="en-US" sz="2800" spc="-1" strike="noStrike">
                <a:solidFill>
                  <a:srgbClr val="000000"/>
                </a:solidFill>
                <a:latin typeface="Calibri"/>
              </a:rPr>
              <a:t>Time-off approvals must comply with the company’s HR vacation policy.”</a:t>
            </a:r>
            <a:endParaRPr b="0" lang="en-US" sz="2800" spc="-1" strike="noStrike">
              <a:solidFill>
                <a:srgbClr val="000000"/>
              </a:solidFill>
              <a:latin typeface="Calibri"/>
            </a:endParaRPr>
          </a:p>
        </p:txBody>
      </p:sp>
    </p:spTree>
  </p:cSld>
  <p:timing>
    <p:tnLst>
      <p:par>
        <p:cTn id="161" dur="indefinite" restart="never" nodeType="tmRoot">
          <p:childTnLst>
            <p:seq>
              <p:cTn id="162" dur="indefinite" nodeType="mainSeq">
                <p:childTnLst>
                  <p:par>
                    <p:cTn id="163" fill="hold">
                      <p:stCondLst>
                        <p:cond delay="indefinite"/>
                      </p:stCondLst>
                      <p:childTnLst>
                        <p:par>
                          <p:cTn id="164" fill="hold">
                            <p:stCondLst>
                              <p:cond delay="0"/>
                            </p:stCondLst>
                            <p:childTnLst>
                              <p:par>
                                <p:cTn id="165" nodeType="clickEffect" fill="hold" presetClass="entr" presetID="1">
                                  <p:stCondLst>
                                    <p:cond delay="0"/>
                                  </p:stCondLst>
                                  <p:childTnLst>
                                    <p:set>
                                      <p:cBhvr>
                                        <p:cTn id="166" dur="1" fill="hold">
                                          <p:stCondLst>
                                            <p:cond delay="0"/>
                                          </p:stCondLst>
                                        </p:cTn>
                                        <p:tgtEl>
                                          <p:spTgt spid="112">
                                            <p:txEl>
                                              <p:pRg st="0" end="0"/>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nodeType="clickEffect" fill="hold" presetClass="entr" presetID="1">
                                  <p:stCondLst>
                                    <p:cond delay="0"/>
                                  </p:stCondLst>
                                  <p:childTnLst>
                                    <p:set>
                                      <p:cBhvr>
                                        <p:cTn id="170" dur="1" fill="hold">
                                          <p:stCondLst>
                                            <p:cond delay="0"/>
                                          </p:stCondLst>
                                        </p:cTn>
                                        <p:tgtEl>
                                          <p:spTgt spid="112">
                                            <p:txEl>
                                              <p:pRg st="1" end="1"/>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nodeType="clickEffect" fill="hold" presetClass="entr" presetID="1">
                                  <p:stCondLst>
                                    <p:cond delay="0"/>
                                  </p:stCondLst>
                                  <p:childTnLst>
                                    <p:set>
                                      <p:cBhvr>
                                        <p:cTn id="174" dur="1" fill="hold">
                                          <p:stCondLst>
                                            <p:cond delay="0"/>
                                          </p:stCondLst>
                                        </p:cTn>
                                        <p:tgtEl>
                                          <p:spTgt spid="112">
                                            <p:txEl>
                                              <p:pRg st="2" end="2"/>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nodeType="clickEffect" fill="hold" presetClass="entr" presetID="1">
                                  <p:stCondLst>
                                    <p:cond delay="0"/>
                                  </p:stCondLst>
                                  <p:childTnLst>
                                    <p:set>
                                      <p:cBhvr>
                                        <p:cTn id="178" dur="1" fill="hold">
                                          <p:stCondLst>
                                            <p:cond delay="0"/>
                                          </p:stCondLst>
                                        </p:cTn>
                                        <p:tgtEl>
                                          <p:spTgt spid="112">
                                            <p:txEl>
                                              <p:pRg st="3" end="3"/>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TextShape 1"/>
          <p:cNvSpPr txBox="1"/>
          <p:nvPr/>
        </p:nvSpPr>
        <p:spPr>
          <a:xfrm>
            <a:off x="838080" y="365040"/>
            <a:ext cx="10515240" cy="1325160"/>
          </a:xfrm>
          <a:prstGeom prst="rect">
            <a:avLst/>
          </a:prstGeom>
          <a:noFill/>
          <a:ln>
            <a:noFill/>
          </a:ln>
        </p:spPr>
        <p:txBody>
          <a:bodyPr anchor="ctr"/>
          <a:p>
            <a:pPr>
              <a:lnSpc>
                <a:spcPct val="90000"/>
              </a:lnSpc>
            </a:pPr>
            <a:r>
              <a:rPr b="1" lang="en-US" sz="4400" spc="-1" strike="noStrike">
                <a:solidFill>
                  <a:srgbClr val="000000"/>
                </a:solidFill>
                <a:latin typeface="Calibri Light"/>
              </a:rPr>
              <a:t>Functional requirements</a:t>
            </a:r>
            <a:endParaRPr b="0" lang="en-US" sz="4400" spc="-1" strike="noStrike">
              <a:solidFill>
                <a:srgbClr val="000000"/>
              </a:solidFill>
              <a:latin typeface="Calibri"/>
            </a:endParaRPr>
          </a:p>
        </p:txBody>
      </p:sp>
      <p:sp>
        <p:nvSpPr>
          <p:cNvPr id="114" name="TextShape 2"/>
          <p:cNvSpPr txBox="1"/>
          <p:nvPr/>
        </p:nvSpPr>
        <p:spPr>
          <a:xfrm>
            <a:off x="838080" y="1825560"/>
            <a:ext cx="10515240" cy="4350960"/>
          </a:xfrm>
          <a:prstGeom prst="rect">
            <a:avLst/>
          </a:prstGeom>
          <a:noFill/>
          <a:ln>
            <a:noFill/>
          </a:ln>
        </p:spPr>
        <p:txBody>
          <a:bodyPr>
            <a:norm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Functional requirements describe the observable behaviors the system will exhibit under certain conditions and the actions the system will let users take.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Here are some examples of functional requirements as you might hear them from users:</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a:t>
            </a:r>
            <a:r>
              <a:rPr b="0" lang="en-US" sz="2400" spc="-1" strike="noStrike">
                <a:solidFill>
                  <a:srgbClr val="000000"/>
                </a:solidFill>
                <a:latin typeface="Calibri"/>
              </a:rPr>
              <a:t>If the pressure exceeds 40.0 psi, the high-pressure warning light should come on.”</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a:t>
            </a:r>
            <a:r>
              <a:rPr b="0" lang="en-US" sz="2400" spc="-1" strike="noStrike">
                <a:solidFill>
                  <a:srgbClr val="000000"/>
                </a:solidFill>
                <a:latin typeface="Calibri"/>
              </a:rPr>
              <a:t>The user must be able to sort the project list in forward and reverse alphabetical order.”</a:t>
            </a:r>
            <a:endParaRPr b="0" lang="en-US" sz="24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These statements illustrate how users typically present functional requirements, but they don’t represent good ways to write functional requirements.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The </a:t>
            </a:r>
            <a:endParaRPr b="0" lang="en-US" sz="2800" spc="-1" strike="noStrike">
              <a:solidFill>
                <a:srgbClr val="000000"/>
              </a:solidFill>
              <a:latin typeface="Calibri"/>
            </a:endParaRPr>
          </a:p>
        </p:txBody>
      </p:sp>
    </p:spTree>
  </p:cSld>
  <p:timing>
    <p:tnLst>
      <p:par>
        <p:cTn id="179" dur="indefinite" restart="never" nodeType="tmRoot">
          <p:childTnLst>
            <p:seq>
              <p:cTn id="180" dur="indefinite" nodeType="mainSeq">
                <p:childTnLst>
                  <p:par>
                    <p:cTn id="181" fill="hold">
                      <p:stCondLst>
                        <p:cond delay="indefinite"/>
                      </p:stCondLst>
                      <p:childTnLst>
                        <p:par>
                          <p:cTn id="182" fill="hold">
                            <p:stCondLst>
                              <p:cond delay="0"/>
                            </p:stCondLst>
                            <p:childTnLst>
                              <p:par>
                                <p:cTn id="183" nodeType="clickEffect" fill="hold" presetClass="entr" presetID="1">
                                  <p:stCondLst>
                                    <p:cond delay="0"/>
                                  </p:stCondLst>
                                  <p:childTnLst>
                                    <p:set>
                                      <p:cBhvr>
                                        <p:cTn id="184" dur="1" fill="hold">
                                          <p:stCondLst>
                                            <p:cond delay="0"/>
                                          </p:stCondLst>
                                        </p:cTn>
                                        <p:tgtEl>
                                          <p:spTgt spid="114">
                                            <p:txEl>
                                              <p:pRg st="0" end="0"/>
                                            </p:txEl>
                                          </p:spTgt>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nodeType="clickEffect" fill="hold" presetClass="entr" presetID="1">
                                  <p:stCondLst>
                                    <p:cond delay="0"/>
                                  </p:stCondLst>
                                  <p:childTnLst>
                                    <p:set>
                                      <p:cBhvr>
                                        <p:cTn id="188" dur="1" fill="hold">
                                          <p:stCondLst>
                                            <p:cond delay="0"/>
                                          </p:stCondLst>
                                        </p:cTn>
                                        <p:tgtEl>
                                          <p:spTgt spid="114">
                                            <p:txEl>
                                              <p:pRg st="1" end="1"/>
                                            </p:txEl>
                                          </p:spTgt>
                                        </p:tgtEl>
                                        <p:attrNameLst>
                                          <p:attrName>style.visibility</p:attrName>
                                        </p:attrNameLst>
                                      </p:cBhvr>
                                      <p:to>
                                        <p:strVal val="visible"/>
                                      </p:to>
                                    </p:set>
                                  </p:childTnLst>
                                </p:cTn>
                              </p:par>
                              <p:par>
                                <p:cTn id="189" nodeType="withEffect" fill="hold" presetClass="entr" presetID="1">
                                  <p:stCondLst>
                                    <p:cond delay="0"/>
                                  </p:stCondLst>
                                  <p:childTnLst>
                                    <p:set>
                                      <p:cBhvr>
                                        <p:cTn id="190" dur="1" fill="hold">
                                          <p:stCondLst>
                                            <p:cond delay="0"/>
                                          </p:stCondLst>
                                        </p:cTn>
                                        <p:tgtEl>
                                          <p:spTgt spid="114">
                                            <p:txEl>
                                              <p:pRg st="2" end="2"/>
                                            </p:txEl>
                                          </p:spTgt>
                                        </p:tgtEl>
                                        <p:attrNameLst>
                                          <p:attrName>style.visibility</p:attrName>
                                        </p:attrNameLst>
                                      </p:cBhvr>
                                      <p:to>
                                        <p:strVal val="visible"/>
                                      </p:to>
                                    </p:set>
                                  </p:childTnLst>
                                </p:cTn>
                              </p:par>
                              <p:par>
                                <p:cTn id="191" nodeType="withEffect" fill="hold" presetClass="entr" presetID="1">
                                  <p:stCondLst>
                                    <p:cond delay="0"/>
                                  </p:stCondLst>
                                  <p:childTnLst>
                                    <p:set>
                                      <p:cBhvr>
                                        <p:cTn id="192" dur="1" fill="hold">
                                          <p:stCondLst>
                                            <p:cond delay="0"/>
                                          </p:stCondLst>
                                        </p:cTn>
                                        <p:tgtEl>
                                          <p:spTgt spid="114">
                                            <p:txEl>
                                              <p:pRg st="3" end="3"/>
                                            </p:txEl>
                                          </p:spTgt>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nodeType="clickEffect" fill="hold" presetClass="entr" presetID="1">
                                  <p:stCondLst>
                                    <p:cond delay="0"/>
                                  </p:stCondLst>
                                  <p:childTnLst>
                                    <p:set>
                                      <p:cBhvr>
                                        <p:cTn id="196" dur="1" fill="hold">
                                          <p:stCondLst>
                                            <p:cond delay="0"/>
                                          </p:stCondLst>
                                        </p:cTn>
                                        <p:tgtEl>
                                          <p:spTgt spid="114">
                                            <p:txEl>
                                              <p:pRg st="4" end="4"/>
                                            </p:txEl>
                                          </p:spTgt>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nodeType="clickEffect" fill="hold" presetClass="entr" presetID="1">
                                  <p:stCondLst>
                                    <p:cond delay="0"/>
                                  </p:stCondLst>
                                  <p:childTnLst>
                                    <p:set>
                                      <p:cBhvr>
                                        <p:cTn id="200" dur="1" fill="hold">
                                          <p:stCondLst>
                                            <p:cond delay="0"/>
                                          </p:stCondLst>
                                        </p:cTn>
                                        <p:tgtEl>
                                          <p:spTgt spid="114">
                                            <p:txEl>
                                              <p:pRg st="5" end="5"/>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TextShape 1"/>
          <p:cNvSpPr txBox="1"/>
          <p:nvPr/>
        </p:nvSpPr>
        <p:spPr>
          <a:xfrm>
            <a:off x="838080" y="365040"/>
            <a:ext cx="10515240" cy="1325160"/>
          </a:xfrm>
          <a:prstGeom prst="rect">
            <a:avLst/>
          </a:prstGeom>
          <a:noFill/>
          <a:ln>
            <a:noFill/>
          </a:ln>
        </p:spPr>
        <p:txBody>
          <a:bodyPr anchor="ctr"/>
          <a:p>
            <a:pPr>
              <a:lnSpc>
                <a:spcPct val="90000"/>
              </a:lnSpc>
            </a:pPr>
            <a:r>
              <a:rPr b="1" lang="en-US" sz="4400" spc="-1" strike="noStrike">
                <a:solidFill>
                  <a:srgbClr val="000000"/>
                </a:solidFill>
                <a:latin typeface="Calibri Light"/>
              </a:rPr>
              <a:t>Quality attributes</a:t>
            </a:r>
            <a:endParaRPr b="0" lang="en-US" sz="4400" spc="-1" strike="noStrike">
              <a:solidFill>
                <a:srgbClr val="000000"/>
              </a:solidFill>
              <a:latin typeface="Calibri"/>
            </a:endParaRPr>
          </a:p>
        </p:txBody>
      </p:sp>
      <p:sp>
        <p:nvSpPr>
          <p:cNvPr id="116" name="TextShape 2"/>
          <p:cNvSpPr txBox="1"/>
          <p:nvPr/>
        </p:nvSpPr>
        <p:spPr>
          <a:xfrm>
            <a:off x="838080" y="1825560"/>
            <a:ext cx="10515240" cy="4350960"/>
          </a:xfrm>
          <a:prstGeom prst="rect">
            <a:avLst/>
          </a:prstGeom>
          <a:noFill/>
          <a:ln>
            <a:noFill/>
          </a:ln>
        </p:spPr>
        <p:txBody>
          <a:bodyPr>
            <a:norm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Statements that describe how well the system does something are quality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Listen for words that describe desirable system characteristics: fast, easy, user-friendly, reliable, secure.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You’ll need to work with the users to understand just what they mean by these ambiguous and subjective terms so that you can write clear, verifiable quality goals.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The following examples suggest what quality attributes might sound like when described by users:</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a:t>
            </a:r>
            <a:r>
              <a:rPr b="0" lang="en-US" sz="2400" spc="-1" strike="noStrike">
                <a:solidFill>
                  <a:srgbClr val="000000"/>
                </a:solidFill>
                <a:latin typeface="Calibri"/>
              </a:rPr>
              <a:t>The mobile software must respond quickly to touch commands.”</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a:t>
            </a:r>
            <a:r>
              <a:rPr b="0" lang="en-US" sz="2400" spc="-1" strike="noStrike">
                <a:solidFill>
                  <a:srgbClr val="000000"/>
                </a:solidFill>
                <a:latin typeface="Calibri"/>
              </a:rPr>
              <a:t>The shopping cart mechanism has to be simple to use so my new customers don’t abandon the purchase.”</a:t>
            </a:r>
            <a:endParaRPr b="0" lang="en-US" sz="2400" spc="-1" strike="noStrike">
              <a:solidFill>
                <a:srgbClr val="000000"/>
              </a:solidFill>
              <a:latin typeface="Calibri"/>
            </a:endParaRPr>
          </a:p>
        </p:txBody>
      </p:sp>
    </p:spTree>
  </p:cSld>
  <p:timing>
    <p:tnLst>
      <p:par>
        <p:cTn id="201" dur="indefinite" restart="never" nodeType="tmRoot">
          <p:childTnLst>
            <p:seq>
              <p:cTn id="202" dur="indefinite" nodeType="mainSeq">
                <p:childTnLst>
                  <p:par>
                    <p:cTn id="203" fill="hold">
                      <p:stCondLst>
                        <p:cond delay="indefinite"/>
                      </p:stCondLst>
                      <p:childTnLst>
                        <p:par>
                          <p:cTn id="204" fill="hold">
                            <p:stCondLst>
                              <p:cond delay="0"/>
                            </p:stCondLst>
                            <p:childTnLst>
                              <p:par>
                                <p:cTn id="205" nodeType="clickEffect" fill="hold" presetClass="entr" presetID="1">
                                  <p:stCondLst>
                                    <p:cond delay="0"/>
                                  </p:stCondLst>
                                  <p:childTnLst>
                                    <p:set>
                                      <p:cBhvr>
                                        <p:cTn id="206" dur="1" fill="hold">
                                          <p:stCondLst>
                                            <p:cond delay="0"/>
                                          </p:stCondLst>
                                        </p:cTn>
                                        <p:tgtEl>
                                          <p:spTgt spid="116">
                                            <p:txEl>
                                              <p:pRg st="0" end="0"/>
                                            </p:txEl>
                                          </p:spTgt>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nodeType="clickEffect" fill="hold" presetClass="entr" presetID="1">
                                  <p:stCondLst>
                                    <p:cond delay="0"/>
                                  </p:stCondLst>
                                  <p:childTnLst>
                                    <p:set>
                                      <p:cBhvr>
                                        <p:cTn id="210" dur="1" fill="hold">
                                          <p:stCondLst>
                                            <p:cond delay="0"/>
                                          </p:stCondLst>
                                        </p:cTn>
                                        <p:tgtEl>
                                          <p:spTgt spid="116">
                                            <p:txEl>
                                              <p:pRg st="1" end="1"/>
                                            </p:txEl>
                                          </p:spTgt>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nodeType="clickEffect" fill="hold" presetClass="entr" presetID="1">
                                  <p:stCondLst>
                                    <p:cond delay="0"/>
                                  </p:stCondLst>
                                  <p:childTnLst>
                                    <p:set>
                                      <p:cBhvr>
                                        <p:cTn id="214" dur="1" fill="hold">
                                          <p:stCondLst>
                                            <p:cond delay="0"/>
                                          </p:stCondLst>
                                        </p:cTn>
                                        <p:tgtEl>
                                          <p:spTgt spid="116">
                                            <p:txEl>
                                              <p:pRg st="2" end="2"/>
                                            </p:txEl>
                                          </p:spTgt>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nodeType="clickEffect" fill="hold" presetClass="entr" presetID="1">
                                  <p:stCondLst>
                                    <p:cond delay="0"/>
                                  </p:stCondLst>
                                  <p:childTnLst>
                                    <p:set>
                                      <p:cBhvr>
                                        <p:cTn id="218" dur="1" fill="hold">
                                          <p:stCondLst>
                                            <p:cond delay="0"/>
                                          </p:stCondLst>
                                        </p:cTn>
                                        <p:tgtEl>
                                          <p:spTgt spid="116">
                                            <p:txEl>
                                              <p:pRg st="3" end="3"/>
                                            </p:txEl>
                                          </p:spTgt>
                                        </p:tgtEl>
                                        <p:attrNameLst>
                                          <p:attrName>style.visibility</p:attrName>
                                        </p:attrNameLst>
                                      </p:cBhvr>
                                      <p:to>
                                        <p:strVal val="visible"/>
                                      </p:to>
                                    </p:set>
                                  </p:childTnLst>
                                </p:cTn>
                              </p:par>
                              <p:par>
                                <p:cTn id="219" nodeType="withEffect" fill="hold" presetClass="entr" presetID="1">
                                  <p:stCondLst>
                                    <p:cond delay="0"/>
                                  </p:stCondLst>
                                  <p:childTnLst>
                                    <p:set>
                                      <p:cBhvr>
                                        <p:cTn id="220" dur="1" fill="hold">
                                          <p:stCondLst>
                                            <p:cond delay="0"/>
                                          </p:stCondLst>
                                        </p:cTn>
                                        <p:tgtEl>
                                          <p:spTgt spid="116">
                                            <p:txEl>
                                              <p:pRg st="4" end="4"/>
                                            </p:txEl>
                                          </p:spTgt>
                                        </p:tgtEl>
                                        <p:attrNameLst>
                                          <p:attrName>style.visibility</p:attrName>
                                        </p:attrNameLst>
                                      </p:cBhvr>
                                      <p:to>
                                        <p:strVal val="visible"/>
                                      </p:to>
                                    </p:set>
                                  </p:childTnLst>
                                </p:cTn>
                              </p:par>
                              <p:par>
                                <p:cTn id="221" nodeType="withEffect" fill="hold" presetClass="entr" presetID="1">
                                  <p:stCondLst>
                                    <p:cond delay="0"/>
                                  </p:stCondLst>
                                  <p:childTnLst>
                                    <p:set>
                                      <p:cBhvr>
                                        <p:cTn id="222" dur="1" fill="hold">
                                          <p:stCondLst>
                                            <p:cond delay="0"/>
                                          </p:stCondLst>
                                        </p:cTn>
                                        <p:tgtEl>
                                          <p:spTgt spid="116">
                                            <p:txEl>
                                              <p:pRg st="5" end="5"/>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TextShape 1"/>
          <p:cNvSpPr txBox="1"/>
          <p:nvPr/>
        </p:nvSpPr>
        <p:spPr>
          <a:xfrm>
            <a:off x="838080" y="365040"/>
            <a:ext cx="10515240" cy="1325160"/>
          </a:xfrm>
          <a:prstGeom prst="rect">
            <a:avLst/>
          </a:prstGeom>
          <a:noFill/>
          <a:ln>
            <a:noFill/>
          </a:ln>
        </p:spPr>
        <p:txBody>
          <a:bodyPr anchor="ctr"/>
          <a:p>
            <a:pPr>
              <a:lnSpc>
                <a:spcPct val="90000"/>
              </a:lnSpc>
            </a:pPr>
            <a:r>
              <a:rPr b="1" lang="en-US" sz="4400" spc="-1" strike="noStrike">
                <a:solidFill>
                  <a:srgbClr val="000000"/>
                </a:solidFill>
                <a:latin typeface="Calibri Light"/>
              </a:rPr>
              <a:t>External interface requirements</a:t>
            </a:r>
            <a:endParaRPr b="0" lang="en-US" sz="4400" spc="-1" strike="noStrike">
              <a:solidFill>
                <a:srgbClr val="000000"/>
              </a:solidFill>
              <a:latin typeface="Calibri"/>
            </a:endParaRPr>
          </a:p>
        </p:txBody>
      </p:sp>
      <p:sp>
        <p:nvSpPr>
          <p:cNvPr id="118" name="TextShape 2"/>
          <p:cNvSpPr txBox="1"/>
          <p:nvPr/>
        </p:nvSpPr>
        <p:spPr>
          <a:xfrm>
            <a:off x="838080" y="1825560"/>
            <a:ext cx="10515240" cy="4350960"/>
          </a:xfrm>
          <a:prstGeom prst="rect">
            <a:avLst/>
          </a:prstGeom>
          <a:noFill/>
          <a:ln>
            <a:noFill/>
          </a:ln>
        </p:spPr>
        <p:txBody>
          <a:bodyPr>
            <a:norm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Requirements in this category describe the connections between your system and the rest of the universe.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Phrases such as “Must read signals from . . . ,” “Must send messages to . . . ,” “Must be able to read files in &lt;format&gt;,” and “User interface elements must conform to &lt;a standard&gt;” indicate that the customer is describing an external interface requirement.</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 </a:t>
            </a:r>
            <a:r>
              <a:rPr b="0" lang="en-US" sz="2800" spc="-1" strike="noStrike">
                <a:solidFill>
                  <a:srgbClr val="000000"/>
                </a:solidFill>
                <a:latin typeface="Calibri"/>
              </a:rPr>
              <a:t>Following are some examples:</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a:t>
            </a:r>
            <a:r>
              <a:rPr b="0" lang="en-US" sz="2400" spc="-1" strike="noStrike">
                <a:solidFill>
                  <a:srgbClr val="000000"/>
                </a:solidFill>
                <a:latin typeface="Calibri"/>
              </a:rPr>
              <a:t>The manufacturing execution system must control the wafer sorter.”</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a:t>
            </a:r>
            <a:r>
              <a:rPr b="0" lang="en-US" sz="2400" spc="-1" strike="noStrike">
                <a:solidFill>
                  <a:srgbClr val="000000"/>
                </a:solidFill>
                <a:latin typeface="Calibri"/>
              </a:rPr>
              <a:t>The mobile app should send the check image to the bank after I photograph the check I’m depositing.”</a:t>
            </a:r>
            <a:endParaRPr b="0" lang="en-US" sz="2400" spc="-1" strike="noStrike">
              <a:solidFill>
                <a:srgbClr val="000000"/>
              </a:solidFill>
              <a:latin typeface="Calibri"/>
            </a:endParaRPr>
          </a:p>
          <a:p>
            <a:pPr>
              <a:lnSpc>
                <a:spcPct val="90000"/>
              </a:lnSpc>
              <a:spcBef>
                <a:spcPts val="1001"/>
              </a:spcBef>
            </a:pPr>
            <a:endParaRPr b="0" lang="en-US" sz="2400" spc="-1" strike="noStrike">
              <a:solidFill>
                <a:srgbClr val="000000"/>
              </a:solidFill>
              <a:latin typeface="Calibri"/>
            </a:endParaRPr>
          </a:p>
        </p:txBody>
      </p:sp>
    </p:spTree>
  </p:cSld>
  <p:timing>
    <p:tnLst>
      <p:par>
        <p:cTn id="223" dur="indefinite" restart="never" nodeType="tmRoot">
          <p:childTnLst>
            <p:seq>
              <p:cTn id="224" dur="indefinite" nodeType="mainSeq"/>
              <p:prevCondLst>
                <p:cond delay="0" evt="onPrev">
                  <p:tgtEl>
                    <p:sldTgt/>
                  </p:tgtEl>
                </p:cond>
              </p:prevCondLst>
              <p:nextCondLst>
                <p:cond delay="0"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TextShape 1"/>
          <p:cNvSpPr txBox="1"/>
          <p:nvPr/>
        </p:nvSpPr>
        <p:spPr>
          <a:xfrm>
            <a:off x="838080" y="365040"/>
            <a:ext cx="10515240" cy="1325160"/>
          </a:xfrm>
          <a:prstGeom prst="rect">
            <a:avLst/>
          </a:prstGeom>
          <a:noFill/>
          <a:ln>
            <a:noFill/>
          </a:ln>
        </p:spPr>
        <p:txBody>
          <a:bodyPr anchor="ctr"/>
          <a:p>
            <a:pPr>
              <a:lnSpc>
                <a:spcPct val="90000"/>
              </a:lnSpc>
            </a:pPr>
            <a:r>
              <a:rPr b="1" lang="en-US" sz="4400" spc="-1" strike="noStrike">
                <a:solidFill>
                  <a:srgbClr val="000000"/>
                </a:solidFill>
                <a:latin typeface="Calibri Light"/>
              </a:rPr>
              <a:t>Constraints</a:t>
            </a:r>
            <a:endParaRPr b="0" lang="en-US" sz="4400" spc="-1" strike="noStrike">
              <a:solidFill>
                <a:srgbClr val="000000"/>
              </a:solidFill>
              <a:latin typeface="Calibri"/>
            </a:endParaRPr>
          </a:p>
        </p:txBody>
      </p:sp>
      <p:sp>
        <p:nvSpPr>
          <p:cNvPr id="120" name="TextShape 2"/>
          <p:cNvSpPr txBox="1"/>
          <p:nvPr/>
        </p:nvSpPr>
        <p:spPr>
          <a:xfrm>
            <a:off x="838080" y="1825560"/>
            <a:ext cx="10515240" cy="4350960"/>
          </a:xfrm>
          <a:prstGeom prst="rect">
            <a:avLst/>
          </a:prstGeom>
          <a:noFill/>
          <a:ln>
            <a:noFill/>
          </a:ln>
        </p:spPr>
        <p:txBody>
          <a:bodyPr>
            <a:norm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Design and implementation constraints legitimately restrict the options available to the developer.</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Devices with embedded software often must respect physical constraints such as size, weight, and interface connections.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Phrases that indicate that the customer is describing a design or implementation constraint include: “Must be written in &lt;a specific programming language&gt;,” “Cannot exceed &lt;some limit&gt;,” and “Must use &lt;a specific user interface control&gt;.”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The following are examples of constraints that a customer might present:</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a:t>
            </a:r>
            <a:r>
              <a:rPr b="0" lang="en-US" sz="2400" spc="-1" strike="noStrike">
                <a:solidFill>
                  <a:srgbClr val="000000"/>
                </a:solidFill>
                <a:latin typeface="Calibri"/>
              </a:rPr>
              <a:t>Files submitted electronically cannot exceed 10 MB in size.”</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a:t>
            </a:r>
            <a:r>
              <a:rPr b="0" lang="en-US" sz="2400" spc="-1" strike="noStrike">
                <a:solidFill>
                  <a:srgbClr val="000000"/>
                </a:solidFill>
                <a:latin typeface="Calibri"/>
              </a:rPr>
              <a:t>The browser must use 256-bit encryption for all secure transactions.”</a:t>
            </a:r>
            <a:endParaRPr b="0" lang="en-US" sz="24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Ask why the constraint exists, confirm its validity, and record the rationale for including it as a requirement.</a:t>
            </a:r>
            <a:endParaRPr b="0" lang="en-US" sz="2800" spc="-1" strike="noStrike">
              <a:solidFill>
                <a:srgbClr val="000000"/>
              </a:solidFill>
              <a:latin typeface="Calibri"/>
            </a:endParaRPr>
          </a:p>
        </p:txBody>
      </p:sp>
    </p:spTree>
  </p:cSld>
  <p:timing>
    <p:tnLst>
      <p:par>
        <p:cTn id="225" dur="indefinite" restart="never" nodeType="tmRoot">
          <p:childTnLst>
            <p:seq>
              <p:cTn id="226" dur="indefinite" nodeType="mainSeq"/>
              <p:prevCondLst>
                <p:cond delay="0" evt="onPrev">
                  <p:tgtEl>
                    <p:sldTgt/>
                  </p:tgtEl>
                </p:cond>
              </p:prevCondLst>
              <p:nextCondLst>
                <p:cond delay="0"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TextShape 1"/>
          <p:cNvSpPr txBox="1"/>
          <p:nvPr/>
        </p:nvSpPr>
        <p:spPr>
          <a:xfrm>
            <a:off x="838080" y="365040"/>
            <a:ext cx="10515240" cy="1325160"/>
          </a:xfrm>
          <a:prstGeom prst="rect">
            <a:avLst/>
          </a:prstGeom>
          <a:noFill/>
          <a:ln>
            <a:noFill/>
          </a:ln>
        </p:spPr>
        <p:txBody>
          <a:bodyPr anchor="ctr"/>
          <a:p>
            <a:pPr>
              <a:lnSpc>
                <a:spcPct val="90000"/>
              </a:lnSpc>
            </a:pPr>
            <a:r>
              <a:rPr b="1" lang="en-US" sz="4400" spc="-1" strike="noStrike">
                <a:solidFill>
                  <a:srgbClr val="000000"/>
                </a:solidFill>
                <a:latin typeface="Calibri Light"/>
              </a:rPr>
              <a:t>Data requirements</a:t>
            </a:r>
            <a:endParaRPr b="0" lang="en-US" sz="4400" spc="-1" strike="noStrike">
              <a:solidFill>
                <a:srgbClr val="000000"/>
              </a:solidFill>
              <a:latin typeface="Calibri"/>
            </a:endParaRPr>
          </a:p>
        </p:txBody>
      </p:sp>
      <p:sp>
        <p:nvSpPr>
          <p:cNvPr id="122" name="TextShape 2"/>
          <p:cNvSpPr txBox="1"/>
          <p:nvPr/>
        </p:nvSpPr>
        <p:spPr>
          <a:xfrm>
            <a:off x="838080" y="1825560"/>
            <a:ext cx="10515240" cy="4350960"/>
          </a:xfrm>
          <a:prstGeom prst="rect">
            <a:avLst/>
          </a:prstGeom>
          <a:noFill/>
          <a:ln>
            <a:noFill/>
          </a:ln>
        </p:spPr>
        <p:txBody>
          <a:bodyPr>
            <a:norm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Customers are presenting a data requirement whenever they describe the format, data type, allowed values, or default value for a data element; the composition of a complex business data structure; or a report to be generated.</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Some examples of data requirements are as follows:</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a:t>
            </a:r>
            <a:r>
              <a:rPr b="0" lang="en-US" sz="2400" spc="-1" strike="noStrike">
                <a:solidFill>
                  <a:srgbClr val="000000"/>
                </a:solidFill>
                <a:latin typeface="Calibri"/>
              </a:rPr>
              <a:t>The ZIP code has five digits, followed by an optional hyphen and four digits that default to 0000.”</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a:t>
            </a:r>
            <a:r>
              <a:rPr b="0" lang="en-US" sz="2400" spc="-1" strike="noStrike">
                <a:solidFill>
                  <a:srgbClr val="000000"/>
                </a:solidFill>
                <a:latin typeface="Calibri"/>
              </a:rPr>
              <a:t>An order consists of the customer’s identity, shipping information, and one or more products, each of which includes the product number, number of units, unit price, and total price.”</a:t>
            </a:r>
            <a:endParaRPr b="0" lang="en-US" sz="2400" spc="-1" strike="noStrike">
              <a:solidFill>
                <a:srgbClr val="000000"/>
              </a:solidFill>
              <a:latin typeface="Calibri"/>
            </a:endParaRPr>
          </a:p>
          <a:p>
            <a:pPr>
              <a:lnSpc>
                <a:spcPct val="90000"/>
              </a:lnSpc>
              <a:spcBef>
                <a:spcPts val="1001"/>
              </a:spcBef>
            </a:pPr>
            <a:endParaRPr b="0" lang="en-US" sz="2400" spc="-1" strike="noStrike">
              <a:solidFill>
                <a:srgbClr val="000000"/>
              </a:solidFill>
              <a:latin typeface="Calibri"/>
            </a:endParaRPr>
          </a:p>
        </p:txBody>
      </p:sp>
    </p:spTree>
  </p:cSld>
  <p:timing>
    <p:tnLst>
      <p:par>
        <p:cTn id="227" dur="indefinite" restart="never" nodeType="tmRoot">
          <p:childTnLst>
            <p:seq>
              <p:cTn id="228" dur="indefinite" nodeType="mainSeq"/>
              <p:prevCondLst>
                <p:cond delay="0" evt="onPrev">
                  <p:tgtEl>
                    <p:sldTgt/>
                  </p:tgtEl>
                </p:cond>
              </p:prevCondLst>
              <p:nextCondLst>
                <p:cond delay="0"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TextShape 1"/>
          <p:cNvSpPr txBox="1"/>
          <p:nvPr/>
        </p:nvSpPr>
        <p:spPr>
          <a:xfrm>
            <a:off x="838080" y="365040"/>
            <a:ext cx="10515240" cy="1325160"/>
          </a:xfrm>
          <a:prstGeom prst="rect">
            <a:avLst/>
          </a:prstGeom>
          <a:noFill/>
          <a:ln>
            <a:noFill/>
          </a:ln>
        </p:spPr>
        <p:txBody>
          <a:bodyPr anchor="ctr"/>
          <a:p>
            <a:pPr>
              <a:lnSpc>
                <a:spcPct val="90000"/>
              </a:lnSpc>
            </a:pPr>
            <a:r>
              <a:rPr b="1" lang="en-US" sz="4400" spc="-1" strike="noStrike">
                <a:solidFill>
                  <a:srgbClr val="000000"/>
                </a:solidFill>
                <a:latin typeface="Calibri Light"/>
              </a:rPr>
              <a:t>Solution ideas</a:t>
            </a:r>
            <a:endParaRPr b="0" lang="en-US" sz="4400" spc="-1" strike="noStrike">
              <a:solidFill>
                <a:srgbClr val="000000"/>
              </a:solidFill>
              <a:latin typeface="Calibri"/>
            </a:endParaRPr>
          </a:p>
        </p:txBody>
      </p:sp>
      <p:sp>
        <p:nvSpPr>
          <p:cNvPr id="124" name="TextShape 2"/>
          <p:cNvSpPr txBox="1"/>
          <p:nvPr/>
        </p:nvSpPr>
        <p:spPr>
          <a:xfrm>
            <a:off x="838080" y="1825560"/>
            <a:ext cx="10515240" cy="4350960"/>
          </a:xfrm>
          <a:prstGeom prst="rect">
            <a:avLst/>
          </a:prstGeom>
          <a:noFill/>
          <a:ln>
            <a:noFill/>
          </a:ln>
        </p:spPr>
        <p:txBody>
          <a:bodyPr>
            <a:norm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Many “requirements” from users are really solution ideas.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Someone who describes a specific way to interact with the system to perform some action is suggesting a solution.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The business analyst needs to probe below the surface of a solution idea to get to the real requirement.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Repeatedly asking “why” the user needs it to work this way will likely reveal the true need.</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For instance, passwords are just one of several possible ways to implement a security requirement.</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 “</a:t>
            </a:r>
            <a:r>
              <a:rPr b="0" lang="en-US" sz="2400" spc="-1" strike="noStrike">
                <a:solidFill>
                  <a:srgbClr val="000000"/>
                </a:solidFill>
                <a:latin typeface="Calibri"/>
              </a:rPr>
              <a:t>Then I select the state where I want to send the package from a drop-down list.”</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The prudent BA will ask, “Why from a drop-down list?” If the user replies, “That just seemed like a good way to do it,” then the real requirement is something like, “The system shall permit the user to specify the state where he wants to send the package.” </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But maybe the user says, “We do the same thing in several other places and I want it to be consistent. Also, the drop-down list prevents the user from entering invalid data.” </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These are legitimate reasons to specify a specific solution.</a:t>
            </a:r>
            <a:endParaRPr b="0" lang="en-US" sz="24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 </a:t>
            </a:r>
            <a:r>
              <a:rPr b="0" lang="en-US" sz="2800" spc="-1" strike="noStrike">
                <a:solidFill>
                  <a:srgbClr val="000000"/>
                </a:solidFill>
                <a:latin typeface="Calibri"/>
              </a:rPr>
              <a:t>Recognize, though, that embedding a solution in a requirement imposes a design constraint on that requirement: it limits the requirement to being implemented in only one way. This isn’t necessarily wrong or bad; just make sure the constraint is there for a good reason.</a:t>
            </a:r>
            <a:endParaRPr b="0" lang="en-US" sz="2800" spc="-1" strike="noStrike">
              <a:solidFill>
                <a:srgbClr val="000000"/>
              </a:solidFill>
              <a:latin typeface="Calibri"/>
            </a:endParaRPr>
          </a:p>
        </p:txBody>
      </p:sp>
    </p:spTree>
  </p:cSld>
  <p:timing>
    <p:tnLst>
      <p:par>
        <p:cTn id="229" dur="indefinite" restart="never" nodeType="tmRoot">
          <p:childTnLst>
            <p:seq>
              <p:cTn id="230" dur="indefinite" nodeType="mainSeq"/>
              <p:prevCondLst>
                <p:cond delay="0" evt="onPrev">
                  <p:tgtEl>
                    <p:sldTgt/>
                  </p:tgtEl>
                </p:cond>
              </p:prevCondLst>
              <p:nextCondLst>
                <p:cond delay="0"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TextShape 1"/>
          <p:cNvSpPr txBox="1"/>
          <p:nvPr/>
        </p:nvSpPr>
        <p:spPr>
          <a:xfrm>
            <a:off x="838080" y="365040"/>
            <a:ext cx="10515240" cy="1325160"/>
          </a:xfrm>
          <a:prstGeom prst="rect">
            <a:avLst/>
          </a:prstGeom>
          <a:noFill/>
          <a:ln>
            <a:noFill/>
          </a:ln>
        </p:spPr>
        <p:txBody>
          <a:bodyPr anchor="ctr"/>
          <a:p>
            <a:pPr>
              <a:lnSpc>
                <a:spcPct val="90000"/>
              </a:lnSpc>
            </a:pPr>
            <a:r>
              <a:rPr b="0" lang="en-US" sz="4400" spc="-1" strike="noStrike">
                <a:solidFill>
                  <a:srgbClr val="000000"/>
                </a:solidFill>
                <a:latin typeface="Calibri Light"/>
              </a:rPr>
              <a:t>How to tell that elicitation is over</a:t>
            </a:r>
            <a:endParaRPr b="0" lang="en-US" sz="4400" spc="-1" strike="noStrike">
              <a:solidFill>
                <a:srgbClr val="000000"/>
              </a:solidFill>
              <a:latin typeface="Calibri"/>
            </a:endParaRPr>
          </a:p>
        </p:txBody>
      </p:sp>
      <p:sp>
        <p:nvSpPr>
          <p:cNvPr id="126" name="TextShape 2"/>
          <p:cNvSpPr txBox="1"/>
          <p:nvPr/>
        </p:nvSpPr>
        <p:spPr>
          <a:xfrm>
            <a:off x="838080" y="1825560"/>
            <a:ext cx="10515240" cy="4350960"/>
          </a:xfrm>
          <a:prstGeom prst="rect">
            <a:avLst/>
          </a:prstGeom>
          <a:noFill/>
          <a:ln>
            <a:noFill/>
          </a:ln>
        </p:spPr>
        <p:txBody>
          <a:bodyPr>
            <a:norm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No simple signal will indicate when you’ve completed requirements elicitation.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Perhaps you are done if:</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The users can’t think of any more use cases or user stories. Users propose new scenarios, but they don’t lead to any new functional requirements. A “new” use case might really be an alternative flow for a use case you’ve already captured.</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Users repeat issues they already covered in previous discussions.</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Suggested new features, user requirements, or functional requirements are all deemed to be out of scope.</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The users are proposing capabilities that might be included “sometime in the lifetime of the product” rather than “in the specific product we’re talking about right now.”</a:t>
            </a:r>
            <a:endParaRPr b="0" lang="en-US" sz="24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Developers and testers who review the requirements for an area raise few questions.</a:t>
            </a:r>
            <a:endParaRPr b="0" lang="en-US" sz="2400" spc="-1" strike="noStrike">
              <a:solidFill>
                <a:srgbClr val="000000"/>
              </a:solidFill>
              <a:latin typeface="Calibri"/>
            </a:endParaRPr>
          </a:p>
          <a:p>
            <a:endParaRPr b="0" lang="en-US" sz="2400" spc="-1" strike="noStrike">
              <a:solidFill>
                <a:srgbClr val="000000"/>
              </a:solidFill>
              <a:latin typeface="Calibri"/>
            </a:endParaRPr>
          </a:p>
          <a:p>
            <a:pPr>
              <a:lnSpc>
                <a:spcPct val="90000"/>
              </a:lnSpc>
              <a:spcBef>
                <a:spcPts val="1001"/>
              </a:spcBef>
            </a:pPr>
            <a:endParaRPr b="0" lang="en-US" sz="2400" spc="-1" strike="noStrike">
              <a:solidFill>
                <a:srgbClr val="000000"/>
              </a:solidFill>
              <a:latin typeface="Calibri"/>
            </a:endParaRPr>
          </a:p>
        </p:txBody>
      </p:sp>
    </p:spTree>
  </p:cSld>
  <p:timing>
    <p:tnLst>
      <p:par>
        <p:cTn id="231" dur="indefinite" restart="never" nodeType="tmRoot">
          <p:childTnLst>
            <p:seq>
              <p:cTn id="232" dur="indefinite" nodeType="mainSeq"/>
              <p:prevCondLst>
                <p:cond delay="0" evt="onPrev">
                  <p:tgtEl>
                    <p:sldTgt/>
                  </p:tgtEl>
                </p:cond>
              </p:prevCondLst>
              <p:nextCondLst>
                <p:cond delay="0"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TextShape 1"/>
          <p:cNvSpPr txBox="1"/>
          <p:nvPr/>
        </p:nvSpPr>
        <p:spPr>
          <a:xfrm>
            <a:off x="838080" y="365040"/>
            <a:ext cx="10515240" cy="1325160"/>
          </a:xfrm>
          <a:prstGeom prst="rect">
            <a:avLst/>
          </a:prstGeom>
          <a:noFill/>
          <a:ln>
            <a:noFill/>
          </a:ln>
        </p:spPr>
        <p:txBody>
          <a:bodyPr anchor="ctr"/>
          <a:p>
            <a:pPr>
              <a:lnSpc>
                <a:spcPct val="90000"/>
              </a:lnSpc>
            </a:pPr>
            <a:r>
              <a:rPr b="1" lang="en-US" sz="4400" spc="-1" strike="noStrike">
                <a:solidFill>
                  <a:srgbClr val="000000"/>
                </a:solidFill>
                <a:latin typeface="Calibri Light"/>
              </a:rPr>
              <a:t>Some cautions about elicitation</a:t>
            </a:r>
            <a:endParaRPr b="0" lang="en-US" sz="4400" spc="-1" strike="noStrike">
              <a:solidFill>
                <a:srgbClr val="000000"/>
              </a:solidFill>
              <a:latin typeface="Calibri"/>
            </a:endParaRPr>
          </a:p>
        </p:txBody>
      </p:sp>
      <p:sp>
        <p:nvSpPr>
          <p:cNvPr id="128" name="TextShape 2"/>
          <p:cNvSpPr txBox="1"/>
          <p:nvPr/>
        </p:nvSpPr>
        <p:spPr>
          <a:xfrm>
            <a:off x="838080" y="1825560"/>
            <a:ext cx="10515240" cy="4350960"/>
          </a:xfrm>
          <a:prstGeom prst="rect">
            <a:avLst/>
          </a:prstGeom>
          <a:noFill/>
          <a:ln>
            <a:noFill/>
          </a:ln>
        </p:spPr>
        <p:txBody>
          <a:bodyPr/>
          <a:p>
            <a:pPr marL="228600" indent="-228240">
              <a:lnSpc>
                <a:spcPct val="90000"/>
              </a:lnSpc>
              <a:spcBef>
                <a:spcPts val="1001"/>
              </a:spcBef>
              <a:buClr>
                <a:srgbClr val="000000"/>
              </a:buClr>
              <a:buFont typeface="Arial"/>
              <a:buChar char="•"/>
            </a:pPr>
            <a:r>
              <a:rPr b="1" lang="en-US" sz="2800" spc="-1" strike="noStrike">
                <a:solidFill>
                  <a:srgbClr val="000000"/>
                </a:solidFill>
                <a:latin typeface="Calibri"/>
              </a:rPr>
              <a:t>Balance stakeholder representation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1" lang="en-US" sz="2800" spc="-1" strike="noStrike">
                <a:solidFill>
                  <a:srgbClr val="000000"/>
                </a:solidFill>
                <a:latin typeface="Calibri"/>
              </a:rPr>
              <a:t>Define scope appropriately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1" lang="en-US" sz="2800" spc="-1" strike="noStrike">
                <a:solidFill>
                  <a:srgbClr val="000000"/>
                </a:solidFill>
                <a:latin typeface="Calibri"/>
              </a:rPr>
              <a:t>Avoid the requirements-versus-design argument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1" lang="en-US" sz="2800" spc="-1" strike="noStrike">
                <a:solidFill>
                  <a:srgbClr val="000000"/>
                </a:solidFill>
                <a:latin typeface="Calibri"/>
              </a:rPr>
              <a:t>Research within reason </a:t>
            </a:r>
            <a:endParaRPr b="0" lang="en-US" sz="2800" spc="-1" strike="noStrike">
              <a:solidFill>
                <a:srgbClr val="000000"/>
              </a:solidFill>
              <a:latin typeface="Calibri"/>
            </a:endParaRPr>
          </a:p>
          <a:p>
            <a:pPr marL="228600" indent="-228240">
              <a:lnSpc>
                <a:spcPct val="90000"/>
              </a:lnSpc>
              <a:spcBef>
                <a:spcPts val="1001"/>
              </a:spcBef>
              <a:buClr>
                <a:srgbClr val="000000"/>
              </a:buClr>
              <a:buFont typeface="Arial"/>
              <a:buChar char="•"/>
            </a:pPr>
            <a:r>
              <a:rPr b="1" lang="en-US" sz="2800" spc="-1" strike="noStrike">
                <a:solidFill>
                  <a:srgbClr val="000000"/>
                </a:solidFill>
                <a:latin typeface="Calibri"/>
              </a:rPr>
              <a:t>Assumed and implied requirements</a:t>
            </a:r>
            <a:endParaRPr b="0" lang="en-US" sz="2800" spc="-1" strike="noStrike">
              <a:solidFill>
                <a:srgbClr val="000000"/>
              </a:solidFill>
              <a:latin typeface="Calibri"/>
            </a:endParaRPr>
          </a:p>
        </p:txBody>
      </p:sp>
    </p:spTree>
  </p:cSld>
  <p:timing>
    <p:tnLst>
      <p:par>
        <p:cTn id="233" dur="indefinite" restart="never" nodeType="tmRoot">
          <p:childTnLst>
            <p:seq>
              <p:cTn id="234" dur="indefinite"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2226</TotalTime>
  <Application>LibreOffice/6.0.7.3$Linux_X86_64 LibreOffice_project/00m0$Build-3</Application>
  <Words>2189</Words>
  <Paragraphs>146</Paragraphs>
  <Company>Grizli777</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2020-10-12T04:15:51Z</dcterms:created>
  <dc:creator>Sara Rehmat</dc:creator>
  <dc:description/>
  <dc:language>en-US</dc:language>
  <cp:lastModifiedBy/>
  <dcterms:modified xsi:type="dcterms:W3CDTF">2020-10-14T17:21:15Z</dcterms:modified>
  <cp:revision>18</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Company">
    <vt:lpwstr>Grizli777</vt:lpwstr>
  </property>
  <property fmtid="{D5CDD505-2E9C-101B-9397-08002B2CF9AE}" pid="4" name="HiddenSlides">
    <vt:i4>0</vt:i4>
  </property>
  <property fmtid="{D5CDD505-2E9C-101B-9397-08002B2CF9AE}" pid="5" name="HyperlinksChanged">
    <vt:bool>0</vt:bool>
  </property>
  <property fmtid="{D5CDD505-2E9C-101B-9397-08002B2CF9AE}" pid="6" name="LinksUpToDate">
    <vt:bool>0</vt:bool>
  </property>
  <property fmtid="{D5CDD505-2E9C-101B-9397-08002B2CF9AE}" pid="7" name="MMClips">
    <vt:i4>0</vt:i4>
  </property>
  <property fmtid="{D5CDD505-2E9C-101B-9397-08002B2CF9AE}" pid="8" name="Notes">
    <vt:i4>0</vt:i4>
  </property>
  <property fmtid="{D5CDD505-2E9C-101B-9397-08002B2CF9AE}" pid="9" name="PresentationFormat">
    <vt:lpwstr>Widescreen</vt:lpwstr>
  </property>
  <property fmtid="{D5CDD505-2E9C-101B-9397-08002B2CF9AE}" pid="10" name="ScaleCrop">
    <vt:bool>0</vt:bool>
  </property>
  <property fmtid="{D5CDD505-2E9C-101B-9397-08002B2CF9AE}" pid="11" name="ShareDoc">
    <vt:bool>0</vt:bool>
  </property>
  <property fmtid="{D5CDD505-2E9C-101B-9397-08002B2CF9AE}" pid="12" name="Slides">
    <vt:i4>24</vt:i4>
  </property>
</Properties>
</file>