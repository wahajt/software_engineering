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57" r:id="rId4"/>
    <p:sldId id="258" r:id="rId5"/>
    <p:sldId id="261" r:id="rId6"/>
    <p:sldId id="262" r:id="rId7"/>
    <p:sldId id="265" r:id="rId8"/>
    <p:sldId id="263" r:id="rId9"/>
    <p:sldId id="278" r:id="rId10"/>
    <p:sldId id="264" r:id="rId11"/>
    <p:sldId id="266" r:id="rId12"/>
    <p:sldId id="268" r:id="rId13"/>
    <p:sldId id="269" r:id="rId14"/>
    <p:sldId id="270" r:id="rId15"/>
    <p:sldId id="271" r:id="rId16"/>
    <p:sldId id="272" r:id="rId17"/>
    <p:sldId id="273" r:id="rId18"/>
    <p:sldId id="274" r:id="rId19"/>
    <p:sldId id="275" r:id="rId20"/>
    <p:sldId id="276" r:id="rId21"/>
    <p:sldId id="279" r:id="rId22"/>
    <p:sldId id="301" r:id="rId23"/>
    <p:sldId id="280" r:id="rId24"/>
    <p:sldId id="282" r:id="rId25"/>
    <p:sldId id="283" r:id="rId26"/>
    <p:sldId id="284" r:id="rId27"/>
    <p:sldId id="285" r:id="rId28"/>
    <p:sldId id="286" r:id="rId29"/>
    <p:sldId id="287" r:id="rId30"/>
    <p:sldId id="281" r:id="rId31"/>
    <p:sldId id="288" r:id="rId32"/>
    <p:sldId id="300" r:id="rId33"/>
    <p:sldId id="289" r:id="rId34"/>
    <p:sldId id="302" r:id="rId35"/>
    <p:sldId id="290" r:id="rId36"/>
    <p:sldId id="303" r:id="rId37"/>
    <p:sldId id="291" r:id="rId38"/>
    <p:sldId id="306" r:id="rId39"/>
    <p:sldId id="293" r:id="rId40"/>
    <p:sldId id="294" r:id="rId41"/>
    <p:sldId id="307" r:id="rId42"/>
    <p:sldId id="295" r:id="rId43"/>
    <p:sldId id="296" r:id="rId44"/>
    <p:sldId id="297" r:id="rId45"/>
    <p:sldId id="298" r:id="rId46"/>
    <p:sldId id="299" r:id="rId47"/>
    <p:sldId id="308" r:id="rId48"/>
    <p:sldId id="26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AD42FD1-B84C-477B-9031-633D5BBC7314}"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340167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D42FD1-B84C-477B-9031-633D5BBC7314}"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1270713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D42FD1-B84C-477B-9031-633D5BBC7314}"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2979614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AD42FD1-B84C-477B-9031-633D5BBC7314}" type="datetimeFigureOut">
              <a:rPr lang="en-US" smtClean="0"/>
              <a:t>10/27/2020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379672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AD42FD1-B84C-477B-9031-633D5BBC7314}" type="datetimeFigureOut">
              <a:rPr lang="en-US" smtClean="0"/>
              <a:t>10/27/2020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3451857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AD42FD1-B84C-477B-9031-633D5BBC7314}" type="datetimeFigureOut">
              <a:rPr lang="en-US" smtClean="0"/>
              <a:t>10/27/2020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2981025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D42FD1-B84C-477B-9031-633D5BBC7314}" type="datetimeFigureOut">
              <a:rPr lang="en-US" smtClean="0"/>
              <a:t>10/27/2020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100697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D42FD1-B84C-477B-9031-633D5BBC7314}" type="datetimeFigureOut">
              <a:rPr lang="en-US" smtClean="0"/>
              <a:t>10/27/2020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1887035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D42FD1-B84C-477B-9031-633D5BBC7314}" type="datetimeFigureOut">
              <a:rPr lang="en-US" smtClean="0"/>
              <a:t>10/27/2020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1316181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D42FD1-B84C-477B-9031-633D5BBC7314}"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2735564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D42FD1-B84C-477B-9031-633D5BBC7314}"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AF850-FC74-4325-8E9C-53E715EA1B56}" type="slidenum">
              <a:rPr lang="en-US" smtClean="0"/>
              <a:t>‹#›</a:t>
            </a:fld>
            <a:endParaRPr lang="en-US"/>
          </a:p>
        </p:txBody>
      </p:sp>
    </p:spTree>
    <p:extLst>
      <p:ext uri="{BB962C8B-B14F-4D97-AF65-F5344CB8AC3E}">
        <p14:creationId xmlns:p14="http://schemas.microsoft.com/office/powerpoint/2010/main" val="1562423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D42FD1-B84C-477B-9031-633D5BBC7314}" type="datetimeFigureOut">
              <a:rPr lang="en-US" smtClean="0"/>
              <a:t>10/27/2020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0AF850-FC74-4325-8E9C-53E715EA1B56}" type="slidenum">
              <a:rPr lang="en-US" smtClean="0"/>
              <a:t>‹#›</a:t>
            </a:fld>
            <a:endParaRPr lang="en-US"/>
          </a:p>
        </p:txBody>
      </p:sp>
    </p:spTree>
    <p:extLst>
      <p:ext uri="{BB962C8B-B14F-4D97-AF65-F5344CB8AC3E}">
        <p14:creationId xmlns:p14="http://schemas.microsoft.com/office/powerpoint/2010/main" val="3930519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731297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184998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Understanding User Requirements</a:t>
            </a:r>
            <a:endParaRPr lang="en-US" dirty="0"/>
          </a:p>
        </p:txBody>
      </p:sp>
      <p:pic>
        <p:nvPicPr>
          <p:cNvPr id="4" name="Content Placeholder 3"/>
          <p:cNvPicPr>
            <a:picLocks noGrp="1" noChangeAspect="1"/>
          </p:cNvPicPr>
          <p:nvPr>
            <p:ph idx="1"/>
          </p:nvPr>
        </p:nvPicPr>
        <p:blipFill>
          <a:blip r:embed="rId2"/>
          <a:stretch>
            <a:fillRect/>
          </a:stretch>
        </p:blipFill>
        <p:spPr>
          <a:xfrm>
            <a:off x="4241443" y="1945864"/>
            <a:ext cx="3936642" cy="4758208"/>
          </a:xfrm>
          <a:prstGeom prst="rect">
            <a:avLst/>
          </a:prstGeom>
        </p:spPr>
      </p:pic>
    </p:spTree>
    <p:extLst>
      <p:ext uri="{BB962C8B-B14F-4D97-AF65-F5344CB8AC3E}">
        <p14:creationId xmlns:p14="http://schemas.microsoft.com/office/powerpoint/2010/main" val="29818366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Approaches for gathering User Requirements</a:t>
            </a:r>
            <a:endParaRPr lang="en-US" dirty="0"/>
          </a:p>
        </p:txBody>
      </p:sp>
      <p:sp>
        <p:nvSpPr>
          <p:cNvPr id="3" name="Content Placeholder 2"/>
          <p:cNvSpPr>
            <a:spLocks noGrp="1"/>
          </p:cNvSpPr>
          <p:nvPr>
            <p:ph idx="1"/>
          </p:nvPr>
        </p:nvSpPr>
        <p:spPr/>
        <p:txBody>
          <a:bodyPr>
            <a:normAutofit fontScale="85000" lnSpcReduction="10000"/>
          </a:bodyPr>
          <a:lstStyle/>
          <a:p>
            <a:r>
              <a:rPr lang="en-GB" dirty="0" smtClean="0"/>
              <a:t>To gather user requirements, there are two approaches.</a:t>
            </a:r>
          </a:p>
          <a:p>
            <a:pPr lvl="1"/>
            <a:r>
              <a:rPr lang="en-GB" dirty="0" smtClean="0"/>
              <a:t>Product-centric approach</a:t>
            </a:r>
            <a:endParaRPr lang="en-GB" dirty="0"/>
          </a:p>
          <a:p>
            <a:pPr lvl="1"/>
            <a:r>
              <a:rPr lang="en-GB" dirty="0" smtClean="0"/>
              <a:t>User-centric and usage-centric approach</a:t>
            </a:r>
          </a:p>
          <a:p>
            <a:r>
              <a:rPr lang="en-GB" dirty="0" smtClean="0"/>
              <a:t>Product-centric approach</a:t>
            </a:r>
          </a:p>
          <a:p>
            <a:pPr lvl="1"/>
            <a:r>
              <a:rPr lang="en-GB" dirty="0" smtClean="0"/>
              <a:t>Focuses </a:t>
            </a:r>
            <a:r>
              <a:rPr lang="en-GB" dirty="0"/>
              <a:t>on defining the features to implement in the software, with the hope that those features will appeal to prospective customers</a:t>
            </a:r>
            <a:r>
              <a:rPr lang="en-GB" dirty="0" smtClean="0"/>
              <a:t>.</a:t>
            </a:r>
          </a:p>
          <a:p>
            <a:r>
              <a:rPr lang="en-GB" dirty="0" smtClean="0"/>
              <a:t>User-centric and usage-centric approach</a:t>
            </a:r>
          </a:p>
          <a:p>
            <a:pPr lvl="1"/>
            <a:r>
              <a:rPr lang="en-GB" dirty="0" smtClean="0"/>
              <a:t>Focusing </a:t>
            </a:r>
            <a:r>
              <a:rPr lang="en-GB" dirty="0"/>
              <a:t>on users and their anticipated usage helps reveal the necessary functionality, avoids implementing features that no one will use, and assists with prioritization</a:t>
            </a:r>
            <a:r>
              <a:rPr lang="en-GB" dirty="0" smtClean="0"/>
              <a:t>.</a:t>
            </a:r>
          </a:p>
          <a:p>
            <a:pPr lvl="1"/>
            <a:r>
              <a:rPr lang="en-GB" dirty="0" smtClean="0"/>
              <a:t>Two techniques used are : </a:t>
            </a:r>
            <a:r>
              <a:rPr lang="en-GB" b="1" dirty="0" smtClean="0"/>
              <a:t>Use </a:t>
            </a:r>
            <a:r>
              <a:rPr lang="en-GB" b="1" dirty="0"/>
              <a:t>C</a:t>
            </a:r>
            <a:r>
              <a:rPr lang="en-GB" b="1" dirty="0" smtClean="0"/>
              <a:t>ases and User Stories</a:t>
            </a:r>
          </a:p>
          <a:p>
            <a:r>
              <a:rPr lang="en-GB" dirty="0" smtClean="0"/>
              <a:t>Difference:</a:t>
            </a:r>
          </a:p>
          <a:p>
            <a:pPr lvl="1"/>
            <a:r>
              <a:rPr lang="en-GB" dirty="0" smtClean="0"/>
              <a:t> what </a:t>
            </a:r>
            <a:r>
              <a:rPr lang="en-GB" i="1" dirty="0" smtClean="0"/>
              <a:t>users </a:t>
            </a:r>
            <a:r>
              <a:rPr lang="en-GB" dirty="0" smtClean="0"/>
              <a:t>need to accomplish </a:t>
            </a:r>
          </a:p>
          <a:p>
            <a:pPr lvl="1"/>
            <a:r>
              <a:rPr lang="en-GB" dirty="0" smtClean="0"/>
              <a:t>asking users what they want the </a:t>
            </a:r>
            <a:r>
              <a:rPr lang="en-GB" i="1" dirty="0" smtClean="0"/>
              <a:t>system </a:t>
            </a:r>
            <a:r>
              <a:rPr lang="en-GB" dirty="0" smtClean="0"/>
              <a:t>to do.</a:t>
            </a:r>
            <a:endParaRPr lang="en-US" dirty="0"/>
          </a:p>
        </p:txBody>
      </p:sp>
    </p:spTree>
    <p:extLst>
      <p:ext uri="{BB962C8B-B14F-4D97-AF65-F5344CB8AC3E}">
        <p14:creationId xmlns:p14="http://schemas.microsoft.com/office/powerpoint/2010/main" val="42292501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User-centered approach</a:t>
            </a:r>
            <a:endParaRPr lang="en-US" dirty="0"/>
          </a:p>
        </p:txBody>
      </p:sp>
      <p:sp>
        <p:nvSpPr>
          <p:cNvPr id="3" name="Content Placeholder 2"/>
          <p:cNvSpPr>
            <a:spLocks noGrp="1"/>
          </p:cNvSpPr>
          <p:nvPr>
            <p:ph idx="1"/>
          </p:nvPr>
        </p:nvSpPr>
        <p:spPr/>
        <p:txBody>
          <a:bodyPr>
            <a:normAutofit/>
          </a:bodyPr>
          <a:lstStyle/>
          <a:p>
            <a:r>
              <a:rPr lang="en-GB" dirty="0"/>
              <a:t>Use cases and user stories work well for exploring the requirements for </a:t>
            </a:r>
            <a:endParaRPr lang="en-GB" dirty="0" smtClean="0"/>
          </a:p>
          <a:p>
            <a:pPr lvl="1"/>
            <a:r>
              <a:rPr lang="en-GB" dirty="0" smtClean="0"/>
              <a:t>business </a:t>
            </a:r>
            <a:r>
              <a:rPr lang="en-GB" dirty="0"/>
              <a:t>applications, websites, kiosks, and systems that let a user control a piece of hardware</a:t>
            </a:r>
            <a:r>
              <a:rPr lang="en-GB" dirty="0" smtClean="0"/>
              <a:t>.</a:t>
            </a:r>
          </a:p>
          <a:p>
            <a:r>
              <a:rPr lang="en-GB" dirty="0" smtClean="0"/>
              <a:t> Use cases are user stories are </a:t>
            </a:r>
            <a:r>
              <a:rPr lang="en-GB" dirty="0"/>
              <a:t>inadequate for understanding the requirements of certain types of applications</a:t>
            </a:r>
            <a:r>
              <a:rPr lang="en-GB" dirty="0" smtClean="0"/>
              <a:t>.</a:t>
            </a:r>
          </a:p>
          <a:p>
            <a:pPr lvl="1"/>
            <a:r>
              <a:rPr lang="en-GB" dirty="0" smtClean="0"/>
              <a:t>batch </a:t>
            </a:r>
            <a:r>
              <a:rPr lang="en-GB" dirty="0"/>
              <a:t>processes, computationally intensive systems, business analytics, and data </a:t>
            </a:r>
            <a:r>
              <a:rPr lang="en-GB" dirty="0" smtClean="0"/>
              <a:t>warehousing, many embedded and other real-time systems. </a:t>
            </a:r>
          </a:p>
          <a:p>
            <a:pPr lvl="1"/>
            <a:r>
              <a:rPr lang="en-GB" dirty="0" smtClean="0"/>
              <a:t>The </a:t>
            </a:r>
            <a:r>
              <a:rPr lang="en-GB" dirty="0"/>
              <a:t>complexity of these applications lies in the computations performed, the data found and compiled, or the reports generated, not in the user-system interactions</a:t>
            </a:r>
            <a:r>
              <a:rPr lang="en-GB" dirty="0" smtClean="0"/>
              <a:t>.</a:t>
            </a:r>
            <a:endParaRPr lang="en-GB" dirty="0"/>
          </a:p>
        </p:txBody>
      </p:sp>
    </p:spTree>
    <p:extLst>
      <p:ext uri="{BB962C8B-B14F-4D97-AF65-F5344CB8AC3E}">
        <p14:creationId xmlns:p14="http://schemas.microsoft.com/office/powerpoint/2010/main" val="42687395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a:t>
            </a:r>
            <a:endParaRPr lang="en-US" dirty="0"/>
          </a:p>
        </p:txBody>
      </p:sp>
      <p:sp>
        <p:nvSpPr>
          <p:cNvPr id="3" name="Content Placeholder 2"/>
          <p:cNvSpPr>
            <a:spLocks noGrp="1"/>
          </p:cNvSpPr>
          <p:nvPr>
            <p:ph idx="1"/>
          </p:nvPr>
        </p:nvSpPr>
        <p:spPr/>
        <p:txBody>
          <a:bodyPr/>
          <a:lstStyle/>
          <a:p>
            <a:r>
              <a:rPr lang="en-GB" dirty="0"/>
              <a:t>A </a:t>
            </a:r>
            <a:r>
              <a:rPr lang="en-GB" i="1" dirty="0"/>
              <a:t>use case </a:t>
            </a:r>
            <a:r>
              <a:rPr lang="en-GB" dirty="0"/>
              <a:t>describes a sequence of interactions between a system and an external actor that results in the actor being able to achieve some outcome of value. </a:t>
            </a:r>
            <a:endParaRPr lang="en-GB" dirty="0" smtClean="0"/>
          </a:p>
          <a:p>
            <a:r>
              <a:rPr lang="en-GB" dirty="0" smtClean="0"/>
              <a:t>The </a:t>
            </a:r>
            <a:r>
              <a:rPr lang="en-GB" dirty="0"/>
              <a:t>names of use cases are always written in the form of a verb followed by an object. </a:t>
            </a:r>
            <a:endParaRPr lang="en-GB" dirty="0" smtClean="0"/>
          </a:p>
          <a:p>
            <a:r>
              <a:rPr lang="en-GB" dirty="0" smtClean="0"/>
              <a:t>Select </a:t>
            </a:r>
            <a:r>
              <a:rPr lang="en-GB" dirty="0"/>
              <a:t>strong, descriptive names to make it evident from the name that the use case will deliver something valuable for some user.</a:t>
            </a:r>
            <a:endParaRPr lang="en-US" dirty="0"/>
          </a:p>
        </p:txBody>
      </p:sp>
    </p:spTree>
    <p:extLst>
      <p:ext uri="{BB962C8B-B14F-4D97-AF65-F5344CB8AC3E}">
        <p14:creationId xmlns:p14="http://schemas.microsoft.com/office/powerpoint/2010/main" val="20571985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Use Cases</a:t>
            </a:r>
            <a:endParaRPr lang="en-US" dirty="0"/>
          </a:p>
        </p:txBody>
      </p:sp>
      <p:pic>
        <p:nvPicPr>
          <p:cNvPr id="4" name="Content Placeholder 3"/>
          <p:cNvPicPr>
            <a:picLocks noGrp="1" noChangeAspect="1"/>
          </p:cNvPicPr>
          <p:nvPr>
            <p:ph idx="1"/>
          </p:nvPr>
        </p:nvPicPr>
        <p:blipFill>
          <a:blip r:embed="rId2"/>
          <a:stretch>
            <a:fillRect/>
          </a:stretch>
        </p:blipFill>
        <p:spPr>
          <a:xfrm>
            <a:off x="2347912" y="1972469"/>
            <a:ext cx="7496175" cy="4057650"/>
          </a:xfrm>
          <a:prstGeom prst="rect">
            <a:avLst/>
          </a:prstGeom>
        </p:spPr>
      </p:pic>
    </p:spTree>
    <p:extLst>
      <p:ext uri="{BB962C8B-B14F-4D97-AF65-F5344CB8AC3E}">
        <p14:creationId xmlns:p14="http://schemas.microsoft.com/office/powerpoint/2010/main" val="2011602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Story</a:t>
            </a:r>
            <a:endParaRPr lang="en-US" dirty="0"/>
          </a:p>
        </p:txBody>
      </p:sp>
      <p:sp>
        <p:nvSpPr>
          <p:cNvPr id="3" name="Content Placeholder 2"/>
          <p:cNvSpPr>
            <a:spLocks noGrp="1"/>
          </p:cNvSpPr>
          <p:nvPr>
            <p:ph idx="1"/>
          </p:nvPr>
        </p:nvSpPr>
        <p:spPr/>
        <p:txBody>
          <a:bodyPr>
            <a:normAutofit/>
          </a:bodyPr>
          <a:lstStyle/>
          <a:p>
            <a:r>
              <a:rPr lang="en-GB" dirty="0" smtClean="0"/>
              <a:t>Used </a:t>
            </a:r>
            <a:r>
              <a:rPr lang="en-GB" dirty="0"/>
              <a:t>on agile development projects</a:t>
            </a:r>
            <a:r>
              <a:rPr lang="en-GB" dirty="0" smtClean="0"/>
              <a:t>,</a:t>
            </a:r>
          </a:p>
          <a:p>
            <a:r>
              <a:rPr lang="en-GB" dirty="0" smtClean="0"/>
              <a:t>A </a:t>
            </a:r>
            <a:r>
              <a:rPr lang="en-GB" dirty="0"/>
              <a:t>“short, simple description of a feature </a:t>
            </a:r>
            <a:r>
              <a:rPr lang="en-GB" dirty="0" smtClean="0"/>
              <a:t>told from </a:t>
            </a:r>
            <a:r>
              <a:rPr lang="en-GB" dirty="0"/>
              <a:t>the perspective of the person who desires the new capability, usually a user or customer of the system” (Cohn 2010). </a:t>
            </a:r>
            <a:endParaRPr lang="en-GB" dirty="0" smtClean="0"/>
          </a:p>
          <a:p>
            <a:r>
              <a:rPr lang="en-GB" dirty="0" smtClean="0"/>
              <a:t>User </a:t>
            </a:r>
            <a:r>
              <a:rPr lang="en-GB" dirty="0"/>
              <a:t>stories often are written according to the following template, although other styles also are used:</a:t>
            </a:r>
          </a:p>
          <a:p>
            <a:r>
              <a:rPr lang="en-GB" i="1" dirty="0"/>
              <a:t>As a &lt;type of user&gt;, I want &lt;some goal&gt; so that &lt;some reason&gt;.</a:t>
            </a:r>
            <a:endParaRPr lang="en-GB" dirty="0"/>
          </a:p>
          <a:p>
            <a:endParaRPr lang="en-US" dirty="0"/>
          </a:p>
        </p:txBody>
      </p:sp>
    </p:spTree>
    <p:extLst>
      <p:ext uri="{BB962C8B-B14F-4D97-AF65-F5344CB8AC3E}">
        <p14:creationId xmlns:p14="http://schemas.microsoft.com/office/powerpoint/2010/main" val="31738716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37122" y="2485624"/>
            <a:ext cx="8568865" cy="2672958"/>
          </a:xfrm>
          <a:prstGeom prst="rect">
            <a:avLst/>
          </a:prstGeom>
        </p:spPr>
      </p:pic>
    </p:spTree>
    <p:extLst>
      <p:ext uri="{BB962C8B-B14F-4D97-AF65-F5344CB8AC3E}">
        <p14:creationId xmlns:p14="http://schemas.microsoft.com/office/powerpoint/2010/main" val="41198214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Similarities between a Use case and a User Story</a:t>
            </a:r>
            <a:endParaRPr lang="en-US" dirty="0"/>
          </a:p>
        </p:txBody>
      </p:sp>
      <p:sp>
        <p:nvSpPr>
          <p:cNvPr id="3" name="Content Placeholder 2"/>
          <p:cNvSpPr>
            <a:spLocks noGrp="1"/>
          </p:cNvSpPr>
          <p:nvPr>
            <p:ph idx="1"/>
          </p:nvPr>
        </p:nvSpPr>
        <p:spPr/>
        <p:txBody>
          <a:bodyPr>
            <a:normAutofit fontScale="92500" lnSpcReduction="10000"/>
          </a:bodyPr>
          <a:lstStyle/>
          <a:p>
            <a:r>
              <a:rPr lang="en-GB" dirty="0" smtClean="0"/>
              <a:t>Use case and user story both state the user’s goal </a:t>
            </a:r>
          </a:p>
          <a:p>
            <a:r>
              <a:rPr lang="en-GB" dirty="0" smtClean="0"/>
              <a:t>The user story also identifies the user class and the rationale behind the request for that system capability. </a:t>
            </a:r>
          </a:p>
          <a:p>
            <a:r>
              <a:rPr lang="en-GB" dirty="0" smtClean="0"/>
              <a:t>The user class—which need not be a human being—in a user story corresponds to the primary actor in a use case.</a:t>
            </a:r>
          </a:p>
          <a:p>
            <a:r>
              <a:rPr lang="en-GB" dirty="0" smtClean="0"/>
              <a:t>The rationale could be provided in the brief description of the use case.</a:t>
            </a:r>
          </a:p>
          <a:p>
            <a:r>
              <a:rPr lang="en-GB" dirty="0" smtClean="0"/>
              <a:t> Both use cases and user stories are focused on understanding what different types of users need to accomplish through interactions with a software system.</a:t>
            </a:r>
          </a:p>
          <a:p>
            <a:r>
              <a:rPr lang="en-GB" dirty="0" smtClean="0"/>
              <a:t> However, the two processes move in different directions from these similar starting points</a:t>
            </a:r>
            <a:endParaRPr lang="en-US" dirty="0"/>
          </a:p>
        </p:txBody>
      </p:sp>
    </p:spTree>
    <p:extLst>
      <p:ext uri="{BB962C8B-B14F-4D97-AF65-F5344CB8AC3E}">
        <p14:creationId xmlns:p14="http://schemas.microsoft.com/office/powerpoint/2010/main" val="15050285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Differences between Use Cases and User Stories</a:t>
            </a:r>
            <a:endParaRPr lang="en-US" dirty="0"/>
          </a:p>
        </p:txBody>
      </p:sp>
      <p:pic>
        <p:nvPicPr>
          <p:cNvPr id="4" name="Content Placeholder 3"/>
          <p:cNvPicPr>
            <a:picLocks noGrp="1" noChangeAspect="1"/>
          </p:cNvPicPr>
          <p:nvPr>
            <p:ph idx="1"/>
          </p:nvPr>
        </p:nvPicPr>
        <p:blipFill>
          <a:blip r:embed="rId2"/>
          <a:stretch>
            <a:fillRect/>
          </a:stretch>
        </p:blipFill>
        <p:spPr>
          <a:xfrm>
            <a:off x="1451050" y="1825625"/>
            <a:ext cx="9289900" cy="4351338"/>
          </a:xfrm>
          <a:prstGeom prst="rect">
            <a:avLst/>
          </a:prstGeom>
        </p:spPr>
      </p:pic>
    </p:spTree>
    <p:extLst>
      <p:ext uri="{BB962C8B-B14F-4D97-AF65-F5344CB8AC3E}">
        <p14:creationId xmlns:p14="http://schemas.microsoft.com/office/powerpoint/2010/main" val="28402651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Cases lead to functional requirements</a:t>
            </a:r>
            <a:endParaRPr lang="en-US" dirty="0"/>
          </a:p>
        </p:txBody>
      </p:sp>
      <p:sp>
        <p:nvSpPr>
          <p:cNvPr id="3" name="Content Placeholder 2"/>
          <p:cNvSpPr>
            <a:spLocks noGrp="1"/>
          </p:cNvSpPr>
          <p:nvPr>
            <p:ph idx="1"/>
          </p:nvPr>
        </p:nvSpPr>
        <p:spPr/>
        <p:txBody>
          <a:bodyPr>
            <a:normAutofit fontScale="92500" lnSpcReduction="10000"/>
          </a:bodyPr>
          <a:lstStyle/>
          <a:p>
            <a:r>
              <a:rPr lang="en-GB" dirty="0"/>
              <a:t>With use cases, the next step is for the BA to work with user representatives to understand how they imagine a dialog taking place with the system to perform the use case. </a:t>
            </a:r>
            <a:endParaRPr lang="en-GB" dirty="0" smtClean="0"/>
          </a:p>
          <a:p>
            <a:r>
              <a:rPr lang="en-GB" dirty="0"/>
              <a:t>The BA structures the information collected according to a use case </a:t>
            </a:r>
            <a:r>
              <a:rPr lang="en-GB" dirty="0" smtClean="0"/>
              <a:t>template. </a:t>
            </a:r>
          </a:p>
          <a:p>
            <a:r>
              <a:rPr lang="en-GB" dirty="0" smtClean="0"/>
              <a:t>From </a:t>
            </a:r>
            <a:r>
              <a:rPr lang="en-GB" dirty="0"/>
              <a:t>the use case specification, </a:t>
            </a:r>
            <a:endParaRPr lang="en-GB" dirty="0" smtClean="0"/>
          </a:p>
          <a:p>
            <a:pPr lvl="1"/>
            <a:r>
              <a:rPr lang="en-GB" dirty="0" smtClean="0"/>
              <a:t>the </a:t>
            </a:r>
            <a:r>
              <a:rPr lang="en-GB" dirty="0"/>
              <a:t>BA can derive the functional requirements that developers must implement, </a:t>
            </a:r>
            <a:r>
              <a:rPr lang="en-GB" dirty="0" smtClean="0"/>
              <a:t>and</a:t>
            </a:r>
          </a:p>
          <a:p>
            <a:pPr lvl="1"/>
            <a:r>
              <a:rPr lang="en-GB" dirty="0" smtClean="0"/>
              <a:t>a </a:t>
            </a:r>
            <a:r>
              <a:rPr lang="en-GB" dirty="0"/>
              <a:t>tester can identify tests to judge whether the use case was properly implemented. </a:t>
            </a:r>
            <a:endParaRPr lang="en-GB" dirty="0" smtClean="0"/>
          </a:p>
          <a:p>
            <a:r>
              <a:rPr lang="en-GB" dirty="0" smtClean="0"/>
              <a:t>Developers </a:t>
            </a:r>
            <a:r>
              <a:rPr lang="en-GB" dirty="0"/>
              <a:t>might implement an entire use case in a single release or </a:t>
            </a:r>
            <a:r>
              <a:rPr lang="en-GB" dirty="0" smtClean="0"/>
              <a:t>iteration or they </a:t>
            </a:r>
            <a:r>
              <a:rPr lang="en-GB" dirty="0"/>
              <a:t>might implement just a portion of a particular use case initially, either for size or priority reasons, and then implement additional parts in future releases.</a:t>
            </a:r>
            <a:endParaRPr lang="en-US" dirty="0"/>
          </a:p>
        </p:txBody>
      </p:sp>
    </p:spTree>
    <p:extLst>
      <p:ext uri="{BB962C8B-B14F-4D97-AF65-F5344CB8AC3E}">
        <p14:creationId xmlns:p14="http://schemas.microsoft.com/office/powerpoint/2010/main" val="28000739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stories lead to acceptance tests</a:t>
            </a:r>
            <a:endParaRPr lang="en-US" dirty="0"/>
          </a:p>
        </p:txBody>
      </p:sp>
      <p:sp>
        <p:nvSpPr>
          <p:cNvPr id="3" name="Content Placeholder 2"/>
          <p:cNvSpPr>
            <a:spLocks noGrp="1"/>
          </p:cNvSpPr>
          <p:nvPr>
            <p:ph idx="1"/>
          </p:nvPr>
        </p:nvSpPr>
        <p:spPr/>
        <p:txBody>
          <a:bodyPr>
            <a:normAutofit lnSpcReduction="10000"/>
          </a:bodyPr>
          <a:lstStyle/>
          <a:p>
            <a:r>
              <a:rPr lang="en-GB" dirty="0"/>
              <a:t>As employed on agile projects, a user story serves as a placeholder for future conversations that need to take place on a </a:t>
            </a:r>
            <a:r>
              <a:rPr lang="en-GB" b="1" dirty="0"/>
              <a:t>just-in-time</a:t>
            </a:r>
            <a:r>
              <a:rPr lang="en-GB" dirty="0"/>
              <a:t> basis among developers, customer representatives, and a business analyst </a:t>
            </a:r>
            <a:endParaRPr lang="en-GB" dirty="0" smtClean="0"/>
          </a:p>
          <a:p>
            <a:r>
              <a:rPr lang="en-GB" dirty="0" smtClean="0"/>
              <a:t>Those </a:t>
            </a:r>
            <a:r>
              <a:rPr lang="en-GB" dirty="0"/>
              <a:t>conversations reveal the additional information that developers must know to be able to implement the story</a:t>
            </a:r>
            <a:r>
              <a:rPr lang="en-GB" dirty="0" smtClean="0"/>
              <a:t>.</a:t>
            </a:r>
          </a:p>
          <a:p>
            <a:r>
              <a:rPr lang="en-GB" dirty="0" smtClean="0"/>
              <a:t> </a:t>
            </a:r>
            <a:r>
              <a:rPr lang="en-GB" dirty="0"/>
              <a:t>Refining the user stories through conversations leads to a collection of smaller, focused stories that describe individual chunks of system functionality</a:t>
            </a:r>
            <a:r>
              <a:rPr lang="en-GB" dirty="0" smtClean="0"/>
              <a:t>.</a:t>
            </a:r>
          </a:p>
          <a:p>
            <a:r>
              <a:rPr lang="en-GB" dirty="0" smtClean="0"/>
              <a:t> </a:t>
            </a:r>
            <a:r>
              <a:rPr lang="en-GB" dirty="0"/>
              <a:t>User stories that are too large to implement in one agile development iteration (called </a:t>
            </a:r>
            <a:r>
              <a:rPr lang="en-GB" i="1" dirty="0"/>
              <a:t>epics</a:t>
            </a:r>
            <a:r>
              <a:rPr lang="en-GB" dirty="0"/>
              <a:t>) are split into smaller stories that can be implemented within a single </a:t>
            </a:r>
            <a:r>
              <a:rPr lang="en-GB" dirty="0" smtClean="0"/>
              <a:t>iteration</a:t>
            </a:r>
            <a:endParaRPr lang="en-US" dirty="0"/>
          </a:p>
        </p:txBody>
      </p:sp>
    </p:spTree>
    <p:extLst>
      <p:ext uri="{BB962C8B-B14F-4D97-AF65-F5344CB8AC3E}">
        <p14:creationId xmlns:p14="http://schemas.microsoft.com/office/powerpoint/2010/main" val="18581427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stories lead to acceptance tests</a:t>
            </a:r>
            <a:endParaRPr lang="en-US" dirty="0"/>
          </a:p>
        </p:txBody>
      </p:sp>
      <p:sp>
        <p:nvSpPr>
          <p:cNvPr id="3" name="Content Placeholder 2"/>
          <p:cNvSpPr>
            <a:spLocks noGrp="1"/>
          </p:cNvSpPr>
          <p:nvPr>
            <p:ph idx="1"/>
          </p:nvPr>
        </p:nvSpPr>
        <p:spPr/>
        <p:txBody>
          <a:bodyPr/>
          <a:lstStyle/>
          <a:p>
            <a:r>
              <a:rPr lang="en-GB" dirty="0"/>
              <a:t>Rather than specifying functional requirements, agile teams typically elaborate a refined user story into a set of acceptance tests that collectively describe the story’s “conditions of satisfaction</a:t>
            </a:r>
            <a:r>
              <a:rPr lang="en-GB" dirty="0" smtClean="0"/>
              <a:t>.”</a:t>
            </a:r>
          </a:p>
          <a:p>
            <a:r>
              <a:rPr lang="en-GB" dirty="0"/>
              <a:t>If the developer implements the necessary code to satisfy the acceptance tests—and hence to meet conditions of satisfaction—the user story is considered to be correctly implemented.</a:t>
            </a:r>
            <a:endParaRPr lang="en-US" dirty="0"/>
          </a:p>
        </p:txBody>
      </p:sp>
    </p:spTree>
    <p:extLst>
      <p:ext uri="{BB962C8B-B14F-4D97-AF65-F5344CB8AC3E}">
        <p14:creationId xmlns:p14="http://schemas.microsoft.com/office/powerpoint/2010/main" val="35671801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Which one is better – use case or user story?</a:t>
            </a:r>
            <a:endParaRPr lang="en-US" dirty="0"/>
          </a:p>
        </p:txBody>
      </p:sp>
      <p:sp>
        <p:nvSpPr>
          <p:cNvPr id="3" name="Content Placeholder 2"/>
          <p:cNvSpPr>
            <a:spLocks noGrp="1"/>
          </p:cNvSpPr>
          <p:nvPr>
            <p:ph idx="1"/>
          </p:nvPr>
        </p:nvSpPr>
        <p:spPr/>
        <p:txBody>
          <a:bodyPr>
            <a:normAutofit fontScale="92500" lnSpcReduction="10000"/>
          </a:bodyPr>
          <a:lstStyle/>
          <a:p>
            <a:r>
              <a:rPr lang="en-GB" dirty="0"/>
              <a:t>User stories offer the advantage of simplicity and </a:t>
            </a:r>
            <a:r>
              <a:rPr lang="en-GB" dirty="0" smtClean="0"/>
              <a:t>conciseness.</a:t>
            </a:r>
          </a:p>
          <a:p>
            <a:r>
              <a:rPr lang="en-GB" dirty="0" smtClean="0"/>
              <a:t>Use </a:t>
            </a:r>
            <a:r>
              <a:rPr lang="en-GB" dirty="0"/>
              <a:t>cases provide project participants with a structure and context that a collection of user stories lacks. </a:t>
            </a:r>
            <a:endParaRPr lang="en-GB" dirty="0" smtClean="0"/>
          </a:p>
          <a:p>
            <a:r>
              <a:rPr lang="en-GB" dirty="0" smtClean="0"/>
              <a:t>They </a:t>
            </a:r>
            <a:r>
              <a:rPr lang="en-GB" dirty="0"/>
              <a:t>provide an organized way for the BA to lead elicitation discussions beyond simply collecting a list of things that users need to achieve with the system as a starting point for planning and discussion</a:t>
            </a:r>
            <a:r>
              <a:rPr lang="en-GB" dirty="0" smtClean="0"/>
              <a:t>.</a:t>
            </a:r>
          </a:p>
          <a:p>
            <a:r>
              <a:rPr lang="en-GB" dirty="0"/>
              <a:t>A use-case analysis might reveal that several use cases involve similar exceptions (or other commonalities) that could perhaps be implemented as a single consistent error-handling strategy within the application. Such commonalities are more difficult to discern with a collection of user stories.</a:t>
            </a:r>
            <a:endParaRPr lang="en-US" dirty="0"/>
          </a:p>
        </p:txBody>
      </p:sp>
    </p:spTree>
    <p:extLst>
      <p:ext uri="{BB962C8B-B14F-4D97-AF65-F5344CB8AC3E}">
        <p14:creationId xmlns:p14="http://schemas.microsoft.com/office/powerpoint/2010/main" val="28293827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approach</a:t>
            </a:r>
            <a:endParaRPr lang="en-US" dirty="0"/>
          </a:p>
        </p:txBody>
      </p:sp>
      <p:sp>
        <p:nvSpPr>
          <p:cNvPr id="3" name="Content Placeholder 2"/>
          <p:cNvSpPr>
            <a:spLocks noGrp="1"/>
          </p:cNvSpPr>
          <p:nvPr>
            <p:ph idx="1"/>
          </p:nvPr>
        </p:nvSpPr>
        <p:spPr/>
        <p:txBody>
          <a:bodyPr>
            <a:normAutofit fontScale="92500" lnSpcReduction="10000"/>
          </a:bodyPr>
          <a:lstStyle/>
          <a:p>
            <a:r>
              <a:rPr lang="en-GB" dirty="0" smtClean="0"/>
              <a:t>A </a:t>
            </a:r>
            <a:r>
              <a:rPr lang="en-GB" dirty="0"/>
              <a:t>use case describes a sequence of interactions between a system and an external actor that results in some outcome that provides value to the actor</a:t>
            </a:r>
            <a:r>
              <a:rPr lang="en-GB" dirty="0" smtClean="0"/>
              <a:t>.</a:t>
            </a:r>
          </a:p>
          <a:p>
            <a:r>
              <a:rPr lang="en-GB" dirty="0" smtClean="0"/>
              <a:t> </a:t>
            </a:r>
            <a:r>
              <a:rPr lang="en-GB" dirty="0"/>
              <a:t>An </a:t>
            </a:r>
            <a:r>
              <a:rPr lang="en-GB" i="1" dirty="0"/>
              <a:t>actor </a:t>
            </a:r>
            <a:r>
              <a:rPr lang="en-GB" dirty="0"/>
              <a:t>is a person (or sometimes another software system or a hardware device) that interacts with the system to perform a use case. </a:t>
            </a:r>
            <a:endParaRPr lang="en-GB" dirty="0" smtClean="0"/>
          </a:p>
          <a:p>
            <a:r>
              <a:rPr lang="en-GB" dirty="0" smtClean="0"/>
              <a:t>For </a:t>
            </a:r>
            <a:r>
              <a:rPr lang="en-GB" dirty="0"/>
              <a:t>example, the Chemical Tracking System’s “Request a Chemical” use case involves an actor named </a:t>
            </a:r>
            <a:r>
              <a:rPr lang="en-GB" i="1" dirty="0"/>
              <a:t>Requester</a:t>
            </a:r>
            <a:r>
              <a:rPr lang="en-GB" dirty="0"/>
              <a:t>. </a:t>
            </a:r>
            <a:endParaRPr lang="en-GB" dirty="0" smtClean="0"/>
          </a:p>
          <a:p>
            <a:r>
              <a:rPr lang="en-GB" dirty="0" smtClean="0"/>
              <a:t>There </a:t>
            </a:r>
            <a:r>
              <a:rPr lang="en-GB" dirty="0"/>
              <a:t>is no CTS user class named Requester. Both chemists and members of the chemical stockroom staff may request chemicals, so members of either user class may perform the Requester role. </a:t>
            </a:r>
            <a:endParaRPr lang="en-GB" dirty="0" smtClean="0"/>
          </a:p>
          <a:p>
            <a:r>
              <a:rPr lang="en-GB" dirty="0"/>
              <a:t>Users are actual people (or systems); actors are abstractions.</a:t>
            </a:r>
            <a:endParaRPr lang="en-GB" dirty="0" smtClean="0"/>
          </a:p>
          <a:p>
            <a:endParaRPr lang="en-US" dirty="0"/>
          </a:p>
        </p:txBody>
      </p:sp>
    </p:spTree>
    <p:extLst>
      <p:ext uri="{BB962C8B-B14F-4D97-AF65-F5344CB8AC3E}">
        <p14:creationId xmlns:p14="http://schemas.microsoft.com/office/powerpoint/2010/main" val="35718079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identify actors in Use cases</a:t>
            </a:r>
            <a:endParaRPr lang="en-US" dirty="0"/>
          </a:p>
        </p:txBody>
      </p:sp>
      <p:sp>
        <p:nvSpPr>
          <p:cNvPr id="3" name="Content Placeholder 2"/>
          <p:cNvSpPr>
            <a:spLocks noGrp="1"/>
          </p:cNvSpPr>
          <p:nvPr>
            <p:ph idx="1"/>
          </p:nvPr>
        </p:nvSpPr>
        <p:spPr/>
        <p:txBody>
          <a:bodyPr/>
          <a:lstStyle/>
          <a:p>
            <a:r>
              <a:rPr lang="en-GB" dirty="0" smtClean="0"/>
              <a:t>Following are some questions you might ask to help user representatives identify actors:</a:t>
            </a:r>
          </a:p>
          <a:p>
            <a:pPr lvl="1"/>
            <a:r>
              <a:rPr lang="en-GB" dirty="0" smtClean="0"/>
              <a:t>Who (or what) is notified when something occurs within the system?</a:t>
            </a:r>
          </a:p>
          <a:p>
            <a:pPr lvl="1"/>
            <a:r>
              <a:rPr lang="en-GB" dirty="0" smtClean="0"/>
              <a:t>Who (or what) provides information or services to the system?</a:t>
            </a:r>
          </a:p>
          <a:p>
            <a:pPr lvl="1"/>
            <a:r>
              <a:rPr lang="en-GB" dirty="0" smtClean="0"/>
              <a:t>Who (or what) helps the system respond to and complete a task?</a:t>
            </a:r>
          </a:p>
          <a:p>
            <a:endParaRPr lang="en-US" dirty="0"/>
          </a:p>
        </p:txBody>
      </p:sp>
    </p:spTree>
    <p:extLst>
      <p:ext uri="{BB962C8B-B14F-4D97-AF65-F5344CB8AC3E}">
        <p14:creationId xmlns:p14="http://schemas.microsoft.com/office/powerpoint/2010/main" val="24094460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diagrams</a:t>
            </a:r>
            <a:endParaRPr lang="en-US" dirty="0"/>
          </a:p>
        </p:txBody>
      </p:sp>
      <p:sp>
        <p:nvSpPr>
          <p:cNvPr id="3" name="Content Placeholder 2"/>
          <p:cNvSpPr>
            <a:spLocks noGrp="1"/>
          </p:cNvSpPr>
          <p:nvPr>
            <p:ph idx="1"/>
          </p:nvPr>
        </p:nvSpPr>
        <p:spPr/>
        <p:txBody>
          <a:bodyPr>
            <a:normAutofit fontScale="70000" lnSpcReduction="20000"/>
          </a:bodyPr>
          <a:lstStyle/>
          <a:p>
            <a:r>
              <a:rPr lang="en-GB" i="1" dirty="0"/>
              <a:t>Use case diagrams </a:t>
            </a:r>
            <a:r>
              <a:rPr lang="en-GB" dirty="0"/>
              <a:t>provide a high-level visual representation of the user requirements. </a:t>
            </a:r>
            <a:endParaRPr lang="en-GB" dirty="0" smtClean="0"/>
          </a:p>
          <a:p>
            <a:r>
              <a:rPr lang="en-GB" dirty="0" smtClean="0"/>
              <a:t>They are drawn using </a:t>
            </a:r>
            <a:r>
              <a:rPr lang="en-GB" dirty="0"/>
              <a:t>the Unified </a:t>
            </a:r>
            <a:r>
              <a:rPr lang="en-GB" dirty="0" err="1"/>
              <a:t>Modeling</a:t>
            </a:r>
            <a:r>
              <a:rPr lang="en-GB" dirty="0"/>
              <a:t> Language (UML) notation (</a:t>
            </a:r>
            <a:r>
              <a:rPr lang="en-GB" dirty="0" err="1"/>
              <a:t>Booch</a:t>
            </a:r>
            <a:r>
              <a:rPr lang="en-GB" dirty="0"/>
              <a:t>, Rumbaugh, and Jacobson 1999; </a:t>
            </a:r>
            <a:r>
              <a:rPr lang="en-GB" dirty="0" err="1"/>
              <a:t>Podeswa</a:t>
            </a:r>
            <a:r>
              <a:rPr lang="en-GB" dirty="0"/>
              <a:t> 2010). </a:t>
            </a:r>
            <a:endParaRPr lang="en-GB" dirty="0" smtClean="0"/>
          </a:p>
          <a:p>
            <a:r>
              <a:rPr lang="en-GB" dirty="0" smtClean="0"/>
              <a:t>The </a:t>
            </a:r>
            <a:r>
              <a:rPr lang="en-GB" dirty="0"/>
              <a:t>box frame represents the system boundary. </a:t>
            </a:r>
            <a:endParaRPr lang="en-GB" dirty="0" smtClean="0"/>
          </a:p>
          <a:p>
            <a:r>
              <a:rPr lang="en-GB" dirty="0" smtClean="0"/>
              <a:t>Arrows </a:t>
            </a:r>
            <a:r>
              <a:rPr lang="en-GB" dirty="0"/>
              <a:t>from each actor (stick figure) connect to the use cases (ovals) with which the actor interacts. </a:t>
            </a:r>
            <a:endParaRPr lang="en-GB" dirty="0" smtClean="0"/>
          </a:p>
          <a:p>
            <a:r>
              <a:rPr lang="en-GB" dirty="0" smtClean="0"/>
              <a:t>An </a:t>
            </a:r>
            <a:r>
              <a:rPr lang="en-GB" dirty="0"/>
              <a:t>arrow from an actor to a use case indicates that he is the </a:t>
            </a:r>
            <a:r>
              <a:rPr lang="en-GB" i="1" dirty="0"/>
              <a:t>primary actor </a:t>
            </a:r>
            <a:r>
              <a:rPr lang="en-GB" dirty="0"/>
              <a:t>for the use case. </a:t>
            </a:r>
            <a:endParaRPr lang="en-GB" dirty="0" smtClean="0"/>
          </a:p>
          <a:p>
            <a:r>
              <a:rPr lang="en-GB" dirty="0" smtClean="0"/>
              <a:t>The </a:t>
            </a:r>
            <a:r>
              <a:rPr lang="en-GB" dirty="0"/>
              <a:t>primary actor initiates the use case and derives the main value from it</a:t>
            </a:r>
            <a:r>
              <a:rPr lang="en-GB" dirty="0" smtClean="0"/>
              <a:t>.</a:t>
            </a:r>
          </a:p>
          <a:p>
            <a:r>
              <a:rPr lang="en-GB" dirty="0" smtClean="0"/>
              <a:t> </a:t>
            </a:r>
            <a:r>
              <a:rPr lang="en-GB" dirty="0"/>
              <a:t>An arrow goes from a use case to a </a:t>
            </a:r>
            <a:r>
              <a:rPr lang="en-GB" i="1" dirty="0"/>
              <a:t>secondary actor</a:t>
            </a:r>
            <a:r>
              <a:rPr lang="en-GB" dirty="0"/>
              <a:t>, who participates somehow in the successful execution of the use </a:t>
            </a:r>
            <a:r>
              <a:rPr lang="en-GB" dirty="0" smtClean="0"/>
              <a:t>case</a:t>
            </a:r>
          </a:p>
          <a:p>
            <a:r>
              <a:rPr lang="en-GB" dirty="0" smtClean="0"/>
              <a:t>. </a:t>
            </a:r>
            <a:r>
              <a:rPr lang="en-GB" dirty="0"/>
              <a:t>Other software systems often serve as secondary actors, contributing behind the scenes to the use case execution. </a:t>
            </a:r>
            <a:endParaRPr lang="en-GB" dirty="0" smtClean="0"/>
          </a:p>
          <a:p>
            <a:pPr lvl="1"/>
            <a:r>
              <a:rPr lang="en-GB" dirty="0" smtClean="0"/>
              <a:t>The </a:t>
            </a:r>
            <a:r>
              <a:rPr lang="en-GB" dirty="0"/>
              <a:t>Training Database is just such a secondary actor in Figure 8-2. This system gets involved when a Requester is requesting a hazardous chemical that requires the Requester to have been trained in how to safely handle such dangerous materials.</a:t>
            </a:r>
            <a:endParaRPr lang="en-US" dirty="0"/>
          </a:p>
        </p:txBody>
      </p:sp>
    </p:spTree>
    <p:extLst>
      <p:ext uri="{BB962C8B-B14F-4D97-AF65-F5344CB8AC3E}">
        <p14:creationId xmlns:p14="http://schemas.microsoft.com/office/powerpoint/2010/main" val="1115002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517436" y="1825625"/>
            <a:ext cx="5157128" cy="4351338"/>
          </a:xfrm>
          <a:prstGeom prst="rect">
            <a:avLst/>
          </a:prstGeom>
        </p:spPr>
      </p:pic>
    </p:spTree>
    <p:extLst>
      <p:ext uri="{BB962C8B-B14F-4D97-AF65-F5344CB8AC3E}">
        <p14:creationId xmlns:p14="http://schemas.microsoft.com/office/powerpoint/2010/main" val="37722976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use case diagram and context diagram</a:t>
            </a:r>
            <a:endParaRPr lang="en-US" dirty="0"/>
          </a:p>
        </p:txBody>
      </p:sp>
      <p:sp>
        <p:nvSpPr>
          <p:cNvPr id="3" name="Content Placeholder 2"/>
          <p:cNvSpPr>
            <a:spLocks noGrp="1"/>
          </p:cNvSpPr>
          <p:nvPr>
            <p:ph idx="1"/>
          </p:nvPr>
        </p:nvSpPr>
        <p:spPr/>
        <p:txBody>
          <a:bodyPr>
            <a:normAutofit fontScale="92500" lnSpcReduction="10000"/>
          </a:bodyPr>
          <a:lstStyle/>
          <a:p>
            <a:r>
              <a:rPr lang="en-GB" dirty="0" smtClean="0"/>
              <a:t>Both </a:t>
            </a:r>
            <a:r>
              <a:rPr lang="en-GB" dirty="0"/>
              <a:t>define the scope boundary between objects that lie outside the system and things inside the system</a:t>
            </a:r>
            <a:r>
              <a:rPr lang="en-GB" dirty="0" smtClean="0"/>
              <a:t>.</a:t>
            </a:r>
          </a:p>
          <a:p>
            <a:r>
              <a:rPr lang="en-GB" dirty="0" smtClean="0"/>
              <a:t> </a:t>
            </a:r>
            <a:r>
              <a:rPr lang="en-GB" dirty="0"/>
              <a:t>In the use case diagram, the box separates some internal aspects of the system—use cases—from the external actors. </a:t>
            </a:r>
            <a:endParaRPr lang="en-GB" dirty="0" smtClean="0"/>
          </a:p>
          <a:p>
            <a:r>
              <a:rPr lang="en-GB" dirty="0" smtClean="0"/>
              <a:t>The </a:t>
            </a:r>
            <a:r>
              <a:rPr lang="en-GB" dirty="0"/>
              <a:t>context diagram also depicts objects that lie outside the system, but it provides no visibility into the system internals. </a:t>
            </a:r>
            <a:endParaRPr lang="en-GB" dirty="0" smtClean="0"/>
          </a:p>
          <a:p>
            <a:r>
              <a:rPr lang="en-GB" dirty="0" smtClean="0"/>
              <a:t>The </a:t>
            </a:r>
            <a:r>
              <a:rPr lang="en-GB" dirty="0"/>
              <a:t>arrows in a context diagram indicate the flow of data, control </a:t>
            </a:r>
            <a:r>
              <a:rPr lang="en-GB" dirty="0" smtClean="0"/>
              <a:t>signals </a:t>
            </a:r>
            <a:r>
              <a:rPr lang="en-GB" dirty="0"/>
              <a:t>across the system boundary</a:t>
            </a:r>
            <a:r>
              <a:rPr lang="en-GB" dirty="0" smtClean="0"/>
              <a:t>.</a:t>
            </a:r>
          </a:p>
          <a:p>
            <a:r>
              <a:rPr lang="en-GB" dirty="0" smtClean="0"/>
              <a:t> </a:t>
            </a:r>
            <a:r>
              <a:rPr lang="en-GB" dirty="0"/>
              <a:t>In contrast, the arrows in a use case diagram simply indicate the connections between actors and use cases in which they participate; they do not represent a flow of any kind. </a:t>
            </a:r>
            <a:endParaRPr lang="en-US" dirty="0"/>
          </a:p>
        </p:txBody>
      </p:sp>
    </p:spTree>
    <p:extLst>
      <p:ext uri="{BB962C8B-B14F-4D97-AF65-F5344CB8AC3E}">
        <p14:creationId xmlns:p14="http://schemas.microsoft.com/office/powerpoint/2010/main" val="4508730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a:t>
            </a:r>
            <a:endParaRPr lang="en-US" dirty="0"/>
          </a:p>
        </p:txBody>
      </p:sp>
      <p:sp>
        <p:nvSpPr>
          <p:cNvPr id="3" name="Content Placeholder 2"/>
          <p:cNvSpPr>
            <a:spLocks noGrp="1"/>
          </p:cNvSpPr>
          <p:nvPr>
            <p:ph idx="1"/>
          </p:nvPr>
        </p:nvSpPr>
        <p:spPr/>
        <p:txBody>
          <a:bodyPr>
            <a:normAutofit lnSpcReduction="10000"/>
          </a:bodyPr>
          <a:lstStyle/>
          <a:p>
            <a:r>
              <a:rPr lang="en-GB" dirty="0"/>
              <a:t>A use case describes a discrete, standalone activity that an actor can perform to achieve some outcome of value</a:t>
            </a:r>
            <a:r>
              <a:rPr lang="en-GB" dirty="0" smtClean="0"/>
              <a:t>.</a:t>
            </a:r>
          </a:p>
          <a:p>
            <a:r>
              <a:rPr lang="en-GB" dirty="0" smtClean="0"/>
              <a:t> </a:t>
            </a:r>
            <a:r>
              <a:rPr lang="en-GB" dirty="0"/>
              <a:t>A use case might encompass a number of related activities having a common goal. </a:t>
            </a:r>
            <a:endParaRPr lang="en-GB" dirty="0" smtClean="0"/>
          </a:p>
          <a:p>
            <a:r>
              <a:rPr lang="en-GB" dirty="0" smtClean="0"/>
              <a:t>A </a:t>
            </a:r>
            <a:r>
              <a:rPr lang="en-GB" i="1" dirty="0"/>
              <a:t>scenario </a:t>
            </a:r>
            <a:r>
              <a:rPr lang="en-GB" dirty="0"/>
              <a:t>is a description of a single instance of usage of the system. </a:t>
            </a:r>
            <a:endParaRPr lang="en-GB" dirty="0" smtClean="0"/>
          </a:p>
          <a:p>
            <a:r>
              <a:rPr lang="en-GB" dirty="0" smtClean="0"/>
              <a:t>A </a:t>
            </a:r>
            <a:r>
              <a:rPr lang="en-GB" dirty="0"/>
              <a:t>use case is therefore a collection of related usage scenarios, and a scenario is a specific instance of a use case. </a:t>
            </a:r>
            <a:endParaRPr lang="en-GB" dirty="0" smtClean="0"/>
          </a:p>
          <a:p>
            <a:r>
              <a:rPr lang="en-GB" dirty="0" smtClean="0"/>
              <a:t>When </a:t>
            </a:r>
            <a:r>
              <a:rPr lang="en-GB" dirty="0"/>
              <a:t>exploring user requirements, you can begin with a general use case statement and develop more specific usage scenarios, or you can generalize from a specific scenario example to the broader use case.</a:t>
            </a:r>
            <a:endParaRPr lang="en-US" dirty="0"/>
          </a:p>
        </p:txBody>
      </p:sp>
    </p:spTree>
    <p:extLst>
      <p:ext uri="{BB962C8B-B14F-4D97-AF65-F5344CB8AC3E}">
        <p14:creationId xmlns:p14="http://schemas.microsoft.com/office/powerpoint/2010/main" val="328176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t>
            </a:r>
            <a:r>
              <a:rPr lang="en-US" dirty="0" err="1" smtClean="0"/>
              <a:t>Usecase</a:t>
            </a:r>
            <a:endParaRPr lang="en-US" dirty="0"/>
          </a:p>
        </p:txBody>
      </p:sp>
      <p:pic>
        <p:nvPicPr>
          <p:cNvPr id="4" name="Content Placeholder 3"/>
          <p:cNvPicPr>
            <a:picLocks noGrp="1" noChangeAspect="1"/>
          </p:cNvPicPr>
          <p:nvPr>
            <p:ph idx="1"/>
          </p:nvPr>
        </p:nvPicPr>
        <p:blipFill>
          <a:blip r:embed="rId2"/>
          <a:stretch>
            <a:fillRect/>
          </a:stretch>
        </p:blipFill>
        <p:spPr>
          <a:xfrm>
            <a:off x="3116688" y="1642534"/>
            <a:ext cx="4979111" cy="5215466"/>
          </a:xfrm>
          <a:prstGeom prst="rect">
            <a:avLst/>
          </a:prstGeom>
        </p:spPr>
      </p:pic>
    </p:spTree>
    <p:extLst>
      <p:ext uri="{BB962C8B-B14F-4D97-AF65-F5344CB8AC3E}">
        <p14:creationId xmlns:p14="http://schemas.microsoft.com/office/powerpoint/2010/main" val="38392884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Essential </a:t>
            </a:r>
            <a:r>
              <a:rPr lang="en-GB" dirty="0"/>
              <a:t>elements of a use case</a:t>
            </a:r>
            <a:endParaRPr lang="en-US" dirty="0"/>
          </a:p>
        </p:txBody>
      </p:sp>
      <p:sp>
        <p:nvSpPr>
          <p:cNvPr id="3" name="Content Placeholder 2"/>
          <p:cNvSpPr>
            <a:spLocks noGrp="1"/>
          </p:cNvSpPr>
          <p:nvPr>
            <p:ph idx="1"/>
          </p:nvPr>
        </p:nvSpPr>
        <p:spPr/>
        <p:txBody>
          <a:bodyPr>
            <a:normAutofit lnSpcReduction="10000"/>
          </a:bodyPr>
          <a:lstStyle/>
          <a:p>
            <a:r>
              <a:rPr lang="en-GB" dirty="0" smtClean="0"/>
              <a:t>A </a:t>
            </a:r>
            <a:r>
              <a:rPr lang="en-GB" dirty="0"/>
              <a:t>unique </a:t>
            </a:r>
            <a:r>
              <a:rPr lang="en-GB" b="1" dirty="0"/>
              <a:t>identifier</a:t>
            </a:r>
            <a:r>
              <a:rPr lang="en-GB" dirty="0"/>
              <a:t> and </a:t>
            </a:r>
            <a:r>
              <a:rPr lang="en-GB" b="1" dirty="0"/>
              <a:t>a succinct name </a:t>
            </a:r>
            <a:r>
              <a:rPr lang="en-GB" dirty="0"/>
              <a:t>that states the user goal</a:t>
            </a:r>
          </a:p>
          <a:p>
            <a:r>
              <a:rPr lang="en-GB" dirty="0"/>
              <a:t>A brief textual </a:t>
            </a:r>
            <a:r>
              <a:rPr lang="en-GB" b="1" dirty="0"/>
              <a:t>description</a:t>
            </a:r>
            <a:r>
              <a:rPr lang="en-GB" dirty="0"/>
              <a:t> that describes the purpose of the use case</a:t>
            </a:r>
          </a:p>
          <a:p>
            <a:r>
              <a:rPr lang="en-GB" dirty="0"/>
              <a:t>A </a:t>
            </a:r>
            <a:r>
              <a:rPr lang="en-GB" b="1" dirty="0"/>
              <a:t>trigger condition </a:t>
            </a:r>
            <a:r>
              <a:rPr lang="en-GB" dirty="0"/>
              <a:t>that initiates execution of the use case</a:t>
            </a:r>
          </a:p>
          <a:p>
            <a:r>
              <a:rPr lang="en-GB" dirty="0"/>
              <a:t>Zero or more </a:t>
            </a:r>
            <a:r>
              <a:rPr lang="en-GB" b="1" dirty="0"/>
              <a:t>preconditions</a:t>
            </a:r>
            <a:r>
              <a:rPr lang="en-GB" dirty="0"/>
              <a:t> that must be satisfied before the use case can begin</a:t>
            </a:r>
          </a:p>
          <a:p>
            <a:r>
              <a:rPr lang="en-GB" dirty="0"/>
              <a:t>One or more </a:t>
            </a:r>
            <a:r>
              <a:rPr lang="en-GB" b="1" dirty="0" err="1"/>
              <a:t>postconditions</a:t>
            </a:r>
            <a:r>
              <a:rPr lang="en-GB" dirty="0"/>
              <a:t> that describe the state of the system after the use case is successfully completed</a:t>
            </a:r>
          </a:p>
          <a:p>
            <a:r>
              <a:rPr lang="en-GB" dirty="0"/>
              <a:t>A numbered list of </a:t>
            </a:r>
            <a:r>
              <a:rPr lang="en-GB" b="1" dirty="0"/>
              <a:t>steps</a:t>
            </a:r>
            <a:r>
              <a:rPr lang="en-GB" dirty="0"/>
              <a:t> that shows the sequence of interactions between the actor and the system—a dialog—that leads from the preconditions to the </a:t>
            </a:r>
            <a:r>
              <a:rPr lang="en-GB" dirty="0" err="1"/>
              <a:t>postconditions</a:t>
            </a:r>
            <a:endParaRPr lang="en-GB" dirty="0"/>
          </a:p>
          <a:p>
            <a:endParaRPr lang="en-US" dirty="0"/>
          </a:p>
        </p:txBody>
      </p:sp>
    </p:spTree>
    <p:extLst>
      <p:ext uri="{BB962C8B-B14F-4D97-AF65-F5344CB8AC3E}">
        <p14:creationId xmlns:p14="http://schemas.microsoft.com/office/powerpoint/2010/main" val="97123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Preconditions and </a:t>
            </a:r>
            <a:r>
              <a:rPr lang="en-US" dirty="0" err="1" smtClean="0"/>
              <a:t>Postconditions</a:t>
            </a:r>
            <a:endParaRPr lang="en-US" dirty="0"/>
          </a:p>
        </p:txBody>
      </p:sp>
      <p:sp>
        <p:nvSpPr>
          <p:cNvPr id="3" name="Content Placeholder 2"/>
          <p:cNvSpPr>
            <a:spLocks noGrp="1"/>
          </p:cNvSpPr>
          <p:nvPr>
            <p:ph idx="1"/>
          </p:nvPr>
        </p:nvSpPr>
        <p:spPr/>
        <p:txBody>
          <a:bodyPr>
            <a:normAutofit/>
          </a:bodyPr>
          <a:lstStyle/>
          <a:p>
            <a:r>
              <a:rPr lang="en-GB" i="1" dirty="0"/>
              <a:t>Preconditions </a:t>
            </a:r>
            <a:r>
              <a:rPr lang="en-GB" dirty="0"/>
              <a:t>define prerequisites that must be met before the system can begin executing the use case</a:t>
            </a:r>
            <a:r>
              <a:rPr lang="en-GB" dirty="0" smtClean="0"/>
              <a:t>.</a:t>
            </a:r>
          </a:p>
          <a:p>
            <a:pPr lvl="1"/>
            <a:r>
              <a:rPr lang="en-GB" dirty="0"/>
              <a:t>e</a:t>
            </a:r>
            <a:r>
              <a:rPr lang="en-GB" dirty="0" smtClean="0"/>
              <a:t>.g. </a:t>
            </a:r>
            <a:r>
              <a:rPr lang="en-GB" dirty="0"/>
              <a:t>If the ATM is empty, it shouldn’t let a user even begin a withdrawal transaction. </a:t>
            </a:r>
            <a:endParaRPr lang="en-GB" dirty="0" smtClean="0"/>
          </a:p>
          <a:p>
            <a:r>
              <a:rPr lang="en-GB" i="1" dirty="0" err="1"/>
              <a:t>Postconditions</a:t>
            </a:r>
            <a:r>
              <a:rPr lang="en-GB" i="1" dirty="0"/>
              <a:t> </a:t>
            </a:r>
            <a:r>
              <a:rPr lang="en-GB" dirty="0"/>
              <a:t>describe the state of the system after the use case executed successfully. </a:t>
            </a:r>
            <a:r>
              <a:rPr lang="en-GB" dirty="0" err="1"/>
              <a:t>Postconditions</a:t>
            </a:r>
            <a:r>
              <a:rPr lang="en-GB" dirty="0"/>
              <a:t> can describe:</a:t>
            </a:r>
          </a:p>
          <a:p>
            <a:pPr lvl="1"/>
            <a:r>
              <a:rPr lang="en-GB" dirty="0"/>
              <a:t>Something observable to the user (the system displayed an account balance).</a:t>
            </a:r>
          </a:p>
          <a:p>
            <a:pPr lvl="1"/>
            <a:r>
              <a:rPr lang="en-GB" dirty="0"/>
              <a:t>Physical outcomes (the ATM has dispensed money and printed a receipt).</a:t>
            </a:r>
          </a:p>
          <a:p>
            <a:pPr lvl="1"/>
            <a:r>
              <a:rPr lang="en-GB" dirty="0"/>
              <a:t>Internal system state changes (the account has been debited by the amount of a cash withdrawal, plus any transaction fees).</a:t>
            </a:r>
          </a:p>
          <a:p>
            <a:endParaRPr lang="en-US" dirty="0"/>
          </a:p>
        </p:txBody>
      </p:sp>
    </p:spTree>
    <p:extLst>
      <p:ext uri="{BB962C8B-B14F-4D97-AF65-F5344CB8AC3E}">
        <p14:creationId xmlns:p14="http://schemas.microsoft.com/office/powerpoint/2010/main" val="143152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Normal </a:t>
            </a:r>
            <a:r>
              <a:rPr lang="en-GB" b="1" dirty="0" smtClean="0"/>
              <a:t>flows</a:t>
            </a:r>
            <a:endParaRPr lang="en-US" dirty="0"/>
          </a:p>
        </p:txBody>
      </p:sp>
      <p:sp>
        <p:nvSpPr>
          <p:cNvPr id="3" name="Content Placeholder 2"/>
          <p:cNvSpPr>
            <a:spLocks noGrp="1"/>
          </p:cNvSpPr>
          <p:nvPr>
            <p:ph idx="1"/>
          </p:nvPr>
        </p:nvSpPr>
        <p:spPr/>
        <p:txBody>
          <a:bodyPr>
            <a:normAutofit/>
          </a:bodyPr>
          <a:lstStyle/>
          <a:p>
            <a:r>
              <a:rPr lang="en-GB" dirty="0" smtClean="0"/>
              <a:t>One </a:t>
            </a:r>
            <a:r>
              <a:rPr lang="en-GB" dirty="0"/>
              <a:t>scenario is identified as the </a:t>
            </a:r>
            <a:r>
              <a:rPr lang="en-GB" i="1" dirty="0"/>
              <a:t>normal flow </a:t>
            </a:r>
            <a:r>
              <a:rPr lang="en-GB" dirty="0"/>
              <a:t>of events for the use case. </a:t>
            </a:r>
            <a:endParaRPr lang="en-GB" dirty="0" smtClean="0"/>
          </a:p>
          <a:p>
            <a:r>
              <a:rPr lang="en-GB" dirty="0" smtClean="0"/>
              <a:t>The normal flow is </a:t>
            </a:r>
            <a:r>
              <a:rPr lang="en-GB" dirty="0"/>
              <a:t>also called the main flow, basic flow, normal course, primary scenario, main success scenario, sunny-day scenario, and happy path. </a:t>
            </a:r>
            <a:endParaRPr lang="en-GB" dirty="0" smtClean="0"/>
          </a:p>
          <a:p>
            <a:r>
              <a:rPr lang="en-GB" dirty="0" smtClean="0"/>
              <a:t>E.g. </a:t>
            </a:r>
          </a:p>
          <a:p>
            <a:pPr lvl="1"/>
            <a:r>
              <a:rPr lang="en-GB" dirty="0" smtClean="0"/>
              <a:t>The </a:t>
            </a:r>
            <a:r>
              <a:rPr lang="en-GB" dirty="0"/>
              <a:t>normal flow for the “Request a Chemical” use case is to request a chemical that’s available in the chemical stockroom. </a:t>
            </a:r>
            <a:endParaRPr lang="en-GB" dirty="0" smtClean="0"/>
          </a:p>
          <a:p>
            <a:pPr lvl="1"/>
            <a:r>
              <a:rPr lang="en-GB" dirty="0" smtClean="0"/>
              <a:t>The </a:t>
            </a:r>
            <a:r>
              <a:rPr lang="en-GB" dirty="0"/>
              <a:t>normal flow is written as a numbered list of steps, indicating which entity—the system or a specific actor—performs each step.</a:t>
            </a:r>
            <a:endParaRPr lang="en-US" dirty="0"/>
          </a:p>
        </p:txBody>
      </p:sp>
    </p:spTree>
    <p:extLst>
      <p:ext uri="{BB962C8B-B14F-4D97-AF65-F5344CB8AC3E}">
        <p14:creationId xmlns:p14="http://schemas.microsoft.com/office/powerpoint/2010/main" val="328868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Alternative Flows</a:t>
            </a:r>
            <a:endParaRPr lang="en-US" dirty="0"/>
          </a:p>
        </p:txBody>
      </p:sp>
      <p:sp>
        <p:nvSpPr>
          <p:cNvPr id="3" name="Content Placeholder 2"/>
          <p:cNvSpPr>
            <a:spLocks noGrp="1"/>
          </p:cNvSpPr>
          <p:nvPr>
            <p:ph idx="1"/>
          </p:nvPr>
        </p:nvSpPr>
        <p:spPr/>
        <p:txBody>
          <a:bodyPr>
            <a:normAutofit fontScale="92500" lnSpcReduction="20000"/>
          </a:bodyPr>
          <a:lstStyle/>
          <a:p>
            <a:r>
              <a:rPr lang="en-GB" dirty="0"/>
              <a:t>Other success scenarios within the use case are called </a:t>
            </a:r>
            <a:r>
              <a:rPr lang="en-GB" i="1" dirty="0"/>
              <a:t>alternative flows </a:t>
            </a:r>
            <a:r>
              <a:rPr lang="en-GB" dirty="0"/>
              <a:t>or </a:t>
            </a:r>
            <a:r>
              <a:rPr lang="en-GB" i="1" dirty="0"/>
              <a:t>secondary scenarios</a:t>
            </a:r>
            <a:r>
              <a:rPr lang="en-GB" dirty="0"/>
              <a:t>. </a:t>
            </a:r>
            <a:endParaRPr lang="en-GB" dirty="0" smtClean="0"/>
          </a:p>
          <a:p>
            <a:r>
              <a:rPr lang="en-GB" dirty="0" smtClean="0"/>
              <a:t>Alternative </a:t>
            </a:r>
            <a:r>
              <a:rPr lang="en-GB" dirty="0"/>
              <a:t>flows deliver the same business outcome (sometimes with variations) as the normal flow but represent less common or lower-priority variations in the specifics of the task or how it is accomplished. </a:t>
            </a:r>
            <a:endParaRPr lang="en-GB" dirty="0" smtClean="0"/>
          </a:p>
          <a:p>
            <a:r>
              <a:rPr lang="en-GB" dirty="0" smtClean="0"/>
              <a:t>The </a:t>
            </a:r>
            <a:r>
              <a:rPr lang="en-GB" dirty="0"/>
              <a:t>normal flow can branch off into an alternative flow at some decision point in the dialog sequence; it might (or might not) </a:t>
            </a:r>
            <a:r>
              <a:rPr lang="en-GB" dirty="0" err="1"/>
              <a:t>rejoin</a:t>
            </a:r>
            <a:r>
              <a:rPr lang="en-GB" dirty="0"/>
              <a:t> the normal flow later. </a:t>
            </a:r>
            <a:endParaRPr lang="en-GB" dirty="0" smtClean="0"/>
          </a:p>
          <a:p>
            <a:r>
              <a:rPr lang="en-GB" dirty="0" smtClean="0"/>
              <a:t>The </a:t>
            </a:r>
            <a:r>
              <a:rPr lang="en-GB" dirty="0"/>
              <a:t>steps in the normal flow indicate where the user can branch into an alternative flow. </a:t>
            </a:r>
            <a:endParaRPr lang="en-GB" dirty="0" smtClean="0"/>
          </a:p>
          <a:p>
            <a:r>
              <a:rPr lang="en-GB" dirty="0" smtClean="0"/>
              <a:t>A </a:t>
            </a:r>
            <a:r>
              <a:rPr lang="en-GB" dirty="0"/>
              <a:t>user who says, “The default should be. . .” is describing the normal flow of the use case. A statement such as “The user should also be able to request a chemical from a vendor” suggests an alternative </a:t>
            </a:r>
            <a:r>
              <a:rPr lang="en-GB" dirty="0" smtClean="0"/>
              <a:t>flow. </a:t>
            </a:r>
            <a:endParaRPr lang="en-US" dirty="0"/>
          </a:p>
        </p:txBody>
      </p:sp>
    </p:spTree>
    <p:extLst>
      <p:ext uri="{BB962C8B-B14F-4D97-AF65-F5344CB8AC3E}">
        <p14:creationId xmlns:p14="http://schemas.microsoft.com/office/powerpoint/2010/main" val="113351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Alternative Flows in User Story</a:t>
            </a:r>
            <a:endParaRPr lang="en-US" dirty="0"/>
          </a:p>
        </p:txBody>
      </p:sp>
      <p:sp>
        <p:nvSpPr>
          <p:cNvPr id="3" name="Content Placeholder 2"/>
          <p:cNvSpPr>
            <a:spLocks noGrp="1"/>
          </p:cNvSpPr>
          <p:nvPr>
            <p:ph idx="1"/>
          </p:nvPr>
        </p:nvSpPr>
        <p:spPr/>
        <p:txBody>
          <a:bodyPr>
            <a:normAutofit/>
          </a:bodyPr>
          <a:lstStyle/>
          <a:p>
            <a:r>
              <a:rPr lang="en-GB" dirty="0"/>
              <a:t>In the agile world, a user story sometimes covers the same scope as an entire use case, but in other cases a user story represents just a single scenario or alternative flow. </a:t>
            </a:r>
            <a:endParaRPr lang="en-GB" dirty="0" smtClean="0"/>
          </a:p>
          <a:p>
            <a:r>
              <a:rPr lang="en-GB" dirty="0" smtClean="0"/>
              <a:t>E.g. </a:t>
            </a:r>
            <a:endParaRPr lang="en-GB" dirty="0"/>
          </a:p>
          <a:p>
            <a:pPr lvl="1"/>
            <a:r>
              <a:rPr lang="en-GB" i="1" dirty="0"/>
              <a:t>As a chemist, I want to request a chemical so that I can perform experiments.</a:t>
            </a:r>
            <a:endParaRPr lang="en-GB" dirty="0"/>
          </a:p>
          <a:p>
            <a:pPr lvl="1"/>
            <a:r>
              <a:rPr lang="en-GB" i="1" dirty="0"/>
              <a:t>As a chemist, I want to request a chemical from the Chemical Stockroom so that I can use it immediately.</a:t>
            </a:r>
            <a:endParaRPr lang="en-GB" dirty="0"/>
          </a:p>
          <a:p>
            <a:pPr lvl="1"/>
            <a:r>
              <a:rPr lang="en-GB" i="1" dirty="0"/>
              <a:t>As a chemist, I want to request a chemical from a vendor because I don’t trust the purity of any of the samples available in the Chemical Stockroom.</a:t>
            </a:r>
            <a:endParaRPr lang="en-US" dirty="0"/>
          </a:p>
        </p:txBody>
      </p:sp>
    </p:spTree>
    <p:extLst>
      <p:ext uri="{BB962C8B-B14F-4D97-AF65-F5344CB8AC3E}">
        <p14:creationId xmlns:p14="http://schemas.microsoft.com/office/powerpoint/2010/main" val="355398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a:t>
            </a:r>
            <a:endParaRPr lang="en-US" dirty="0"/>
          </a:p>
        </p:txBody>
      </p:sp>
      <p:sp>
        <p:nvSpPr>
          <p:cNvPr id="3" name="Content Placeholder 2"/>
          <p:cNvSpPr>
            <a:spLocks noGrp="1"/>
          </p:cNvSpPr>
          <p:nvPr>
            <p:ph idx="1"/>
          </p:nvPr>
        </p:nvSpPr>
        <p:spPr/>
        <p:txBody>
          <a:bodyPr>
            <a:normAutofit fontScale="85000" lnSpcReduction="20000"/>
          </a:bodyPr>
          <a:lstStyle/>
          <a:p>
            <a:r>
              <a:rPr lang="en-GB" dirty="0"/>
              <a:t>Conditions that have the potential to prevent a use case from succeeding are called </a:t>
            </a:r>
            <a:r>
              <a:rPr lang="en-GB" i="1" dirty="0"/>
              <a:t>exceptions</a:t>
            </a:r>
            <a:r>
              <a:rPr lang="en-GB" dirty="0"/>
              <a:t>. </a:t>
            </a:r>
            <a:endParaRPr lang="en-GB" dirty="0" smtClean="0"/>
          </a:p>
          <a:p>
            <a:r>
              <a:rPr lang="en-GB" dirty="0" smtClean="0"/>
              <a:t>Exceptions </a:t>
            </a:r>
            <a:r>
              <a:rPr lang="en-GB" dirty="0"/>
              <a:t>describe anticipated error conditions that could occur during execution of the use case and how they are to be handled. </a:t>
            </a:r>
            <a:endParaRPr lang="en-GB" dirty="0" smtClean="0"/>
          </a:p>
          <a:p>
            <a:r>
              <a:rPr lang="en-GB" dirty="0" smtClean="0"/>
              <a:t>In </a:t>
            </a:r>
            <a:r>
              <a:rPr lang="en-GB" dirty="0"/>
              <a:t>some cases, the user can recover from an exception, perhaps by re-entering some data that was incorrect. In other situations, though, the use case must terminate without reaching its success conditions</a:t>
            </a:r>
            <a:r>
              <a:rPr lang="en-GB" dirty="0" smtClean="0"/>
              <a:t>.</a:t>
            </a:r>
          </a:p>
          <a:p>
            <a:r>
              <a:rPr lang="en-GB" dirty="0" smtClean="0"/>
              <a:t> </a:t>
            </a:r>
            <a:r>
              <a:rPr lang="en-GB" dirty="0"/>
              <a:t>One exception for the “Request a Chemical” use case is “Chemical Is Not Commercially Available,” </a:t>
            </a:r>
            <a:r>
              <a:rPr lang="en-GB" dirty="0" err="1"/>
              <a:t>labeled</a:t>
            </a:r>
            <a:r>
              <a:rPr lang="en-GB" dirty="0"/>
              <a:t> as 4.1.E1 in </a:t>
            </a:r>
            <a:r>
              <a:rPr lang="en-GB" dirty="0" smtClean="0"/>
              <a:t>the use case description. </a:t>
            </a:r>
          </a:p>
          <a:p>
            <a:r>
              <a:rPr lang="en-GB" dirty="0" smtClean="0"/>
              <a:t>If </a:t>
            </a:r>
            <a:r>
              <a:rPr lang="en-GB" dirty="0"/>
              <a:t>you don’t specify exception handling during requirements elicitation, there are two possible outcomes</a:t>
            </a:r>
            <a:r>
              <a:rPr lang="en-GB" dirty="0" smtClean="0"/>
              <a:t>:</a:t>
            </a:r>
            <a:endParaRPr lang="en-US" dirty="0"/>
          </a:p>
          <a:p>
            <a:pPr lvl="1"/>
            <a:r>
              <a:rPr lang="en-GB" dirty="0"/>
              <a:t>Each developer will make his best guess at how to deal with the exceptions he sees, leading to inconsistent error handling throughout the application and less robust software.</a:t>
            </a:r>
          </a:p>
          <a:p>
            <a:pPr lvl="1"/>
            <a:r>
              <a:rPr lang="en-GB" dirty="0"/>
              <a:t>The system will fail when a user hits the error condition because no one thought about it.</a:t>
            </a:r>
          </a:p>
          <a:p>
            <a:pPr lvl="1"/>
            <a:endParaRPr lang="en-US" dirty="0"/>
          </a:p>
        </p:txBody>
      </p:sp>
    </p:spTree>
    <p:extLst>
      <p:ext uri="{BB962C8B-B14F-4D97-AF65-F5344CB8AC3E}">
        <p14:creationId xmlns:p14="http://schemas.microsoft.com/office/powerpoint/2010/main" val="241925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a:t>
            </a:r>
            <a:endParaRPr lang="en-US" dirty="0"/>
          </a:p>
        </p:txBody>
      </p:sp>
      <p:sp>
        <p:nvSpPr>
          <p:cNvPr id="3" name="Content Placeholder 2"/>
          <p:cNvSpPr>
            <a:spLocks noGrp="1"/>
          </p:cNvSpPr>
          <p:nvPr>
            <p:ph idx="1"/>
          </p:nvPr>
        </p:nvSpPr>
        <p:spPr/>
        <p:txBody>
          <a:bodyPr>
            <a:normAutofit/>
          </a:bodyPr>
          <a:lstStyle/>
          <a:p>
            <a:r>
              <a:rPr lang="en-GB" dirty="0" smtClean="0"/>
              <a:t>You </a:t>
            </a:r>
            <a:r>
              <a:rPr lang="en-GB" dirty="0"/>
              <a:t>might defer some </a:t>
            </a:r>
            <a:r>
              <a:rPr lang="en-GB" dirty="0" smtClean="0"/>
              <a:t>alternative flow to </a:t>
            </a:r>
            <a:r>
              <a:rPr lang="en-GB" dirty="0"/>
              <a:t>later iterations or releases. </a:t>
            </a:r>
            <a:endParaRPr lang="en-GB" dirty="0" smtClean="0"/>
          </a:p>
          <a:p>
            <a:r>
              <a:rPr lang="en-GB" dirty="0" smtClean="0"/>
              <a:t>However</a:t>
            </a:r>
            <a:r>
              <a:rPr lang="en-GB" dirty="0"/>
              <a:t>, you </a:t>
            </a:r>
            <a:r>
              <a:rPr lang="en-GB" i="1" dirty="0"/>
              <a:t>must </a:t>
            </a:r>
            <a:r>
              <a:rPr lang="en-GB" dirty="0"/>
              <a:t>implement the exceptions that can prevent the flows that you do implement from succeeding</a:t>
            </a:r>
            <a:r>
              <a:rPr lang="en-GB" dirty="0" smtClean="0"/>
              <a:t>.</a:t>
            </a:r>
          </a:p>
          <a:p>
            <a:r>
              <a:rPr lang="en-GB" dirty="0" smtClean="0"/>
              <a:t>Overlooked </a:t>
            </a:r>
            <a:r>
              <a:rPr lang="en-GB" dirty="0"/>
              <a:t>exceptions are a common source of missing requirements</a:t>
            </a:r>
            <a:r>
              <a:rPr lang="en-GB" dirty="0" smtClean="0"/>
              <a:t>. </a:t>
            </a:r>
          </a:p>
        </p:txBody>
      </p:sp>
    </p:spTree>
    <p:extLst>
      <p:ext uri="{BB962C8B-B14F-4D97-AF65-F5344CB8AC3E}">
        <p14:creationId xmlns:p14="http://schemas.microsoft.com/office/powerpoint/2010/main" val="61930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 in User Story</a:t>
            </a:r>
            <a:endParaRPr lang="en-US" dirty="0"/>
          </a:p>
        </p:txBody>
      </p:sp>
      <p:sp>
        <p:nvSpPr>
          <p:cNvPr id="3" name="Content Placeholder 2"/>
          <p:cNvSpPr>
            <a:spLocks noGrp="1"/>
          </p:cNvSpPr>
          <p:nvPr>
            <p:ph idx="1"/>
          </p:nvPr>
        </p:nvSpPr>
        <p:spPr/>
        <p:txBody>
          <a:bodyPr/>
          <a:lstStyle/>
          <a:p>
            <a:r>
              <a:rPr lang="en-GB" dirty="0"/>
              <a:t>Agile projects employing the user story approach address exceptions through the acceptance tests they create for each story. </a:t>
            </a:r>
            <a:endParaRPr lang="en-GB" dirty="0" smtClean="0"/>
          </a:p>
          <a:p>
            <a:r>
              <a:rPr lang="en-GB" dirty="0" smtClean="0"/>
              <a:t>E.g., </a:t>
            </a:r>
            <a:r>
              <a:rPr lang="en-GB" dirty="0"/>
              <a:t>“What if the chemical you want is not commercially available from any vendor?” This could lead to an acceptance test like, “If the chemical isn’t found in any available vendor </a:t>
            </a:r>
            <a:r>
              <a:rPr lang="en-GB" dirty="0" err="1"/>
              <a:t>catalogs</a:t>
            </a:r>
            <a:r>
              <a:rPr lang="en-GB" dirty="0"/>
              <a:t>, show a message to that effect</a:t>
            </a:r>
            <a:r>
              <a:rPr lang="en-GB" dirty="0" smtClean="0"/>
              <a:t>.”</a:t>
            </a:r>
            <a:endParaRPr lang="en-US" dirty="0"/>
          </a:p>
        </p:txBody>
      </p:sp>
    </p:spTree>
    <p:extLst>
      <p:ext uri="{BB962C8B-B14F-4D97-AF65-F5344CB8AC3E}">
        <p14:creationId xmlns:p14="http://schemas.microsoft.com/office/powerpoint/2010/main" val="69669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Diagram</a:t>
            </a:r>
            <a:endParaRPr lang="en-US" dirty="0"/>
          </a:p>
        </p:txBody>
      </p:sp>
      <p:sp>
        <p:nvSpPr>
          <p:cNvPr id="3" name="Content Placeholder 2"/>
          <p:cNvSpPr>
            <a:spLocks noGrp="1"/>
          </p:cNvSpPr>
          <p:nvPr>
            <p:ph idx="1"/>
          </p:nvPr>
        </p:nvSpPr>
        <p:spPr/>
        <p:txBody>
          <a:bodyPr/>
          <a:lstStyle/>
          <a:p>
            <a:r>
              <a:rPr lang="en-GB" dirty="0"/>
              <a:t>A</a:t>
            </a:r>
            <a:r>
              <a:rPr lang="en-GB" dirty="0" smtClean="0"/>
              <a:t> </a:t>
            </a:r>
            <a:r>
              <a:rPr lang="en-GB" dirty="0"/>
              <a:t>UML activity diagram is a useful way to visually represent the logic flow in a complex use case, as illustrated in </a:t>
            </a:r>
            <a:r>
              <a:rPr lang="en-GB" dirty="0" smtClean="0"/>
              <a:t>the following. </a:t>
            </a:r>
          </a:p>
          <a:p>
            <a:r>
              <a:rPr lang="en-GB" dirty="0" smtClean="0"/>
              <a:t>Activity </a:t>
            </a:r>
            <a:r>
              <a:rPr lang="en-GB" dirty="0"/>
              <a:t>diagrams show the decision points and conditions that cause a branch from the normal flow into an alternative flow.</a:t>
            </a:r>
            <a:endParaRPr lang="en-US" dirty="0"/>
          </a:p>
        </p:txBody>
      </p:sp>
    </p:spTree>
    <p:extLst>
      <p:ext uri="{BB962C8B-B14F-4D97-AF65-F5344CB8AC3E}">
        <p14:creationId xmlns:p14="http://schemas.microsoft.com/office/powerpoint/2010/main" val="15895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p>
        </p:txBody>
      </p:sp>
      <p:pic>
        <p:nvPicPr>
          <p:cNvPr id="4" name="Content Placeholder 3"/>
          <p:cNvPicPr>
            <a:picLocks noGrp="1" noChangeAspect="1"/>
          </p:cNvPicPr>
          <p:nvPr>
            <p:ph idx="1"/>
          </p:nvPr>
        </p:nvPicPr>
        <p:blipFill>
          <a:blip r:embed="rId2"/>
          <a:stretch>
            <a:fillRect/>
          </a:stretch>
        </p:blipFill>
        <p:spPr>
          <a:xfrm>
            <a:off x="4441225" y="1825625"/>
            <a:ext cx="3309550" cy="4351338"/>
          </a:xfrm>
          <a:prstGeom prst="rect">
            <a:avLst/>
          </a:prstGeom>
        </p:spPr>
      </p:pic>
    </p:spTree>
    <p:extLst>
      <p:ext uri="{BB962C8B-B14F-4D97-AF65-F5344CB8AC3E}">
        <p14:creationId xmlns:p14="http://schemas.microsoft.com/office/powerpoint/2010/main" val="31837497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 and include – Relationships between use cases</a:t>
            </a:r>
            <a:endParaRPr lang="en-US" dirty="0"/>
          </a:p>
        </p:txBody>
      </p:sp>
      <p:sp>
        <p:nvSpPr>
          <p:cNvPr id="3" name="Content Placeholder 2"/>
          <p:cNvSpPr>
            <a:spLocks noGrp="1"/>
          </p:cNvSpPr>
          <p:nvPr>
            <p:ph idx="1"/>
          </p:nvPr>
        </p:nvSpPr>
        <p:spPr/>
        <p:txBody>
          <a:bodyPr>
            <a:normAutofit lnSpcReduction="10000"/>
          </a:bodyPr>
          <a:lstStyle/>
          <a:p>
            <a:r>
              <a:rPr lang="en-GB" dirty="0" smtClean="0"/>
              <a:t>You </a:t>
            </a:r>
            <a:r>
              <a:rPr lang="en-GB" dirty="0"/>
              <a:t>can show two types of relationships, called </a:t>
            </a:r>
            <a:r>
              <a:rPr lang="en-GB" i="1" dirty="0"/>
              <a:t>extend </a:t>
            </a:r>
            <a:r>
              <a:rPr lang="en-GB" dirty="0"/>
              <a:t>and </a:t>
            </a:r>
            <a:r>
              <a:rPr lang="en-GB" i="1" dirty="0"/>
              <a:t>include, </a:t>
            </a:r>
            <a:r>
              <a:rPr lang="en-GB" dirty="0"/>
              <a:t>between use cases in a use case diagram. </a:t>
            </a:r>
            <a:endParaRPr lang="en-GB" dirty="0" smtClean="0"/>
          </a:p>
          <a:p>
            <a:r>
              <a:rPr lang="en-GB" dirty="0" smtClean="0"/>
              <a:t>The </a:t>
            </a:r>
            <a:r>
              <a:rPr lang="en-GB" dirty="0"/>
              <a:t>normal flow for the “Request a Chemical” use case is to request a chemical from the Chemical Stockroom; an alternative flow is to request a chemical from a </a:t>
            </a:r>
            <a:r>
              <a:rPr lang="en-GB" dirty="0" smtClean="0"/>
              <a:t>vendor</a:t>
            </a:r>
          </a:p>
          <a:p>
            <a:r>
              <a:rPr lang="en-GB" dirty="0" smtClean="0"/>
              <a:t>The </a:t>
            </a:r>
            <a:r>
              <a:rPr lang="en-GB" dirty="0"/>
              <a:t>Buyer has a use case called “Search Vendor </a:t>
            </a:r>
            <a:r>
              <a:rPr lang="en-GB" dirty="0" err="1"/>
              <a:t>Catalogs</a:t>
            </a:r>
            <a:r>
              <a:rPr lang="en-GB" dirty="0"/>
              <a:t>.” Suppose you wanted to let the Requester execute that same “Search Vendor </a:t>
            </a:r>
            <a:r>
              <a:rPr lang="en-GB" dirty="0" err="1"/>
              <a:t>Catalog</a:t>
            </a:r>
            <a:r>
              <a:rPr lang="en-GB" dirty="0"/>
              <a:t>” use case as an option when requesting a chemical, as part of the alternative flow processing. A use case diagram can show that a standalone use case like “Search Vendor </a:t>
            </a:r>
            <a:r>
              <a:rPr lang="en-GB" dirty="0" err="1"/>
              <a:t>Catalogs</a:t>
            </a:r>
            <a:r>
              <a:rPr lang="en-GB" dirty="0"/>
              <a:t>” </a:t>
            </a:r>
            <a:r>
              <a:rPr lang="en-GB" i="1" dirty="0"/>
              <a:t>extends </a:t>
            </a:r>
            <a:r>
              <a:rPr lang="en-GB" dirty="0"/>
              <a:t>the normal flow into an alternative </a:t>
            </a:r>
            <a:r>
              <a:rPr lang="en-GB" dirty="0" smtClean="0"/>
              <a:t>flow.</a:t>
            </a:r>
            <a:endParaRPr lang="en-US" dirty="0"/>
          </a:p>
        </p:txBody>
      </p:sp>
    </p:spTree>
    <p:extLst>
      <p:ext uri="{BB962C8B-B14F-4D97-AF65-F5344CB8AC3E}">
        <p14:creationId xmlns:p14="http://schemas.microsoft.com/office/powerpoint/2010/main" val="83000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 use case</a:t>
            </a:r>
            <a:endParaRPr lang="en-US" dirty="0"/>
          </a:p>
        </p:txBody>
      </p:sp>
      <p:pic>
        <p:nvPicPr>
          <p:cNvPr id="4" name="Content Placeholder 3"/>
          <p:cNvPicPr>
            <a:picLocks noGrp="1" noChangeAspect="1"/>
          </p:cNvPicPr>
          <p:nvPr>
            <p:ph idx="1"/>
          </p:nvPr>
        </p:nvPicPr>
        <p:blipFill>
          <a:blip r:embed="rId2"/>
          <a:stretch>
            <a:fillRect/>
          </a:stretch>
        </p:blipFill>
        <p:spPr>
          <a:xfrm>
            <a:off x="2088257" y="2145750"/>
            <a:ext cx="7654877" cy="1135313"/>
          </a:xfrm>
          <a:prstGeom prst="rect">
            <a:avLst/>
          </a:prstGeom>
        </p:spPr>
      </p:pic>
    </p:spTree>
    <p:extLst>
      <p:ext uri="{BB962C8B-B14F-4D97-AF65-F5344CB8AC3E}">
        <p14:creationId xmlns:p14="http://schemas.microsoft.com/office/powerpoint/2010/main" val="3583219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Include relationship</a:t>
            </a:r>
            <a:endParaRPr lang="en-US" dirty="0"/>
          </a:p>
        </p:txBody>
      </p:sp>
      <p:sp>
        <p:nvSpPr>
          <p:cNvPr id="3" name="Content Placeholder 2"/>
          <p:cNvSpPr>
            <a:spLocks noGrp="1"/>
          </p:cNvSpPr>
          <p:nvPr>
            <p:ph idx="1"/>
          </p:nvPr>
        </p:nvSpPr>
        <p:spPr/>
        <p:txBody>
          <a:bodyPr>
            <a:normAutofit/>
          </a:bodyPr>
          <a:lstStyle/>
          <a:p>
            <a:r>
              <a:rPr lang="en-GB" dirty="0"/>
              <a:t>Sometimes several use cases share a common set of steps. </a:t>
            </a:r>
            <a:endParaRPr lang="en-GB" dirty="0" smtClean="0"/>
          </a:p>
          <a:p>
            <a:r>
              <a:rPr lang="en-GB" dirty="0" smtClean="0"/>
              <a:t>To </a:t>
            </a:r>
            <a:r>
              <a:rPr lang="en-GB" dirty="0"/>
              <a:t>avoid duplicating these steps in each such use case, you can define a separate use case that contains the shared functionality and indicate that the other use cases </a:t>
            </a:r>
            <a:r>
              <a:rPr lang="en-GB" i="1" dirty="0"/>
              <a:t>include </a:t>
            </a:r>
            <a:r>
              <a:rPr lang="en-GB" dirty="0"/>
              <a:t>that subordinate use case. </a:t>
            </a:r>
            <a:endParaRPr lang="en-GB" dirty="0" smtClean="0"/>
          </a:p>
          <a:p>
            <a:r>
              <a:rPr lang="en-GB" dirty="0" smtClean="0"/>
              <a:t>Consider </a:t>
            </a:r>
            <a:r>
              <a:rPr lang="en-GB" dirty="0"/>
              <a:t>an accounting software package. Two use cases are “Pay a Bill” and “Reconcile Credit Card,” both of which might involve the user writing a check to make the payment. You can create a separate use case called “Write a Check” that contains the common steps involved in writing the </a:t>
            </a:r>
            <a:r>
              <a:rPr lang="en-GB" dirty="0" smtClean="0"/>
              <a:t>check</a:t>
            </a:r>
            <a:endParaRPr lang="en-US" dirty="0"/>
          </a:p>
        </p:txBody>
      </p:sp>
    </p:spTree>
    <p:extLst>
      <p:ext uri="{BB962C8B-B14F-4D97-AF65-F5344CB8AC3E}">
        <p14:creationId xmlns:p14="http://schemas.microsoft.com/office/powerpoint/2010/main" val="271606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Include use case</a:t>
            </a:r>
            <a:endParaRPr lang="en-US" dirty="0"/>
          </a:p>
        </p:txBody>
      </p:sp>
      <p:pic>
        <p:nvPicPr>
          <p:cNvPr id="4" name="Content Placeholder 3"/>
          <p:cNvPicPr>
            <a:picLocks noGrp="1" noChangeAspect="1"/>
          </p:cNvPicPr>
          <p:nvPr>
            <p:ph idx="1"/>
          </p:nvPr>
        </p:nvPicPr>
        <p:blipFill>
          <a:blip r:embed="rId2"/>
          <a:stretch>
            <a:fillRect/>
          </a:stretch>
        </p:blipFill>
        <p:spPr>
          <a:xfrm>
            <a:off x="1796239" y="2501059"/>
            <a:ext cx="8599521" cy="3000469"/>
          </a:xfrm>
          <a:prstGeom prst="rect">
            <a:avLst/>
          </a:prstGeom>
        </p:spPr>
      </p:pic>
    </p:spTree>
    <p:extLst>
      <p:ext uri="{BB962C8B-B14F-4D97-AF65-F5344CB8AC3E}">
        <p14:creationId xmlns:p14="http://schemas.microsoft.com/office/powerpoint/2010/main" val="41349021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Aligning preconditions and </a:t>
            </a:r>
            <a:r>
              <a:rPr lang="en-US" b="1" dirty="0" err="1"/>
              <a:t>postconditions</a:t>
            </a:r>
            <a:endParaRPr lang="en-US" dirty="0"/>
          </a:p>
        </p:txBody>
      </p:sp>
      <p:sp>
        <p:nvSpPr>
          <p:cNvPr id="3" name="Content Placeholder 2"/>
          <p:cNvSpPr>
            <a:spLocks noGrp="1"/>
          </p:cNvSpPr>
          <p:nvPr>
            <p:ph idx="1"/>
          </p:nvPr>
        </p:nvSpPr>
        <p:spPr/>
        <p:txBody>
          <a:bodyPr>
            <a:normAutofit fontScale="92500" lnSpcReduction="20000"/>
          </a:bodyPr>
          <a:lstStyle/>
          <a:p>
            <a:r>
              <a:rPr lang="en-GB" dirty="0"/>
              <a:t>In many applications, the user can chain together a sequence of use cases into a “macro” use case that describes a larger task. </a:t>
            </a:r>
            <a:endParaRPr lang="en-GB" dirty="0" smtClean="0"/>
          </a:p>
          <a:p>
            <a:r>
              <a:rPr lang="en-GB" dirty="0" smtClean="0"/>
              <a:t>Some </a:t>
            </a:r>
            <a:r>
              <a:rPr lang="en-GB" dirty="0"/>
              <a:t>use cases for an e-commerce website might be “Search </a:t>
            </a:r>
            <a:r>
              <a:rPr lang="en-GB" dirty="0" err="1"/>
              <a:t>Catalog</a:t>
            </a:r>
            <a:r>
              <a:rPr lang="en-GB" dirty="0"/>
              <a:t>,” “Add Item to Shopping Cart,” and “Pay for Items in Shopping Cart.” </a:t>
            </a:r>
            <a:endParaRPr lang="en-GB" dirty="0" smtClean="0"/>
          </a:p>
          <a:p>
            <a:r>
              <a:rPr lang="en-GB" dirty="0" smtClean="0"/>
              <a:t>If </a:t>
            </a:r>
            <a:r>
              <a:rPr lang="en-GB" dirty="0"/>
              <a:t>you could perform each of these activities independently, they are individual use cases. </a:t>
            </a:r>
            <a:endParaRPr lang="en-GB" dirty="0" smtClean="0"/>
          </a:p>
          <a:p>
            <a:r>
              <a:rPr lang="en-GB" dirty="0" smtClean="0"/>
              <a:t>However</a:t>
            </a:r>
            <a:r>
              <a:rPr lang="en-GB" dirty="0"/>
              <a:t>, you might also be able to perform all three activities in sequence as a single large use case called “Buy Product,” as shown </a:t>
            </a:r>
            <a:r>
              <a:rPr lang="en-GB" dirty="0" smtClean="0"/>
              <a:t>in the following figure. </a:t>
            </a:r>
            <a:r>
              <a:rPr lang="en-GB" dirty="0"/>
              <a:t>The description of the “Buy Product” use case could simply say to perform each of those other three use cases in turn: “Search </a:t>
            </a:r>
            <a:r>
              <a:rPr lang="en-GB" dirty="0" err="1"/>
              <a:t>Catalog</a:t>
            </a:r>
            <a:r>
              <a:rPr lang="en-GB" dirty="0"/>
              <a:t>,” “Add Item to Shopping Cart,” and then “Pay for Items in Shopping Cart</a:t>
            </a:r>
            <a:r>
              <a:rPr lang="en-GB" dirty="0" smtClean="0"/>
              <a:t>.”</a:t>
            </a:r>
          </a:p>
          <a:p>
            <a:r>
              <a:rPr lang="en-GB" dirty="0" smtClean="0"/>
              <a:t>The </a:t>
            </a:r>
            <a:r>
              <a:rPr lang="en-GB" dirty="0" err="1"/>
              <a:t>postconditions</a:t>
            </a:r>
            <a:r>
              <a:rPr lang="en-GB" dirty="0"/>
              <a:t> of one use case must satisfy the preconditions of the next one in the sequence.</a:t>
            </a:r>
            <a:endParaRPr lang="en-US" dirty="0"/>
          </a:p>
        </p:txBody>
      </p:sp>
    </p:spTree>
    <p:extLst>
      <p:ext uri="{BB962C8B-B14F-4D97-AF65-F5344CB8AC3E}">
        <p14:creationId xmlns:p14="http://schemas.microsoft.com/office/powerpoint/2010/main" val="156441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Aligning preconditions and </a:t>
            </a:r>
            <a:r>
              <a:rPr lang="en-US" b="1" dirty="0" err="1"/>
              <a:t>postconditions</a:t>
            </a:r>
            <a:endParaRPr lang="en-US" dirty="0"/>
          </a:p>
        </p:txBody>
      </p:sp>
      <p:pic>
        <p:nvPicPr>
          <p:cNvPr id="4" name="Content Placeholder 3"/>
          <p:cNvPicPr>
            <a:picLocks noGrp="1" noChangeAspect="1"/>
          </p:cNvPicPr>
          <p:nvPr>
            <p:ph idx="1"/>
          </p:nvPr>
        </p:nvPicPr>
        <p:blipFill>
          <a:blip r:embed="rId2"/>
          <a:stretch>
            <a:fillRect/>
          </a:stretch>
        </p:blipFill>
        <p:spPr>
          <a:xfrm>
            <a:off x="884169" y="1969895"/>
            <a:ext cx="10423662" cy="4062797"/>
          </a:xfrm>
          <a:prstGeom prst="rect">
            <a:avLst/>
          </a:prstGeom>
        </p:spPr>
      </p:pic>
    </p:spTree>
    <p:extLst>
      <p:ext uri="{BB962C8B-B14F-4D97-AF65-F5344CB8AC3E}">
        <p14:creationId xmlns:p14="http://schemas.microsoft.com/office/powerpoint/2010/main" val="189228973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Identifying use cases</a:t>
            </a:r>
            <a:endParaRPr lang="en-US" dirty="0"/>
          </a:p>
        </p:txBody>
      </p:sp>
      <p:sp>
        <p:nvSpPr>
          <p:cNvPr id="3" name="Content Placeholder 2"/>
          <p:cNvSpPr>
            <a:spLocks noGrp="1"/>
          </p:cNvSpPr>
          <p:nvPr>
            <p:ph idx="1"/>
          </p:nvPr>
        </p:nvSpPr>
        <p:spPr/>
        <p:txBody>
          <a:bodyPr>
            <a:normAutofit fontScale="85000" lnSpcReduction="20000"/>
          </a:bodyPr>
          <a:lstStyle/>
          <a:p>
            <a:r>
              <a:rPr lang="en-GB" dirty="0" smtClean="0"/>
              <a:t>Identify </a:t>
            </a:r>
            <a:r>
              <a:rPr lang="en-GB" dirty="0"/>
              <a:t>the actors first, then lay out the business processes being supported by the system, and define the use cases for activities where actors and systems interact.</a:t>
            </a:r>
          </a:p>
          <a:p>
            <a:r>
              <a:rPr lang="en-GB" dirty="0"/>
              <a:t>Create a specific scenario to illustrate each business process, then generalize the scenarios into use cases and identify the actors involved in each one.</a:t>
            </a:r>
          </a:p>
          <a:p>
            <a:r>
              <a:rPr lang="en-GB" dirty="0"/>
              <a:t>Using a business process description, ask, “What tasks must the system perform to complete this process or convert the inputs into outputs?” Those tasks might be use cases.</a:t>
            </a:r>
          </a:p>
          <a:p>
            <a:r>
              <a:rPr lang="en-GB" dirty="0"/>
              <a:t>Identify the external events to which the system must respond, then relate these events to participating actors and specific use cases.</a:t>
            </a:r>
          </a:p>
          <a:p>
            <a:r>
              <a:rPr lang="en-GB" dirty="0"/>
              <a:t>Use a CRUD analysis to identify data entities that require use cases to create, read, update, delete, or otherwise manipulate them </a:t>
            </a:r>
            <a:endParaRPr lang="en-GB" dirty="0" smtClean="0"/>
          </a:p>
          <a:p>
            <a:r>
              <a:rPr lang="en-GB" dirty="0" smtClean="0"/>
              <a:t>Examine </a:t>
            </a:r>
            <a:r>
              <a:rPr lang="en-GB" dirty="0"/>
              <a:t>the context diagram and ask, “What objectives do each of these external entities want to achieve with the help of the system?”</a:t>
            </a:r>
          </a:p>
          <a:p>
            <a:endParaRPr lang="en-US" dirty="0"/>
          </a:p>
        </p:txBody>
      </p:sp>
    </p:spTree>
    <p:extLst>
      <p:ext uri="{BB962C8B-B14F-4D97-AF65-F5344CB8AC3E}">
        <p14:creationId xmlns:p14="http://schemas.microsoft.com/office/powerpoint/2010/main" val="127072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Use cases often involve some additional information or requirements that do not fit within any of the template sections. Use the “Other Information” section to record pertinent performance and other quality requirements, constraints, and external interface knowledge. </a:t>
            </a:r>
            <a:endParaRPr lang="en-US" dirty="0"/>
          </a:p>
        </p:txBody>
      </p:sp>
    </p:spTree>
    <p:extLst>
      <p:ext uri="{BB962C8B-B14F-4D97-AF65-F5344CB8AC3E}">
        <p14:creationId xmlns:p14="http://schemas.microsoft.com/office/powerpoint/2010/main" val="22222046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Elicitation work products</a:t>
            </a:r>
            <a:endParaRPr lang="en-US" dirty="0"/>
          </a:p>
        </p:txBody>
      </p:sp>
      <p:pic>
        <p:nvPicPr>
          <p:cNvPr id="4" name="Content Placeholder 3"/>
          <p:cNvPicPr>
            <a:picLocks noGrp="1" noChangeAspect="1"/>
          </p:cNvPicPr>
          <p:nvPr>
            <p:ph idx="1"/>
          </p:nvPr>
        </p:nvPicPr>
        <p:blipFill>
          <a:blip r:embed="rId2"/>
          <a:stretch>
            <a:fillRect/>
          </a:stretch>
        </p:blipFill>
        <p:spPr>
          <a:xfrm>
            <a:off x="1925211" y="1825625"/>
            <a:ext cx="8341578" cy="4351338"/>
          </a:xfrm>
          <a:prstGeom prst="rect">
            <a:avLst/>
          </a:prstGeom>
        </p:spPr>
      </p:pic>
    </p:spTree>
    <p:extLst>
      <p:ext uri="{BB962C8B-B14F-4D97-AF65-F5344CB8AC3E}">
        <p14:creationId xmlns:p14="http://schemas.microsoft.com/office/powerpoint/2010/main" val="33738544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Use cases and functional </a:t>
            </a:r>
            <a:r>
              <a:rPr lang="en-GB" b="1" dirty="0" smtClean="0"/>
              <a:t>requirements  </a:t>
            </a:r>
            <a:endParaRPr lang="en-US" dirty="0"/>
          </a:p>
        </p:txBody>
      </p:sp>
      <p:sp>
        <p:nvSpPr>
          <p:cNvPr id="3" name="Content Placeholder 2"/>
          <p:cNvSpPr>
            <a:spLocks noGrp="1"/>
          </p:cNvSpPr>
          <p:nvPr>
            <p:ph idx="1"/>
          </p:nvPr>
        </p:nvSpPr>
        <p:spPr/>
        <p:txBody>
          <a:bodyPr>
            <a:normAutofit fontScale="92500" lnSpcReduction="10000"/>
          </a:bodyPr>
          <a:lstStyle/>
          <a:p>
            <a:r>
              <a:rPr lang="en-GB" dirty="0"/>
              <a:t>Software developers don’t implement business requirements or user requirements. </a:t>
            </a:r>
            <a:endParaRPr lang="en-GB" dirty="0" smtClean="0"/>
          </a:p>
          <a:p>
            <a:r>
              <a:rPr lang="en-GB" dirty="0" smtClean="0"/>
              <a:t>They </a:t>
            </a:r>
            <a:r>
              <a:rPr lang="en-GB" dirty="0"/>
              <a:t>implement functional requirements, specific bits of system </a:t>
            </a:r>
            <a:r>
              <a:rPr lang="en-GB" dirty="0" err="1"/>
              <a:t>behavior</a:t>
            </a:r>
            <a:r>
              <a:rPr lang="en-GB" dirty="0"/>
              <a:t>. </a:t>
            </a:r>
            <a:endParaRPr lang="en-GB" dirty="0" smtClean="0"/>
          </a:p>
          <a:p>
            <a:r>
              <a:rPr lang="en-GB" dirty="0" smtClean="0"/>
              <a:t>The user requirements </a:t>
            </a:r>
            <a:r>
              <a:rPr lang="en-GB" dirty="0"/>
              <a:t>don’t contain all the information that a developer needs to write the software. </a:t>
            </a:r>
            <a:endParaRPr lang="en-GB" dirty="0" smtClean="0"/>
          </a:p>
          <a:p>
            <a:r>
              <a:rPr lang="en-GB" dirty="0" smtClean="0"/>
              <a:t>E.g. The </a:t>
            </a:r>
            <a:r>
              <a:rPr lang="en-GB" dirty="0"/>
              <a:t>user of an ATM doesn’t know about any back-end processing involved, such as communicating with the bank’s computer. </a:t>
            </a:r>
            <a:endParaRPr lang="en-GB" dirty="0" smtClean="0"/>
          </a:p>
          <a:p>
            <a:r>
              <a:rPr lang="en-GB" dirty="0" smtClean="0"/>
              <a:t>To </a:t>
            </a:r>
            <a:r>
              <a:rPr lang="en-GB" dirty="0"/>
              <a:t>reduce this uncertainty, consider having a BA explicitly specify the functional requirements necessary to implement each use </a:t>
            </a:r>
            <a:r>
              <a:rPr lang="en-GB" dirty="0" smtClean="0"/>
              <a:t>case.</a:t>
            </a:r>
          </a:p>
          <a:p>
            <a:r>
              <a:rPr lang="en-GB" dirty="0" smtClean="0"/>
              <a:t>You </a:t>
            </a:r>
            <a:r>
              <a:rPr lang="en-GB" dirty="0"/>
              <a:t>can document the functionality associated with a use case in several ways. </a:t>
            </a:r>
            <a:endParaRPr lang="en-US" dirty="0"/>
          </a:p>
        </p:txBody>
      </p:sp>
    </p:spTree>
    <p:extLst>
      <p:ext uri="{BB962C8B-B14F-4D97-AF65-F5344CB8AC3E}">
        <p14:creationId xmlns:p14="http://schemas.microsoft.com/office/powerpoint/2010/main" val="300236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Use cases only</a:t>
            </a:r>
            <a:endParaRPr lang="en-US" dirty="0"/>
          </a:p>
        </p:txBody>
      </p:sp>
      <p:sp>
        <p:nvSpPr>
          <p:cNvPr id="3" name="Content Placeholder 2"/>
          <p:cNvSpPr>
            <a:spLocks noGrp="1"/>
          </p:cNvSpPr>
          <p:nvPr>
            <p:ph idx="1"/>
          </p:nvPr>
        </p:nvSpPr>
        <p:spPr/>
        <p:txBody>
          <a:bodyPr/>
          <a:lstStyle/>
          <a:p>
            <a:r>
              <a:rPr lang="en-GB" dirty="0"/>
              <a:t>One possibility is to include the functional requirements along with each use case specification, if they aren’t already evident</a:t>
            </a:r>
            <a:r>
              <a:rPr lang="en-GB" dirty="0" smtClean="0"/>
              <a:t>.</a:t>
            </a:r>
          </a:p>
          <a:p>
            <a:r>
              <a:rPr lang="en-GB" dirty="0" smtClean="0"/>
              <a:t> </a:t>
            </a:r>
            <a:r>
              <a:rPr lang="en-GB" dirty="0"/>
              <a:t>You’ll still need to document </a:t>
            </a:r>
            <a:r>
              <a:rPr lang="en-GB" dirty="0" smtClean="0"/>
              <a:t>non-functional </a:t>
            </a:r>
            <a:r>
              <a:rPr lang="en-GB" dirty="0"/>
              <a:t>requirements and any functionality that’s not associated with a use case. </a:t>
            </a:r>
            <a:endParaRPr lang="en-GB" dirty="0" smtClean="0"/>
          </a:p>
          <a:p>
            <a:r>
              <a:rPr lang="en-GB" dirty="0" smtClean="0"/>
              <a:t>Additionally</a:t>
            </a:r>
            <a:r>
              <a:rPr lang="en-GB" dirty="0"/>
              <a:t>, several use cases might need the same functional requirement</a:t>
            </a:r>
            <a:r>
              <a:rPr lang="en-GB" dirty="0" smtClean="0"/>
              <a:t>. </a:t>
            </a:r>
            <a:r>
              <a:rPr lang="en-GB" dirty="0"/>
              <a:t>Rather than duplicate them, cross-reference functional requirements that appear in multiple use cases. </a:t>
            </a:r>
            <a:endParaRPr lang="en-US" dirty="0"/>
          </a:p>
        </p:txBody>
      </p:sp>
    </p:spTree>
    <p:extLst>
      <p:ext uri="{BB962C8B-B14F-4D97-AF65-F5344CB8AC3E}">
        <p14:creationId xmlns:p14="http://schemas.microsoft.com/office/powerpoint/2010/main" val="3898000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b. Use </a:t>
            </a:r>
            <a:r>
              <a:rPr lang="en-GB" b="1" dirty="0"/>
              <a:t>cases and functional requirements</a:t>
            </a:r>
            <a:endParaRPr lang="en-US" dirty="0"/>
          </a:p>
        </p:txBody>
      </p:sp>
      <p:sp>
        <p:nvSpPr>
          <p:cNvPr id="3" name="Content Placeholder 2"/>
          <p:cNvSpPr>
            <a:spLocks noGrp="1"/>
          </p:cNvSpPr>
          <p:nvPr>
            <p:ph idx="1"/>
          </p:nvPr>
        </p:nvSpPr>
        <p:spPr/>
        <p:txBody>
          <a:bodyPr/>
          <a:lstStyle/>
          <a:p>
            <a:r>
              <a:rPr lang="en-GB" dirty="0"/>
              <a:t>Another option is to write fairly simple use cases and document the functional requirements derived from each one in an SRS or a requirements repository. In this approach, you should establish traceability between the use cases and their associated functional requirements. That way, if a use case changes, you can quickly find the affected functional requirements. The best way to manage the traceability is with a requirements management tool.</a:t>
            </a:r>
            <a:endParaRPr lang="en-US" dirty="0"/>
          </a:p>
        </p:txBody>
      </p:sp>
    </p:spTree>
    <p:extLst>
      <p:ext uri="{BB962C8B-B14F-4D97-AF65-F5344CB8AC3E}">
        <p14:creationId xmlns:p14="http://schemas.microsoft.com/office/powerpoint/2010/main" val="138301951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 Functional </a:t>
            </a:r>
            <a:r>
              <a:rPr lang="en-US" b="1" dirty="0"/>
              <a:t>requirements only</a:t>
            </a:r>
            <a:endParaRPr lang="en-US" dirty="0"/>
          </a:p>
        </p:txBody>
      </p:sp>
      <p:sp>
        <p:nvSpPr>
          <p:cNvPr id="3" name="Content Placeholder 2"/>
          <p:cNvSpPr>
            <a:spLocks noGrp="1"/>
          </p:cNvSpPr>
          <p:nvPr>
            <p:ph idx="1"/>
          </p:nvPr>
        </p:nvSpPr>
        <p:spPr/>
        <p:txBody>
          <a:bodyPr>
            <a:normAutofit/>
          </a:bodyPr>
          <a:lstStyle/>
          <a:p>
            <a:r>
              <a:rPr lang="en-GB" dirty="0"/>
              <a:t>One more option is to organize your functional requirements by use case or by feature, and include both the use cases and the functional requirements in the SRS or requirements repository. </a:t>
            </a:r>
            <a:endParaRPr lang="en-GB" dirty="0" smtClean="0"/>
          </a:p>
          <a:p>
            <a:r>
              <a:rPr lang="en-GB" dirty="0" smtClean="0"/>
              <a:t>Most of the use cases can be written in very concise form, not completing the full template. The </a:t>
            </a:r>
            <a:r>
              <a:rPr lang="en-GB" dirty="0"/>
              <a:t>details </a:t>
            </a:r>
            <a:r>
              <a:rPr lang="en-GB" dirty="0" smtClean="0"/>
              <a:t>can then be </a:t>
            </a:r>
            <a:r>
              <a:rPr lang="en-GB" dirty="0"/>
              <a:t>specified through a set of functional requirements. This approach doesn’t result in a separate user requirements document</a:t>
            </a:r>
            <a:r>
              <a:rPr lang="en-GB" dirty="0" smtClean="0"/>
              <a:t>.</a:t>
            </a:r>
            <a:endParaRPr lang="en-GB" dirty="0"/>
          </a:p>
        </p:txBody>
      </p:sp>
    </p:spTree>
    <p:extLst>
      <p:ext uri="{BB962C8B-B14F-4D97-AF65-F5344CB8AC3E}">
        <p14:creationId xmlns:p14="http://schemas.microsoft.com/office/powerpoint/2010/main" val="406482934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d. Use </a:t>
            </a:r>
            <a:r>
              <a:rPr lang="en-US" b="1" dirty="0"/>
              <a:t>cases and tests</a:t>
            </a:r>
            <a:endParaRPr lang="en-US" dirty="0"/>
          </a:p>
        </p:txBody>
      </p:sp>
      <p:sp>
        <p:nvSpPr>
          <p:cNvPr id="3" name="Content Placeholder 2"/>
          <p:cNvSpPr>
            <a:spLocks noGrp="1"/>
          </p:cNvSpPr>
          <p:nvPr>
            <p:ph idx="1"/>
          </p:nvPr>
        </p:nvSpPr>
        <p:spPr/>
        <p:txBody>
          <a:bodyPr/>
          <a:lstStyle/>
          <a:p>
            <a:r>
              <a:rPr lang="en-GB" dirty="0" smtClean="0"/>
              <a:t>If </a:t>
            </a:r>
            <a:r>
              <a:rPr lang="en-GB" dirty="0"/>
              <a:t>you write both detailed use case specifications and functional requirements, you might notice some duplication, particularly around the normal flow. There is little value in writing the same requirement twice. So another strategy is to write fairly complete use case specifications, but then write acceptance tests to determine if the system properly handles the basic </a:t>
            </a:r>
            <a:r>
              <a:rPr lang="en-GB" dirty="0" err="1"/>
              <a:t>behavior</a:t>
            </a:r>
            <a:r>
              <a:rPr lang="en-GB" dirty="0"/>
              <a:t> of the use case, alternative success paths, and the various things that could go wrong.</a:t>
            </a:r>
            <a:endParaRPr lang="en-US" dirty="0"/>
          </a:p>
          <a:p>
            <a:endParaRPr lang="en-US" dirty="0"/>
          </a:p>
        </p:txBody>
      </p:sp>
    </p:spTree>
    <p:extLst>
      <p:ext uri="{BB962C8B-B14F-4D97-AF65-F5344CB8AC3E}">
        <p14:creationId xmlns:p14="http://schemas.microsoft.com/office/powerpoint/2010/main" val="21735539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Use case traps to avoid</a:t>
            </a:r>
            <a:endParaRPr lang="en-US" dirty="0"/>
          </a:p>
        </p:txBody>
      </p:sp>
      <p:sp>
        <p:nvSpPr>
          <p:cNvPr id="3" name="Content Placeholder 2"/>
          <p:cNvSpPr>
            <a:spLocks noGrp="1"/>
          </p:cNvSpPr>
          <p:nvPr>
            <p:ph idx="1"/>
          </p:nvPr>
        </p:nvSpPr>
        <p:spPr/>
        <p:txBody>
          <a:bodyPr>
            <a:normAutofit fontScale="92500" lnSpcReduction="20000"/>
          </a:bodyPr>
          <a:lstStyle/>
          <a:p>
            <a:endParaRPr lang="en-US" dirty="0"/>
          </a:p>
          <a:p>
            <a:r>
              <a:rPr lang="en-US" b="1" dirty="0"/>
              <a:t>Too many use cases </a:t>
            </a:r>
            <a:endParaRPr lang="en-US" b="1" dirty="0" smtClean="0"/>
          </a:p>
          <a:p>
            <a:endParaRPr lang="en-US" dirty="0"/>
          </a:p>
          <a:p>
            <a:r>
              <a:rPr lang="en-US" b="1" dirty="0"/>
              <a:t>Highly complex use cases </a:t>
            </a:r>
            <a:endParaRPr lang="en-US" dirty="0"/>
          </a:p>
          <a:p>
            <a:endParaRPr lang="en-US" dirty="0"/>
          </a:p>
          <a:p>
            <a:r>
              <a:rPr lang="en-GB" b="1" dirty="0"/>
              <a:t>Including design in the use cases </a:t>
            </a:r>
            <a:endParaRPr lang="en-GB" dirty="0"/>
          </a:p>
          <a:p>
            <a:endParaRPr lang="en-US" dirty="0"/>
          </a:p>
          <a:p>
            <a:r>
              <a:rPr lang="en-GB" b="1" dirty="0"/>
              <a:t>Including data definitions in the use cases </a:t>
            </a:r>
            <a:endParaRPr lang="en-GB" dirty="0"/>
          </a:p>
          <a:p>
            <a:endParaRPr lang="en-US" dirty="0"/>
          </a:p>
          <a:p>
            <a:r>
              <a:rPr lang="en-GB" b="1" dirty="0"/>
              <a:t>Use cases that users don’t understand </a:t>
            </a:r>
            <a:endParaRPr lang="en-GB" dirty="0"/>
          </a:p>
          <a:p>
            <a:endParaRPr lang="en-US" dirty="0"/>
          </a:p>
          <a:p>
            <a:endParaRPr lang="en-US" dirty="0"/>
          </a:p>
        </p:txBody>
      </p:sp>
    </p:spTree>
    <p:extLst>
      <p:ext uri="{BB962C8B-B14F-4D97-AF65-F5344CB8AC3E}">
        <p14:creationId xmlns:p14="http://schemas.microsoft.com/office/powerpoint/2010/main" val="5434713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GB" dirty="0" smtClean="0"/>
              <a:t>.</a:t>
            </a:r>
            <a:endParaRPr lang="en-US" dirty="0"/>
          </a:p>
        </p:txBody>
      </p:sp>
    </p:spTree>
    <p:extLst>
      <p:ext uri="{BB962C8B-B14F-4D97-AF65-F5344CB8AC3E}">
        <p14:creationId xmlns:p14="http://schemas.microsoft.com/office/powerpoint/2010/main" val="762563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9597</TotalTime>
  <Words>3520</Words>
  <Application>Microsoft Office PowerPoint</Application>
  <PresentationFormat>Widescreen</PresentationFormat>
  <Paragraphs>198</Paragraphs>
  <Slides>48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Calibri Light</vt:lpstr>
      <vt:lpstr>Office Theme</vt:lpstr>
      <vt:lpstr>PowerPoint Presentation</vt:lpstr>
      <vt:lpstr>PowerPoint Presentation</vt:lpstr>
      <vt:lpstr>Understanding User Requirements</vt:lpstr>
      <vt:lpstr>Approaches for gathering User Requirements</vt:lpstr>
      <vt:lpstr>Applications of User-centered approach</vt:lpstr>
      <vt:lpstr>Use Case</vt:lpstr>
      <vt:lpstr>Examples of Use Cases</vt:lpstr>
      <vt:lpstr>User Story</vt:lpstr>
      <vt:lpstr>PowerPoint Presentation</vt:lpstr>
      <vt:lpstr>Similarities between a Use case and a User Story</vt:lpstr>
      <vt:lpstr>Differences between Use Cases and User Stories</vt:lpstr>
      <vt:lpstr>Use Cases lead to functional requirements</vt:lpstr>
      <vt:lpstr>User stories lead to acceptance tests</vt:lpstr>
      <vt:lpstr>User stories lead to acceptance tests</vt:lpstr>
      <vt:lpstr>Which one is better – use case or user story?</vt:lpstr>
      <vt:lpstr>Use case approach</vt:lpstr>
      <vt:lpstr>How to identify actors in Use cases</vt:lpstr>
      <vt:lpstr>Use case diagrams</vt:lpstr>
      <vt:lpstr>PowerPoint Presentation</vt:lpstr>
      <vt:lpstr>Difference between use case diagram and context diagram</vt:lpstr>
      <vt:lpstr>Use Case</vt:lpstr>
      <vt:lpstr>Example of Usecase</vt:lpstr>
      <vt:lpstr>Essential elements of a use case</vt:lpstr>
      <vt:lpstr>Preconditions and Postconditions</vt:lpstr>
      <vt:lpstr>Normal flows</vt:lpstr>
      <vt:lpstr>Alternative Flows</vt:lpstr>
      <vt:lpstr>Alternative Flows in User Story</vt:lpstr>
      <vt:lpstr>Exceptions</vt:lpstr>
      <vt:lpstr>Exceptions</vt:lpstr>
      <vt:lpstr>Exceptions in User Story</vt:lpstr>
      <vt:lpstr>Activity Diagram</vt:lpstr>
      <vt:lpstr>Activity Diagram</vt:lpstr>
      <vt:lpstr>Extend and include – Relationships between use cases</vt:lpstr>
      <vt:lpstr>Extend use case</vt:lpstr>
      <vt:lpstr>Include relationship</vt:lpstr>
      <vt:lpstr>Include use case</vt:lpstr>
      <vt:lpstr>Aligning preconditions and postconditions</vt:lpstr>
      <vt:lpstr>Aligning preconditions and postconditions</vt:lpstr>
      <vt:lpstr>Identifying use cases</vt:lpstr>
      <vt:lpstr>PowerPoint Presentation</vt:lpstr>
      <vt:lpstr>Use case Elicitation work products</vt:lpstr>
      <vt:lpstr>Use cases and functional requirements  </vt:lpstr>
      <vt:lpstr>a. Use cases only</vt:lpstr>
      <vt:lpstr>b. Use cases and functional requirements</vt:lpstr>
      <vt:lpstr>c. Functional requirements only</vt:lpstr>
      <vt:lpstr>d. Use cases and tests</vt:lpstr>
      <vt:lpstr>Use case traps to avoid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Qasim</dc:creator>
  <cp:lastModifiedBy>Sara Qasim</cp:lastModifiedBy>
  <cp:revision>30</cp:revision>
  <dcterms:created xsi:type="dcterms:W3CDTF">2020-10-26T14:26:02Z</dcterms:created>
  <dcterms:modified xsi:type="dcterms:W3CDTF">2020-11-03T01:27:17Z</dcterms:modified>
</cp:coreProperties>
</file>