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7" r:id="rId3"/>
    <p:sldId id="278" r:id="rId4"/>
    <p:sldId id="279" r:id="rId5"/>
    <p:sldId id="280" r:id="rId6"/>
    <p:sldId id="281" r:id="rId7"/>
    <p:sldId id="282" r:id="rId8"/>
    <p:sldId id="283"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autoAdjust="0"/>
    <p:restoredTop sz="94660"/>
  </p:normalViewPr>
  <p:slideViewPr>
    <p:cSldViewPr snapToGrid="0">
      <p:cViewPr varScale="1">
        <p:scale>
          <a:sx n="79" d="100"/>
          <a:sy n="79" d="100"/>
        </p:scale>
        <p:origin x="16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67BA2ED-BFC8-4697-B25D-892AAA06F2D1}" type="datetimeFigureOut">
              <a:rPr lang="en-US" smtClean="0"/>
              <a:t>10/13/2020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D8084-6BA1-406E-BF15-AF9A2EA41C3D}" type="slidenum">
              <a:rPr lang="en-US" smtClean="0"/>
              <a:t>‹#›</a:t>
            </a:fld>
            <a:endParaRPr lang="en-US"/>
          </a:p>
        </p:txBody>
      </p:sp>
    </p:spTree>
    <p:extLst>
      <p:ext uri="{BB962C8B-B14F-4D97-AF65-F5344CB8AC3E}">
        <p14:creationId xmlns:p14="http://schemas.microsoft.com/office/powerpoint/2010/main" val="770788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7BA2ED-BFC8-4697-B25D-892AAA06F2D1}" type="datetimeFigureOut">
              <a:rPr lang="en-US" smtClean="0"/>
              <a:t>10/13/2020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D8084-6BA1-406E-BF15-AF9A2EA41C3D}" type="slidenum">
              <a:rPr lang="en-US" smtClean="0"/>
              <a:t>‹#›</a:t>
            </a:fld>
            <a:endParaRPr lang="en-US"/>
          </a:p>
        </p:txBody>
      </p:sp>
    </p:spTree>
    <p:extLst>
      <p:ext uri="{BB962C8B-B14F-4D97-AF65-F5344CB8AC3E}">
        <p14:creationId xmlns:p14="http://schemas.microsoft.com/office/powerpoint/2010/main" val="3738313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67BA2ED-BFC8-4697-B25D-892AAA06F2D1}" type="datetimeFigureOut">
              <a:rPr lang="en-US" smtClean="0"/>
              <a:t>10/13/2020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D8084-6BA1-406E-BF15-AF9A2EA41C3D}" type="slidenum">
              <a:rPr lang="en-US" smtClean="0"/>
              <a:t>‹#›</a:t>
            </a:fld>
            <a:endParaRPr lang="en-US"/>
          </a:p>
        </p:txBody>
      </p:sp>
    </p:spTree>
    <p:extLst>
      <p:ext uri="{BB962C8B-B14F-4D97-AF65-F5344CB8AC3E}">
        <p14:creationId xmlns:p14="http://schemas.microsoft.com/office/powerpoint/2010/main" val="4169748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67BA2ED-BFC8-4697-B25D-892AAA06F2D1}" type="datetimeFigureOut">
              <a:rPr lang="en-US" smtClean="0"/>
              <a:t>10/13/2020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1D8084-6BA1-406E-BF15-AF9A2EA41C3D}" type="slidenum">
              <a:rPr lang="en-US" smtClean="0"/>
              <a:t>‹#›</a:t>
            </a:fld>
            <a:endParaRPr lang="en-US"/>
          </a:p>
        </p:txBody>
      </p:sp>
    </p:spTree>
    <p:extLst>
      <p:ext uri="{BB962C8B-B14F-4D97-AF65-F5344CB8AC3E}">
        <p14:creationId xmlns:p14="http://schemas.microsoft.com/office/powerpoint/2010/main" val="3847725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67BA2ED-BFC8-4697-B25D-892AAA06F2D1}" type="datetimeFigureOut">
              <a:rPr lang="en-US" smtClean="0"/>
              <a:t>10/13/2020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1D8084-6BA1-406E-BF15-AF9A2EA41C3D}" type="slidenum">
              <a:rPr lang="en-US" smtClean="0"/>
              <a:t>‹#›</a:t>
            </a:fld>
            <a:endParaRPr lang="en-US"/>
          </a:p>
        </p:txBody>
      </p:sp>
    </p:spTree>
    <p:extLst>
      <p:ext uri="{BB962C8B-B14F-4D97-AF65-F5344CB8AC3E}">
        <p14:creationId xmlns:p14="http://schemas.microsoft.com/office/powerpoint/2010/main" val="3105362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67BA2ED-BFC8-4697-B25D-892AAA06F2D1}" type="datetimeFigureOut">
              <a:rPr lang="en-US" smtClean="0"/>
              <a:t>10/13/2020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1D8084-6BA1-406E-BF15-AF9A2EA41C3D}" type="slidenum">
              <a:rPr lang="en-US" smtClean="0"/>
              <a:t>‹#›</a:t>
            </a:fld>
            <a:endParaRPr lang="en-US"/>
          </a:p>
        </p:txBody>
      </p:sp>
    </p:spTree>
    <p:extLst>
      <p:ext uri="{BB962C8B-B14F-4D97-AF65-F5344CB8AC3E}">
        <p14:creationId xmlns:p14="http://schemas.microsoft.com/office/powerpoint/2010/main" val="3239600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7BA2ED-BFC8-4697-B25D-892AAA06F2D1}" type="datetimeFigureOut">
              <a:rPr lang="en-US" smtClean="0"/>
              <a:t>10/13/2020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1D8084-6BA1-406E-BF15-AF9A2EA41C3D}" type="slidenum">
              <a:rPr lang="en-US" smtClean="0"/>
              <a:t>‹#›</a:t>
            </a:fld>
            <a:endParaRPr lang="en-US"/>
          </a:p>
        </p:txBody>
      </p:sp>
    </p:spTree>
    <p:extLst>
      <p:ext uri="{BB962C8B-B14F-4D97-AF65-F5344CB8AC3E}">
        <p14:creationId xmlns:p14="http://schemas.microsoft.com/office/powerpoint/2010/main" val="2189181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7BA2ED-BFC8-4697-B25D-892AAA06F2D1}" type="datetimeFigureOut">
              <a:rPr lang="en-US" smtClean="0"/>
              <a:t>10/13/2020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1D8084-6BA1-406E-BF15-AF9A2EA41C3D}" type="slidenum">
              <a:rPr lang="en-US" smtClean="0"/>
              <a:t>‹#›</a:t>
            </a:fld>
            <a:endParaRPr lang="en-US"/>
          </a:p>
        </p:txBody>
      </p:sp>
    </p:spTree>
    <p:extLst>
      <p:ext uri="{BB962C8B-B14F-4D97-AF65-F5344CB8AC3E}">
        <p14:creationId xmlns:p14="http://schemas.microsoft.com/office/powerpoint/2010/main" val="3190610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7BA2ED-BFC8-4697-B25D-892AAA06F2D1}" type="datetimeFigureOut">
              <a:rPr lang="en-US" smtClean="0"/>
              <a:t>10/13/2020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1D8084-6BA1-406E-BF15-AF9A2EA41C3D}" type="slidenum">
              <a:rPr lang="en-US" smtClean="0"/>
              <a:t>‹#›</a:t>
            </a:fld>
            <a:endParaRPr lang="en-US"/>
          </a:p>
        </p:txBody>
      </p:sp>
    </p:spTree>
    <p:extLst>
      <p:ext uri="{BB962C8B-B14F-4D97-AF65-F5344CB8AC3E}">
        <p14:creationId xmlns:p14="http://schemas.microsoft.com/office/powerpoint/2010/main" val="1946732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7BA2ED-BFC8-4697-B25D-892AAA06F2D1}" type="datetimeFigureOut">
              <a:rPr lang="en-US" smtClean="0"/>
              <a:t>10/13/2020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D8084-6BA1-406E-BF15-AF9A2EA41C3D}" type="slidenum">
              <a:rPr lang="en-US" smtClean="0"/>
              <a:t>‹#›</a:t>
            </a:fld>
            <a:endParaRPr lang="en-US"/>
          </a:p>
        </p:txBody>
      </p:sp>
    </p:spTree>
    <p:extLst>
      <p:ext uri="{BB962C8B-B14F-4D97-AF65-F5344CB8AC3E}">
        <p14:creationId xmlns:p14="http://schemas.microsoft.com/office/powerpoint/2010/main" val="1065094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7BA2ED-BFC8-4697-B25D-892AAA06F2D1}" type="datetimeFigureOut">
              <a:rPr lang="en-US" smtClean="0"/>
              <a:t>10/13/2020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D8084-6BA1-406E-BF15-AF9A2EA41C3D}" type="slidenum">
              <a:rPr lang="en-US" smtClean="0"/>
              <a:t>‹#›</a:t>
            </a:fld>
            <a:endParaRPr lang="en-US"/>
          </a:p>
        </p:txBody>
      </p:sp>
    </p:spTree>
    <p:extLst>
      <p:ext uri="{BB962C8B-B14F-4D97-AF65-F5344CB8AC3E}">
        <p14:creationId xmlns:p14="http://schemas.microsoft.com/office/powerpoint/2010/main" val="3363903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7BA2ED-BFC8-4697-B25D-892AAA06F2D1}" type="datetimeFigureOut">
              <a:rPr lang="en-US" smtClean="0"/>
              <a:t>10/13/2020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1D8084-6BA1-406E-BF15-AF9A2EA41C3D}" type="slidenum">
              <a:rPr lang="en-US" smtClean="0"/>
              <a:t>‹#›</a:t>
            </a:fld>
            <a:endParaRPr lang="en-US"/>
          </a:p>
        </p:txBody>
      </p:sp>
    </p:spTree>
    <p:extLst>
      <p:ext uri="{BB962C8B-B14F-4D97-AF65-F5344CB8AC3E}">
        <p14:creationId xmlns:p14="http://schemas.microsoft.com/office/powerpoint/2010/main" val="2599459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Software Requirements Engineering</a:t>
            </a:r>
            <a:endParaRPr lang="en-US" dirty="0"/>
          </a:p>
        </p:txBody>
      </p:sp>
      <p:sp>
        <p:nvSpPr>
          <p:cNvPr id="3" name="Subtitle 2"/>
          <p:cNvSpPr>
            <a:spLocks noGrp="1"/>
          </p:cNvSpPr>
          <p:nvPr>
            <p:ph type="subTitle" idx="1"/>
          </p:nvPr>
        </p:nvSpPr>
        <p:spPr/>
        <p:txBody>
          <a:bodyPr/>
          <a:lstStyle/>
          <a:p>
            <a:pPr algn="r"/>
            <a:r>
              <a:rPr lang="en-US" dirty="0" smtClean="0"/>
              <a:t>Lecture 10 and 11</a:t>
            </a:r>
          </a:p>
          <a:p>
            <a:pPr algn="r"/>
            <a:r>
              <a:rPr lang="en-US" dirty="0" smtClean="0"/>
              <a:t>Engr. Sara Rehmat</a:t>
            </a:r>
            <a:endParaRPr lang="en-US" dirty="0"/>
          </a:p>
        </p:txBody>
      </p:sp>
    </p:spTree>
    <p:extLst>
      <p:ext uri="{BB962C8B-B14F-4D97-AF65-F5344CB8AC3E}">
        <p14:creationId xmlns:p14="http://schemas.microsoft.com/office/powerpoint/2010/main" val="2401020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Finding the voice of user is very important</a:t>
            </a:r>
            <a:endParaRPr lang="en-US" dirty="0"/>
          </a:p>
        </p:txBody>
      </p:sp>
      <p:sp>
        <p:nvSpPr>
          <p:cNvPr id="3" name="Content Placeholder 2"/>
          <p:cNvSpPr>
            <a:spLocks noGrp="1"/>
          </p:cNvSpPr>
          <p:nvPr>
            <p:ph idx="1"/>
          </p:nvPr>
        </p:nvSpPr>
        <p:spPr/>
        <p:txBody>
          <a:bodyPr/>
          <a:lstStyle/>
          <a:p>
            <a:r>
              <a:rPr lang="en-US" dirty="0"/>
              <a:t>Success in software requirements, and hence in software development, depends on getting the voice of the user close to the ear of the developer. </a:t>
            </a:r>
            <a:endParaRPr lang="en-US" dirty="0" smtClean="0"/>
          </a:p>
          <a:p>
            <a:r>
              <a:rPr lang="en-US" dirty="0"/>
              <a:t>Customer involvement is the best way to avoid the expectation </a:t>
            </a:r>
            <a:r>
              <a:rPr lang="en-US" dirty="0" smtClean="0"/>
              <a:t>gap.</a:t>
            </a:r>
          </a:p>
          <a:p>
            <a:r>
              <a:rPr lang="en-US" dirty="0"/>
              <a:t>People often talk about “the user” for a software system as though all users belong to a monolithic group with similar characteristics and needs. </a:t>
            </a:r>
            <a:endParaRPr lang="en-US" dirty="0" smtClean="0"/>
          </a:p>
          <a:p>
            <a:r>
              <a:rPr lang="en-US" dirty="0" smtClean="0"/>
              <a:t>In </a:t>
            </a:r>
            <a:r>
              <a:rPr lang="en-US" dirty="0"/>
              <a:t>reality, most products of any size appeal to a diversity of users with different expectations and </a:t>
            </a:r>
            <a:r>
              <a:rPr lang="en-US" dirty="0" smtClean="0"/>
              <a:t>goals, hence we have user classes.</a:t>
            </a:r>
            <a:endParaRPr lang="en-US" dirty="0"/>
          </a:p>
        </p:txBody>
      </p:sp>
    </p:spTree>
    <p:extLst>
      <p:ext uri="{BB962C8B-B14F-4D97-AF65-F5344CB8AC3E}">
        <p14:creationId xmlns:p14="http://schemas.microsoft.com/office/powerpoint/2010/main" val="3741915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Classifying users</a:t>
            </a:r>
            <a:endParaRPr lang="en-US" dirty="0"/>
          </a:p>
        </p:txBody>
      </p:sp>
      <p:sp>
        <p:nvSpPr>
          <p:cNvPr id="3" name="Content Placeholder 2"/>
          <p:cNvSpPr>
            <a:spLocks noGrp="1"/>
          </p:cNvSpPr>
          <p:nvPr>
            <p:ph idx="1"/>
          </p:nvPr>
        </p:nvSpPr>
        <p:spPr/>
        <p:txBody>
          <a:bodyPr>
            <a:normAutofit lnSpcReduction="10000"/>
          </a:bodyPr>
          <a:lstStyle/>
          <a:p>
            <a:r>
              <a:rPr lang="en-US" dirty="0"/>
              <a:t>Y</a:t>
            </a:r>
            <a:r>
              <a:rPr lang="en-US" dirty="0" smtClean="0"/>
              <a:t>ou </a:t>
            </a:r>
            <a:r>
              <a:rPr lang="en-US" dirty="0"/>
              <a:t>can group users into a number of distinct </a:t>
            </a:r>
            <a:r>
              <a:rPr lang="en-US" i="1" dirty="0"/>
              <a:t>user classes </a:t>
            </a:r>
            <a:r>
              <a:rPr lang="en-US" dirty="0"/>
              <a:t>based on these sorts of differences</a:t>
            </a:r>
            <a:r>
              <a:rPr lang="en-US" dirty="0" smtClean="0"/>
              <a:t>:</a:t>
            </a:r>
            <a:endParaRPr lang="en-US" dirty="0"/>
          </a:p>
          <a:p>
            <a:pPr lvl="1"/>
            <a:r>
              <a:rPr lang="en-US" dirty="0"/>
              <a:t>Their access privilege or security levels (such as ordinary user, guest user, administrator)</a:t>
            </a:r>
          </a:p>
          <a:p>
            <a:pPr lvl="1"/>
            <a:r>
              <a:rPr lang="en-US" dirty="0" smtClean="0"/>
              <a:t>The </a:t>
            </a:r>
            <a:r>
              <a:rPr lang="en-US" dirty="0"/>
              <a:t>tasks they perform during their business operations</a:t>
            </a:r>
          </a:p>
          <a:p>
            <a:pPr lvl="1"/>
            <a:r>
              <a:rPr lang="en-US" dirty="0" smtClean="0"/>
              <a:t>The </a:t>
            </a:r>
            <a:r>
              <a:rPr lang="en-US" dirty="0"/>
              <a:t>features they use</a:t>
            </a:r>
          </a:p>
          <a:p>
            <a:pPr lvl="1"/>
            <a:r>
              <a:rPr lang="en-US" dirty="0" smtClean="0"/>
              <a:t>The </a:t>
            </a:r>
            <a:r>
              <a:rPr lang="en-US" dirty="0"/>
              <a:t>frequency with which they use the product</a:t>
            </a:r>
          </a:p>
          <a:p>
            <a:pPr lvl="1"/>
            <a:r>
              <a:rPr lang="en-US" dirty="0" smtClean="0"/>
              <a:t>Their </a:t>
            </a:r>
            <a:r>
              <a:rPr lang="en-US" dirty="0"/>
              <a:t>application domain experience and computer systems expertise</a:t>
            </a:r>
          </a:p>
          <a:p>
            <a:pPr lvl="1"/>
            <a:r>
              <a:rPr lang="en-US" dirty="0" smtClean="0"/>
              <a:t>The </a:t>
            </a:r>
            <a:r>
              <a:rPr lang="en-US" dirty="0"/>
              <a:t>platforms they will be using (desktop PCs, laptop PCs, tablets, smartphones, specialized </a:t>
            </a:r>
            <a:r>
              <a:rPr lang="en-US" dirty="0" smtClean="0"/>
              <a:t>devices</a:t>
            </a:r>
            <a:endParaRPr lang="en-US" dirty="0"/>
          </a:p>
          <a:p>
            <a:pPr lvl="1"/>
            <a:r>
              <a:rPr lang="en-US" dirty="0"/>
              <a:t>Their native </a:t>
            </a:r>
            <a:r>
              <a:rPr lang="en-US" dirty="0" smtClean="0"/>
              <a:t>language</a:t>
            </a:r>
          </a:p>
          <a:p>
            <a:pPr lvl="1"/>
            <a:r>
              <a:rPr lang="en-US" dirty="0" smtClean="0"/>
              <a:t>Whether </a:t>
            </a:r>
            <a:r>
              <a:rPr lang="en-US" dirty="0"/>
              <a:t>they will interact with the system directly or indirectly</a:t>
            </a:r>
          </a:p>
          <a:p>
            <a:pPr lvl="1"/>
            <a:endParaRPr lang="en-US" dirty="0"/>
          </a:p>
          <a:p>
            <a:endParaRPr lang="en-US" dirty="0"/>
          </a:p>
        </p:txBody>
      </p:sp>
    </p:spTree>
    <p:extLst>
      <p:ext uri="{BB962C8B-B14F-4D97-AF65-F5344CB8AC3E}">
        <p14:creationId xmlns:p14="http://schemas.microsoft.com/office/powerpoint/2010/main" val="4057993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Classifying users on basis of their importance</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Favored User classes</a:t>
            </a:r>
          </a:p>
          <a:p>
            <a:r>
              <a:rPr lang="en-US" dirty="0" smtClean="0"/>
              <a:t>Certain </a:t>
            </a:r>
            <a:r>
              <a:rPr lang="en-US" dirty="0"/>
              <a:t>user classes could be more important than others for a specific project. </a:t>
            </a:r>
            <a:endParaRPr lang="en-US" dirty="0" smtClean="0"/>
          </a:p>
          <a:p>
            <a:r>
              <a:rPr lang="en-US" dirty="0" smtClean="0"/>
              <a:t>Favored </a:t>
            </a:r>
            <a:r>
              <a:rPr lang="en-US" dirty="0"/>
              <a:t>user classes are those whose satisfaction is most closely aligned with achieving the project’s business objectives. </a:t>
            </a:r>
            <a:endParaRPr lang="en-US" dirty="0" smtClean="0"/>
          </a:p>
          <a:p>
            <a:r>
              <a:rPr lang="en-US" dirty="0" smtClean="0"/>
              <a:t>When </a:t>
            </a:r>
            <a:r>
              <a:rPr lang="en-US" dirty="0"/>
              <a:t>resolving conflicts between requirements from different user classes or making priority decisions, favored user classes receive preferential treatment</a:t>
            </a:r>
            <a:r>
              <a:rPr lang="en-US" dirty="0" smtClean="0"/>
              <a:t>.</a:t>
            </a:r>
          </a:p>
          <a:p>
            <a:r>
              <a:rPr lang="en-US" dirty="0" smtClean="0"/>
              <a:t> </a:t>
            </a:r>
            <a:r>
              <a:rPr lang="en-US" dirty="0"/>
              <a:t>This doesn’t mean that the customers who are paying for the system (who might not be users at all) or those who have the most political clout should necessarily be favored. It’s a matter of alignment with the business objectives.</a:t>
            </a:r>
            <a:endParaRPr lang="en-US" dirty="0"/>
          </a:p>
        </p:txBody>
      </p:sp>
    </p:spTree>
    <p:extLst>
      <p:ext uri="{BB962C8B-B14F-4D97-AF65-F5344CB8AC3E}">
        <p14:creationId xmlns:p14="http://schemas.microsoft.com/office/powerpoint/2010/main" val="1647919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Classifying users on basis of their importance</a:t>
            </a:r>
          </a:p>
        </p:txBody>
      </p:sp>
      <p:sp>
        <p:nvSpPr>
          <p:cNvPr id="3" name="Content Placeholder 2"/>
          <p:cNvSpPr>
            <a:spLocks noGrp="1"/>
          </p:cNvSpPr>
          <p:nvPr>
            <p:ph idx="1"/>
          </p:nvPr>
        </p:nvSpPr>
        <p:spPr/>
        <p:txBody>
          <a:bodyPr>
            <a:normAutofit fontScale="77500" lnSpcReduction="20000"/>
          </a:bodyPr>
          <a:lstStyle/>
          <a:p>
            <a:r>
              <a:rPr lang="en-US" dirty="0"/>
              <a:t>Disfavored user classes are groups who aren’t supposed to use the product for legal, security, or safety </a:t>
            </a:r>
            <a:r>
              <a:rPr lang="en-US" dirty="0" smtClean="0"/>
              <a:t>reasons. </a:t>
            </a:r>
          </a:p>
          <a:p>
            <a:r>
              <a:rPr lang="en-US" dirty="0" smtClean="0"/>
              <a:t>You </a:t>
            </a:r>
            <a:r>
              <a:rPr lang="en-US" dirty="0"/>
              <a:t>might build in features to deliberately make it hard for disfavored users to do things they aren’t supposed to do. </a:t>
            </a:r>
            <a:endParaRPr lang="en-US" dirty="0" smtClean="0"/>
          </a:p>
          <a:p>
            <a:pPr lvl="1"/>
            <a:r>
              <a:rPr lang="en-US" dirty="0" smtClean="0"/>
              <a:t>Examples </a:t>
            </a:r>
            <a:r>
              <a:rPr lang="en-US" dirty="0"/>
              <a:t>include access security </a:t>
            </a:r>
            <a:r>
              <a:rPr lang="en-US" dirty="0" smtClean="0"/>
              <a:t>mechanisms</a:t>
            </a:r>
            <a:r>
              <a:rPr lang="en-US" dirty="0"/>
              <a:t>, user privilege levels, antimalware features (for non-human users), and usage logging. Locking a user’s account after four unsuccessful login attempts protects against access by the disfavored user class of “user impersonators,” albeit at the risk of inconveniencing forgetful legitimate users</a:t>
            </a:r>
            <a:r>
              <a:rPr lang="en-US" dirty="0" smtClean="0"/>
              <a:t>.</a:t>
            </a:r>
          </a:p>
          <a:p>
            <a:pPr lvl="1"/>
            <a:r>
              <a:rPr lang="en-US" dirty="0" smtClean="0"/>
              <a:t> If the user’s bank </a:t>
            </a:r>
            <a:r>
              <a:rPr lang="en-US" dirty="0"/>
              <a:t>doesn’t recognize the </a:t>
            </a:r>
            <a:r>
              <a:rPr lang="en-US" dirty="0" smtClean="0"/>
              <a:t>computer they are </a:t>
            </a:r>
            <a:r>
              <a:rPr lang="en-US" dirty="0"/>
              <a:t>using, it sends </a:t>
            </a:r>
            <a:r>
              <a:rPr lang="en-US" dirty="0" smtClean="0"/>
              <a:t>them </a:t>
            </a:r>
            <a:r>
              <a:rPr lang="en-US" dirty="0"/>
              <a:t>an email message with a one-time access code </a:t>
            </a:r>
            <a:r>
              <a:rPr lang="en-US" dirty="0" smtClean="0"/>
              <a:t>they </a:t>
            </a:r>
            <a:r>
              <a:rPr lang="en-US" dirty="0"/>
              <a:t>have to enter before I can log on. This feature was implemented because of the disfavored user class of “people who might have stolen </a:t>
            </a:r>
            <a:r>
              <a:rPr lang="en-US" dirty="0" smtClean="0"/>
              <a:t>the user’s </a:t>
            </a:r>
            <a:r>
              <a:rPr lang="en-US" dirty="0"/>
              <a:t>banking information.”</a:t>
            </a:r>
          </a:p>
          <a:p>
            <a:r>
              <a:rPr lang="en-US" dirty="0"/>
              <a:t>You might elect to ignore still other user classes</a:t>
            </a:r>
            <a:r>
              <a:rPr lang="en-US" dirty="0" smtClean="0"/>
              <a:t>.</a:t>
            </a:r>
          </a:p>
          <a:p>
            <a:r>
              <a:rPr lang="en-US" dirty="0" smtClean="0"/>
              <a:t> The ignore user class will </a:t>
            </a:r>
            <a:r>
              <a:rPr lang="en-US" dirty="0"/>
              <a:t>use the product, but you don’t specifically build it to suit them</a:t>
            </a:r>
            <a:r>
              <a:rPr lang="en-US" dirty="0" smtClean="0"/>
              <a:t>.</a:t>
            </a:r>
          </a:p>
          <a:p>
            <a:r>
              <a:rPr lang="en-US" dirty="0" smtClean="0"/>
              <a:t> </a:t>
            </a:r>
            <a:r>
              <a:rPr lang="en-US" dirty="0"/>
              <a:t>If there are any other groups of users that are neither favored, disfavored, nor ignored, they are of equal importance in defining the product’s requirements.</a:t>
            </a:r>
            <a:endParaRPr lang="en-US" dirty="0"/>
          </a:p>
        </p:txBody>
      </p:sp>
    </p:spTree>
    <p:extLst>
      <p:ext uri="{BB962C8B-B14F-4D97-AF65-F5344CB8AC3E}">
        <p14:creationId xmlns:p14="http://schemas.microsoft.com/office/powerpoint/2010/main" val="3716720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Identifying user classes</a:t>
            </a:r>
            <a:endParaRPr lang="en-US" dirty="0"/>
          </a:p>
        </p:txBody>
      </p:sp>
      <p:sp>
        <p:nvSpPr>
          <p:cNvPr id="3" name="Content Placeholder 2"/>
          <p:cNvSpPr>
            <a:spLocks noGrp="1"/>
          </p:cNvSpPr>
          <p:nvPr>
            <p:ph idx="1"/>
          </p:nvPr>
        </p:nvSpPr>
        <p:spPr/>
        <p:txBody>
          <a:bodyPr>
            <a:normAutofit fontScale="85000" lnSpcReduction="20000"/>
          </a:bodyPr>
          <a:lstStyle/>
          <a:p>
            <a:r>
              <a:rPr lang="en-US" dirty="0"/>
              <a:t>The external entities shown outside your system on a context diagram </a:t>
            </a:r>
            <a:r>
              <a:rPr lang="en-US" dirty="0" smtClean="0"/>
              <a:t>are </a:t>
            </a:r>
            <a:r>
              <a:rPr lang="en-US" dirty="0"/>
              <a:t>candidates for user classes. A corporate organization chart can also help you discover potential users and other </a:t>
            </a:r>
            <a:r>
              <a:rPr lang="en-US" dirty="0" smtClean="0"/>
              <a:t>stakeholders.  </a:t>
            </a:r>
          </a:p>
          <a:p>
            <a:r>
              <a:rPr lang="en-US" dirty="0"/>
              <a:t>Organization chart analysis reduces the likelihood that you will overlook an important class of users within that organization. </a:t>
            </a:r>
            <a:endParaRPr lang="en-US" dirty="0" smtClean="0"/>
          </a:p>
          <a:p>
            <a:r>
              <a:rPr lang="en-US" dirty="0" smtClean="0"/>
              <a:t>It </a:t>
            </a:r>
            <a:r>
              <a:rPr lang="en-US" dirty="0"/>
              <a:t>shows you where to seek potential representatives for specific user classes, as well as helping determine who the key requirements decision makers might be. </a:t>
            </a:r>
            <a:endParaRPr lang="en-US" dirty="0" smtClean="0"/>
          </a:p>
          <a:p>
            <a:r>
              <a:rPr lang="en-US" dirty="0" smtClean="0"/>
              <a:t>You </a:t>
            </a:r>
            <a:r>
              <a:rPr lang="en-US" dirty="0"/>
              <a:t>might find multiple user classes with diverse needs within a single department. Conversely, recognizing the same user class in multiple departments can simplify requirements </a:t>
            </a:r>
            <a:r>
              <a:rPr lang="en-US" dirty="0" smtClean="0"/>
              <a:t>elicitation.</a:t>
            </a:r>
          </a:p>
          <a:p>
            <a:r>
              <a:rPr lang="en-US" dirty="0" smtClean="0"/>
              <a:t>Also </a:t>
            </a:r>
            <a:r>
              <a:rPr lang="en-US" dirty="0"/>
              <a:t>try to understand what type of information the users from each department might supply based on their role in the organization and their department’s perspective on the project.</a:t>
            </a:r>
            <a:endParaRPr lang="en-US" dirty="0"/>
          </a:p>
        </p:txBody>
      </p:sp>
    </p:spTree>
    <p:extLst>
      <p:ext uri="{BB962C8B-B14F-4D97-AF65-F5344CB8AC3E}">
        <p14:creationId xmlns:p14="http://schemas.microsoft.com/office/powerpoint/2010/main" val="2299383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 chart of Chemical Tracking System</a:t>
            </a:r>
            <a:endParaRPr lang="en-US" dirty="0"/>
          </a:p>
        </p:txBody>
      </p:sp>
      <p:pic>
        <p:nvPicPr>
          <p:cNvPr id="4" name="Content Placeholder 3"/>
          <p:cNvPicPr>
            <a:picLocks noGrp="1" noChangeAspect="1"/>
          </p:cNvPicPr>
          <p:nvPr>
            <p:ph idx="1"/>
          </p:nvPr>
        </p:nvPicPr>
        <p:blipFill>
          <a:blip r:embed="rId2"/>
          <a:stretch>
            <a:fillRect/>
          </a:stretch>
        </p:blipFill>
        <p:spPr>
          <a:xfrm>
            <a:off x="838200" y="2236416"/>
            <a:ext cx="10515600" cy="3529756"/>
          </a:xfrm>
          <a:prstGeom prst="rect">
            <a:avLst/>
          </a:prstGeom>
        </p:spPr>
      </p:pic>
    </p:spTree>
    <p:extLst>
      <p:ext uri="{BB962C8B-B14F-4D97-AF65-F5344CB8AC3E}">
        <p14:creationId xmlns:p14="http://schemas.microsoft.com/office/powerpoint/2010/main" val="1546445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classes of Chemical Tracking Systems</a:t>
            </a:r>
            <a:endParaRPr lang="en-US" dirty="0"/>
          </a:p>
        </p:txBody>
      </p:sp>
      <p:pic>
        <p:nvPicPr>
          <p:cNvPr id="4" name="Content Placeholder 3"/>
          <p:cNvPicPr>
            <a:picLocks noGrp="1" noChangeAspect="1"/>
          </p:cNvPicPr>
          <p:nvPr>
            <p:ph idx="1"/>
          </p:nvPr>
        </p:nvPicPr>
        <p:blipFill>
          <a:blip r:embed="rId2"/>
          <a:stretch>
            <a:fillRect/>
          </a:stretch>
        </p:blipFill>
        <p:spPr>
          <a:xfrm>
            <a:off x="2526031" y="1825625"/>
            <a:ext cx="7139937" cy="4351338"/>
          </a:xfrm>
          <a:prstGeom prst="rect">
            <a:avLst/>
          </a:prstGeom>
        </p:spPr>
      </p:pic>
    </p:spTree>
    <p:extLst>
      <p:ext uri="{BB962C8B-B14F-4D97-AF65-F5344CB8AC3E}">
        <p14:creationId xmlns:p14="http://schemas.microsoft.com/office/powerpoint/2010/main" val="537365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User personas</a:t>
            </a:r>
            <a:endParaRPr lang="en-US" dirty="0"/>
          </a:p>
        </p:txBody>
      </p:sp>
      <p:sp>
        <p:nvSpPr>
          <p:cNvPr id="3" name="Content Placeholder 2"/>
          <p:cNvSpPr>
            <a:spLocks noGrp="1"/>
          </p:cNvSpPr>
          <p:nvPr>
            <p:ph idx="1"/>
          </p:nvPr>
        </p:nvSpPr>
        <p:spPr/>
        <p:txBody>
          <a:bodyPr/>
          <a:lstStyle/>
          <a:p>
            <a:r>
              <a:rPr lang="en-US" dirty="0"/>
              <a:t>To help bring your user classes to life, consider creating a </a:t>
            </a:r>
            <a:r>
              <a:rPr lang="en-US" i="1" dirty="0"/>
              <a:t>persona </a:t>
            </a:r>
            <a:r>
              <a:rPr lang="en-US" dirty="0"/>
              <a:t>for each </a:t>
            </a:r>
            <a:r>
              <a:rPr lang="en-US" dirty="0" smtClean="0"/>
              <a:t>one.</a:t>
            </a:r>
          </a:p>
          <a:p>
            <a:r>
              <a:rPr lang="en-US" dirty="0" smtClean="0"/>
              <a:t>A </a:t>
            </a:r>
            <a:r>
              <a:rPr lang="en-US" dirty="0"/>
              <a:t>persona is a description of a hypothetical, generic person who serves as a stand-in for </a:t>
            </a:r>
            <a:r>
              <a:rPr lang="en-US" dirty="0" smtClean="0"/>
              <a:t>a user class.</a:t>
            </a:r>
          </a:p>
          <a:p>
            <a:r>
              <a:rPr lang="en-US" dirty="0" smtClean="0"/>
              <a:t>You </a:t>
            </a:r>
            <a:r>
              <a:rPr lang="en-US" dirty="0"/>
              <a:t>can use personas to help you understand the requirements and to design the user experience to best meet the needs of specific user communities</a:t>
            </a:r>
            <a:r>
              <a:rPr lang="en-US" dirty="0" smtClean="0"/>
              <a:t>.</a:t>
            </a:r>
          </a:p>
          <a:p>
            <a:r>
              <a:rPr lang="en-US" dirty="0"/>
              <a:t>Provided you’ve created a persona that accurately represents the user class, this should help you do a good job of satisfying the needs and expectations of the whole class. </a:t>
            </a:r>
          </a:p>
        </p:txBody>
      </p:sp>
    </p:spTree>
    <p:extLst>
      <p:ext uri="{BB962C8B-B14F-4D97-AF65-F5344CB8AC3E}">
        <p14:creationId xmlns:p14="http://schemas.microsoft.com/office/powerpoint/2010/main" val="2625084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Connecting with user representatives</a:t>
            </a:r>
            <a:endParaRPr lang="en-US" dirty="0"/>
          </a:p>
        </p:txBody>
      </p:sp>
      <p:sp>
        <p:nvSpPr>
          <p:cNvPr id="3" name="Content Placeholder 2"/>
          <p:cNvSpPr>
            <a:spLocks noGrp="1"/>
          </p:cNvSpPr>
          <p:nvPr>
            <p:ph idx="1"/>
          </p:nvPr>
        </p:nvSpPr>
        <p:spPr/>
        <p:txBody>
          <a:bodyPr>
            <a:normAutofit/>
          </a:bodyPr>
          <a:lstStyle/>
          <a:p>
            <a:r>
              <a:rPr lang="en-US" dirty="0"/>
              <a:t>Each user class needs someone to speak for it</a:t>
            </a:r>
            <a:r>
              <a:rPr lang="en-US" dirty="0" smtClean="0"/>
              <a:t>.</a:t>
            </a:r>
          </a:p>
          <a:p>
            <a:r>
              <a:rPr lang="en-US" dirty="0" smtClean="0"/>
              <a:t>It’s </a:t>
            </a:r>
            <a:r>
              <a:rPr lang="en-US" dirty="0"/>
              <a:t>easiest to gain access to actual users when you’re developing applications for deployment within your own company. </a:t>
            </a:r>
            <a:endParaRPr lang="en-US" dirty="0" smtClean="0"/>
          </a:p>
          <a:p>
            <a:r>
              <a:rPr lang="en-US" dirty="0" smtClean="0"/>
              <a:t>If </a:t>
            </a:r>
            <a:r>
              <a:rPr lang="en-US" dirty="0"/>
              <a:t>you’re developing commercial software, you might engage people from your beta-testing or early-release sites to provide requirements input much earlier in the development </a:t>
            </a:r>
            <a:r>
              <a:rPr lang="en-US" dirty="0" smtClean="0"/>
              <a:t>process.</a:t>
            </a:r>
          </a:p>
          <a:p>
            <a:r>
              <a:rPr lang="en-US" dirty="0" smtClean="0"/>
              <a:t>Consider </a:t>
            </a:r>
            <a:r>
              <a:rPr lang="en-US" dirty="0"/>
              <a:t>setting up focus groups of current users of your products or your competitors’ products. Instead of just guessing at what your users might want, ask some of them.</a:t>
            </a:r>
          </a:p>
        </p:txBody>
      </p:sp>
    </p:spTree>
    <p:extLst>
      <p:ext uri="{BB962C8B-B14F-4D97-AF65-F5344CB8AC3E}">
        <p14:creationId xmlns:p14="http://schemas.microsoft.com/office/powerpoint/2010/main" val="2525961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Connecting with user representatives</a:t>
            </a:r>
            <a:endParaRPr lang="en-US" dirty="0"/>
          </a:p>
        </p:txBody>
      </p:sp>
      <p:sp>
        <p:nvSpPr>
          <p:cNvPr id="3" name="Content Placeholder 2"/>
          <p:cNvSpPr>
            <a:spLocks noGrp="1"/>
          </p:cNvSpPr>
          <p:nvPr>
            <p:ph idx="1"/>
          </p:nvPr>
        </p:nvSpPr>
        <p:spPr/>
        <p:txBody>
          <a:bodyPr/>
          <a:lstStyle/>
          <a:p>
            <a:r>
              <a:rPr lang="en-US" dirty="0"/>
              <a:t>Consider setting up focus groups of current users of your products or your competitors’ products</a:t>
            </a:r>
            <a:r>
              <a:rPr lang="en-US" dirty="0" smtClean="0"/>
              <a:t>.</a:t>
            </a:r>
          </a:p>
          <a:p>
            <a:r>
              <a:rPr lang="en-US" dirty="0" smtClean="0"/>
              <a:t> </a:t>
            </a:r>
            <a:r>
              <a:rPr lang="en-US" dirty="0"/>
              <a:t>Instead of just guessing at what your users might want, ask some of them</a:t>
            </a:r>
            <a:r>
              <a:rPr lang="en-US" dirty="0" smtClean="0"/>
              <a:t>.</a:t>
            </a:r>
            <a:r>
              <a:rPr lang="en-US" dirty="0"/>
              <a:t> Include both expert and less experienced customers</a:t>
            </a:r>
            <a:r>
              <a:rPr lang="en-US" dirty="0" smtClean="0"/>
              <a:t>.</a:t>
            </a:r>
          </a:p>
          <a:p>
            <a:r>
              <a:rPr lang="en-US" dirty="0"/>
              <a:t>The most direct communication occurs when developers can talk to appropriate users themselves, which means that the developer is also performing the business analyst role. </a:t>
            </a:r>
            <a:endParaRPr lang="en-US" dirty="0" smtClean="0"/>
          </a:p>
          <a:p>
            <a:r>
              <a:rPr lang="en-US" dirty="0" smtClean="0"/>
              <a:t>This </a:t>
            </a:r>
            <a:r>
              <a:rPr lang="en-US" dirty="0"/>
              <a:t>can work on very small projects, provided the developer involved has the appropriate BA skills, but it doesn’t scale up to large projects with thousands of potential users and dozens of developers.</a:t>
            </a:r>
            <a:r>
              <a:rPr lang="en-US" dirty="0" smtClean="0"/>
              <a:t> </a:t>
            </a:r>
            <a:endParaRPr lang="en-US" dirty="0"/>
          </a:p>
        </p:txBody>
      </p:sp>
    </p:spTree>
    <p:extLst>
      <p:ext uri="{BB962C8B-B14F-4D97-AF65-F5344CB8AC3E}">
        <p14:creationId xmlns:p14="http://schemas.microsoft.com/office/powerpoint/2010/main" val="138911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029790" y="2106041"/>
            <a:ext cx="6132420" cy="4351338"/>
          </a:xfrm>
          <a:prstGeom prst="rect">
            <a:avLst/>
          </a:prstGeom>
        </p:spPr>
      </p:pic>
    </p:spTree>
    <p:extLst>
      <p:ext uri="{BB962C8B-B14F-4D97-AF65-F5344CB8AC3E}">
        <p14:creationId xmlns:p14="http://schemas.microsoft.com/office/powerpoint/2010/main" val="2075091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Connecting with user representatives</a:t>
            </a:r>
            <a:endParaRPr lang="en-US" dirty="0"/>
          </a:p>
        </p:txBody>
      </p:sp>
      <p:sp>
        <p:nvSpPr>
          <p:cNvPr id="3" name="Content Placeholder 2"/>
          <p:cNvSpPr>
            <a:spLocks noGrp="1"/>
          </p:cNvSpPr>
          <p:nvPr>
            <p:ph idx="1"/>
          </p:nvPr>
        </p:nvSpPr>
        <p:spPr/>
        <p:txBody>
          <a:bodyPr>
            <a:normAutofit lnSpcReduction="10000"/>
          </a:bodyPr>
          <a:lstStyle/>
          <a:p>
            <a:r>
              <a:rPr lang="en-US" dirty="0" smtClean="0"/>
              <a:t>Intervening </a:t>
            </a:r>
            <a:r>
              <a:rPr lang="en-US" dirty="0"/>
              <a:t>layers between the user and the developer increase the chance of miscommunication and delay transmission. </a:t>
            </a:r>
            <a:endParaRPr lang="en-US" dirty="0" smtClean="0"/>
          </a:p>
          <a:p>
            <a:r>
              <a:rPr lang="en-US" dirty="0" smtClean="0"/>
              <a:t>Some </a:t>
            </a:r>
            <a:r>
              <a:rPr lang="en-US" dirty="0"/>
              <a:t>of these intervening layers add value, though, as when a skilled BA works with users or other participants to collect, evaluate, refine, and organize their input</a:t>
            </a:r>
            <a:r>
              <a:rPr lang="en-US" dirty="0" smtClean="0"/>
              <a:t>.</a:t>
            </a:r>
          </a:p>
          <a:p>
            <a:r>
              <a:rPr lang="en-US" dirty="0" smtClean="0"/>
              <a:t> </a:t>
            </a:r>
            <a:r>
              <a:rPr lang="en-US" dirty="0"/>
              <a:t>Recognize the risks that you assume by using marketing staff, product managers, subject matter experts, or others as surrogates for the actual voice of the user. </a:t>
            </a:r>
            <a:endParaRPr lang="en-US" dirty="0" smtClean="0"/>
          </a:p>
          <a:p>
            <a:r>
              <a:rPr lang="en-US" dirty="0" smtClean="0"/>
              <a:t>Despite </a:t>
            </a:r>
            <a:r>
              <a:rPr lang="en-US" dirty="0"/>
              <a:t>the obstacles to—and the cost of—optimizing user representation, your product and your customers will suffer if you don’t talk to the people who can provide the best information.</a:t>
            </a:r>
          </a:p>
        </p:txBody>
      </p:sp>
    </p:spTree>
    <p:extLst>
      <p:ext uri="{BB962C8B-B14F-4D97-AF65-F5344CB8AC3E}">
        <p14:creationId xmlns:p14="http://schemas.microsoft.com/office/powerpoint/2010/main" val="2076443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product champion</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a:t>Each product champion serves as the primary interface between members of a single user class and the project’s business analyst. </a:t>
            </a:r>
            <a:endParaRPr lang="en-US" dirty="0" smtClean="0"/>
          </a:p>
          <a:p>
            <a:r>
              <a:rPr lang="en-US" dirty="0" smtClean="0"/>
              <a:t>Ideally</a:t>
            </a:r>
            <a:r>
              <a:rPr lang="en-US" dirty="0"/>
              <a:t>, the champions will be actual users, not surrogates such as funding sponsors, marketing staff, user managers, or software developers imagining themselves to be users</a:t>
            </a:r>
            <a:r>
              <a:rPr lang="en-US" dirty="0" smtClean="0"/>
              <a:t>.</a:t>
            </a:r>
          </a:p>
          <a:p>
            <a:r>
              <a:rPr lang="en-US" dirty="0" smtClean="0"/>
              <a:t> </a:t>
            </a:r>
            <a:r>
              <a:rPr lang="en-US" dirty="0"/>
              <a:t>Product champions gather requirements from other members of the user classes they represent and reconcile inconsistencies. </a:t>
            </a:r>
            <a:endParaRPr lang="en-US" dirty="0" smtClean="0"/>
          </a:p>
          <a:p>
            <a:r>
              <a:rPr lang="en-US" dirty="0" smtClean="0"/>
              <a:t>Requirements </a:t>
            </a:r>
            <a:r>
              <a:rPr lang="en-US" dirty="0"/>
              <a:t>development is thus a shared responsibility of the BA and selected users, although the BA should actually write the requirements documents. </a:t>
            </a:r>
          </a:p>
        </p:txBody>
      </p:sp>
    </p:spTree>
    <p:extLst>
      <p:ext uri="{BB962C8B-B14F-4D97-AF65-F5344CB8AC3E}">
        <p14:creationId xmlns:p14="http://schemas.microsoft.com/office/powerpoint/2010/main" val="422257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product champion</a:t>
            </a:r>
            <a:endParaRPr lang="en-US" dirty="0"/>
          </a:p>
        </p:txBody>
      </p:sp>
      <p:sp>
        <p:nvSpPr>
          <p:cNvPr id="3" name="Content Placeholder 2"/>
          <p:cNvSpPr>
            <a:spLocks noGrp="1"/>
          </p:cNvSpPr>
          <p:nvPr>
            <p:ph idx="1"/>
          </p:nvPr>
        </p:nvSpPr>
        <p:spPr/>
        <p:txBody>
          <a:bodyPr>
            <a:normAutofit/>
          </a:bodyPr>
          <a:lstStyle/>
          <a:p>
            <a:r>
              <a:rPr lang="en-US" dirty="0"/>
              <a:t>The best product champions have a clear vision of the new system. </a:t>
            </a:r>
            <a:endParaRPr lang="en-US" dirty="0" smtClean="0"/>
          </a:p>
          <a:p>
            <a:r>
              <a:rPr lang="en-US" dirty="0" smtClean="0"/>
              <a:t>They’re </a:t>
            </a:r>
            <a:r>
              <a:rPr lang="en-US" dirty="0"/>
              <a:t>enthusiastic because they see how it will benefit them and their peers. </a:t>
            </a:r>
            <a:endParaRPr lang="en-US" dirty="0" smtClean="0"/>
          </a:p>
          <a:p>
            <a:r>
              <a:rPr lang="en-US" dirty="0" smtClean="0"/>
              <a:t>Champions </a:t>
            </a:r>
            <a:r>
              <a:rPr lang="en-US" dirty="0"/>
              <a:t>should be effective communicators who are respected by their colleagues. </a:t>
            </a:r>
            <a:endParaRPr lang="en-US" dirty="0" smtClean="0"/>
          </a:p>
          <a:p>
            <a:r>
              <a:rPr lang="en-US" dirty="0" smtClean="0"/>
              <a:t>We </a:t>
            </a:r>
            <a:r>
              <a:rPr lang="en-US" dirty="0"/>
              <a:t>have found that good product champions made a huge difference in our projects, so we offer them public reward and recognition for their contributions.</a:t>
            </a:r>
          </a:p>
        </p:txBody>
      </p:sp>
    </p:spTree>
    <p:extLst>
      <p:ext uri="{BB962C8B-B14F-4D97-AF65-F5344CB8AC3E}">
        <p14:creationId xmlns:p14="http://schemas.microsoft.com/office/powerpoint/2010/main" val="3889869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External product champions</a:t>
            </a:r>
            <a:endParaRPr lang="en-US" dirty="0"/>
          </a:p>
        </p:txBody>
      </p:sp>
      <p:sp>
        <p:nvSpPr>
          <p:cNvPr id="3" name="Content Placeholder 2"/>
          <p:cNvSpPr>
            <a:spLocks noGrp="1"/>
          </p:cNvSpPr>
          <p:nvPr>
            <p:ph idx="1"/>
          </p:nvPr>
        </p:nvSpPr>
        <p:spPr/>
        <p:txBody>
          <a:bodyPr>
            <a:normAutofit fontScale="92500" lnSpcReduction="20000"/>
          </a:bodyPr>
          <a:lstStyle/>
          <a:p>
            <a:r>
              <a:rPr lang="en-US" dirty="0"/>
              <a:t>When developing commercial software, it can be difficult to find product champions from outside your company. </a:t>
            </a:r>
            <a:endParaRPr lang="en-US" dirty="0" smtClean="0"/>
          </a:p>
          <a:p>
            <a:r>
              <a:rPr lang="en-US" dirty="0" smtClean="0"/>
              <a:t>Companies </a:t>
            </a:r>
            <a:r>
              <a:rPr lang="en-US" dirty="0"/>
              <a:t>that develop commercial products sometimes rely on internal subject matter experts or outside consultants to serve as surrogates for actual users, who might be unknown or difficult to engage. </a:t>
            </a:r>
            <a:endParaRPr lang="en-US" dirty="0" smtClean="0"/>
          </a:p>
          <a:p>
            <a:r>
              <a:rPr lang="en-US" dirty="0" smtClean="0"/>
              <a:t>You </a:t>
            </a:r>
            <a:r>
              <a:rPr lang="en-US" dirty="0"/>
              <a:t>might give external product champions economic incentives for their participation. </a:t>
            </a:r>
            <a:endParaRPr lang="en-US" dirty="0" smtClean="0"/>
          </a:p>
          <a:p>
            <a:r>
              <a:rPr lang="en-US" dirty="0" smtClean="0"/>
              <a:t>Consider </a:t>
            </a:r>
            <a:r>
              <a:rPr lang="en-US" dirty="0"/>
              <a:t>offering them discounts on the product or paying for the time they spend working with you on requirements. </a:t>
            </a:r>
            <a:endParaRPr lang="en-US" dirty="0" smtClean="0"/>
          </a:p>
          <a:p>
            <a:r>
              <a:rPr lang="en-US" dirty="0" smtClean="0"/>
              <a:t>If </a:t>
            </a:r>
            <a:r>
              <a:rPr lang="en-US" dirty="0"/>
              <a:t>you have a diverse customer base, first identify core requirements that are common to all customers. Then define additional requirements that are specific to individual corporate customers, market segments, or user classes.</a:t>
            </a:r>
          </a:p>
        </p:txBody>
      </p:sp>
    </p:spTree>
    <p:extLst>
      <p:ext uri="{BB962C8B-B14F-4D97-AF65-F5344CB8AC3E}">
        <p14:creationId xmlns:p14="http://schemas.microsoft.com/office/powerpoint/2010/main" val="2779515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normAutofit fontScale="77500" lnSpcReduction="20000"/>
          </a:bodyPr>
          <a:lstStyle/>
          <a:p>
            <a:r>
              <a:rPr lang="en-US" dirty="0"/>
              <a:t>One company that developed a retail point-of-sale and back-office system for a particular industry hired three store managers to serve as full-time product champions</a:t>
            </a:r>
            <a:r>
              <a:rPr lang="en-US" dirty="0" smtClean="0"/>
              <a:t>.</a:t>
            </a:r>
          </a:p>
          <a:p>
            <a:r>
              <a:rPr lang="en-US" dirty="0" smtClean="0"/>
              <a:t> A doctor (the author’s family doctor) named Art, left </a:t>
            </a:r>
            <a:r>
              <a:rPr lang="en-US" dirty="0"/>
              <a:t>his medical practice to become the voice-of-the-physician at a medical software company. Art’s new employer believed that it was worth the expense to hire a doctor to help the company build software that other doctors would accept</a:t>
            </a:r>
            <a:r>
              <a:rPr lang="en-US" dirty="0" smtClean="0"/>
              <a:t>.</a:t>
            </a:r>
          </a:p>
          <a:p>
            <a:r>
              <a:rPr lang="en-US" dirty="0" smtClean="0"/>
              <a:t> </a:t>
            </a:r>
            <a:r>
              <a:rPr lang="en-US" dirty="0"/>
              <a:t>A third company hired several former employees from one of their major </a:t>
            </a:r>
            <a:r>
              <a:rPr lang="en-US" dirty="0" smtClean="0"/>
              <a:t>customers</a:t>
            </a:r>
          </a:p>
          <a:p>
            <a:r>
              <a:rPr lang="en-US" dirty="0" smtClean="0"/>
              <a:t> </a:t>
            </a:r>
            <a:r>
              <a:rPr lang="en-US" dirty="0"/>
              <a:t>Rather than bringing in product champions from the customers, the developing company sent BAs to the customer sites. Customers willingly dedicated some of their staff time to helping the BAs get the right requirements for the new invoicing system.</a:t>
            </a:r>
          </a:p>
          <a:p>
            <a:r>
              <a:rPr lang="en-US" dirty="0"/>
              <a:t>Anytime the product champion is a former or simulated user, watch out for disconnects between the champion’s perceptions and the current needs of real users. Some domains change rapidly, whereas others are more stable. </a:t>
            </a:r>
          </a:p>
        </p:txBody>
      </p:sp>
    </p:spTree>
    <p:extLst>
      <p:ext uri="{BB962C8B-B14F-4D97-AF65-F5344CB8AC3E}">
        <p14:creationId xmlns:p14="http://schemas.microsoft.com/office/powerpoint/2010/main" val="123737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3525"/>
            <a:ext cx="10515600" cy="1325563"/>
          </a:xfrm>
        </p:spPr>
        <p:txBody>
          <a:bodyPr/>
          <a:lstStyle/>
          <a:p>
            <a:r>
              <a:rPr lang="en-US" b="1" dirty="0"/>
              <a:t>Product champion expectations</a:t>
            </a:r>
            <a:endParaRPr lang="en-US" dirty="0"/>
          </a:p>
        </p:txBody>
      </p:sp>
      <p:sp>
        <p:nvSpPr>
          <p:cNvPr id="3" name="Content Placeholder 2"/>
          <p:cNvSpPr>
            <a:spLocks noGrp="1"/>
          </p:cNvSpPr>
          <p:nvPr>
            <p:ph idx="1"/>
          </p:nvPr>
        </p:nvSpPr>
        <p:spPr/>
        <p:txBody>
          <a:bodyPr/>
          <a:lstStyle/>
          <a:p>
            <a:r>
              <a:rPr lang="en-US" dirty="0"/>
              <a:t>To help the product champions succeed, document what you expect your champions to do.</a:t>
            </a:r>
          </a:p>
        </p:txBody>
      </p:sp>
    </p:spTree>
    <p:extLst>
      <p:ext uri="{BB962C8B-B14F-4D97-AF65-F5344CB8AC3E}">
        <p14:creationId xmlns:p14="http://schemas.microsoft.com/office/powerpoint/2010/main" val="1391643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Product champion expectations</a:t>
            </a:r>
            <a:endParaRPr lang="en-US" dirty="0"/>
          </a:p>
        </p:txBody>
      </p:sp>
      <p:pic>
        <p:nvPicPr>
          <p:cNvPr id="4" name="Content Placeholder 3"/>
          <p:cNvPicPr>
            <a:picLocks noGrp="1" noChangeAspect="1"/>
          </p:cNvPicPr>
          <p:nvPr>
            <p:ph idx="1"/>
          </p:nvPr>
        </p:nvPicPr>
        <p:blipFill>
          <a:blip r:embed="rId2"/>
          <a:stretch>
            <a:fillRect/>
          </a:stretch>
        </p:blipFill>
        <p:spPr>
          <a:xfrm>
            <a:off x="1171575" y="1893982"/>
            <a:ext cx="10044916" cy="4543393"/>
          </a:xfrm>
          <a:prstGeom prst="rect">
            <a:avLst/>
          </a:prstGeom>
        </p:spPr>
      </p:pic>
    </p:spTree>
    <p:extLst>
      <p:ext uri="{BB962C8B-B14F-4D97-AF65-F5344CB8AC3E}">
        <p14:creationId xmlns:p14="http://schemas.microsoft.com/office/powerpoint/2010/main" val="27147606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Product champion expectations</a:t>
            </a:r>
            <a:endParaRPr lang="en-US" dirty="0"/>
          </a:p>
        </p:txBody>
      </p:sp>
      <p:pic>
        <p:nvPicPr>
          <p:cNvPr id="4" name="Content Placeholder 3"/>
          <p:cNvPicPr>
            <a:picLocks noGrp="1" noChangeAspect="1"/>
          </p:cNvPicPr>
          <p:nvPr>
            <p:ph idx="1"/>
          </p:nvPr>
        </p:nvPicPr>
        <p:blipFill>
          <a:blip r:embed="rId2"/>
          <a:stretch>
            <a:fillRect/>
          </a:stretch>
        </p:blipFill>
        <p:spPr>
          <a:xfrm>
            <a:off x="1585912" y="2620168"/>
            <a:ext cx="9596952" cy="3631279"/>
          </a:xfrm>
          <a:prstGeom prst="rect">
            <a:avLst/>
          </a:prstGeom>
        </p:spPr>
      </p:pic>
    </p:spTree>
    <p:extLst>
      <p:ext uri="{BB962C8B-B14F-4D97-AF65-F5344CB8AC3E}">
        <p14:creationId xmlns:p14="http://schemas.microsoft.com/office/powerpoint/2010/main" val="1423415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Multiple product champions</a:t>
            </a:r>
            <a:endParaRPr lang="en-US" dirty="0"/>
          </a:p>
        </p:txBody>
      </p:sp>
      <p:sp>
        <p:nvSpPr>
          <p:cNvPr id="3" name="Content Placeholder 2"/>
          <p:cNvSpPr>
            <a:spLocks noGrp="1"/>
          </p:cNvSpPr>
          <p:nvPr>
            <p:ph idx="1"/>
          </p:nvPr>
        </p:nvSpPr>
        <p:spPr/>
        <p:txBody>
          <a:bodyPr/>
          <a:lstStyle/>
          <a:p>
            <a:r>
              <a:rPr lang="en-US" dirty="0"/>
              <a:t>One person can rarely describe the needs for all users of an application. </a:t>
            </a:r>
            <a:endParaRPr lang="en-US" dirty="0" smtClean="0"/>
          </a:p>
          <a:p>
            <a:r>
              <a:rPr lang="en-US" dirty="0" smtClean="0"/>
              <a:t>The </a:t>
            </a:r>
            <a:r>
              <a:rPr lang="en-US" dirty="0"/>
              <a:t>Chemical Tracking System had four major user classes, so it needed four product champions selected from the internal user community at Contoso Pharmaceuticals. </a:t>
            </a:r>
          </a:p>
        </p:txBody>
      </p:sp>
    </p:spTree>
    <p:extLst>
      <p:ext uri="{BB962C8B-B14F-4D97-AF65-F5344CB8AC3E}">
        <p14:creationId xmlns:p14="http://schemas.microsoft.com/office/powerpoint/2010/main" val="1667050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044762" y="1825625"/>
            <a:ext cx="8102475" cy="4351338"/>
          </a:xfrm>
          <a:prstGeom prst="rect">
            <a:avLst/>
          </a:prstGeom>
        </p:spPr>
      </p:pic>
      <p:sp>
        <p:nvSpPr>
          <p:cNvPr id="5" name="Rectangle 4"/>
          <p:cNvSpPr/>
          <p:nvPr/>
        </p:nvSpPr>
        <p:spPr>
          <a:xfrm>
            <a:off x="2365248" y="6176963"/>
            <a:ext cx="6839712" cy="369332"/>
          </a:xfrm>
          <a:prstGeom prst="rect">
            <a:avLst/>
          </a:prstGeom>
        </p:spPr>
        <p:txBody>
          <a:bodyPr wrap="square">
            <a:spAutoFit/>
          </a:bodyPr>
          <a:lstStyle/>
          <a:p>
            <a:r>
              <a:rPr lang="en-US" b="0" i="0" u="none" strike="noStrike" baseline="0" dirty="0" smtClean="0">
                <a:solidFill>
                  <a:srgbClr val="000000"/>
                </a:solidFill>
                <a:latin typeface="Segoe"/>
              </a:rPr>
              <a:t>Product champion model for the Chemical Tracking System.</a:t>
            </a:r>
            <a:endParaRPr lang="en-US" dirty="0"/>
          </a:p>
        </p:txBody>
      </p:sp>
    </p:spTree>
    <p:extLst>
      <p:ext uri="{BB962C8B-B14F-4D97-AF65-F5344CB8AC3E}">
        <p14:creationId xmlns:p14="http://schemas.microsoft.com/office/powerpoint/2010/main" val="24030700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Selling the product champion idea</a:t>
            </a:r>
            <a:endParaRPr lang="en-US" dirty="0"/>
          </a:p>
        </p:txBody>
      </p:sp>
      <p:sp>
        <p:nvSpPr>
          <p:cNvPr id="3" name="Content Placeholder 2"/>
          <p:cNvSpPr>
            <a:spLocks noGrp="1"/>
          </p:cNvSpPr>
          <p:nvPr>
            <p:ph idx="1"/>
          </p:nvPr>
        </p:nvSpPr>
        <p:spPr/>
        <p:txBody>
          <a:bodyPr>
            <a:normAutofit lnSpcReduction="10000"/>
          </a:bodyPr>
          <a:lstStyle/>
          <a:p>
            <a:r>
              <a:rPr lang="en-US" dirty="0"/>
              <a:t>Expect to encounter resistance when you propose the idea of having product champions on your projects. </a:t>
            </a:r>
            <a:endParaRPr lang="en-US" dirty="0" smtClean="0"/>
          </a:p>
          <a:p>
            <a:pPr lvl="1"/>
            <a:r>
              <a:rPr lang="en-US" dirty="0" smtClean="0"/>
              <a:t>“</a:t>
            </a:r>
            <a:r>
              <a:rPr lang="en-US" dirty="0"/>
              <a:t>The users are too busy</a:t>
            </a:r>
            <a:r>
              <a:rPr lang="en-US" dirty="0" smtClean="0"/>
              <a:t>.”</a:t>
            </a:r>
          </a:p>
          <a:p>
            <a:pPr lvl="1"/>
            <a:r>
              <a:rPr lang="en-US" dirty="0" smtClean="0"/>
              <a:t> </a:t>
            </a:r>
            <a:r>
              <a:rPr lang="en-US" dirty="0"/>
              <a:t>“Management wants to make the decisions</a:t>
            </a:r>
            <a:r>
              <a:rPr lang="en-US" dirty="0" smtClean="0"/>
              <a:t>.”</a:t>
            </a:r>
          </a:p>
          <a:p>
            <a:pPr lvl="1"/>
            <a:r>
              <a:rPr lang="en-US" dirty="0" smtClean="0"/>
              <a:t> </a:t>
            </a:r>
            <a:r>
              <a:rPr lang="en-US" dirty="0"/>
              <a:t>“They’ll slow us down.” </a:t>
            </a:r>
            <a:endParaRPr lang="en-US" dirty="0" smtClean="0"/>
          </a:p>
          <a:p>
            <a:pPr lvl="1"/>
            <a:r>
              <a:rPr lang="en-US" dirty="0" smtClean="0"/>
              <a:t>“</a:t>
            </a:r>
            <a:r>
              <a:rPr lang="en-US" dirty="0"/>
              <a:t>We can’t afford it.” </a:t>
            </a:r>
            <a:endParaRPr lang="en-US" dirty="0" smtClean="0"/>
          </a:p>
          <a:p>
            <a:pPr lvl="1"/>
            <a:r>
              <a:rPr lang="en-US" dirty="0" smtClean="0"/>
              <a:t>“</a:t>
            </a:r>
            <a:r>
              <a:rPr lang="en-US" dirty="0"/>
              <a:t>They’ll run amok and scope will explode.” </a:t>
            </a:r>
            <a:endParaRPr lang="en-US" dirty="0" smtClean="0"/>
          </a:p>
          <a:p>
            <a:pPr lvl="1"/>
            <a:r>
              <a:rPr lang="en-US" dirty="0" smtClean="0"/>
              <a:t>“</a:t>
            </a:r>
            <a:r>
              <a:rPr lang="en-US" dirty="0"/>
              <a:t>I don’t know what I’m supposed to do as a product champion.” </a:t>
            </a:r>
            <a:endParaRPr lang="en-US" dirty="0" smtClean="0"/>
          </a:p>
          <a:p>
            <a:pPr lvl="1"/>
            <a:r>
              <a:rPr lang="en-US" dirty="0" smtClean="0"/>
              <a:t>Some </a:t>
            </a:r>
            <a:r>
              <a:rPr lang="en-US" dirty="0"/>
              <a:t>users won’t want to cooperate on a project that will make them change how they work or might even threaten their jobs. </a:t>
            </a:r>
            <a:endParaRPr lang="en-US" dirty="0" smtClean="0"/>
          </a:p>
          <a:p>
            <a:pPr lvl="1"/>
            <a:r>
              <a:rPr lang="en-US" dirty="0" smtClean="0"/>
              <a:t>Managers </a:t>
            </a:r>
            <a:r>
              <a:rPr lang="en-US" dirty="0"/>
              <a:t>are sometimes reluctant to delegate authority for requirements to ordinary users.</a:t>
            </a:r>
          </a:p>
        </p:txBody>
      </p:sp>
    </p:spTree>
    <p:extLst>
      <p:ext uri="{BB962C8B-B14F-4D97-AF65-F5344CB8AC3E}">
        <p14:creationId xmlns:p14="http://schemas.microsoft.com/office/powerpoint/2010/main" val="3214313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Selling the product champion idea</a:t>
            </a:r>
            <a:endParaRPr lang="en-US" dirty="0"/>
          </a:p>
        </p:txBody>
      </p:sp>
      <p:sp>
        <p:nvSpPr>
          <p:cNvPr id="3" name="Content Placeholder 2"/>
          <p:cNvSpPr>
            <a:spLocks noGrp="1"/>
          </p:cNvSpPr>
          <p:nvPr>
            <p:ph idx="1"/>
          </p:nvPr>
        </p:nvSpPr>
        <p:spPr/>
        <p:txBody>
          <a:bodyPr>
            <a:normAutofit fontScale="85000" lnSpcReduction="20000"/>
          </a:bodyPr>
          <a:lstStyle/>
          <a:p>
            <a:r>
              <a:rPr lang="en-US" dirty="0"/>
              <a:t>Separating business requirements from user requirements alleviates some of these discomforts. </a:t>
            </a:r>
            <a:endParaRPr lang="en-US" dirty="0" smtClean="0"/>
          </a:p>
          <a:p>
            <a:r>
              <a:rPr lang="en-US" dirty="0" smtClean="0"/>
              <a:t>As </a:t>
            </a:r>
            <a:r>
              <a:rPr lang="en-US" dirty="0"/>
              <a:t>an actual user, the product champion makes decisions at the user requirements level within the scope boundaries imposed by the business requirements. </a:t>
            </a:r>
            <a:endParaRPr lang="en-US" dirty="0" smtClean="0"/>
          </a:p>
          <a:p>
            <a:r>
              <a:rPr lang="en-US" dirty="0" smtClean="0"/>
              <a:t>The </a:t>
            </a:r>
            <a:r>
              <a:rPr lang="en-US" dirty="0"/>
              <a:t>management sponsor retains the authority to make decisions that affect the product vision, project scope, business-related priorities, schedule, or budget. </a:t>
            </a:r>
            <a:endParaRPr lang="en-US" dirty="0" smtClean="0"/>
          </a:p>
          <a:p>
            <a:r>
              <a:rPr lang="en-US" dirty="0" smtClean="0"/>
              <a:t>Documenting </a:t>
            </a:r>
            <a:r>
              <a:rPr lang="en-US" dirty="0"/>
              <a:t>and negotiating each product champion’s role and responsibilities give candidate champions a comfort level about what they’re being asked to do. </a:t>
            </a:r>
            <a:endParaRPr lang="en-US" dirty="0" smtClean="0"/>
          </a:p>
          <a:p>
            <a:r>
              <a:rPr lang="en-US" dirty="0" smtClean="0"/>
              <a:t>Remind </a:t>
            </a:r>
            <a:r>
              <a:rPr lang="en-US" dirty="0"/>
              <a:t>management that a product champion is a key contributor who can help the project achieve its business objectives</a:t>
            </a:r>
            <a:r>
              <a:rPr lang="en-US" dirty="0" smtClean="0"/>
              <a:t>.</a:t>
            </a:r>
          </a:p>
          <a:p>
            <a:r>
              <a:rPr lang="en-US" dirty="0"/>
              <a:t>If you encounter resistance, point out that insufficient user involvement is a leading cause of software project failure. </a:t>
            </a:r>
          </a:p>
        </p:txBody>
      </p:sp>
    </p:spTree>
    <p:extLst>
      <p:ext uri="{BB962C8B-B14F-4D97-AF65-F5344CB8AC3E}">
        <p14:creationId xmlns:p14="http://schemas.microsoft.com/office/powerpoint/2010/main" val="2740562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Product champion traps to avoid</a:t>
            </a:r>
            <a:endParaRPr lang="en-US" dirty="0"/>
          </a:p>
        </p:txBody>
      </p:sp>
      <p:sp>
        <p:nvSpPr>
          <p:cNvPr id="3" name="Content Placeholder 2"/>
          <p:cNvSpPr>
            <a:spLocks noGrp="1"/>
          </p:cNvSpPr>
          <p:nvPr>
            <p:ph idx="1"/>
          </p:nvPr>
        </p:nvSpPr>
        <p:spPr/>
        <p:txBody>
          <a:bodyPr>
            <a:normAutofit fontScale="85000" lnSpcReduction="20000"/>
          </a:bodyPr>
          <a:lstStyle/>
          <a:p>
            <a:endParaRPr lang="en-US" dirty="0"/>
          </a:p>
          <a:p>
            <a:r>
              <a:rPr lang="en-US" dirty="0"/>
              <a:t>Managers override the decisions that a qualified and duly authorized product champion </a:t>
            </a:r>
            <a:r>
              <a:rPr lang="en-US" dirty="0" err="1" smtClean="0"/>
              <a:t>makesThis</a:t>
            </a:r>
            <a:r>
              <a:rPr lang="en-US" dirty="0" smtClean="0"/>
              <a:t> </a:t>
            </a:r>
            <a:r>
              <a:rPr lang="en-US" dirty="0"/>
              <a:t>behavior often results in dissatisfied users and frustrated product champions who feel that management doesn’t trust them.</a:t>
            </a:r>
          </a:p>
          <a:p>
            <a:r>
              <a:rPr lang="en-US" dirty="0" smtClean="0"/>
              <a:t>A </a:t>
            </a:r>
            <a:r>
              <a:rPr lang="en-US" dirty="0"/>
              <a:t>product champion who forgets that he is representing other customers and presents only his own requirements won’t do a good job. He might be happy with the outcome, but others likely won’t be.</a:t>
            </a:r>
          </a:p>
          <a:p>
            <a:r>
              <a:rPr lang="en-US" dirty="0" smtClean="0"/>
              <a:t>A </a:t>
            </a:r>
            <a:r>
              <a:rPr lang="en-US" dirty="0"/>
              <a:t>product champion who lacks a clear vision of the new system might defer decisions to the BA. If all of the BA’s ideas are fine with the champion, the champion isn’t providing much help.</a:t>
            </a:r>
          </a:p>
          <a:p>
            <a:r>
              <a:rPr lang="en-US" dirty="0" smtClean="0"/>
              <a:t>A </a:t>
            </a:r>
            <a:r>
              <a:rPr lang="en-US" dirty="0"/>
              <a:t>senior user might nominate a less experienced user as champion because she doesn’t have time to do the job herself. This can lead to backseat driving from the senior user who still wishes to strongly influence the project’s direction.</a:t>
            </a:r>
          </a:p>
          <a:p>
            <a:endParaRPr lang="en-US" dirty="0"/>
          </a:p>
        </p:txBody>
      </p:sp>
    </p:spTree>
    <p:extLst>
      <p:ext uri="{BB962C8B-B14F-4D97-AF65-F5344CB8AC3E}">
        <p14:creationId xmlns:p14="http://schemas.microsoft.com/office/powerpoint/2010/main" val="4177643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User representation on agile projects</a:t>
            </a:r>
            <a:endParaRPr lang="en-US" dirty="0"/>
          </a:p>
        </p:txBody>
      </p:sp>
      <p:sp>
        <p:nvSpPr>
          <p:cNvPr id="3" name="Content Placeholder 2"/>
          <p:cNvSpPr>
            <a:spLocks noGrp="1"/>
          </p:cNvSpPr>
          <p:nvPr>
            <p:ph idx="1"/>
          </p:nvPr>
        </p:nvSpPr>
        <p:spPr/>
        <p:txBody>
          <a:bodyPr/>
          <a:lstStyle/>
          <a:p>
            <a:r>
              <a:rPr lang="en-US" dirty="0"/>
              <a:t>Frequent conversations between project team members and appropriate customers are the most effective way to resolve many requirements issues and to flesh out requirements specifics when they are needed. </a:t>
            </a:r>
            <a:endParaRPr lang="en-US" dirty="0" smtClean="0"/>
          </a:p>
          <a:p>
            <a:r>
              <a:rPr lang="en-US" dirty="0" smtClean="0"/>
              <a:t>Written </a:t>
            </a:r>
            <a:r>
              <a:rPr lang="en-US" dirty="0"/>
              <a:t>documentation, however detailed, is an incomplete substitute for these ongoing communications. </a:t>
            </a:r>
            <a:endParaRPr lang="en-US" dirty="0" smtClean="0"/>
          </a:p>
          <a:p>
            <a:r>
              <a:rPr lang="en-US" dirty="0" smtClean="0"/>
              <a:t>A </a:t>
            </a:r>
            <a:r>
              <a:rPr lang="en-US" dirty="0"/>
              <a:t>fundamental tenet of Extreme Programming, one of the early agile development methods, is the presence of a full-time, on-site customer for these </a:t>
            </a:r>
            <a:r>
              <a:rPr lang="en-US" dirty="0" smtClean="0"/>
              <a:t>discussions.</a:t>
            </a:r>
            <a:endParaRPr lang="en-US" dirty="0"/>
          </a:p>
        </p:txBody>
      </p:sp>
    </p:spTree>
    <p:extLst>
      <p:ext uri="{BB962C8B-B14F-4D97-AF65-F5344CB8AC3E}">
        <p14:creationId xmlns:p14="http://schemas.microsoft.com/office/powerpoint/2010/main" val="3210932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User representation on agile projects</a:t>
            </a:r>
            <a:endParaRPr lang="en-US" dirty="0"/>
          </a:p>
        </p:txBody>
      </p:sp>
      <p:sp>
        <p:nvSpPr>
          <p:cNvPr id="3" name="Content Placeholder 2"/>
          <p:cNvSpPr>
            <a:spLocks noGrp="1"/>
          </p:cNvSpPr>
          <p:nvPr>
            <p:ph idx="1"/>
          </p:nvPr>
        </p:nvSpPr>
        <p:spPr/>
        <p:txBody>
          <a:bodyPr>
            <a:normAutofit fontScale="85000" lnSpcReduction="10000"/>
          </a:bodyPr>
          <a:lstStyle/>
          <a:p>
            <a:r>
              <a:rPr lang="en-US" dirty="0"/>
              <a:t>Some agile development methods include a single representative of stakeholders called a </a:t>
            </a:r>
            <a:r>
              <a:rPr lang="en-US" i="1" dirty="0"/>
              <a:t>product owner </a:t>
            </a:r>
            <a:r>
              <a:rPr lang="en-US" dirty="0"/>
              <a:t>in the team to serve as the voice of the </a:t>
            </a:r>
            <a:r>
              <a:rPr lang="en-US" dirty="0" smtClean="0"/>
              <a:t>customer.</a:t>
            </a:r>
          </a:p>
          <a:p>
            <a:r>
              <a:rPr lang="en-US" dirty="0" smtClean="0"/>
              <a:t>The </a:t>
            </a:r>
            <a:r>
              <a:rPr lang="en-US" dirty="0"/>
              <a:t>product owner defines the product’s vision and is responsible for developing and prioritizing the contents of the product backlog</a:t>
            </a:r>
            <a:r>
              <a:rPr lang="en-US" dirty="0" smtClean="0"/>
              <a:t>.</a:t>
            </a:r>
          </a:p>
          <a:p>
            <a:pPr lvl="1"/>
            <a:r>
              <a:rPr lang="en-US" dirty="0" smtClean="0"/>
              <a:t>The </a:t>
            </a:r>
            <a:r>
              <a:rPr lang="en-US" i="1" dirty="0"/>
              <a:t>backlog </a:t>
            </a:r>
            <a:r>
              <a:rPr lang="en-US" dirty="0"/>
              <a:t>is the prioritized list of user stories—requirements—for the product and their allocation to upcoming iterations, called sprints in the agile development method called Scrum</a:t>
            </a:r>
            <a:r>
              <a:rPr lang="en-US" dirty="0" smtClean="0"/>
              <a:t>.</a:t>
            </a:r>
          </a:p>
          <a:p>
            <a:r>
              <a:rPr lang="en-US" dirty="0" smtClean="0"/>
              <a:t>The </a:t>
            </a:r>
            <a:r>
              <a:rPr lang="en-US" dirty="0"/>
              <a:t>product owner therefore spans all three levels of requirements: business, user, and functional</a:t>
            </a:r>
            <a:r>
              <a:rPr lang="en-US" dirty="0" smtClean="0"/>
              <a:t>.</a:t>
            </a:r>
          </a:p>
          <a:p>
            <a:r>
              <a:rPr lang="en-US" dirty="0" smtClean="0"/>
              <a:t> </a:t>
            </a:r>
            <a:r>
              <a:rPr lang="en-US" dirty="0"/>
              <a:t>He essentially straddles the product champion and business analyst functions, representing the customer, defining product features, prioritizing them, and so forth. </a:t>
            </a:r>
            <a:endParaRPr lang="en-US" dirty="0" smtClean="0"/>
          </a:p>
          <a:p>
            <a:r>
              <a:rPr lang="en-US" dirty="0"/>
              <a:t>“On-sight” customer</a:t>
            </a:r>
            <a:endParaRPr lang="en-US" dirty="0" smtClean="0"/>
          </a:p>
        </p:txBody>
      </p:sp>
    </p:spTree>
    <p:extLst>
      <p:ext uri="{BB962C8B-B14F-4D97-AF65-F5344CB8AC3E}">
        <p14:creationId xmlns:p14="http://schemas.microsoft.com/office/powerpoint/2010/main" val="958830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Resolving conflicting requirements</a:t>
            </a:r>
            <a:endParaRPr lang="en-US" dirty="0"/>
          </a:p>
        </p:txBody>
      </p:sp>
      <p:pic>
        <p:nvPicPr>
          <p:cNvPr id="4" name="Content Placeholder 3"/>
          <p:cNvPicPr>
            <a:picLocks noGrp="1" noChangeAspect="1"/>
          </p:cNvPicPr>
          <p:nvPr>
            <p:ph idx="1"/>
          </p:nvPr>
        </p:nvPicPr>
        <p:blipFill>
          <a:blip r:embed="rId2"/>
          <a:stretch>
            <a:fillRect/>
          </a:stretch>
        </p:blipFill>
        <p:spPr>
          <a:xfrm>
            <a:off x="838200" y="2020474"/>
            <a:ext cx="7926229" cy="2612485"/>
          </a:xfrm>
          <a:prstGeom prst="rect">
            <a:avLst/>
          </a:prstGeom>
        </p:spPr>
      </p:pic>
    </p:spTree>
    <p:extLst>
      <p:ext uri="{BB962C8B-B14F-4D97-AF65-F5344CB8AC3E}">
        <p14:creationId xmlns:p14="http://schemas.microsoft.com/office/powerpoint/2010/main" val="18136623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2246</Words>
  <Application>Microsoft Office PowerPoint</Application>
  <PresentationFormat>Widescreen</PresentationFormat>
  <Paragraphs>125</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Segoe</vt:lpstr>
      <vt:lpstr>Office Theme</vt:lpstr>
      <vt:lpstr>Software Requirements Engineering</vt:lpstr>
      <vt:lpstr>Finding the voice of user is very important</vt:lpstr>
      <vt:lpstr>Classifying users</vt:lpstr>
      <vt:lpstr>Classifying users on basis of their importance</vt:lpstr>
      <vt:lpstr>Classifying users on basis of their importance</vt:lpstr>
      <vt:lpstr>Identifying user classes</vt:lpstr>
      <vt:lpstr>Organization chart of Chemical Tracking System</vt:lpstr>
      <vt:lpstr>User classes of Chemical Tracking Systems</vt:lpstr>
      <vt:lpstr>User personas</vt:lpstr>
      <vt:lpstr>Connecting with user representatives</vt:lpstr>
      <vt:lpstr>Connecting with user representatives</vt:lpstr>
      <vt:lpstr>PowerPoint Presentation</vt:lpstr>
      <vt:lpstr>Connecting with user representatives</vt:lpstr>
      <vt:lpstr>The product champion </vt:lpstr>
      <vt:lpstr>The product champion</vt:lpstr>
      <vt:lpstr>External product champions</vt:lpstr>
      <vt:lpstr>Examples</vt:lpstr>
      <vt:lpstr>Product champion expectations</vt:lpstr>
      <vt:lpstr>Product champion expectations</vt:lpstr>
      <vt:lpstr>Product champion expectations</vt:lpstr>
      <vt:lpstr>Multiple product champions</vt:lpstr>
      <vt:lpstr>PowerPoint Presentation</vt:lpstr>
      <vt:lpstr>Selling the product champion idea</vt:lpstr>
      <vt:lpstr>Selling the product champion idea</vt:lpstr>
      <vt:lpstr>Product champion traps to avoid</vt:lpstr>
      <vt:lpstr>User representation on agile projects</vt:lpstr>
      <vt:lpstr>User representation on agile projects</vt:lpstr>
      <vt:lpstr>Resolving conflicting requirements</vt:lpstr>
    </vt:vector>
  </TitlesOfParts>
  <Company>Grizli777</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Rehmat</dc:creator>
  <cp:lastModifiedBy>Sara Rehmat</cp:lastModifiedBy>
  <cp:revision>14</cp:revision>
  <dcterms:created xsi:type="dcterms:W3CDTF">2020-10-06T05:12:19Z</dcterms:created>
  <dcterms:modified xsi:type="dcterms:W3CDTF">2020-10-13T10:28:08Z</dcterms:modified>
</cp:coreProperties>
</file>