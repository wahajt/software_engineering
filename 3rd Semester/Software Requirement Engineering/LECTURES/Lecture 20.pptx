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3" autoAdjust="0"/>
    <p:restoredTop sz="94660"/>
  </p:normalViewPr>
  <p:slideViewPr>
    <p:cSldViewPr snapToGrid="0">
      <p:cViewPr varScale="1">
        <p:scale>
          <a:sx n="74" d="100"/>
          <a:sy n="74" d="100"/>
        </p:scale>
        <p:origin x="5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586FBE0-9368-4146-83EA-CA8FB64FA3D9}" type="datetimeFigureOut">
              <a:rPr lang="en-US" smtClean="0"/>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BE0FA-0129-46AA-93D3-C6A6CA747D86}" type="slidenum">
              <a:rPr lang="en-US" smtClean="0"/>
              <a:t>‹#›</a:t>
            </a:fld>
            <a:endParaRPr lang="en-US"/>
          </a:p>
        </p:txBody>
      </p:sp>
    </p:spTree>
    <p:extLst>
      <p:ext uri="{BB962C8B-B14F-4D97-AF65-F5344CB8AC3E}">
        <p14:creationId xmlns:p14="http://schemas.microsoft.com/office/powerpoint/2010/main" val="773618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86FBE0-9368-4146-83EA-CA8FB64FA3D9}" type="datetimeFigureOut">
              <a:rPr lang="en-US" smtClean="0"/>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BE0FA-0129-46AA-93D3-C6A6CA747D86}" type="slidenum">
              <a:rPr lang="en-US" smtClean="0"/>
              <a:t>‹#›</a:t>
            </a:fld>
            <a:endParaRPr lang="en-US"/>
          </a:p>
        </p:txBody>
      </p:sp>
    </p:spTree>
    <p:extLst>
      <p:ext uri="{BB962C8B-B14F-4D97-AF65-F5344CB8AC3E}">
        <p14:creationId xmlns:p14="http://schemas.microsoft.com/office/powerpoint/2010/main" val="888125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586FBE0-9368-4146-83EA-CA8FB64FA3D9}" type="datetimeFigureOut">
              <a:rPr lang="en-US" smtClean="0"/>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BE0FA-0129-46AA-93D3-C6A6CA747D86}" type="slidenum">
              <a:rPr lang="en-US" smtClean="0"/>
              <a:t>‹#›</a:t>
            </a:fld>
            <a:endParaRPr lang="en-US"/>
          </a:p>
        </p:txBody>
      </p:sp>
    </p:spTree>
    <p:extLst>
      <p:ext uri="{BB962C8B-B14F-4D97-AF65-F5344CB8AC3E}">
        <p14:creationId xmlns:p14="http://schemas.microsoft.com/office/powerpoint/2010/main" val="356675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586FBE0-9368-4146-83EA-CA8FB64FA3D9}" type="datetimeFigureOut">
              <a:rPr lang="en-US" smtClean="0"/>
              <a:t>11/26/2020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7BE0FA-0129-46AA-93D3-C6A6CA747D86}" type="slidenum">
              <a:rPr lang="en-US" smtClean="0"/>
              <a:t>‹#›</a:t>
            </a:fld>
            <a:endParaRPr lang="en-US"/>
          </a:p>
        </p:txBody>
      </p:sp>
    </p:spTree>
    <p:extLst>
      <p:ext uri="{BB962C8B-B14F-4D97-AF65-F5344CB8AC3E}">
        <p14:creationId xmlns:p14="http://schemas.microsoft.com/office/powerpoint/2010/main" val="2380456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586FBE0-9368-4146-83EA-CA8FB64FA3D9}" type="datetimeFigureOut">
              <a:rPr lang="en-US" smtClean="0"/>
              <a:t>11/26/2020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7BE0FA-0129-46AA-93D3-C6A6CA747D86}" type="slidenum">
              <a:rPr lang="en-US" smtClean="0"/>
              <a:t>‹#›</a:t>
            </a:fld>
            <a:endParaRPr lang="en-US"/>
          </a:p>
        </p:txBody>
      </p:sp>
    </p:spTree>
    <p:extLst>
      <p:ext uri="{BB962C8B-B14F-4D97-AF65-F5344CB8AC3E}">
        <p14:creationId xmlns:p14="http://schemas.microsoft.com/office/powerpoint/2010/main" val="2116341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586FBE0-9368-4146-83EA-CA8FB64FA3D9}" type="datetimeFigureOut">
              <a:rPr lang="en-US" smtClean="0"/>
              <a:t>11/26/2020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7BE0FA-0129-46AA-93D3-C6A6CA747D86}" type="slidenum">
              <a:rPr lang="en-US" smtClean="0"/>
              <a:t>‹#›</a:t>
            </a:fld>
            <a:endParaRPr lang="en-US"/>
          </a:p>
        </p:txBody>
      </p:sp>
    </p:spTree>
    <p:extLst>
      <p:ext uri="{BB962C8B-B14F-4D97-AF65-F5344CB8AC3E}">
        <p14:creationId xmlns:p14="http://schemas.microsoft.com/office/powerpoint/2010/main" val="3527137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86FBE0-9368-4146-83EA-CA8FB64FA3D9}" type="datetimeFigureOut">
              <a:rPr lang="en-US" smtClean="0"/>
              <a:t>11/26/2020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7BE0FA-0129-46AA-93D3-C6A6CA747D86}" type="slidenum">
              <a:rPr lang="en-US" smtClean="0"/>
              <a:t>‹#›</a:t>
            </a:fld>
            <a:endParaRPr lang="en-US"/>
          </a:p>
        </p:txBody>
      </p:sp>
    </p:spTree>
    <p:extLst>
      <p:ext uri="{BB962C8B-B14F-4D97-AF65-F5344CB8AC3E}">
        <p14:creationId xmlns:p14="http://schemas.microsoft.com/office/powerpoint/2010/main" val="1432247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586FBE0-9368-4146-83EA-CA8FB64FA3D9}" type="datetimeFigureOut">
              <a:rPr lang="en-US" smtClean="0"/>
              <a:t>11/26/2020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7BE0FA-0129-46AA-93D3-C6A6CA747D86}" type="slidenum">
              <a:rPr lang="en-US" smtClean="0"/>
              <a:t>‹#›</a:t>
            </a:fld>
            <a:endParaRPr lang="en-US"/>
          </a:p>
        </p:txBody>
      </p:sp>
    </p:spTree>
    <p:extLst>
      <p:ext uri="{BB962C8B-B14F-4D97-AF65-F5344CB8AC3E}">
        <p14:creationId xmlns:p14="http://schemas.microsoft.com/office/powerpoint/2010/main" val="27598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586FBE0-9368-4146-83EA-CA8FB64FA3D9}" type="datetimeFigureOut">
              <a:rPr lang="en-US" smtClean="0"/>
              <a:t>11/26/2020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7BE0FA-0129-46AA-93D3-C6A6CA747D86}" type="slidenum">
              <a:rPr lang="en-US" smtClean="0"/>
              <a:t>‹#›</a:t>
            </a:fld>
            <a:endParaRPr lang="en-US"/>
          </a:p>
        </p:txBody>
      </p:sp>
    </p:spTree>
    <p:extLst>
      <p:ext uri="{BB962C8B-B14F-4D97-AF65-F5344CB8AC3E}">
        <p14:creationId xmlns:p14="http://schemas.microsoft.com/office/powerpoint/2010/main" val="2468678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86FBE0-9368-4146-83EA-CA8FB64FA3D9}" type="datetimeFigureOut">
              <a:rPr lang="en-US" smtClean="0"/>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BE0FA-0129-46AA-93D3-C6A6CA747D86}" type="slidenum">
              <a:rPr lang="en-US" smtClean="0"/>
              <a:t>‹#›</a:t>
            </a:fld>
            <a:endParaRPr lang="en-US"/>
          </a:p>
        </p:txBody>
      </p:sp>
    </p:spTree>
    <p:extLst>
      <p:ext uri="{BB962C8B-B14F-4D97-AF65-F5344CB8AC3E}">
        <p14:creationId xmlns:p14="http://schemas.microsoft.com/office/powerpoint/2010/main" val="4042405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86FBE0-9368-4146-83EA-CA8FB64FA3D9}" type="datetimeFigureOut">
              <a:rPr lang="en-US" smtClean="0"/>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BE0FA-0129-46AA-93D3-C6A6CA747D86}" type="slidenum">
              <a:rPr lang="en-US" smtClean="0"/>
              <a:t>‹#›</a:t>
            </a:fld>
            <a:endParaRPr lang="en-US"/>
          </a:p>
        </p:txBody>
      </p:sp>
    </p:spTree>
    <p:extLst>
      <p:ext uri="{BB962C8B-B14F-4D97-AF65-F5344CB8AC3E}">
        <p14:creationId xmlns:p14="http://schemas.microsoft.com/office/powerpoint/2010/main" val="3837087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86FBE0-9368-4146-83EA-CA8FB64FA3D9}" type="datetimeFigureOut">
              <a:rPr lang="en-US" smtClean="0"/>
              <a:t>11/26/2020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7BE0FA-0129-46AA-93D3-C6A6CA747D86}" type="slidenum">
              <a:rPr lang="en-US" smtClean="0"/>
              <a:t>‹#›</a:t>
            </a:fld>
            <a:endParaRPr lang="en-US"/>
          </a:p>
        </p:txBody>
      </p:sp>
    </p:spTree>
    <p:extLst>
      <p:ext uri="{BB962C8B-B14F-4D97-AF65-F5344CB8AC3E}">
        <p14:creationId xmlns:p14="http://schemas.microsoft.com/office/powerpoint/2010/main" val="837860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Software Requirement Engineering</a:t>
            </a:r>
            <a:endParaRPr lang="en-US" dirty="0"/>
          </a:p>
        </p:txBody>
      </p:sp>
      <p:sp>
        <p:nvSpPr>
          <p:cNvPr id="3" name="Subtitle 2"/>
          <p:cNvSpPr>
            <a:spLocks noGrp="1"/>
          </p:cNvSpPr>
          <p:nvPr>
            <p:ph type="subTitle" idx="1"/>
          </p:nvPr>
        </p:nvSpPr>
        <p:spPr/>
        <p:txBody>
          <a:bodyPr/>
          <a:lstStyle/>
          <a:p>
            <a:pPr algn="r"/>
            <a:r>
              <a:rPr lang="en-US" dirty="0" smtClean="0"/>
              <a:t>Topic: </a:t>
            </a:r>
            <a:r>
              <a:rPr lang="en-US" dirty="0" smtClean="0"/>
              <a:t>Functional Requirements</a:t>
            </a:r>
            <a:endParaRPr lang="en-US" dirty="0" smtClean="0"/>
          </a:p>
          <a:p>
            <a:pPr algn="r"/>
            <a:r>
              <a:rPr lang="en-US" dirty="0" smtClean="0"/>
              <a:t>Engr. Sara </a:t>
            </a:r>
            <a:r>
              <a:rPr lang="en-US" dirty="0" err="1" smtClean="0"/>
              <a:t>Rehmat</a:t>
            </a:r>
            <a:endParaRPr lang="en-US" dirty="0" smtClean="0"/>
          </a:p>
        </p:txBody>
      </p:sp>
    </p:spTree>
    <p:extLst>
      <p:ext uri="{BB962C8B-B14F-4D97-AF65-F5344CB8AC3E}">
        <p14:creationId xmlns:p14="http://schemas.microsoft.com/office/powerpoint/2010/main" val="14450496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Different types of requirements</a:t>
            </a:r>
            <a:endParaRPr lang="en-US" dirty="0"/>
          </a:p>
        </p:txBody>
      </p:sp>
      <p:sp>
        <p:nvSpPr>
          <p:cNvPr id="3" name="Content Placeholder 2"/>
          <p:cNvSpPr>
            <a:spLocks noGrp="1"/>
          </p:cNvSpPr>
          <p:nvPr>
            <p:ph idx="1"/>
          </p:nvPr>
        </p:nvSpPr>
        <p:spPr/>
        <p:txBody>
          <a:bodyPr>
            <a:normAutofit fontScale="92500" lnSpcReduction="20000"/>
          </a:bodyPr>
          <a:lstStyle/>
          <a:p>
            <a:r>
              <a:rPr lang="en-US" dirty="0"/>
              <a:t>Clear and effective communication is the core principle of requirements </a:t>
            </a:r>
            <a:r>
              <a:rPr lang="en-US" dirty="0" smtClean="0"/>
              <a:t>development</a:t>
            </a:r>
          </a:p>
          <a:p>
            <a:r>
              <a:rPr lang="en-US" dirty="0"/>
              <a:t>A skilled business analyst will choose the most effective way to communicate each type of requirements information to each audience</a:t>
            </a:r>
            <a:r>
              <a:rPr lang="en-US" dirty="0" smtClean="0"/>
              <a:t>.</a:t>
            </a:r>
          </a:p>
          <a:p>
            <a:r>
              <a:rPr lang="en-US" dirty="0" smtClean="0"/>
              <a:t>The </a:t>
            </a:r>
            <a:r>
              <a:rPr lang="en-US" dirty="0"/>
              <a:t>vision and scope document contains the business </a:t>
            </a:r>
            <a:r>
              <a:rPr lang="en-US" dirty="0" smtClean="0"/>
              <a:t>requirements</a:t>
            </a:r>
          </a:p>
          <a:p>
            <a:r>
              <a:rPr lang="en-US" dirty="0" smtClean="0"/>
              <a:t>User </a:t>
            </a:r>
            <a:r>
              <a:rPr lang="en-US" dirty="0"/>
              <a:t>requirements can be captured in the form of use cases or user stories. </a:t>
            </a:r>
            <a:endParaRPr lang="en-US" dirty="0" smtClean="0"/>
          </a:p>
          <a:p>
            <a:r>
              <a:rPr lang="en-US" dirty="0" smtClean="0"/>
              <a:t>The </a:t>
            </a:r>
            <a:r>
              <a:rPr lang="en-US" dirty="0"/>
              <a:t>product’s functional and nonfunctional requirements often are stored in a software requirements specification, or SRS, which is delivered to those who must design, build, and verify the solution</a:t>
            </a:r>
            <a:r>
              <a:rPr lang="en-US" dirty="0" smtClean="0"/>
              <a:t>.</a:t>
            </a:r>
          </a:p>
          <a:p>
            <a:r>
              <a:rPr lang="en-US" dirty="0" smtClean="0"/>
              <a:t> </a:t>
            </a:r>
            <a:r>
              <a:rPr lang="en-US" dirty="0"/>
              <a:t>Recording requirements in an organized fashion that key project stakeholders can review helps ensure that they know what they’re agreeing to.</a:t>
            </a:r>
          </a:p>
        </p:txBody>
      </p:sp>
    </p:spTree>
    <p:extLst>
      <p:ext uri="{BB962C8B-B14F-4D97-AF65-F5344CB8AC3E}">
        <p14:creationId xmlns:p14="http://schemas.microsoft.com/office/powerpoint/2010/main" val="1736184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with recording SRS in word-processing documents</a:t>
            </a:r>
            <a:endParaRPr lang="en-US" dirty="0"/>
          </a:p>
        </p:txBody>
      </p:sp>
      <p:sp>
        <p:nvSpPr>
          <p:cNvPr id="3" name="Content Placeholder 2"/>
          <p:cNvSpPr>
            <a:spLocks noGrp="1"/>
          </p:cNvSpPr>
          <p:nvPr>
            <p:ph idx="1"/>
          </p:nvPr>
        </p:nvSpPr>
        <p:spPr/>
        <p:txBody>
          <a:bodyPr>
            <a:normAutofit fontScale="85000" lnSpcReduction="20000"/>
          </a:bodyPr>
          <a:lstStyle/>
          <a:p>
            <a:r>
              <a:rPr lang="en-US" dirty="0"/>
              <a:t>We will describe the SRS as being a document, but it doesn’t have to be in the form of a traditional word-processing document</a:t>
            </a:r>
            <a:r>
              <a:rPr lang="en-US" dirty="0" smtClean="0"/>
              <a:t>.</a:t>
            </a:r>
          </a:p>
          <a:p>
            <a:r>
              <a:rPr lang="en-US" dirty="0" smtClean="0"/>
              <a:t> </a:t>
            </a:r>
            <a:r>
              <a:rPr lang="en-US" dirty="0"/>
              <a:t>In fact, documents pose numerous limitations:</a:t>
            </a:r>
          </a:p>
          <a:p>
            <a:r>
              <a:rPr lang="en-US" dirty="0"/>
              <a:t>It’s difficult to store descriptive attributes along with the requirements.</a:t>
            </a:r>
          </a:p>
          <a:p>
            <a:r>
              <a:rPr lang="en-US" dirty="0"/>
              <a:t>Change management is clumsy.</a:t>
            </a:r>
          </a:p>
          <a:p>
            <a:r>
              <a:rPr lang="en-US" dirty="0"/>
              <a:t>It’s difficult to retain historical versions of the requirements.</a:t>
            </a:r>
          </a:p>
          <a:p>
            <a:r>
              <a:rPr lang="en-US" dirty="0"/>
              <a:t>It’s not easy to subset out a portion of requirements that are allocated to a particular iteration or keep track of those that were once approved but then deferred or canceled</a:t>
            </a:r>
            <a:r>
              <a:rPr lang="en-US" dirty="0" smtClean="0"/>
              <a:t>.</a:t>
            </a:r>
            <a:endParaRPr lang="en-US" dirty="0"/>
          </a:p>
          <a:p>
            <a:r>
              <a:rPr lang="en-US" dirty="0"/>
              <a:t>It’s hard to trace requirements to other development artifacts.</a:t>
            </a:r>
          </a:p>
          <a:p>
            <a:r>
              <a:rPr lang="en-US" dirty="0" smtClean="0"/>
              <a:t>Duplicating </a:t>
            </a:r>
            <a:r>
              <a:rPr lang="en-US" dirty="0"/>
              <a:t>a requirement that logically fits in multiple places causes maintenance issues.</a:t>
            </a:r>
          </a:p>
          <a:p>
            <a:endParaRPr lang="en-US" dirty="0"/>
          </a:p>
        </p:txBody>
      </p:sp>
    </p:spTree>
    <p:extLst>
      <p:ext uri="{BB962C8B-B14F-4D97-AF65-F5344CB8AC3E}">
        <p14:creationId xmlns:p14="http://schemas.microsoft.com/office/powerpoint/2010/main" val="41053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Documents</a:t>
            </a:r>
            <a:endParaRPr lang="en-US" dirty="0"/>
          </a:p>
        </p:txBody>
      </p:sp>
      <p:sp>
        <p:nvSpPr>
          <p:cNvPr id="3" name="Content Placeholder 2"/>
          <p:cNvSpPr>
            <a:spLocks noGrp="1"/>
          </p:cNvSpPr>
          <p:nvPr>
            <p:ph idx="1"/>
          </p:nvPr>
        </p:nvSpPr>
        <p:spPr/>
        <p:txBody>
          <a:bodyPr/>
          <a:lstStyle/>
          <a:p>
            <a:r>
              <a:rPr lang="en-US" dirty="0"/>
              <a:t>As alternatives, you might store information in a spreadsheet (which has many of the same limitations as a document), a Wiki, a database, or a requirements management (</a:t>
            </a:r>
            <a:r>
              <a:rPr lang="en-US" dirty="0" smtClean="0"/>
              <a:t>RM).</a:t>
            </a:r>
          </a:p>
          <a:p>
            <a:r>
              <a:rPr lang="en-US" dirty="0" smtClean="0"/>
              <a:t>Think </a:t>
            </a:r>
            <a:r>
              <a:rPr lang="en-US" dirty="0"/>
              <a:t>of these as different possible repositories or containers for requirements information</a:t>
            </a:r>
            <a:r>
              <a:rPr lang="en-US" dirty="0" smtClean="0"/>
              <a:t>.</a:t>
            </a:r>
          </a:p>
          <a:p>
            <a:r>
              <a:rPr lang="en-US" dirty="0"/>
              <a:t>Not everyone agrees that it’s worth the time to document requirements</a:t>
            </a:r>
            <a:r>
              <a:rPr lang="en-US" dirty="0" smtClean="0"/>
              <a:t>.</a:t>
            </a:r>
          </a:p>
          <a:p>
            <a:r>
              <a:rPr lang="en-US" dirty="0" smtClean="0"/>
              <a:t>In agile projects we don’t have detailed requirements document.</a:t>
            </a:r>
            <a:endParaRPr lang="en-US" dirty="0"/>
          </a:p>
        </p:txBody>
      </p:sp>
    </p:spTree>
    <p:extLst>
      <p:ext uri="{BB962C8B-B14F-4D97-AF65-F5344CB8AC3E}">
        <p14:creationId xmlns:p14="http://schemas.microsoft.com/office/powerpoint/2010/main" val="1022504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in iterations</a:t>
            </a:r>
            <a:endParaRPr lang="en-US" dirty="0"/>
          </a:p>
        </p:txBody>
      </p:sp>
      <p:sp>
        <p:nvSpPr>
          <p:cNvPr id="3" name="Content Placeholder 2"/>
          <p:cNvSpPr>
            <a:spLocks noGrp="1"/>
          </p:cNvSpPr>
          <p:nvPr>
            <p:ph idx="1"/>
          </p:nvPr>
        </p:nvSpPr>
        <p:spPr/>
        <p:txBody>
          <a:bodyPr>
            <a:normAutofit fontScale="92500" lnSpcReduction="20000"/>
          </a:bodyPr>
          <a:lstStyle/>
          <a:p>
            <a:r>
              <a:rPr lang="en-US" dirty="0"/>
              <a:t>You will never get perfect requirements. </a:t>
            </a:r>
            <a:r>
              <a:rPr lang="en-US" dirty="0" smtClean="0"/>
              <a:t>This </a:t>
            </a:r>
            <a:r>
              <a:rPr lang="en-US" dirty="0"/>
              <a:t>is why it’s important to have representatives of those audiences review the requirements to make sure they’ll meet their needs.</a:t>
            </a:r>
          </a:p>
          <a:p>
            <a:r>
              <a:rPr lang="en-US" dirty="0"/>
              <a:t>Progressive refinement of detail is a key principle for effective requirements development. </a:t>
            </a:r>
            <a:endParaRPr lang="en-US" dirty="0" smtClean="0"/>
          </a:p>
          <a:p>
            <a:r>
              <a:rPr lang="en-US" dirty="0" smtClean="0"/>
              <a:t>On </a:t>
            </a:r>
            <a:r>
              <a:rPr lang="en-US" dirty="0"/>
              <a:t>most projects it’s neither realistic nor necessary to pin down every requirement detail early in the project. Instead, think in terms of layers. </a:t>
            </a:r>
            <a:endParaRPr lang="en-US" dirty="0" smtClean="0"/>
          </a:p>
          <a:p>
            <a:r>
              <a:rPr lang="en-US" dirty="0" smtClean="0"/>
              <a:t>You </a:t>
            </a:r>
            <a:r>
              <a:rPr lang="en-US" dirty="0"/>
              <a:t>need to learn just enough about the requirements to be able to roughly prioritize them and allocate them to forthcoming releases or iterations</a:t>
            </a:r>
            <a:r>
              <a:rPr lang="en-US" dirty="0" smtClean="0"/>
              <a:t>.</a:t>
            </a:r>
          </a:p>
          <a:p>
            <a:r>
              <a:rPr lang="en-US" dirty="0" smtClean="0"/>
              <a:t> </a:t>
            </a:r>
            <a:r>
              <a:rPr lang="en-US" dirty="0"/>
              <a:t>Then you can detail groups of requirements in a just-in-time fashion to give developers enough information so they can avoid excessive and unnecessary rework.</a:t>
            </a:r>
          </a:p>
        </p:txBody>
      </p:sp>
    </p:spTree>
    <p:extLst>
      <p:ext uri="{BB962C8B-B14F-4D97-AF65-F5344CB8AC3E}">
        <p14:creationId xmlns:p14="http://schemas.microsoft.com/office/powerpoint/2010/main" val="2766296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8549"/>
            <a:ext cx="10515600" cy="1325563"/>
          </a:xfrm>
        </p:spPr>
        <p:txBody>
          <a:bodyPr/>
          <a:lstStyle/>
          <a:p>
            <a:r>
              <a:rPr lang="en-US" dirty="0" smtClean="0"/>
              <a:t>Representation of software requirements</a:t>
            </a:r>
            <a:endParaRPr lang="en-US" dirty="0"/>
          </a:p>
        </p:txBody>
      </p:sp>
      <p:sp>
        <p:nvSpPr>
          <p:cNvPr id="3" name="Content Placeholder 2"/>
          <p:cNvSpPr>
            <a:spLocks noGrp="1"/>
          </p:cNvSpPr>
          <p:nvPr>
            <p:ph idx="1"/>
          </p:nvPr>
        </p:nvSpPr>
        <p:spPr/>
        <p:txBody>
          <a:bodyPr/>
          <a:lstStyle/>
          <a:p>
            <a:r>
              <a:rPr lang="en-US" dirty="0"/>
              <a:t>You can represent software requirements in several ways, including:</a:t>
            </a:r>
          </a:p>
          <a:p>
            <a:pPr lvl="1"/>
            <a:r>
              <a:rPr lang="en-US" dirty="0"/>
              <a:t>Well-structured and carefully written natural language.</a:t>
            </a:r>
          </a:p>
          <a:p>
            <a:pPr lvl="1"/>
            <a:r>
              <a:rPr lang="en-US" dirty="0"/>
              <a:t>Visual models that illustrate transformational processes, system states and changes between them, data relationships, logic flows, and the like.</a:t>
            </a:r>
          </a:p>
          <a:p>
            <a:pPr lvl="1"/>
            <a:r>
              <a:rPr lang="en-US" dirty="0"/>
              <a:t>Formal specifications that define requirements by using mathematically precise specification languages.</a:t>
            </a:r>
          </a:p>
          <a:p>
            <a:endParaRPr lang="en-US" dirty="0"/>
          </a:p>
        </p:txBody>
      </p:sp>
    </p:spTree>
    <p:extLst>
      <p:ext uri="{BB962C8B-B14F-4D97-AF65-F5344CB8AC3E}">
        <p14:creationId xmlns:p14="http://schemas.microsoft.com/office/powerpoint/2010/main" val="1379881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Requirements Specifications</a:t>
            </a:r>
            <a:endParaRPr lang="en-US" dirty="0"/>
          </a:p>
        </p:txBody>
      </p:sp>
      <p:sp>
        <p:nvSpPr>
          <p:cNvPr id="3" name="Content Placeholder 2"/>
          <p:cNvSpPr>
            <a:spLocks noGrp="1"/>
          </p:cNvSpPr>
          <p:nvPr>
            <p:ph idx="1"/>
          </p:nvPr>
        </p:nvSpPr>
        <p:spPr/>
        <p:txBody>
          <a:bodyPr/>
          <a:lstStyle/>
          <a:p>
            <a:r>
              <a:rPr lang="en-US" dirty="0"/>
              <a:t>The software </a:t>
            </a:r>
            <a:r>
              <a:rPr lang="en-US" dirty="0" smtClean="0"/>
              <a:t>requirements is </a:t>
            </a:r>
            <a:r>
              <a:rPr lang="en-US" dirty="0"/>
              <a:t>sometimes called a </a:t>
            </a:r>
            <a:r>
              <a:rPr lang="en-US" i="1" dirty="0"/>
              <a:t>business requirements document </a:t>
            </a:r>
            <a:r>
              <a:rPr lang="en-US" dirty="0"/>
              <a:t>(BRD)</a:t>
            </a:r>
            <a:r>
              <a:rPr lang="en-US" i="1" dirty="0"/>
              <a:t>, functional specification, product specification</a:t>
            </a:r>
            <a:r>
              <a:rPr lang="en-US" dirty="0"/>
              <a:t>, </a:t>
            </a:r>
            <a:r>
              <a:rPr lang="en-US" i="1" dirty="0"/>
              <a:t>system specification</a:t>
            </a:r>
            <a:r>
              <a:rPr lang="en-US" dirty="0"/>
              <a:t>, or simply </a:t>
            </a:r>
            <a:r>
              <a:rPr lang="en-US" i="1" dirty="0"/>
              <a:t>requirements document</a:t>
            </a:r>
            <a:r>
              <a:rPr lang="en-US" dirty="0" smtClean="0"/>
              <a:t>.</a:t>
            </a:r>
          </a:p>
          <a:p>
            <a:r>
              <a:rPr lang="en-US" dirty="0" smtClean="0"/>
              <a:t> But </a:t>
            </a:r>
            <a:r>
              <a:rPr lang="en-US" dirty="0"/>
              <a:t>“software requirements specification” is an industry-standard </a:t>
            </a:r>
            <a:r>
              <a:rPr lang="en-US" dirty="0" smtClean="0"/>
              <a:t>term(ISO/IEC/IEEE </a:t>
            </a:r>
            <a:r>
              <a:rPr lang="en-US" dirty="0"/>
              <a:t>2011).</a:t>
            </a:r>
          </a:p>
        </p:txBody>
      </p:sp>
    </p:spTree>
    <p:extLst>
      <p:ext uri="{BB962C8B-B14F-4D97-AF65-F5344CB8AC3E}">
        <p14:creationId xmlns:p14="http://schemas.microsoft.com/office/powerpoint/2010/main" val="26803645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Audiences of SRS</a:t>
            </a:r>
            <a:endParaRPr lang="en-US" dirty="0"/>
          </a:p>
        </p:txBody>
      </p:sp>
      <p:sp>
        <p:nvSpPr>
          <p:cNvPr id="3" name="Content Placeholder 2"/>
          <p:cNvSpPr>
            <a:spLocks noGrp="1"/>
          </p:cNvSpPr>
          <p:nvPr>
            <p:ph idx="1"/>
          </p:nvPr>
        </p:nvSpPr>
        <p:spPr/>
        <p:txBody>
          <a:bodyPr>
            <a:normAutofit fontScale="70000" lnSpcReduction="20000"/>
          </a:bodyPr>
          <a:lstStyle/>
          <a:p>
            <a:r>
              <a:rPr lang="en-US" dirty="0"/>
              <a:t>Numerous audiences rely on the SRS:</a:t>
            </a:r>
          </a:p>
          <a:p>
            <a:r>
              <a:rPr lang="en-US" dirty="0"/>
              <a:t>Customers, the marketing department, and sales staff need to know what product they can expect to be delivered.</a:t>
            </a:r>
          </a:p>
          <a:p>
            <a:r>
              <a:rPr lang="en-US" dirty="0"/>
              <a:t>Project managers base their estimates of schedule, effort, and resources on the requirements.</a:t>
            </a:r>
          </a:p>
          <a:p>
            <a:r>
              <a:rPr lang="en-US" dirty="0"/>
              <a:t>Software development teams need to know what to build.</a:t>
            </a:r>
          </a:p>
          <a:p>
            <a:r>
              <a:rPr lang="en-US" dirty="0"/>
              <a:t>Testers use it to develop requirements-based tests, test plans, and test procedures.</a:t>
            </a:r>
          </a:p>
          <a:p>
            <a:r>
              <a:rPr lang="en-US" dirty="0"/>
              <a:t>Maintenance and support staff use it to understand what each part of the product is supposed to do.</a:t>
            </a:r>
          </a:p>
          <a:p>
            <a:r>
              <a:rPr lang="en-US" dirty="0"/>
              <a:t>Documentation writers base user manuals and help screens on the SRS and the user interface design.</a:t>
            </a:r>
          </a:p>
          <a:p>
            <a:r>
              <a:rPr lang="en-US" dirty="0"/>
              <a:t>Training personnel use the SRS and user documentation to develop educational materials.</a:t>
            </a:r>
          </a:p>
          <a:p>
            <a:r>
              <a:rPr lang="en-US" dirty="0"/>
              <a:t>Legal staff ensures that the requirements comply with applicable laws and regulations.</a:t>
            </a:r>
          </a:p>
          <a:p>
            <a:r>
              <a:rPr lang="en-US" dirty="0"/>
              <a:t>Subcontractors base their work on—and can be legally held to—the specified requirements.</a:t>
            </a:r>
          </a:p>
          <a:p>
            <a:endParaRPr lang="en-US" dirty="0"/>
          </a:p>
        </p:txBody>
      </p:sp>
    </p:spTree>
    <p:extLst>
      <p:ext uri="{BB962C8B-B14F-4D97-AF65-F5344CB8AC3E}">
        <p14:creationId xmlns:p14="http://schemas.microsoft.com/office/powerpoint/2010/main" val="3866185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Incremental Development of Requirements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You should capture </a:t>
            </a:r>
            <a:r>
              <a:rPr lang="en-US" dirty="0"/>
              <a:t>the requirements for each increment before building that increment. </a:t>
            </a:r>
            <a:endParaRPr lang="en-US" dirty="0" smtClean="0"/>
          </a:p>
          <a:p>
            <a:r>
              <a:rPr lang="en-US" dirty="0" smtClean="0"/>
              <a:t>Incremental </a:t>
            </a:r>
            <a:r>
              <a:rPr lang="en-US" dirty="0"/>
              <a:t>development is appropriate when you want to get some functionality into the users’ hands quickly. </a:t>
            </a:r>
            <a:endParaRPr lang="en-US" dirty="0" smtClean="0"/>
          </a:p>
          <a:p>
            <a:r>
              <a:rPr lang="en-US" dirty="0" smtClean="0"/>
              <a:t>Feedback </a:t>
            </a:r>
            <a:r>
              <a:rPr lang="en-US" dirty="0"/>
              <a:t>from using the early increments will shape the rest of the project. </a:t>
            </a:r>
            <a:endParaRPr lang="en-US" dirty="0" smtClean="0"/>
          </a:p>
          <a:p>
            <a:r>
              <a:rPr lang="en-US" dirty="0" smtClean="0"/>
              <a:t>However</a:t>
            </a:r>
            <a:r>
              <a:rPr lang="en-US" dirty="0"/>
              <a:t>, every project should baseline an agreement for each set of requirements before the team implements them. </a:t>
            </a:r>
            <a:endParaRPr lang="en-US" dirty="0" smtClean="0"/>
          </a:p>
          <a:p>
            <a:r>
              <a:rPr lang="en-US" i="1" dirty="0" smtClean="0"/>
              <a:t>Baselining </a:t>
            </a:r>
            <a:r>
              <a:rPr lang="en-US" dirty="0"/>
              <a:t>is the process of transitioning </a:t>
            </a:r>
            <a:r>
              <a:rPr lang="en-US" dirty="0" smtClean="0"/>
              <a:t>an</a:t>
            </a:r>
          </a:p>
          <a:p>
            <a:r>
              <a:rPr lang="en-US" dirty="0" smtClean="0"/>
              <a:t> </a:t>
            </a:r>
            <a:r>
              <a:rPr lang="en-US" dirty="0"/>
              <a:t>SRS under development into one that has been reviewed and approved. Working from an agreed-upon set of requirements minimizes miscommunication and unnecessary rework. See</a:t>
            </a:r>
          </a:p>
        </p:txBody>
      </p:sp>
    </p:spTree>
    <p:extLst>
      <p:ext uri="{BB962C8B-B14F-4D97-AF65-F5344CB8AC3E}">
        <p14:creationId xmlns:p14="http://schemas.microsoft.com/office/powerpoint/2010/main" val="8293747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Readability Suggestion </a:t>
            </a:r>
            <a:endParaRPr lang="en-US" dirty="0"/>
          </a:p>
        </p:txBody>
      </p:sp>
      <p:sp>
        <p:nvSpPr>
          <p:cNvPr id="3" name="Content Placeholder 2"/>
          <p:cNvSpPr>
            <a:spLocks noGrp="1"/>
          </p:cNvSpPr>
          <p:nvPr>
            <p:ph idx="1"/>
          </p:nvPr>
        </p:nvSpPr>
        <p:spPr/>
        <p:txBody>
          <a:bodyPr>
            <a:normAutofit fontScale="62500" lnSpcReduction="20000"/>
          </a:bodyPr>
          <a:lstStyle/>
          <a:p>
            <a:endParaRPr lang="en-US" dirty="0"/>
          </a:p>
          <a:p>
            <a:r>
              <a:rPr lang="en-US" dirty="0"/>
              <a:t>Use an appropriate template to organize all the necessary information.</a:t>
            </a:r>
          </a:p>
          <a:p>
            <a:r>
              <a:rPr lang="en-US" dirty="0" smtClean="0"/>
              <a:t>Label </a:t>
            </a:r>
            <a:r>
              <a:rPr lang="en-US" dirty="0"/>
              <a:t>and style sections, subsections, and individual requirements consistently</a:t>
            </a:r>
            <a:r>
              <a:rPr lang="en-US" dirty="0" smtClean="0"/>
              <a:t>.</a:t>
            </a:r>
            <a:endParaRPr lang="en-US" dirty="0"/>
          </a:p>
          <a:p>
            <a:r>
              <a:rPr lang="en-US" dirty="0"/>
              <a:t>Use visual emphasis (bold, underline, italics, color, and fonts) consistently and judiciously. Remember that color highlighting might not be visible to people with color blindness or when printed in grayscale.</a:t>
            </a:r>
          </a:p>
          <a:p>
            <a:r>
              <a:rPr lang="en-US" dirty="0" smtClean="0"/>
              <a:t>Create </a:t>
            </a:r>
            <a:r>
              <a:rPr lang="en-US" dirty="0"/>
              <a:t>a table of contents to help readers find the information they need.</a:t>
            </a:r>
          </a:p>
          <a:p>
            <a:r>
              <a:rPr lang="en-US" dirty="0" smtClean="0"/>
              <a:t>Number </a:t>
            </a:r>
            <a:r>
              <a:rPr lang="en-US" dirty="0"/>
              <a:t>all figures and tables, give them captions, and refer to them by number.</a:t>
            </a:r>
          </a:p>
          <a:p>
            <a:r>
              <a:rPr lang="en-US" dirty="0" smtClean="0"/>
              <a:t>If </a:t>
            </a:r>
            <a:r>
              <a:rPr lang="en-US" dirty="0"/>
              <a:t>you are storing requirements in a document, define your word processor’s cross-reference facility rather than hard-coded page or section numbers to refer to other locations within a document.</a:t>
            </a:r>
          </a:p>
          <a:p>
            <a:r>
              <a:rPr lang="en-US" dirty="0" smtClean="0"/>
              <a:t>If </a:t>
            </a:r>
            <a:r>
              <a:rPr lang="en-US" dirty="0"/>
              <a:t>you are using documents, define hyperlinks to let the reader jump to related sections in the SRS or in other files.</a:t>
            </a:r>
          </a:p>
          <a:p>
            <a:r>
              <a:rPr lang="en-US" dirty="0" smtClean="0"/>
              <a:t>If </a:t>
            </a:r>
            <a:r>
              <a:rPr lang="en-US" dirty="0"/>
              <a:t>you are storing requirements in a tool, use links to let the reader navigate to related information.</a:t>
            </a:r>
          </a:p>
          <a:p>
            <a:r>
              <a:rPr lang="en-US" dirty="0" smtClean="0"/>
              <a:t>Include </a:t>
            </a:r>
            <a:r>
              <a:rPr lang="en-US" dirty="0"/>
              <a:t>visual representations of information when possible to facilitate understanding.</a:t>
            </a:r>
          </a:p>
          <a:p>
            <a:r>
              <a:rPr lang="en-US" dirty="0" smtClean="0"/>
              <a:t>Enlist </a:t>
            </a:r>
            <a:r>
              <a:rPr lang="en-US" dirty="0"/>
              <a:t>a skilled editor to make sure the document is coherent and uses a consistent vocabulary and layout.</a:t>
            </a:r>
          </a:p>
          <a:p>
            <a:endParaRPr lang="en-US" dirty="0"/>
          </a:p>
          <a:p>
            <a:endParaRPr lang="en-US" dirty="0"/>
          </a:p>
        </p:txBody>
      </p:sp>
    </p:spTree>
    <p:extLst>
      <p:ext uri="{BB962C8B-B14F-4D97-AF65-F5344CB8AC3E}">
        <p14:creationId xmlns:p14="http://schemas.microsoft.com/office/powerpoint/2010/main" val="1854726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Labeling requirements</a:t>
            </a:r>
            <a:endParaRPr lang="en-US" dirty="0"/>
          </a:p>
        </p:txBody>
      </p:sp>
      <p:sp>
        <p:nvSpPr>
          <p:cNvPr id="3" name="Content Placeholder 2"/>
          <p:cNvSpPr>
            <a:spLocks noGrp="1"/>
          </p:cNvSpPr>
          <p:nvPr>
            <p:ph idx="1"/>
          </p:nvPr>
        </p:nvSpPr>
        <p:spPr/>
        <p:txBody>
          <a:bodyPr>
            <a:normAutofit fontScale="92500" lnSpcReduction="20000"/>
          </a:bodyPr>
          <a:lstStyle/>
          <a:p>
            <a:r>
              <a:rPr lang="en-US" dirty="0"/>
              <a:t>Every requirement needs a unique and persistent identifier</a:t>
            </a:r>
            <a:r>
              <a:rPr lang="en-US" dirty="0" smtClean="0"/>
              <a:t>.</a:t>
            </a:r>
          </a:p>
          <a:p>
            <a:r>
              <a:rPr lang="en-US" dirty="0" smtClean="0"/>
              <a:t>Labels are used </a:t>
            </a:r>
            <a:endParaRPr lang="en-US" dirty="0"/>
          </a:p>
          <a:p>
            <a:pPr lvl="1"/>
            <a:r>
              <a:rPr lang="en-US" dirty="0" smtClean="0"/>
              <a:t>to </a:t>
            </a:r>
            <a:r>
              <a:rPr lang="en-US" dirty="0"/>
              <a:t>refer to specific requirements in </a:t>
            </a:r>
            <a:endParaRPr lang="en-US" dirty="0" smtClean="0"/>
          </a:p>
          <a:p>
            <a:pPr lvl="2"/>
            <a:r>
              <a:rPr lang="en-US" dirty="0" smtClean="0"/>
              <a:t>a </a:t>
            </a:r>
            <a:r>
              <a:rPr lang="en-US" dirty="0"/>
              <a:t>change request, </a:t>
            </a:r>
            <a:endParaRPr lang="en-US" dirty="0" smtClean="0"/>
          </a:p>
          <a:p>
            <a:pPr lvl="2"/>
            <a:r>
              <a:rPr lang="en-US" dirty="0" smtClean="0"/>
              <a:t>modification </a:t>
            </a:r>
            <a:r>
              <a:rPr lang="en-US" dirty="0"/>
              <a:t>history, </a:t>
            </a:r>
            <a:endParaRPr lang="en-US" dirty="0" smtClean="0"/>
          </a:p>
          <a:p>
            <a:pPr lvl="2"/>
            <a:r>
              <a:rPr lang="en-US" dirty="0" smtClean="0"/>
              <a:t>cross-reference</a:t>
            </a:r>
            <a:r>
              <a:rPr lang="en-US" dirty="0"/>
              <a:t>, or </a:t>
            </a:r>
            <a:endParaRPr lang="en-US" dirty="0" smtClean="0"/>
          </a:p>
          <a:p>
            <a:pPr lvl="2"/>
            <a:r>
              <a:rPr lang="en-US" dirty="0" smtClean="0"/>
              <a:t>requirements </a:t>
            </a:r>
            <a:r>
              <a:rPr lang="en-US" dirty="0"/>
              <a:t>traceability matrix</a:t>
            </a:r>
            <a:r>
              <a:rPr lang="en-US" dirty="0" smtClean="0"/>
              <a:t>.</a:t>
            </a:r>
          </a:p>
          <a:p>
            <a:pPr lvl="1"/>
            <a:r>
              <a:rPr lang="en-US" dirty="0" smtClean="0"/>
              <a:t> to enable </a:t>
            </a:r>
            <a:r>
              <a:rPr lang="en-US" dirty="0"/>
              <a:t>reusing the requirements in multiple projects. </a:t>
            </a:r>
            <a:endParaRPr lang="en-US" dirty="0" smtClean="0"/>
          </a:p>
          <a:p>
            <a:pPr lvl="1"/>
            <a:r>
              <a:rPr lang="en-US" dirty="0" smtClean="0"/>
              <a:t>facilitate </a:t>
            </a:r>
            <a:r>
              <a:rPr lang="en-US" dirty="0"/>
              <a:t>collaboration between team members when they’re discussing requirements, as in a peer review meeting. </a:t>
            </a:r>
            <a:endParaRPr lang="en-US" dirty="0" smtClean="0"/>
          </a:p>
          <a:p>
            <a:r>
              <a:rPr lang="en-US" dirty="0" smtClean="0"/>
              <a:t>Simple </a:t>
            </a:r>
            <a:r>
              <a:rPr lang="en-US" dirty="0"/>
              <a:t>numbered or bulleted lists aren’t adequate for these purposes. Let’s look at the advantages and shortcomings of several requirements-labeling methods. Select whichever technique makes the most sense for your situation.</a:t>
            </a:r>
          </a:p>
        </p:txBody>
      </p:sp>
    </p:spTree>
    <p:extLst>
      <p:ext uri="{BB962C8B-B14F-4D97-AF65-F5344CB8AC3E}">
        <p14:creationId xmlns:p14="http://schemas.microsoft.com/office/powerpoint/2010/main" val="17754495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Labelling Requirements - </a:t>
            </a:r>
            <a:r>
              <a:rPr lang="en-US" b="1" dirty="0" smtClean="0"/>
              <a:t>Sequence number</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The </a:t>
            </a:r>
            <a:r>
              <a:rPr lang="en-US" b="1" dirty="0"/>
              <a:t>simplest approach </a:t>
            </a:r>
            <a:endParaRPr lang="en-US" b="1" dirty="0" smtClean="0"/>
          </a:p>
          <a:p>
            <a:r>
              <a:rPr lang="en-US" dirty="0" smtClean="0"/>
              <a:t>gives </a:t>
            </a:r>
            <a:r>
              <a:rPr lang="en-US" dirty="0"/>
              <a:t>every requirement a unique sequence number, such as UC-9 or FR-26</a:t>
            </a:r>
            <a:r>
              <a:rPr lang="en-US" dirty="0" smtClean="0"/>
              <a:t>.</a:t>
            </a:r>
          </a:p>
          <a:p>
            <a:r>
              <a:rPr lang="en-US" dirty="0" smtClean="0"/>
              <a:t> </a:t>
            </a:r>
            <a:r>
              <a:rPr lang="en-US" dirty="0"/>
              <a:t>Commercial requirements management tools assign such an identifier when a user adds a new requirement to the tool’s database. </a:t>
            </a:r>
            <a:endParaRPr lang="en-US" dirty="0" smtClean="0"/>
          </a:p>
          <a:p>
            <a:r>
              <a:rPr lang="en-US" dirty="0" smtClean="0"/>
              <a:t>The </a:t>
            </a:r>
            <a:r>
              <a:rPr lang="en-US" dirty="0"/>
              <a:t>prefix indicates the requirement type, such as </a:t>
            </a:r>
            <a:r>
              <a:rPr lang="en-US" i="1" dirty="0"/>
              <a:t>FR </a:t>
            </a:r>
            <a:r>
              <a:rPr lang="en-US" dirty="0"/>
              <a:t>for </a:t>
            </a:r>
            <a:r>
              <a:rPr lang="en-US" i="1" dirty="0"/>
              <a:t>functional requirement</a:t>
            </a:r>
            <a:r>
              <a:rPr lang="en-US" dirty="0"/>
              <a:t>. </a:t>
            </a:r>
            <a:endParaRPr lang="en-US" dirty="0" smtClean="0"/>
          </a:p>
          <a:p>
            <a:r>
              <a:rPr lang="en-US" dirty="0" smtClean="0"/>
              <a:t>A </a:t>
            </a:r>
            <a:r>
              <a:rPr lang="en-US" dirty="0"/>
              <a:t>number is not reused if a requirement is deleted, so you don’t have to worry about a reader confusing the original FR-26 with a new FR-26. </a:t>
            </a:r>
            <a:endParaRPr lang="en-US" dirty="0" smtClean="0"/>
          </a:p>
          <a:p>
            <a:r>
              <a:rPr lang="en-US" b="1" dirty="0" smtClean="0"/>
              <a:t>Drawbacks </a:t>
            </a:r>
          </a:p>
          <a:p>
            <a:r>
              <a:rPr lang="en-US" dirty="0" smtClean="0"/>
              <a:t>This </a:t>
            </a:r>
            <a:r>
              <a:rPr lang="en-US" dirty="0"/>
              <a:t>simple numbering approach doesn’t provide any logical or hierarchical grouping of related requirements, the number doesn’t imply any kind of ordering, and the labels give no clue as to what each requirement is about. </a:t>
            </a:r>
            <a:endParaRPr lang="en-US" dirty="0" smtClean="0"/>
          </a:p>
          <a:p>
            <a:r>
              <a:rPr lang="en-US" b="1" dirty="0" smtClean="0"/>
              <a:t>Advantages</a:t>
            </a:r>
          </a:p>
          <a:p>
            <a:r>
              <a:rPr lang="en-US" dirty="0" smtClean="0"/>
              <a:t>It </a:t>
            </a:r>
            <a:r>
              <a:rPr lang="en-US" dirty="0"/>
              <a:t>does make it easy to retain a unique identifier if you move requirements around in a document.</a:t>
            </a:r>
          </a:p>
        </p:txBody>
      </p:sp>
    </p:spTree>
    <p:extLst>
      <p:ext uri="{BB962C8B-B14F-4D97-AF65-F5344CB8AC3E}">
        <p14:creationId xmlns:p14="http://schemas.microsoft.com/office/powerpoint/2010/main" val="42947130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Labelling Requirements - </a:t>
            </a:r>
            <a:r>
              <a:rPr lang="en-US" b="1" dirty="0" smtClean="0"/>
              <a:t>Hierarchical number</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If </a:t>
            </a:r>
            <a:r>
              <a:rPr lang="en-US" dirty="0"/>
              <a:t>the functional requirements appear in section 3.2 of your SRS, they will all have labels that begin with 3.2. </a:t>
            </a:r>
            <a:endParaRPr lang="en-US" dirty="0" smtClean="0"/>
          </a:p>
          <a:p>
            <a:r>
              <a:rPr lang="en-US" dirty="0" smtClean="0"/>
              <a:t>More </a:t>
            </a:r>
            <a:r>
              <a:rPr lang="en-US" dirty="0"/>
              <a:t>digits indicate a more detailed, lower-level requirement, so you know that 3.2.4.3 is a child requirement of 3.2.4. </a:t>
            </a:r>
            <a:endParaRPr lang="en-US" dirty="0" smtClean="0"/>
          </a:p>
          <a:p>
            <a:r>
              <a:rPr lang="en-US" dirty="0" smtClean="0"/>
              <a:t>This </a:t>
            </a:r>
            <a:r>
              <a:rPr lang="en-US" dirty="0"/>
              <a:t>method is simple, compact, and familiar. Your word processor can probably assign the numbers automatically. Requirements management tools generally also support hierarchical numbering.</a:t>
            </a:r>
          </a:p>
          <a:p>
            <a:r>
              <a:rPr lang="en-US" b="1" dirty="0" smtClean="0"/>
              <a:t>Drawbacks:</a:t>
            </a:r>
          </a:p>
          <a:p>
            <a:r>
              <a:rPr lang="en-US" dirty="0" smtClean="0"/>
              <a:t>The </a:t>
            </a:r>
            <a:r>
              <a:rPr lang="en-US" dirty="0"/>
              <a:t>labels can grow to many digits in even a medium-sized SRS</a:t>
            </a:r>
            <a:r>
              <a:rPr lang="en-US" dirty="0" smtClean="0"/>
              <a:t>.</a:t>
            </a:r>
          </a:p>
          <a:p>
            <a:r>
              <a:rPr lang="en-US" dirty="0" smtClean="0"/>
              <a:t> </a:t>
            </a:r>
            <a:r>
              <a:rPr lang="en-US" dirty="0"/>
              <a:t>Numeric labels tell you nothing about the intent of a requirement. </a:t>
            </a:r>
            <a:endParaRPr lang="en-US" dirty="0" smtClean="0"/>
          </a:p>
          <a:p>
            <a:r>
              <a:rPr lang="en-US" smtClean="0"/>
              <a:t>If </a:t>
            </a:r>
            <a:r>
              <a:rPr lang="en-US" dirty="0"/>
              <a:t>you are using a word processor, typically this scheme does not generate persistent </a:t>
            </a:r>
            <a:r>
              <a:rPr lang="en-US"/>
              <a:t>labels</a:t>
            </a:r>
            <a:r>
              <a:rPr lang="en-US" smtClean="0"/>
              <a:t>.</a:t>
            </a:r>
          </a:p>
          <a:p>
            <a:r>
              <a:rPr lang="en-US" smtClean="0"/>
              <a:t> </a:t>
            </a:r>
            <a:r>
              <a:rPr lang="en-US" dirty="0"/>
              <a:t>If you insert a new requirement, the numbers of the following requirements in that section all will be incremented. Delete or move a requirement, and the numbers following it in that section will be decremented. Delete, insert, merge, or move whole sections, and a lot of labels change. These changes disrupt any references to those requirements elsewhere in the system.</a:t>
            </a:r>
          </a:p>
        </p:txBody>
      </p:sp>
    </p:spTree>
    <p:extLst>
      <p:ext uri="{BB962C8B-B14F-4D97-AF65-F5344CB8AC3E}">
        <p14:creationId xmlns:p14="http://schemas.microsoft.com/office/powerpoint/2010/main" val="23554644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Labelling Requirements - </a:t>
            </a:r>
            <a:r>
              <a:rPr lang="en-US" b="1" dirty="0" smtClean="0"/>
              <a:t>Hierarchical </a:t>
            </a:r>
            <a:r>
              <a:rPr lang="en-US" b="1" dirty="0"/>
              <a:t>textual tags</a:t>
            </a:r>
            <a:endParaRPr lang="en-US" dirty="0"/>
          </a:p>
        </p:txBody>
      </p:sp>
      <p:sp>
        <p:nvSpPr>
          <p:cNvPr id="3" name="Content Placeholder 2"/>
          <p:cNvSpPr>
            <a:spLocks noGrp="1"/>
          </p:cNvSpPr>
          <p:nvPr>
            <p:ph idx="1"/>
          </p:nvPr>
        </p:nvSpPr>
        <p:spPr/>
        <p:txBody>
          <a:bodyPr>
            <a:normAutofit fontScale="85000" lnSpcReduction="20000"/>
          </a:bodyPr>
          <a:lstStyle/>
          <a:p>
            <a:r>
              <a:rPr lang="en-GB" dirty="0"/>
              <a:t>Consider this requirement: “The system shall ask the user to confirm any request to print more than 10 copies.” </a:t>
            </a:r>
            <a:endParaRPr lang="en-GB" dirty="0" smtClean="0"/>
          </a:p>
          <a:p>
            <a:r>
              <a:rPr lang="en-GB" dirty="0" smtClean="0"/>
              <a:t>This </a:t>
            </a:r>
            <a:r>
              <a:rPr lang="en-GB" dirty="0"/>
              <a:t>requirement might be tagged </a:t>
            </a:r>
            <a:r>
              <a:rPr lang="en-GB" dirty="0" err="1"/>
              <a:t>Print.ConfirmCopies</a:t>
            </a:r>
            <a:r>
              <a:rPr lang="en-GB" dirty="0" smtClean="0"/>
              <a:t>.</a:t>
            </a:r>
          </a:p>
          <a:p>
            <a:pPr lvl="1"/>
            <a:r>
              <a:rPr lang="en-GB" dirty="0" smtClean="0"/>
              <a:t> </a:t>
            </a:r>
            <a:r>
              <a:rPr lang="en-GB" dirty="0"/>
              <a:t>This indicates that it is part of the print function and relates to the number of copies to print. </a:t>
            </a:r>
            <a:endParaRPr lang="en-GB" dirty="0" smtClean="0"/>
          </a:p>
          <a:p>
            <a:r>
              <a:rPr lang="en-GB" dirty="0"/>
              <a:t>Hierarchical </a:t>
            </a:r>
            <a:r>
              <a:rPr lang="en-GB" dirty="0" smtClean="0"/>
              <a:t>textual tags </a:t>
            </a:r>
            <a:r>
              <a:rPr lang="en-GB" dirty="0"/>
              <a:t>are structured, meaningful, and unaffected by adding, deleting, or moving other requirements. </a:t>
            </a:r>
          </a:p>
          <a:p>
            <a:r>
              <a:rPr lang="en-GB" dirty="0" smtClean="0"/>
              <a:t>With </a:t>
            </a:r>
            <a:r>
              <a:rPr lang="en-GB" dirty="0"/>
              <a:t>any hierarchical organization you have parent-child relationships between requirements. If the parent is written as a functional requirement, the relationship between the children and the parent can be confusing. </a:t>
            </a:r>
            <a:endParaRPr lang="en-GB" dirty="0" smtClean="0"/>
          </a:p>
          <a:p>
            <a:r>
              <a:rPr lang="en-GB" dirty="0" smtClean="0"/>
              <a:t>A </a:t>
            </a:r>
            <a:r>
              <a:rPr lang="en-GB" dirty="0"/>
              <a:t>good convention is to write the parent requirement to look like a title, a heading, or a feature name, rather than looking like a functional requirement in itself. </a:t>
            </a:r>
            <a:r>
              <a:rPr lang="en-GB" dirty="0" smtClean="0"/>
              <a:t>T</a:t>
            </a:r>
          </a:p>
          <a:p>
            <a:r>
              <a:rPr lang="en-GB" dirty="0" smtClean="0"/>
              <a:t>The </a:t>
            </a:r>
            <a:r>
              <a:rPr lang="en-GB" dirty="0"/>
              <a:t>children requirements of that parent, in the aggregate, deliver the capability described in the parent. </a:t>
            </a:r>
            <a:endParaRPr lang="en-GB" dirty="0" smtClean="0"/>
          </a:p>
        </p:txBody>
      </p:sp>
    </p:spTree>
    <p:extLst>
      <p:ext uri="{BB962C8B-B14F-4D97-AF65-F5344CB8AC3E}">
        <p14:creationId xmlns:p14="http://schemas.microsoft.com/office/powerpoint/2010/main" val="948325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Hierarchical Textual Tags</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708338" y="1918952"/>
            <a:ext cx="11013384" cy="3872388"/>
          </a:xfrm>
          <a:prstGeom prst="rect">
            <a:avLst/>
          </a:prstGeom>
        </p:spPr>
      </p:pic>
    </p:spTree>
    <p:extLst>
      <p:ext uri="{BB962C8B-B14F-4D97-AF65-F5344CB8AC3E}">
        <p14:creationId xmlns:p14="http://schemas.microsoft.com/office/powerpoint/2010/main" val="5557381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Labelling Requirements - </a:t>
            </a:r>
            <a:r>
              <a:rPr lang="en-US" b="1"/>
              <a:t>Hierarchical textual tags</a:t>
            </a:r>
            <a:endParaRPr lang="en-US"/>
          </a:p>
        </p:txBody>
      </p:sp>
      <p:sp>
        <p:nvSpPr>
          <p:cNvPr id="3" name="Content Placeholder 2"/>
          <p:cNvSpPr>
            <a:spLocks noGrp="1"/>
          </p:cNvSpPr>
          <p:nvPr>
            <p:ph idx="1"/>
          </p:nvPr>
        </p:nvSpPr>
        <p:spPr/>
        <p:txBody>
          <a:bodyPr>
            <a:normAutofit/>
          </a:bodyPr>
          <a:lstStyle/>
          <a:p>
            <a:r>
              <a:rPr lang="en-GB" dirty="0" smtClean="0"/>
              <a:t>This </a:t>
            </a:r>
            <a:r>
              <a:rPr lang="en-GB" dirty="0"/>
              <a:t>hierarchical scheme avoids the maintenance problems with the hierarchical numbering, but the tags are longer and you do have to think of meaningful names for them, perhaps building from the name of the relevant feature</a:t>
            </a:r>
            <a:r>
              <a:rPr lang="en-GB" dirty="0" smtClean="0"/>
              <a:t>.</a:t>
            </a:r>
          </a:p>
          <a:p>
            <a:r>
              <a:rPr lang="en-GB" dirty="0" smtClean="0"/>
              <a:t> </a:t>
            </a:r>
            <a:r>
              <a:rPr lang="en-GB" dirty="0"/>
              <a:t>It can be challenging to maintain uniqueness, especially if you have multiple people working on the set of requirements. </a:t>
            </a:r>
            <a:endParaRPr lang="en-GB" dirty="0" smtClean="0"/>
          </a:p>
          <a:p>
            <a:r>
              <a:rPr lang="en-GB" dirty="0" smtClean="0"/>
              <a:t>You </a:t>
            </a:r>
            <a:r>
              <a:rPr lang="en-GB" dirty="0"/>
              <a:t>can simplify the scheme by combining the hierarchical naming technique with a sequence number suffix for small sets of requirements: Product.Cart.01, Product.Cart.02, and so on. Many schemes can work.</a:t>
            </a:r>
            <a:endParaRPr lang="en-US" dirty="0"/>
          </a:p>
          <a:p>
            <a:endParaRPr lang="en-US" dirty="0"/>
          </a:p>
        </p:txBody>
      </p:sp>
    </p:spTree>
    <p:extLst>
      <p:ext uri="{BB962C8B-B14F-4D97-AF65-F5344CB8AC3E}">
        <p14:creationId xmlns:p14="http://schemas.microsoft.com/office/powerpoint/2010/main" val="153225172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1625</TotalTime>
  <Words>1697</Words>
  <Application>Microsoft Office PowerPoint</Application>
  <PresentationFormat>Widescreen</PresentationFormat>
  <Paragraphs>111</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Software Requirement Engineering</vt:lpstr>
      <vt:lpstr>Different types of requirements</vt:lpstr>
      <vt:lpstr>Problems with recording SRS in word-processing documents</vt:lpstr>
      <vt:lpstr>Requirements Documents</vt:lpstr>
      <vt:lpstr>Requirements in iterations</vt:lpstr>
      <vt:lpstr>Representation of software requirements</vt:lpstr>
      <vt:lpstr>Software Requirements Specifications</vt:lpstr>
      <vt:lpstr>Audiences of SRS</vt:lpstr>
      <vt:lpstr>Incremental Development of Requirements</vt:lpstr>
      <vt:lpstr>Readability Suggestion </vt:lpstr>
      <vt:lpstr>Labeling requirements</vt:lpstr>
      <vt:lpstr>Labelling Requirements - Sequence number </vt:lpstr>
      <vt:lpstr>Labelling Requirements - Hierarchical number</vt:lpstr>
      <vt:lpstr>Labelling Requirements - Hierarchical textual tags</vt:lpstr>
      <vt:lpstr>Example of Hierarchical Textual Tags</vt:lpstr>
      <vt:lpstr>Labelling Requirements - Hierarchical textual tags</vt:lpstr>
    </vt:vector>
  </TitlesOfParts>
  <Company>Grizli777</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Rehmat</dc:creator>
  <cp:lastModifiedBy>Sara Qasim</cp:lastModifiedBy>
  <cp:revision>7</cp:revision>
  <dcterms:created xsi:type="dcterms:W3CDTF">2020-11-11T05:53:27Z</dcterms:created>
  <dcterms:modified xsi:type="dcterms:W3CDTF">2020-11-27T10:06:59Z</dcterms:modified>
</cp:coreProperties>
</file>