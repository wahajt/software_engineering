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96" r:id="rId3"/>
    <p:sldId id="257" r:id="rId4"/>
    <p:sldId id="258" r:id="rId5"/>
    <p:sldId id="260" r:id="rId6"/>
    <p:sldId id="259" r:id="rId7"/>
    <p:sldId id="261" r:id="rId8"/>
    <p:sldId id="297" r:id="rId9"/>
    <p:sldId id="262" r:id="rId10"/>
    <p:sldId id="263" r:id="rId11"/>
    <p:sldId id="264" r:id="rId12"/>
    <p:sldId id="299" r:id="rId13"/>
    <p:sldId id="265" r:id="rId14"/>
    <p:sldId id="266" r:id="rId15"/>
    <p:sldId id="267" r:id="rId16"/>
    <p:sldId id="301" r:id="rId17"/>
    <p:sldId id="302" r:id="rId18"/>
    <p:sldId id="300" r:id="rId19"/>
    <p:sldId id="269" r:id="rId20"/>
    <p:sldId id="274" r:id="rId21"/>
    <p:sldId id="273" r:id="rId22"/>
    <p:sldId id="272" r:id="rId23"/>
    <p:sldId id="275" r:id="rId24"/>
    <p:sldId id="276" r:id="rId25"/>
    <p:sldId id="277" r:id="rId26"/>
    <p:sldId id="278"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897" autoAdjust="0"/>
    <p:restoredTop sz="94660"/>
  </p:normalViewPr>
  <p:slideViewPr>
    <p:cSldViewPr snapToGrid="0">
      <p:cViewPr varScale="1">
        <p:scale>
          <a:sx n="74" d="100"/>
          <a:sy n="74" d="100"/>
        </p:scale>
        <p:origin x="62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1A9144E-E9C8-4F30-B395-FE3D0A3EAD01}" type="datetimeFigureOut">
              <a:rPr lang="en-US" smtClean="0"/>
              <a:t>9/23/2020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FE33D6-06DB-4A13-8254-054ABF0763A3}" type="slidenum">
              <a:rPr lang="en-US" smtClean="0"/>
              <a:t>‹#›</a:t>
            </a:fld>
            <a:endParaRPr lang="en-US"/>
          </a:p>
        </p:txBody>
      </p:sp>
    </p:spTree>
    <p:extLst>
      <p:ext uri="{BB962C8B-B14F-4D97-AF65-F5344CB8AC3E}">
        <p14:creationId xmlns:p14="http://schemas.microsoft.com/office/powerpoint/2010/main" val="28375594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1A9144E-E9C8-4F30-B395-FE3D0A3EAD01}" type="datetimeFigureOut">
              <a:rPr lang="en-US" smtClean="0"/>
              <a:t>9/23/2020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FE33D6-06DB-4A13-8254-054ABF0763A3}" type="slidenum">
              <a:rPr lang="en-US" smtClean="0"/>
              <a:t>‹#›</a:t>
            </a:fld>
            <a:endParaRPr lang="en-US"/>
          </a:p>
        </p:txBody>
      </p:sp>
    </p:spTree>
    <p:extLst>
      <p:ext uri="{BB962C8B-B14F-4D97-AF65-F5344CB8AC3E}">
        <p14:creationId xmlns:p14="http://schemas.microsoft.com/office/powerpoint/2010/main" val="30989462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1A9144E-E9C8-4F30-B395-FE3D0A3EAD01}" type="datetimeFigureOut">
              <a:rPr lang="en-US" smtClean="0"/>
              <a:t>9/23/2020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FE33D6-06DB-4A13-8254-054ABF0763A3}" type="slidenum">
              <a:rPr lang="en-US" smtClean="0"/>
              <a:t>‹#›</a:t>
            </a:fld>
            <a:endParaRPr lang="en-US"/>
          </a:p>
        </p:txBody>
      </p:sp>
    </p:spTree>
    <p:extLst>
      <p:ext uri="{BB962C8B-B14F-4D97-AF65-F5344CB8AC3E}">
        <p14:creationId xmlns:p14="http://schemas.microsoft.com/office/powerpoint/2010/main" val="27823671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1A9144E-E9C8-4F30-B395-FE3D0A3EAD01}" type="datetimeFigureOut">
              <a:rPr lang="en-US" smtClean="0"/>
              <a:t>9/23/2020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FE33D6-06DB-4A13-8254-054ABF0763A3}" type="slidenum">
              <a:rPr lang="en-US" smtClean="0"/>
              <a:t>‹#›</a:t>
            </a:fld>
            <a:endParaRPr lang="en-US"/>
          </a:p>
        </p:txBody>
      </p:sp>
    </p:spTree>
    <p:extLst>
      <p:ext uri="{BB962C8B-B14F-4D97-AF65-F5344CB8AC3E}">
        <p14:creationId xmlns:p14="http://schemas.microsoft.com/office/powerpoint/2010/main" val="1271624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1A9144E-E9C8-4F30-B395-FE3D0A3EAD01}" type="datetimeFigureOut">
              <a:rPr lang="en-US" smtClean="0"/>
              <a:t>9/23/2020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9FE33D6-06DB-4A13-8254-054ABF0763A3}" type="slidenum">
              <a:rPr lang="en-US" smtClean="0"/>
              <a:t>‹#›</a:t>
            </a:fld>
            <a:endParaRPr lang="en-US"/>
          </a:p>
        </p:txBody>
      </p:sp>
    </p:spTree>
    <p:extLst>
      <p:ext uri="{BB962C8B-B14F-4D97-AF65-F5344CB8AC3E}">
        <p14:creationId xmlns:p14="http://schemas.microsoft.com/office/powerpoint/2010/main" val="173413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1A9144E-E9C8-4F30-B395-FE3D0A3EAD01}" type="datetimeFigureOut">
              <a:rPr lang="en-US" smtClean="0"/>
              <a:t>9/23/2020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9FE33D6-06DB-4A13-8254-054ABF0763A3}" type="slidenum">
              <a:rPr lang="en-US" smtClean="0"/>
              <a:t>‹#›</a:t>
            </a:fld>
            <a:endParaRPr lang="en-US"/>
          </a:p>
        </p:txBody>
      </p:sp>
    </p:spTree>
    <p:extLst>
      <p:ext uri="{BB962C8B-B14F-4D97-AF65-F5344CB8AC3E}">
        <p14:creationId xmlns:p14="http://schemas.microsoft.com/office/powerpoint/2010/main" val="27065037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A9144E-E9C8-4F30-B395-FE3D0A3EAD01}" type="datetimeFigureOut">
              <a:rPr lang="en-US" smtClean="0"/>
              <a:t>9/23/2020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9FE33D6-06DB-4A13-8254-054ABF0763A3}" type="slidenum">
              <a:rPr lang="en-US" smtClean="0"/>
              <a:t>‹#›</a:t>
            </a:fld>
            <a:endParaRPr lang="en-US"/>
          </a:p>
        </p:txBody>
      </p:sp>
    </p:spTree>
    <p:extLst>
      <p:ext uri="{BB962C8B-B14F-4D97-AF65-F5344CB8AC3E}">
        <p14:creationId xmlns:p14="http://schemas.microsoft.com/office/powerpoint/2010/main" val="26472436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1A9144E-E9C8-4F30-B395-FE3D0A3EAD01}" type="datetimeFigureOut">
              <a:rPr lang="en-US" smtClean="0"/>
              <a:t>9/23/2020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FE33D6-06DB-4A13-8254-054ABF0763A3}" type="slidenum">
              <a:rPr lang="en-US" smtClean="0"/>
              <a:t>‹#›</a:t>
            </a:fld>
            <a:endParaRPr lang="en-US"/>
          </a:p>
        </p:txBody>
      </p:sp>
    </p:spTree>
    <p:extLst>
      <p:ext uri="{BB962C8B-B14F-4D97-AF65-F5344CB8AC3E}">
        <p14:creationId xmlns:p14="http://schemas.microsoft.com/office/powerpoint/2010/main" val="6654972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1A9144E-E9C8-4F30-B395-FE3D0A3EAD01}" type="datetimeFigureOut">
              <a:rPr lang="en-US" smtClean="0"/>
              <a:t>9/23/2020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FE33D6-06DB-4A13-8254-054ABF0763A3}" type="slidenum">
              <a:rPr lang="en-US" smtClean="0"/>
              <a:t>‹#›</a:t>
            </a:fld>
            <a:endParaRPr lang="en-US"/>
          </a:p>
        </p:txBody>
      </p:sp>
    </p:spTree>
    <p:extLst>
      <p:ext uri="{BB962C8B-B14F-4D97-AF65-F5344CB8AC3E}">
        <p14:creationId xmlns:p14="http://schemas.microsoft.com/office/powerpoint/2010/main" val="15656987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1A9144E-E9C8-4F30-B395-FE3D0A3EAD01}" type="datetimeFigureOut">
              <a:rPr lang="en-US" smtClean="0"/>
              <a:t>9/23/2020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FE33D6-06DB-4A13-8254-054ABF0763A3}" type="slidenum">
              <a:rPr lang="en-US" smtClean="0"/>
              <a:t>‹#›</a:t>
            </a:fld>
            <a:endParaRPr lang="en-US"/>
          </a:p>
        </p:txBody>
      </p:sp>
    </p:spTree>
    <p:extLst>
      <p:ext uri="{BB962C8B-B14F-4D97-AF65-F5344CB8AC3E}">
        <p14:creationId xmlns:p14="http://schemas.microsoft.com/office/powerpoint/2010/main" val="13170985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1A9144E-E9C8-4F30-B395-FE3D0A3EAD01}" type="datetimeFigureOut">
              <a:rPr lang="en-US" smtClean="0"/>
              <a:t>9/23/2020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FE33D6-06DB-4A13-8254-054ABF0763A3}" type="slidenum">
              <a:rPr lang="en-US" smtClean="0"/>
              <a:t>‹#›</a:t>
            </a:fld>
            <a:endParaRPr lang="en-US"/>
          </a:p>
        </p:txBody>
      </p:sp>
    </p:spTree>
    <p:extLst>
      <p:ext uri="{BB962C8B-B14F-4D97-AF65-F5344CB8AC3E}">
        <p14:creationId xmlns:p14="http://schemas.microsoft.com/office/powerpoint/2010/main" val="27547718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A9144E-E9C8-4F30-B395-FE3D0A3EAD01}" type="datetimeFigureOut">
              <a:rPr lang="en-US" smtClean="0"/>
              <a:t>9/23/2020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FE33D6-06DB-4A13-8254-054ABF0763A3}" type="slidenum">
              <a:rPr lang="en-US" smtClean="0"/>
              <a:t>‹#›</a:t>
            </a:fld>
            <a:endParaRPr lang="en-US"/>
          </a:p>
        </p:txBody>
      </p:sp>
    </p:spTree>
    <p:extLst>
      <p:ext uri="{BB962C8B-B14F-4D97-AF65-F5344CB8AC3E}">
        <p14:creationId xmlns:p14="http://schemas.microsoft.com/office/powerpoint/2010/main" val="31796246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Software Requirements Engineering</a:t>
            </a:r>
            <a:endParaRPr lang="en-US" dirty="0"/>
          </a:p>
        </p:txBody>
      </p:sp>
      <p:sp>
        <p:nvSpPr>
          <p:cNvPr id="3" name="Subtitle 2"/>
          <p:cNvSpPr>
            <a:spLocks noGrp="1"/>
          </p:cNvSpPr>
          <p:nvPr>
            <p:ph type="subTitle" idx="1"/>
          </p:nvPr>
        </p:nvSpPr>
        <p:spPr/>
        <p:txBody>
          <a:bodyPr/>
          <a:lstStyle/>
          <a:p>
            <a:pPr algn="r"/>
            <a:r>
              <a:rPr lang="en-US" dirty="0"/>
              <a:t>Lectures 7 and </a:t>
            </a:r>
            <a:r>
              <a:rPr lang="en-US" dirty="0" smtClean="0"/>
              <a:t>8</a:t>
            </a:r>
          </a:p>
          <a:p>
            <a:pPr algn="r"/>
            <a:r>
              <a:rPr lang="en-US" dirty="0" smtClean="0"/>
              <a:t>Engr. Sara </a:t>
            </a:r>
            <a:r>
              <a:rPr lang="en-US" dirty="0" err="1" smtClean="0"/>
              <a:t>Rehmat</a:t>
            </a:r>
            <a:endParaRPr lang="en-US" dirty="0"/>
          </a:p>
        </p:txBody>
      </p:sp>
    </p:spTree>
    <p:extLst>
      <p:ext uri="{BB962C8B-B14F-4D97-AF65-F5344CB8AC3E}">
        <p14:creationId xmlns:p14="http://schemas.microsoft.com/office/powerpoint/2010/main" val="399736123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Establishing business requirements</a:t>
            </a:r>
            <a:endParaRPr lang="en-US" dirty="0"/>
          </a:p>
        </p:txBody>
      </p:sp>
      <p:sp>
        <p:nvSpPr>
          <p:cNvPr id="3" name="Content Placeholder 2"/>
          <p:cNvSpPr>
            <a:spLocks noGrp="1"/>
          </p:cNvSpPr>
          <p:nvPr>
            <p:ph idx="1"/>
          </p:nvPr>
        </p:nvSpPr>
        <p:spPr/>
        <p:txBody>
          <a:bodyPr/>
          <a:lstStyle/>
          <a:p>
            <a:r>
              <a:rPr lang="en-US" dirty="0" smtClean="0"/>
              <a:t>Business Requirements and why we need to establish them</a:t>
            </a:r>
          </a:p>
          <a:p>
            <a:r>
              <a:rPr lang="en-US" dirty="0" smtClean="0"/>
              <a:t>Product Vision and Project Scope</a:t>
            </a:r>
          </a:p>
          <a:p>
            <a:r>
              <a:rPr lang="en-US" dirty="0"/>
              <a:t>Vision and Scope </a:t>
            </a:r>
            <a:r>
              <a:rPr lang="en-US" dirty="0" smtClean="0"/>
              <a:t>Document</a:t>
            </a:r>
          </a:p>
          <a:p>
            <a:endParaRPr lang="en-US" dirty="0" smtClean="0"/>
          </a:p>
          <a:p>
            <a:endParaRPr lang="en-US" dirty="0"/>
          </a:p>
        </p:txBody>
      </p:sp>
    </p:spTree>
    <p:extLst>
      <p:ext uri="{BB962C8B-B14F-4D97-AF65-F5344CB8AC3E}">
        <p14:creationId xmlns:p14="http://schemas.microsoft.com/office/powerpoint/2010/main" val="2229082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Defining business requirements</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Business requirements specify why the product is being developed.</a:t>
            </a:r>
          </a:p>
          <a:p>
            <a:r>
              <a:rPr lang="en-US" dirty="0" smtClean="0"/>
              <a:t>They define </a:t>
            </a:r>
            <a:r>
              <a:rPr lang="en-US" b="1" dirty="0" smtClean="0"/>
              <a:t>product</a:t>
            </a:r>
            <a:r>
              <a:rPr lang="en-US" dirty="0" smtClean="0"/>
              <a:t> </a:t>
            </a:r>
            <a:r>
              <a:rPr lang="en-US" b="1" dirty="0" smtClean="0"/>
              <a:t>vision</a:t>
            </a:r>
            <a:r>
              <a:rPr lang="en-US" dirty="0" smtClean="0"/>
              <a:t> and </a:t>
            </a:r>
            <a:r>
              <a:rPr lang="en-US" b="1" dirty="0" smtClean="0"/>
              <a:t>project</a:t>
            </a:r>
            <a:r>
              <a:rPr lang="en-US" dirty="0" smtClean="0"/>
              <a:t> </a:t>
            </a:r>
            <a:r>
              <a:rPr lang="en-US" b="1" dirty="0" smtClean="0"/>
              <a:t>scope</a:t>
            </a:r>
            <a:r>
              <a:rPr lang="en-US" dirty="0" smtClean="0"/>
              <a:t> of the product. </a:t>
            </a:r>
          </a:p>
          <a:p>
            <a:r>
              <a:rPr lang="en-US" dirty="0" smtClean="0"/>
              <a:t>The </a:t>
            </a:r>
            <a:r>
              <a:rPr lang="en-GB" dirty="0"/>
              <a:t>business requirements represent the top of the requirements chain. </a:t>
            </a:r>
            <a:endParaRPr lang="en-GB" dirty="0" smtClean="0"/>
          </a:p>
          <a:p>
            <a:r>
              <a:rPr lang="en-GB" dirty="0"/>
              <a:t>The user requirements and functional requirements must align with </a:t>
            </a:r>
            <a:r>
              <a:rPr lang="en-GB" dirty="0" smtClean="0"/>
              <a:t>the </a:t>
            </a:r>
            <a:r>
              <a:rPr lang="en-GB" dirty="0"/>
              <a:t>business requirements </a:t>
            </a:r>
            <a:r>
              <a:rPr lang="en-GB" dirty="0" smtClean="0"/>
              <a:t>.</a:t>
            </a:r>
          </a:p>
          <a:p>
            <a:pPr lvl="1"/>
            <a:r>
              <a:rPr lang="en-GB" dirty="0"/>
              <a:t>Requirements that don’t help the project achieve its business objectives shouldn’t be implemented</a:t>
            </a:r>
            <a:r>
              <a:rPr lang="en-GB" dirty="0" smtClean="0"/>
              <a:t>.</a:t>
            </a:r>
          </a:p>
          <a:p>
            <a:r>
              <a:rPr lang="en-GB" dirty="0" smtClean="0"/>
              <a:t>The business requirements are recorded in the </a:t>
            </a:r>
            <a:r>
              <a:rPr lang="en-GB" b="1" dirty="0" smtClean="0"/>
              <a:t>vision and scope document. </a:t>
            </a:r>
          </a:p>
          <a:p>
            <a:r>
              <a:rPr lang="en-GB" dirty="0"/>
              <a:t>The business requirements provide a reference for making decisions about proposed requirement changes and enhancements. </a:t>
            </a:r>
            <a:endParaRPr lang="en-US" b="1" dirty="0"/>
          </a:p>
        </p:txBody>
      </p:sp>
    </p:spTree>
    <p:extLst>
      <p:ext uri="{BB962C8B-B14F-4D97-AF65-F5344CB8AC3E}">
        <p14:creationId xmlns:p14="http://schemas.microsoft.com/office/powerpoint/2010/main" val="2710107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Benefits of identifying business requirements</a:t>
            </a:r>
            <a:endParaRPr lang="en-US" dirty="0"/>
          </a:p>
        </p:txBody>
      </p:sp>
      <p:sp>
        <p:nvSpPr>
          <p:cNvPr id="3" name="Content Placeholder 2"/>
          <p:cNvSpPr>
            <a:spLocks noGrp="1"/>
          </p:cNvSpPr>
          <p:nvPr>
            <p:ph idx="1"/>
          </p:nvPr>
        </p:nvSpPr>
        <p:spPr/>
        <p:txBody>
          <a:bodyPr/>
          <a:lstStyle/>
          <a:p>
            <a:r>
              <a:rPr lang="en-US" dirty="0" smtClean="0"/>
              <a:t>Business requirements establish the business objectives.</a:t>
            </a:r>
          </a:p>
          <a:p>
            <a:r>
              <a:rPr lang="en-US" dirty="0" smtClean="0"/>
              <a:t>Without reaching a common understanding of the business objectives by all stakeholders,</a:t>
            </a:r>
          </a:p>
          <a:p>
            <a:pPr lvl="1"/>
            <a:r>
              <a:rPr lang="en-US" dirty="0" smtClean="0"/>
              <a:t>We will have more conflicting requirements among the stakeholders</a:t>
            </a:r>
          </a:p>
          <a:p>
            <a:pPr lvl="1"/>
            <a:r>
              <a:rPr lang="en-US" dirty="0"/>
              <a:t>T</a:t>
            </a:r>
            <a:r>
              <a:rPr lang="en-US" dirty="0" smtClean="0"/>
              <a:t>he project will lack direction and may run into overrun budgets and missed deadlines.</a:t>
            </a:r>
          </a:p>
          <a:p>
            <a:pPr marL="457200" lvl="1" indent="0">
              <a:buNone/>
            </a:pPr>
            <a:endParaRPr lang="en-US" dirty="0"/>
          </a:p>
        </p:txBody>
      </p:sp>
    </p:spTree>
    <p:extLst>
      <p:ext uri="{BB962C8B-B14F-4D97-AF65-F5344CB8AC3E}">
        <p14:creationId xmlns:p14="http://schemas.microsoft.com/office/powerpoint/2010/main" val="3265677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Product Vision and Project Scope</a:t>
            </a:r>
            <a:br>
              <a:rPr lang="en-US" dirty="0" smtClean="0"/>
            </a:br>
            <a:endParaRPr lang="en-US" dirty="0"/>
          </a:p>
        </p:txBody>
      </p:sp>
      <p:sp>
        <p:nvSpPr>
          <p:cNvPr id="3" name="Content Placeholder 2"/>
          <p:cNvSpPr>
            <a:spLocks noGrp="1"/>
          </p:cNvSpPr>
          <p:nvPr>
            <p:ph idx="1"/>
          </p:nvPr>
        </p:nvSpPr>
        <p:spPr/>
        <p:txBody>
          <a:bodyPr>
            <a:normAutofit/>
          </a:bodyPr>
          <a:lstStyle/>
          <a:p>
            <a:r>
              <a:rPr lang="en-US" b="1" dirty="0" smtClean="0"/>
              <a:t>Product Vision</a:t>
            </a:r>
            <a:endParaRPr lang="en-GB" b="1" dirty="0" smtClean="0"/>
          </a:p>
          <a:p>
            <a:r>
              <a:rPr lang="en-GB" dirty="0" smtClean="0"/>
              <a:t>The </a:t>
            </a:r>
            <a:r>
              <a:rPr lang="en-GB" i="1" dirty="0"/>
              <a:t>product vision </a:t>
            </a:r>
            <a:r>
              <a:rPr lang="en-GB" dirty="0"/>
              <a:t>succinctly describes the ultimate product that will achieve the business objectives. </a:t>
            </a:r>
            <a:endParaRPr lang="en-GB" dirty="0" smtClean="0"/>
          </a:p>
          <a:p>
            <a:r>
              <a:rPr lang="en-GB" dirty="0" smtClean="0"/>
              <a:t>The </a:t>
            </a:r>
            <a:r>
              <a:rPr lang="en-GB" dirty="0"/>
              <a:t>vision describes what the product is about and what it ultimately could become. </a:t>
            </a:r>
            <a:endParaRPr lang="en-GB" dirty="0" smtClean="0"/>
          </a:p>
          <a:p>
            <a:r>
              <a:rPr lang="en-GB" dirty="0" smtClean="0"/>
              <a:t>The product vision </a:t>
            </a:r>
            <a:r>
              <a:rPr lang="en-GB" dirty="0"/>
              <a:t>aligns all stakeholders in a common direction. </a:t>
            </a:r>
            <a:endParaRPr lang="en-GB" dirty="0" smtClean="0"/>
          </a:p>
          <a:p>
            <a:r>
              <a:rPr lang="en-GB" dirty="0"/>
              <a:t>The vision applies to the product as a whole</a:t>
            </a:r>
            <a:r>
              <a:rPr lang="en-GB" dirty="0" smtClean="0"/>
              <a:t>.</a:t>
            </a:r>
          </a:p>
          <a:p>
            <a:r>
              <a:rPr lang="en-GB" dirty="0" smtClean="0"/>
              <a:t> </a:t>
            </a:r>
            <a:r>
              <a:rPr lang="en-GB" dirty="0"/>
              <a:t>The vision should change relatively slowly as a product’s strategic positioning or a company’s business objectives evolve over time. </a:t>
            </a:r>
            <a:endParaRPr lang="en-GB" dirty="0" smtClean="0"/>
          </a:p>
        </p:txBody>
      </p:sp>
    </p:spTree>
    <p:extLst>
      <p:ext uri="{BB962C8B-B14F-4D97-AF65-F5344CB8AC3E}">
        <p14:creationId xmlns:p14="http://schemas.microsoft.com/office/powerpoint/2010/main" val="353275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Product Vision and Project Scope</a:t>
            </a:r>
            <a:br>
              <a:rPr lang="en-US" dirty="0" smtClean="0"/>
            </a:br>
            <a:endParaRPr lang="en-US" dirty="0"/>
          </a:p>
        </p:txBody>
      </p:sp>
      <p:sp>
        <p:nvSpPr>
          <p:cNvPr id="3" name="Content Placeholder 2"/>
          <p:cNvSpPr>
            <a:spLocks noGrp="1"/>
          </p:cNvSpPr>
          <p:nvPr>
            <p:ph idx="1"/>
          </p:nvPr>
        </p:nvSpPr>
        <p:spPr/>
        <p:txBody>
          <a:bodyPr>
            <a:normAutofit fontScale="92500" lnSpcReduction="20000"/>
          </a:bodyPr>
          <a:lstStyle/>
          <a:p>
            <a:r>
              <a:rPr lang="en-US" b="1" dirty="0" smtClean="0"/>
              <a:t>Project Scope</a:t>
            </a:r>
            <a:endParaRPr lang="en-GB" b="1" dirty="0" smtClean="0"/>
          </a:p>
          <a:p>
            <a:r>
              <a:rPr lang="en-GB" dirty="0" smtClean="0"/>
              <a:t>The </a:t>
            </a:r>
            <a:r>
              <a:rPr lang="en-GB" b="1" i="1" dirty="0" smtClean="0"/>
              <a:t>project scope </a:t>
            </a:r>
            <a:r>
              <a:rPr lang="en-GB" dirty="0" smtClean="0"/>
              <a:t>identifies what portion of the ultimate product vision the current project or development iteration will address. </a:t>
            </a:r>
          </a:p>
          <a:p>
            <a:r>
              <a:rPr lang="en-GB" dirty="0" smtClean="0"/>
              <a:t>The statement of scope draws the boundary between what’s in and what’s out for this project.</a:t>
            </a:r>
            <a:endParaRPr lang="en-US" dirty="0" smtClean="0"/>
          </a:p>
          <a:p>
            <a:r>
              <a:rPr lang="en-GB" dirty="0"/>
              <a:t>Scope is more dynamic than vision because the stakeholders adjust the contents of each release within its schedule, budget, resource, and quality constraints</a:t>
            </a:r>
            <a:r>
              <a:rPr lang="en-GB" dirty="0" smtClean="0"/>
              <a:t>.</a:t>
            </a:r>
          </a:p>
          <a:p>
            <a:r>
              <a:rPr lang="en-GB" dirty="0" smtClean="0"/>
              <a:t> </a:t>
            </a:r>
            <a:r>
              <a:rPr lang="en-GB" dirty="0"/>
              <a:t>Scope for the current release should be clear, but the scope of future releases will be fuzzier the farther out you look. </a:t>
            </a:r>
            <a:endParaRPr lang="en-GB" dirty="0" smtClean="0"/>
          </a:p>
          <a:p>
            <a:r>
              <a:rPr lang="en-GB" dirty="0" smtClean="0"/>
              <a:t>The </a:t>
            </a:r>
            <a:r>
              <a:rPr lang="en-GB" dirty="0"/>
              <a:t>team’s goal is to manage the scope of a specific development or enhancement project as a defined subset of the strategic vision for the product.</a:t>
            </a:r>
            <a:endParaRPr lang="en-US" dirty="0"/>
          </a:p>
        </p:txBody>
      </p:sp>
    </p:spTree>
    <p:extLst>
      <p:ext uri="{BB962C8B-B14F-4D97-AF65-F5344CB8AC3E}">
        <p14:creationId xmlns:p14="http://schemas.microsoft.com/office/powerpoint/2010/main" val="3153752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Conflicting Business Requirements</a:t>
            </a:r>
            <a:endParaRPr lang="en-US" dirty="0"/>
          </a:p>
        </p:txBody>
      </p:sp>
      <p:sp>
        <p:nvSpPr>
          <p:cNvPr id="3" name="Content Placeholder 2"/>
          <p:cNvSpPr>
            <a:spLocks noGrp="1"/>
          </p:cNvSpPr>
          <p:nvPr>
            <p:ph idx="1"/>
          </p:nvPr>
        </p:nvSpPr>
        <p:spPr>
          <a:xfrm>
            <a:off x="838200" y="1825625"/>
            <a:ext cx="10515600" cy="1007727"/>
          </a:xfrm>
        </p:spPr>
        <p:txBody>
          <a:bodyPr/>
          <a:lstStyle/>
          <a:p>
            <a:r>
              <a:rPr lang="en-GB" dirty="0"/>
              <a:t>Business requirements collected from multiple sources might conflict. </a:t>
            </a:r>
            <a:endParaRPr lang="en-GB" dirty="0" smtClean="0"/>
          </a:p>
          <a:p>
            <a:r>
              <a:rPr lang="en-GB" dirty="0"/>
              <a:t>Consider a kiosk that will be used by a retail store’s customers. </a:t>
            </a:r>
            <a:endParaRPr lang="en-US" dirty="0"/>
          </a:p>
        </p:txBody>
      </p:sp>
    </p:spTree>
    <p:extLst>
      <p:ext uri="{BB962C8B-B14F-4D97-AF65-F5344CB8AC3E}">
        <p14:creationId xmlns:p14="http://schemas.microsoft.com/office/powerpoint/2010/main" val="2395937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3" name="Picture 2"/>
          <p:cNvPicPr>
            <a:picLocks noChangeAspect="1"/>
          </p:cNvPicPr>
          <p:nvPr/>
        </p:nvPicPr>
        <p:blipFill>
          <a:blip r:embed="rId2"/>
          <a:stretch>
            <a:fillRect/>
          </a:stretch>
        </p:blipFill>
        <p:spPr>
          <a:xfrm>
            <a:off x="2295333" y="1027906"/>
            <a:ext cx="7389580" cy="4917353"/>
          </a:xfrm>
          <a:prstGeom prst="rect">
            <a:avLst/>
          </a:prstGeom>
        </p:spPr>
      </p:pic>
      <p:sp>
        <p:nvSpPr>
          <p:cNvPr id="4" name="Rectangle 3"/>
          <p:cNvSpPr/>
          <p:nvPr/>
        </p:nvSpPr>
        <p:spPr>
          <a:xfrm>
            <a:off x="1880316" y="6119492"/>
            <a:ext cx="8293994" cy="369332"/>
          </a:xfrm>
          <a:prstGeom prst="rect">
            <a:avLst/>
          </a:prstGeom>
        </p:spPr>
        <p:txBody>
          <a:bodyPr wrap="square">
            <a:spAutoFit/>
          </a:bodyPr>
          <a:lstStyle/>
          <a:p>
            <a:r>
              <a:rPr lang="en-GB" dirty="0">
                <a:solidFill>
                  <a:srgbClr val="000000"/>
                </a:solidFill>
                <a:latin typeface="Segoe"/>
              </a:rPr>
              <a:t>Stakeholders for a kiosk don’t always have congruent business interests.</a:t>
            </a:r>
            <a:endParaRPr lang="en-US" dirty="0"/>
          </a:p>
        </p:txBody>
      </p:sp>
    </p:spTree>
    <p:extLst>
      <p:ext uri="{BB962C8B-B14F-4D97-AF65-F5344CB8AC3E}">
        <p14:creationId xmlns:p14="http://schemas.microsoft.com/office/powerpoint/2010/main" val="293130695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r>
              <a:rPr lang="en-GB" dirty="0"/>
              <a:t>The various stakeholders’ objectives sometimes are in alignment. </a:t>
            </a:r>
            <a:endParaRPr lang="en-GB" dirty="0" smtClean="0"/>
          </a:p>
          <a:p>
            <a:pPr lvl="1"/>
            <a:r>
              <a:rPr lang="en-GB" dirty="0" smtClean="0"/>
              <a:t>For </a:t>
            </a:r>
            <a:r>
              <a:rPr lang="en-GB" dirty="0"/>
              <a:t>instance, both the kiosk developers and the customers want to have a wide variety of products or services available through the kiosk. </a:t>
            </a:r>
            <a:endParaRPr lang="en-GB" dirty="0" smtClean="0"/>
          </a:p>
          <a:p>
            <a:r>
              <a:rPr lang="en-GB" dirty="0" smtClean="0"/>
              <a:t>However</a:t>
            </a:r>
            <a:r>
              <a:rPr lang="en-GB" dirty="0"/>
              <a:t>, some business objectives could conflict. </a:t>
            </a:r>
            <a:endParaRPr lang="en-GB" dirty="0" smtClean="0"/>
          </a:p>
          <a:p>
            <a:pPr lvl="1"/>
            <a:r>
              <a:rPr lang="en-GB" dirty="0" smtClean="0"/>
              <a:t>The </a:t>
            </a:r>
            <a:r>
              <a:rPr lang="en-GB" dirty="0"/>
              <a:t>customer wants to spend less time purchasing goods and services, but the retailer would prefer to have customers linger in the store and </a:t>
            </a:r>
            <a:r>
              <a:rPr lang="en-GB" dirty="0" smtClean="0"/>
              <a:t>buy more items.</a:t>
            </a:r>
          </a:p>
          <a:p>
            <a:r>
              <a:rPr lang="en-GB" dirty="0"/>
              <a:t>The project’s decision makers must resolve these conflicts before the analyst can detail the kiosk’s requirements. </a:t>
            </a:r>
            <a:endParaRPr lang="en-GB" dirty="0" smtClean="0"/>
          </a:p>
          <a:p>
            <a:r>
              <a:rPr lang="en-GB" dirty="0"/>
              <a:t>A BA can help by </a:t>
            </a:r>
            <a:r>
              <a:rPr lang="en-GB" dirty="0" smtClean="0"/>
              <a:t>flagging </a:t>
            </a:r>
            <a:r>
              <a:rPr lang="en-GB" dirty="0"/>
              <a:t>conflicting business objectives, noting when requested features don’t achieve those objectives, and facilitating conflict resolution. </a:t>
            </a:r>
            <a:endParaRPr lang="en-US" dirty="0"/>
          </a:p>
        </p:txBody>
      </p:sp>
    </p:spTree>
    <p:extLst>
      <p:ext uri="{BB962C8B-B14F-4D97-AF65-F5344CB8AC3E}">
        <p14:creationId xmlns:p14="http://schemas.microsoft.com/office/powerpoint/2010/main" val="19607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Vision and scope document </a:t>
            </a:r>
            <a:endParaRPr lang="en-US" dirty="0"/>
          </a:p>
        </p:txBody>
      </p:sp>
      <p:sp>
        <p:nvSpPr>
          <p:cNvPr id="3" name="Content Placeholder 2"/>
          <p:cNvSpPr>
            <a:spLocks noGrp="1"/>
          </p:cNvSpPr>
          <p:nvPr>
            <p:ph idx="1"/>
          </p:nvPr>
        </p:nvSpPr>
        <p:spPr/>
        <p:txBody>
          <a:bodyPr/>
          <a:lstStyle/>
          <a:p>
            <a:r>
              <a:rPr lang="en-GB" dirty="0"/>
              <a:t>The </a:t>
            </a:r>
            <a:r>
              <a:rPr lang="en-GB" i="1" dirty="0"/>
              <a:t>vision and scope document </a:t>
            </a:r>
            <a:r>
              <a:rPr lang="en-GB" dirty="0"/>
              <a:t>collects the business requirements into a single deliverable that sets the stage for the subsequent development work. </a:t>
            </a:r>
            <a:endParaRPr lang="en-GB" dirty="0" smtClean="0"/>
          </a:p>
          <a:p>
            <a:r>
              <a:rPr lang="en-GB" dirty="0" smtClean="0"/>
              <a:t>Similar documents: </a:t>
            </a:r>
            <a:r>
              <a:rPr lang="en-US" dirty="0"/>
              <a:t>a project  charter </a:t>
            </a:r>
            <a:r>
              <a:rPr lang="en-GB" dirty="0"/>
              <a:t>or a business case </a:t>
            </a:r>
            <a:r>
              <a:rPr lang="en-GB" dirty="0" smtClean="0"/>
              <a:t>document.</a:t>
            </a:r>
          </a:p>
          <a:p>
            <a:r>
              <a:rPr lang="en-GB" dirty="0"/>
              <a:t>Organizations that build commercial software often create a market (or marketing) requirements document (MRD). </a:t>
            </a:r>
            <a:endParaRPr lang="en-GB" dirty="0" smtClean="0"/>
          </a:p>
          <a:p>
            <a:r>
              <a:rPr lang="en-GB" dirty="0"/>
              <a:t>The owner of the vision and scope document is the project’s executive sponsor, funding authority, or someone in a similar role. </a:t>
            </a:r>
            <a:endParaRPr lang="en-US" dirty="0"/>
          </a:p>
        </p:txBody>
      </p:sp>
    </p:spTree>
    <p:extLst>
      <p:ext uri="{BB962C8B-B14F-4D97-AF65-F5344CB8AC3E}">
        <p14:creationId xmlns:p14="http://schemas.microsoft.com/office/powerpoint/2010/main" val="1989835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Vision and Scope document</a:t>
            </a:r>
            <a:endParaRPr lang="en-US" dirty="0"/>
          </a:p>
        </p:txBody>
      </p:sp>
      <p:sp>
        <p:nvSpPr>
          <p:cNvPr id="3" name="Content Placeholder 2"/>
          <p:cNvSpPr>
            <a:spLocks noGrp="1"/>
          </p:cNvSpPr>
          <p:nvPr>
            <p:ph idx="1"/>
          </p:nvPr>
        </p:nvSpPr>
        <p:spPr/>
        <p:txBody>
          <a:bodyPr/>
          <a:lstStyle/>
          <a:p>
            <a:r>
              <a:rPr lang="en-GB" dirty="0"/>
              <a:t>The vision and scope document only defines the scope at a high level; the scope details are represented by each release baseline that the team defines </a:t>
            </a:r>
            <a:endParaRPr lang="en-GB" dirty="0" smtClean="0"/>
          </a:p>
          <a:p>
            <a:r>
              <a:rPr lang="en-GB" dirty="0"/>
              <a:t>Major new projects should have both a complete vision and scope document and an SRS. </a:t>
            </a:r>
            <a:endParaRPr lang="en-GB" dirty="0" smtClean="0"/>
          </a:p>
          <a:p>
            <a:r>
              <a:rPr lang="en-GB" dirty="0" smtClean="0"/>
              <a:t>Each </a:t>
            </a:r>
            <a:r>
              <a:rPr lang="en-GB" dirty="0"/>
              <a:t>iteration, release, or enhancement project for an evolving product can include its own scope statement in that project’s requirements documentation, rather than creating a separate vision and scope document.</a:t>
            </a:r>
            <a:endParaRPr lang="en-US" dirty="0"/>
          </a:p>
        </p:txBody>
      </p:sp>
    </p:spTree>
    <p:extLst>
      <p:ext uri="{BB962C8B-B14F-4D97-AF65-F5344CB8AC3E}">
        <p14:creationId xmlns:p14="http://schemas.microsoft.com/office/powerpoint/2010/main" val="1437277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Template of Vision and Scope document</a:t>
            </a:r>
            <a:endParaRPr lang="en-US" dirty="0"/>
          </a:p>
        </p:txBody>
      </p:sp>
      <p:pic>
        <p:nvPicPr>
          <p:cNvPr id="4" name="Content Placeholder 3"/>
          <p:cNvPicPr>
            <a:picLocks noGrp="1" noChangeAspect="1"/>
          </p:cNvPicPr>
          <p:nvPr>
            <p:ph idx="1"/>
          </p:nvPr>
        </p:nvPicPr>
        <p:blipFill>
          <a:blip r:embed="rId2"/>
          <a:stretch>
            <a:fillRect/>
          </a:stretch>
        </p:blipFill>
        <p:spPr>
          <a:xfrm>
            <a:off x="3913778" y="1825625"/>
            <a:ext cx="4364444" cy="4351338"/>
          </a:xfrm>
          <a:prstGeom prst="rect">
            <a:avLst/>
          </a:prstGeom>
        </p:spPr>
      </p:pic>
    </p:spTree>
    <p:extLst>
      <p:ext uri="{BB962C8B-B14F-4D97-AF65-F5344CB8AC3E}">
        <p14:creationId xmlns:p14="http://schemas.microsoft.com/office/powerpoint/2010/main" val="402772609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1. Business requirements</a:t>
            </a:r>
            <a:endParaRPr lang="en-US" dirty="0"/>
          </a:p>
        </p:txBody>
      </p:sp>
      <p:sp>
        <p:nvSpPr>
          <p:cNvPr id="3" name="Content Placeholder 2"/>
          <p:cNvSpPr>
            <a:spLocks noGrp="1"/>
          </p:cNvSpPr>
          <p:nvPr>
            <p:ph idx="1"/>
          </p:nvPr>
        </p:nvSpPr>
        <p:spPr/>
        <p:txBody>
          <a:bodyPr>
            <a:normAutofit fontScale="55000" lnSpcReduction="20000"/>
          </a:bodyPr>
          <a:lstStyle/>
          <a:p>
            <a:r>
              <a:rPr lang="en-GB" b="1" dirty="0" smtClean="0"/>
              <a:t>1.1 Background</a:t>
            </a:r>
          </a:p>
          <a:p>
            <a:r>
              <a:rPr lang="en-GB" dirty="0" smtClean="0"/>
              <a:t>Summarize </a:t>
            </a:r>
            <a:r>
              <a:rPr lang="en-GB" dirty="0"/>
              <a:t>the rationale and context for the new product or for changes to be made to an existing one. </a:t>
            </a:r>
            <a:endParaRPr lang="en-GB" dirty="0" smtClean="0"/>
          </a:p>
          <a:p>
            <a:r>
              <a:rPr lang="en-GB" b="1" dirty="0" smtClean="0"/>
              <a:t>1.2 Business Opportunity</a:t>
            </a:r>
          </a:p>
          <a:p>
            <a:r>
              <a:rPr lang="en-GB" dirty="0"/>
              <a:t>For a corporate information system, describe the business problem that is being solved or the process being improved, as well as the environment in which the system will be used. </a:t>
            </a:r>
            <a:endParaRPr lang="en-GB" dirty="0" smtClean="0"/>
          </a:p>
          <a:p>
            <a:r>
              <a:rPr lang="en-GB" dirty="0" smtClean="0"/>
              <a:t>For </a:t>
            </a:r>
            <a:r>
              <a:rPr lang="en-GB" dirty="0"/>
              <a:t>a commercial product, describe the business opportunity that exists and the market in which the product will be competing. </a:t>
            </a:r>
            <a:endParaRPr lang="en-GB" dirty="0" smtClean="0"/>
          </a:p>
          <a:p>
            <a:r>
              <a:rPr lang="en-GB" dirty="0" smtClean="0"/>
              <a:t>Include </a:t>
            </a:r>
            <a:r>
              <a:rPr lang="en-GB" dirty="0"/>
              <a:t>a comparative evaluation of existing products, indicating why the proposed product is attractive and the advantages it provides. </a:t>
            </a:r>
            <a:endParaRPr lang="en-GB" dirty="0" smtClean="0"/>
          </a:p>
          <a:p>
            <a:r>
              <a:rPr lang="en-GB" dirty="0" smtClean="0"/>
              <a:t>Describe </a:t>
            </a:r>
            <a:r>
              <a:rPr lang="en-GB" dirty="0"/>
              <a:t>the problems that cannot currently be solved without the envisioned solution. </a:t>
            </a:r>
            <a:endParaRPr lang="en-GB" dirty="0" smtClean="0"/>
          </a:p>
          <a:p>
            <a:r>
              <a:rPr lang="en-GB" dirty="0" smtClean="0"/>
              <a:t>List </a:t>
            </a:r>
            <a:r>
              <a:rPr lang="en-GB" dirty="0"/>
              <a:t>any other technologies, processes, or resources required to provide a complete customer solution</a:t>
            </a:r>
            <a:r>
              <a:rPr lang="en-GB" dirty="0" smtClean="0"/>
              <a:t>.</a:t>
            </a:r>
          </a:p>
          <a:p>
            <a:r>
              <a:rPr lang="en-GB" dirty="0"/>
              <a:t>Describe the needs of typical customers or of the target market. </a:t>
            </a:r>
            <a:endParaRPr lang="en-GB" dirty="0" smtClean="0"/>
          </a:p>
          <a:p>
            <a:r>
              <a:rPr lang="en-GB" dirty="0" smtClean="0"/>
              <a:t>Present </a:t>
            </a:r>
            <a:r>
              <a:rPr lang="en-GB" dirty="0"/>
              <a:t>customer problems that the new product will address. </a:t>
            </a:r>
            <a:endParaRPr lang="en-GB" dirty="0" smtClean="0"/>
          </a:p>
          <a:p>
            <a:r>
              <a:rPr lang="en-GB" dirty="0" smtClean="0"/>
              <a:t>Provide </a:t>
            </a:r>
            <a:r>
              <a:rPr lang="en-GB" dirty="0"/>
              <a:t>examples of how customers would use the product. </a:t>
            </a:r>
            <a:endParaRPr lang="en-GB" dirty="0" smtClean="0"/>
          </a:p>
          <a:p>
            <a:r>
              <a:rPr lang="en-GB" dirty="0" smtClean="0"/>
              <a:t>Define </a:t>
            </a:r>
            <a:r>
              <a:rPr lang="en-GB" dirty="0"/>
              <a:t>any known critical interface or quality requirements, but omit design or implementation specifics.</a:t>
            </a:r>
            <a:endParaRPr lang="en-US" dirty="0"/>
          </a:p>
        </p:txBody>
      </p:sp>
    </p:spTree>
    <p:extLst>
      <p:ext uri="{BB962C8B-B14F-4D97-AF65-F5344CB8AC3E}">
        <p14:creationId xmlns:p14="http://schemas.microsoft.com/office/powerpoint/2010/main" val="3368744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 Business Requirements</a:t>
            </a:r>
            <a:br>
              <a:rPr lang="en-US" dirty="0" smtClean="0"/>
            </a:br>
            <a:r>
              <a:rPr lang="en-US" dirty="0" smtClean="0"/>
              <a:t>1.3 Business </a:t>
            </a:r>
            <a:r>
              <a:rPr lang="en-US" dirty="0"/>
              <a:t>Objectives</a:t>
            </a:r>
          </a:p>
        </p:txBody>
      </p:sp>
      <p:sp>
        <p:nvSpPr>
          <p:cNvPr id="3" name="Content Placeholder 2"/>
          <p:cNvSpPr>
            <a:spLocks noGrp="1"/>
          </p:cNvSpPr>
          <p:nvPr>
            <p:ph idx="1"/>
          </p:nvPr>
        </p:nvSpPr>
        <p:spPr/>
        <p:txBody>
          <a:bodyPr/>
          <a:lstStyle/>
          <a:p>
            <a:r>
              <a:rPr lang="en-GB" dirty="0"/>
              <a:t>Summarize the important business benefits the product will provide in a quantitative and measurable way. </a:t>
            </a:r>
            <a:endParaRPr lang="en-GB" dirty="0" smtClean="0"/>
          </a:p>
          <a:p>
            <a:r>
              <a:rPr lang="en-GB" dirty="0" smtClean="0"/>
              <a:t>Platitudes </a:t>
            </a:r>
            <a:r>
              <a:rPr lang="en-GB" dirty="0"/>
              <a:t>(“become recognized as a world-class &lt;whatever&gt;”) and vaguely stated improvements (“provide a more rewarding customer experience”) are neither helpful nor verifiable. </a:t>
            </a:r>
            <a:endParaRPr lang="en-GB" dirty="0" smtClean="0"/>
          </a:p>
          <a:p>
            <a:endParaRPr lang="en-US" dirty="0"/>
          </a:p>
        </p:txBody>
      </p:sp>
    </p:spTree>
    <p:extLst>
      <p:ext uri="{BB962C8B-B14F-4D97-AF65-F5344CB8AC3E}">
        <p14:creationId xmlns:p14="http://schemas.microsoft.com/office/powerpoint/2010/main" val="2158125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Examples of financial </a:t>
            </a:r>
            <a:r>
              <a:rPr lang="en-GB" dirty="0" smtClean="0"/>
              <a:t>business </a:t>
            </a:r>
            <a:r>
              <a:rPr lang="en-GB" dirty="0"/>
              <a:t>objectives</a:t>
            </a:r>
            <a:endParaRPr lang="en-US" dirty="0"/>
          </a:p>
        </p:txBody>
      </p:sp>
      <p:sp>
        <p:nvSpPr>
          <p:cNvPr id="3" name="Content Placeholder 2"/>
          <p:cNvSpPr>
            <a:spLocks noGrp="1"/>
          </p:cNvSpPr>
          <p:nvPr>
            <p:ph idx="1"/>
          </p:nvPr>
        </p:nvSpPr>
        <p:spPr/>
        <p:txBody>
          <a:bodyPr>
            <a:normAutofit fontScale="92500" lnSpcReduction="20000"/>
          </a:bodyPr>
          <a:lstStyle/>
          <a:p>
            <a:endParaRPr lang="en-US" dirty="0"/>
          </a:p>
          <a:p>
            <a:r>
              <a:rPr lang="en-GB" dirty="0"/>
              <a:t>Capture a market share of X% within Y months.</a:t>
            </a:r>
          </a:p>
          <a:p>
            <a:r>
              <a:rPr lang="en-GB" dirty="0" smtClean="0"/>
              <a:t>Increase </a:t>
            </a:r>
            <a:r>
              <a:rPr lang="en-GB" dirty="0"/>
              <a:t>market share in country W from X% to Y% within Z months.</a:t>
            </a:r>
          </a:p>
          <a:p>
            <a:r>
              <a:rPr lang="en-GB" dirty="0" smtClean="0"/>
              <a:t>Reach </a:t>
            </a:r>
            <a:r>
              <a:rPr lang="en-GB" dirty="0"/>
              <a:t>a sales volume of X units or revenue of $Y within Z months.</a:t>
            </a:r>
          </a:p>
          <a:p>
            <a:r>
              <a:rPr lang="en-GB" dirty="0" smtClean="0"/>
              <a:t>Achieve </a:t>
            </a:r>
            <a:r>
              <a:rPr lang="en-GB" dirty="0"/>
              <a:t>X% return on investment within Y months.</a:t>
            </a:r>
          </a:p>
          <a:p>
            <a:r>
              <a:rPr lang="en-GB" dirty="0" smtClean="0"/>
              <a:t>Achieve </a:t>
            </a:r>
            <a:r>
              <a:rPr lang="en-GB" dirty="0"/>
              <a:t>positive cash flow on this product within Y months.</a:t>
            </a:r>
          </a:p>
          <a:p>
            <a:r>
              <a:rPr lang="en-GB" dirty="0" smtClean="0"/>
              <a:t>Save </a:t>
            </a:r>
            <a:r>
              <a:rPr lang="en-GB" dirty="0"/>
              <a:t>$X per year currently spent on a high-maintenance legacy system.</a:t>
            </a:r>
          </a:p>
          <a:p>
            <a:r>
              <a:rPr lang="en-GB" dirty="0" smtClean="0"/>
              <a:t>Reduce </a:t>
            </a:r>
            <a:r>
              <a:rPr lang="en-GB" dirty="0"/>
              <a:t>monthly support costs from $X to $Y within Z months.</a:t>
            </a:r>
          </a:p>
          <a:p>
            <a:r>
              <a:rPr lang="en-GB" dirty="0" smtClean="0"/>
              <a:t>Increase </a:t>
            </a:r>
            <a:r>
              <a:rPr lang="en-GB" dirty="0"/>
              <a:t>gross margin on existing business from X% to Y% within 1 year.</a:t>
            </a:r>
          </a:p>
          <a:p>
            <a:pPr marL="0" indent="0">
              <a:buNone/>
            </a:pPr>
            <a:r>
              <a:rPr lang="en-US" dirty="0"/>
              <a:t>	</a:t>
            </a:r>
          </a:p>
          <a:p>
            <a:endParaRPr lang="en-US" dirty="0"/>
          </a:p>
        </p:txBody>
      </p:sp>
    </p:spTree>
    <p:extLst>
      <p:ext uri="{BB962C8B-B14F-4D97-AF65-F5344CB8AC3E}">
        <p14:creationId xmlns:p14="http://schemas.microsoft.com/office/powerpoint/2010/main" val="82263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Examples of </a:t>
            </a:r>
            <a:r>
              <a:rPr lang="en-GB" dirty="0" smtClean="0"/>
              <a:t>non-financial </a:t>
            </a:r>
            <a:r>
              <a:rPr lang="en-GB" dirty="0"/>
              <a:t>business objectives</a:t>
            </a:r>
            <a:endParaRPr lang="en-US" dirty="0"/>
          </a:p>
        </p:txBody>
      </p:sp>
      <p:sp>
        <p:nvSpPr>
          <p:cNvPr id="3" name="Content Placeholder 2"/>
          <p:cNvSpPr>
            <a:spLocks noGrp="1"/>
          </p:cNvSpPr>
          <p:nvPr>
            <p:ph idx="1"/>
          </p:nvPr>
        </p:nvSpPr>
        <p:spPr/>
        <p:txBody>
          <a:bodyPr>
            <a:normAutofit fontScale="70000" lnSpcReduction="20000"/>
          </a:bodyPr>
          <a:lstStyle/>
          <a:p>
            <a:endParaRPr lang="en-US" dirty="0"/>
          </a:p>
          <a:p>
            <a:endParaRPr lang="en-US" dirty="0"/>
          </a:p>
          <a:p>
            <a:r>
              <a:rPr lang="en-GB" dirty="0"/>
              <a:t>Achieve a customer satisfaction measure of at least </a:t>
            </a:r>
            <a:r>
              <a:rPr lang="en-GB" dirty="0" smtClean="0"/>
              <a:t>X </a:t>
            </a:r>
            <a:r>
              <a:rPr lang="en-GB" dirty="0"/>
              <a:t>within Y months of release.</a:t>
            </a:r>
          </a:p>
          <a:p>
            <a:r>
              <a:rPr lang="en-GB" dirty="0" smtClean="0"/>
              <a:t>Increase </a:t>
            </a:r>
            <a:r>
              <a:rPr lang="en-GB" dirty="0"/>
              <a:t>transaction-processing productivity by X% and reduce data error rate to no more than Y%.</a:t>
            </a:r>
          </a:p>
          <a:p>
            <a:r>
              <a:rPr lang="en-GB" dirty="0" smtClean="0"/>
              <a:t>Develop </a:t>
            </a:r>
            <a:r>
              <a:rPr lang="en-GB" dirty="0"/>
              <a:t>an extensible platform for a family of related products.</a:t>
            </a:r>
          </a:p>
          <a:p>
            <a:r>
              <a:rPr lang="en-GB" dirty="0" smtClean="0"/>
              <a:t>Develop </a:t>
            </a:r>
            <a:r>
              <a:rPr lang="en-GB" dirty="0"/>
              <a:t>specific core technology competencies.</a:t>
            </a:r>
          </a:p>
          <a:p>
            <a:r>
              <a:rPr lang="en-GB" dirty="0" smtClean="0"/>
              <a:t>Be </a:t>
            </a:r>
            <a:r>
              <a:rPr lang="en-GB" dirty="0"/>
              <a:t>rated as the top product for reliability in published product reviews by a specified date.</a:t>
            </a:r>
          </a:p>
          <a:p>
            <a:r>
              <a:rPr lang="en-GB" dirty="0" smtClean="0"/>
              <a:t>Comply </a:t>
            </a:r>
            <a:r>
              <a:rPr lang="en-GB" dirty="0"/>
              <a:t>with specific federal and state regulations.</a:t>
            </a:r>
          </a:p>
          <a:p>
            <a:r>
              <a:rPr lang="en-GB" dirty="0" smtClean="0"/>
              <a:t>Receive </a:t>
            </a:r>
            <a:r>
              <a:rPr lang="en-GB" dirty="0"/>
              <a:t>no more than X service calls per unit and Y warranty calls per unit within Z months after shipping.</a:t>
            </a:r>
          </a:p>
          <a:p>
            <a:r>
              <a:rPr lang="en-GB" dirty="0" smtClean="0"/>
              <a:t>Reduce </a:t>
            </a:r>
            <a:r>
              <a:rPr lang="en-GB" dirty="0"/>
              <a:t>turnaround time to X hours on Y% of support calls.</a:t>
            </a:r>
          </a:p>
          <a:p>
            <a:pPr marL="0" indent="0">
              <a:buNone/>
            </a:pPr>
            <a:r>
              <a:rPr lang="en-US" dirty="0"/>
              <a:t>	</a:t>
            </a:r>
          </a:p>
          <a:p>
            <a:endParaRPr lang="en-US" dirty="0"/>
          </a:p>
        </p:txBody>
      </p:sp>
    </p:spTree>
    <p:extLst>
      <p:ext uri="{BB962C8B-B14F-4D97-AF65-F5344CB8AC3E}">
        <p14:creationId xmlns:p14="http://schemas.microsoft.com/office/powerpoint/2010/main" val="4009274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Case study</a:t>
            </a:r>
            <a:endParaRPr lang="en-US" dirty="0"/>
          </a:p>
        </p:txBody>
      </p:sp>
      <p:sp>
        <p:nvSpPr>
          <p:cNvPr id="3" name="Content Placeholder 2"/>
          <p:cNvSpPr>
            <a:spLocks noGrp="1"/>
          </p:cNvSpPr>
          <p:nvPr>
            <p:ph idx="1"/>
          </p:nvPr>
        </p:nvSpPr>
        <p:spPr/>
        <p:txBody>
          <a:bodyPr/>
          <a:lstStyle/>
          <a:p>
            <a:r>
              <a:rPr lang="en-GB" i="1" dirty="0"/>
              <a:t>Gerhard, a senior manager at Contoso Pharmaceuticals, was meeting with Cynthia, the manager of Contoso’s IT department. “We need to build a chemical tracking information system,” Gerhard began. “The system should keep track of all the chemical containers we already have in the stockroom and in laboratories. That way, the chemists can get some chemicals from someone down the hall instead of always buying a new container. This should save us a lot of money. Also, the Health and Safety Department needs to generate government reports on chemical usage and disposal with a lot less work than it takes them today. Can you build this system in time for the compliance audit in five months?”</a:t>
            </a:r>
            <a:endParaRPr lang="en-US" dirty="0"/>
          </a:p>
        </p:txBody>
      </p:sp>
    </p:spTree>
    <p:extLst>
      <p:ext uri="{BB962C8B-B14F-4D97-AF65-F5344CB8AC3E}">
        <p14:creationId xmlns:p14="http://schemas.microsoft.com/office/powerpoint/2010/main" val="297764918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3500816" y="1825625"/>
            <a:ext cx="5190368" cy="4351338"/>
          </a:xfrm>
          <a:prstGeom prst="rect">
            <a:avLst/>
          </a:prstGeom>
        </p:spPr>
      </p:pic>
      <p:sp>
        <p:nvSpPr>
          <p:cNvPr id="3" name="Rectangle 2"/>
          <p:cNvSpPr/>
          <p:nvPr/>
        </p:nvSpPr>
        <p:spPr>
          <a:xfrm>
            <a:off x="3151031" y="6211669"/>
            <a:ext cx="6096000" cy="646331"/>
          </a:xfrm>
          <a:prstGeom prst="rect">
            <a:avLst/>
          </a:prstGeom>
        </p:spPr>
        <p:txBody>
          <a:bodyPr>
            <a:spAutoFit/>
          </a:bodyPr>
          <a:lstStyle/>
          <a:p>
            <a:r>
              <a:rPr lang="en-GB" dirty="0">
                <a:solidFill>
                  <a:srgbClr val="000000"/>
                </a:solidFill>
                <a:latin typeface="Segoe"/>
              </a:rPr>
              <a:t>Example of a conversation between a business analyst and an executive sponsor.</a:t>
            </a:r>
            <a:endParaRPr lang="en-US" dirty="0"/>
          </a:p>
        </p:txBody>
      </p:sp>
    </p:spTree>
    <p:extLst>
      <p:ext uri="{BB962C8B-B14F-4D97-AF65-F5344CB8AC3E}">
        <p14:creationId xmlns:p14="http://schemas.microsoft.com/office/powerpoint/2010/main" val="409069346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Hierarchy of business problems and objectives</a:t>
            </a:r>
            <a:endParaRPr lang="en-US" dirty="0"/>
          </a:p>
        </p:txBody>
      </p:sp>
      <p:sp>
        <p:nvSpPr>
          <p:cNvPr id="3" name="Content Placeholder 2"/>
          <p:cNvSpPr>
            <a:spLocks noGrp="1"/>
          </p:cNvSpPr>
          <p:nvPr>
            <p:ph idx="1"/>
          </p:nvPr>
        </p:nvSpPr>
        <p:spPr/>
        <p:txBody>
          <a:bodyPr>
            <a:normAutofit/>
          </a:bodyPr>
          <a:lstStyle/>
          <a:p>
            <a:r>
              <a:rPr lang="en-GB" dirty="0" smtClean="0"/>
              <a:t>Each business has certain goals.</a:t>
            </a:r>
          </a:p>
          <a:p>
            <a:r>
              <a:rPr lang="en-GB" dirty="0" smtClean="0"/>
              <a:t>The </a:t>
            </a:r>
            <a:r>
              <a:rPr lang="en-GB" dirty="0"/>
              <a:t>problems describe what is keeping the business from meeting their goals at present, whereas the objectives define ways to measure achievement of those goals</a:t>
            </a:r>
            <a:r>
              <a:rPr lang="en-GB" dirty="0" smtClean="0"/>
              <a:t>.</a:t>
            </a:r>
          </a:p>
          <a:p>
            <a:r>
              <a:rPr lang="en-GB" dirty="0"/>
              <a:t>A business objectives model shows a hierarchy of related business problems and measurable business objectives </a:t>
            </a:r>
            <a:r>
              <a:rPr lang="en-GB" dirty="0" smtClean="0"/>
              <a:t> </a:t>
            </a:r>
          </a:p>
        </p:txBody>
      </p:sp>
    </p:spTree>
    <p:extLst>
      <p:ext uri="{BB962C8B-B14F-4D97-AF65-F5344CB8AC3E}">
        <p14:creationId xmlns:p14="http://schemas.microsoft.com/office/powerpoint/2010/main" val="3064985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588655" y="0"/>
            <a:ext cx="6369855" cy="6117465"/>
          </a:xfrm>
          <a:prstGeom prst="rect">
            <a:avLst/>
          </a:prstGeom>
        </p:spPr>
      </p:pic>
      <p:sp>
        <p:nvSpPr>
          <p:cNvPr id="2" name="Rectangle 1"/>
          <p:cNvSpPr/>
          <p:nvPr/>
        </p:nvSpPr>
        <p:spPr>
          <a:xfrm>
            <a:off x="2379998" y="6211669"/>
            <a:ext cx="6787167" cy="646331"/>
          </a:xfrm>
          <a:prstGeom prst="rect">
            <a:avLst/>
          </a:prstGeom>
        </p:spPr>
        <p:txBody>
          <a:bodyPr wrap="square">
            <a:spAutoFit/>
          </a:bodyPr>
          <a:lstStyle/>
          <a:p>
            <a:r>
              <a:rPr lang="en-GB" dirty="0">
                <a:solidFill>
                  <a:srgbClr val="000000"/>
                </a:solidFill>
                <a:latin typeface="Segoe"/>
              </a:rPr>
              <a:t>Example business objectives model for the Chemical Tracking System.</a:t>
            </a:r>
            <a:endParaRPr lang="en-US" dirty="0"/>
          </a:p>
        </p:txBody>
      </p:sp>
    </p:spTree>
    <p:extLst>
      <p:ext uri="{BB962C8B-B14F-4D97-AF65-F5344CB8AC3E}">
        <p14:creationId xmlns:p14="http://schemas.microsoft.com/office/powerpoint/2010/main" val="197102468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GB" dirty="0" smtClean="0"/>
              <a:t>Given a set of business objectives, ask, “What is keeping us from achieving the goal?” to identify a more detailed business problem. Or work backward by asking, “Why do we care about that goal?” to better understand the top-level business problem or opportunity. Given a business problem, ask, “How will we assess whether the problem is solved?” to identify the measurable objective. The process is iterative, cycling through the hierarchy of problems and objectives until you see a list of features emerge that would help solve the problems and meet the objectives.</a:t>
            </a:r>
            <a:endParaRPr lang="en-US" dirty="0" smtClean="0"/>
          </a:p>
          <a:p>
            <a:endParaRPr lang="en-US" dirty="0"/>
          </a:p>
        </p:txBody>
      </p:sp>
    </p:spTree>
    <p:extLst>
      <p:ext uri="{BB962C8B-B14F-4D97-AF65-F5344CB8AC3E}">
        <p14:creationId xmlns:p14="http://schemas.microsoft.com/office/powerpoint/2010/main" val="3495267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1.4 Success Metrics</a:t>
            </a:r>
            <a:endParaRPr lang="en-US" dirty="0"/>
          </a:p>
        </p:txBody>
      </p:sp>
      <p:sp>
        <p:nvSpPr>
          <p:cNvPr id="3" name="Content Placeholder 2"/>
          <p:cNvSpPr>
            <a:spLocks noGrp="1"/>
          </p:cNvSpPr>
          <p:nvPr>
            <p:ph idx="1"/>
          </p:nvPr>
        </p:nvSpPr>
        <p:spPr/>
        <p:txBody>
          <a:bodyPr>
            <a:normAutofit fontScale="92500"/>
          </a:bodyPr>
          <a:lstStyle/>
          <a:p>
            <a:r>
              <a:rPr lang="en-GB" dirty="0"/>
              <a:t>Specify the indicators that stakeholders will use to define and measure success on this </a:t>
            </a:r>
            <a:r>
              <a:rPr lang="en-GB" dirty="0" smtClean="0"/>
              <a:t>project.</a:t>
            </a:r>
          </a:p>
          <a:p>
            <a:r>
              <a:rPr lang="en-GB" dirty="0"/>
              <a:t>Business objectives sometimes cannot be measured until well after a project is complete. </a:t>
            </a:r>
            <a:endParaRPr lang="en-GB" dirty="0" smtClean="0"/>
          </a:p>
          <a:p>
            <a:r>
              <a:rPr lang="en-GB" dirty="0" smtClean="0"/>
              <a:t>Achieving </a:t>
            </a:r>
            <a:r>
              <a:rPr lang="en-GB" dirty="0"/>
              <a:t>the business objectives might be dependent on projects beyond your current one. </a:t>
            </a:r>
            <a:endParaRPr lang="en-GB" dirty="0" smtClean="0"/>
          </a:p>
          <a:p>
            <a:r>
              <a:rPr lang="en-GB" dirty="0" smtClean="0"/>
              <a:t>However</a:t>
            </a:r>
            <a:r>
              <a:rPr lang="en-GB" dirty="0"/>
              <a:t>, it’s still important to evaluate the success of an individual project. </a:t>
            </a:r>
            <a:endParaRPr lang="en-GB" dirty="0" smtClean="0"/>
          </a:p>
          <a:p>
            <a:r>
              <a:rPr lang="en-GB" dirty="0" smtClean="0"/>
              <a:t>Success </a:t>
            </a:r>
            <a:r>
              <a:rPr lang="en-GB" dirty="0"/>
              <a:t>metrics indicate whether a project is on track to meet its business objectives. </a:t>
            </a:r>
            <a:endParaRPr lang="en-GB" dirty="0" smtClean="0"/>
          </a:p>
          <a:p>
            <a:r>
              <a:rPr lang="en-GB" dirty="0" smtClean="0"/>
              <a:t>The </a:t>
            </a:r>
            <a:r>
              <a:rPr lang="en-GB" dirty="0"/>
              <a:t>metrics can be tracked during testing or shortly after product release. </a:t>
            </a:r>
            <a:endParaRPr lang="en-US" dirty="0"/>
          </a:p>
        </p:txBody>
      </p:sp>
    </p:spTree>
    <p:extLst>
      <p:ext uri="{BB962C8B-B14F-4D97-AF65-F5344CB8AC3E}">
        <p14:creationId xmlns:p14="http://schemas.microsoft.com/office/powerpoint/2010/main" val="1519447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1.5 Vision Statement</a:t>
            </a:r>
            <a:endParaRPr lang="en-US" dirty="0"/>
          </a:p>
        </p:txBody>
      </p:sp>
      <p:sp>
        <p:nvSpPr>
          <p:cNvPr id="3" name="Content Placeholder 2"/>
          <p:cNvSpPr>
            <a:spLocks noGrp="1"/>
          </p:cNvSpPr>
          <p:nvPr>
            <p:ph idx="1"/>
          </p:nvPr>
        </p:nvSpPr>
        <p:spPr/>
        <p:txBody>
          <a:bodyPr>
            <a:normAutofit fontScale="77500" lnSpcReduction="20000"/>
          </a:bodyPr>
          <a:lstStyle/>
          <a:p>
            <a:r>
              <a:rPr lang="en-GB" dirty="0"/>
              <a:t>Write a concise vision statement that summarizes the long-term purpose and intent of the product. </a:t>
            </a:r>
            <a:endParaRPr lang="en-GB" dirty="0" smtClean="0"/>
          </a:p>
          <a:p>
            <a:r>
              <a:rPr lang="en-GB" dirty="0"/>
              <a:t>It can be somewhat idealistic but should be grounded in the realities of existing or anticipated markets, enterprise architectures, corporate strategic directions, and resource limitations. </a:t>
            </a:r>
            <a:endParaRPr lang="en-GB" dirty="0" smtClean="0"/>
          </a:p>
          <a:p>
            <a:endParaRPr lang="en-US" dirty="0"/>
          </a:p>
          <a:p>
            <a:r>
              <a:rPr lang="en-US" b="1" i="1" dirty="0"/>
              <a:t>For </a:t>
            </a:r>
            <a:r>
              <a:rPr lang="en-US" dirty="0"/>
              <a:t>[target customer]</a:t>
            </a:r>
          </a:p>
          <a:p>
            <a:r>
              <a:rPr lang="en-GB" b="1" i="1" dirty="0"/>
              <a:t>Who </a:t>
            </a:r>
            <a:r>
              <a:rPr lang="en-GB" dirty="0"/>
              <a:t>[statement of the need or opportunity]</a:t>
            </a:r>
          </a:p>
          <a:p>
            <a:r>
              <a:rPr lang="en-US" b="1" i="1" dirty="0"/>
              <a:t>The </a:t>
            </a:r>
            <a:r>
              <a:rPr lang="en-US" dirty="0"/>
              <a:t>[product name]</a:t>
            </a:r>
          </a:p>
          <a:p>
            <a:r>
              <a:rPr lang="en-US" b="1" i="1" dirty="0"/>
              <a:t>Is </a:t>
            </a:r>
            <a:r>
              <a:rPr lang="en-US" dirty="0"/>
              <a:t>[product category]</a:t>
            </a:r>
          </a:p>
          <a:p>
            <a:r>
              <a:rPr lang="en-GB" b="1" i="1" dirty="0"/>
              <a:t>That </a:t>
            </a:r>
            <a:r>
              <a:rPr lang="en-GB" dirty="0"/>
              <a:t>[major capabilities, key benefit, compelling reason to buy or use]</a:t>
            </a:r>
          </a:p>
          <a:p>
            <a:r>
              <a:rPr lang="en-GB" b="1" i="1" dirty="0"/>
              <a:t>Unlike </a:t>
            </a:r>
            <a:r>
              <a:rPr lang="en-GB" dirty="0"/>
              <a:t>[primary competitive alternative, current system, current business process]</a:t>
            </a:r>
          </a:p>
          <a:p>
            <a:r>
              <a:rPr lang="en-GB" b="1" i="1" dirty="0"/>
              <a:t>Our product </a:t>
            </a:r>
            <a:r>
              <a:rPr lang="en-GB" dirty="0"/>
              <a:t>[statement of primary differentiation and advantages of new product]</a:t>
            </a:r>
          </a:p>
          <a:p>
            <a:endParaRPr lang="en-US" dirty="0"/>
          </a:p>
        </p:txBody>
      </p:sp>
    </p:spTree>
    <p:extLst>
      <p:ext uri="{BB962C8B-B14F-4D97-AF65-F5344CB8AC3E}">
        <p14:creationId xmlns:p14="http://schemas.microsoft.com/office/powerpoint/2010/main" val="58056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GB" b="1" i="1" dirty="0"/>
              <a:t>For </a:t>
            </a:r>
            <a:r>
              <a:rPr lang="en-GB" i="1" dirty="0"/>
              <a:t>scientists </a:t>
            </a:r>
            <a:r>
              <a:rPr lang="en-GB" b="1" i="1" dirty="0"/>
              <a:t>who </a:t>
            </a:r>
            <a:r>
              <a:rPr lang="en-GB" i="1" dirty="0"/>
              <a:t>need to request containers of chemicals, </a:t>
            </a:r>
            <a:r>
              <a:rPr lang="en-GB" b="1" i="1" dirty="0"/>
              <a:t>the </a:t>
            </a:r>
            <a:r>
              <a:rPr lang="en-GB" i="1" dirty="0"/>
              <a:t>Chemical Tracking System </a:t>
            </a:r>
            <a:r>
              <a:rPr lang="en-GB" b="1" i="1" dirty="0"/>
              <a:t>is </a:t>
            </a:r>
            <a:r>
              <a:rPr lang="en-GB" i="1" dirty="0"/>
              <a:t>an information system </a:t>
            </a:r>
            <a:r>
              <a:rPr lang="en-GB" b="1" i="1" dirty="0"/>
              <a:t>that </a:t>
            </a:r>
            <a:r>
              <a:rPr lang="en-GB" i="1" dirty="0"/>
              <a:t>will provide a single point of access to the chemical stockroom and to vendors. The system will store the location of every chemical container within the company, the quantity of material remaining in it, and the complete history of each container’s locations and usage. This system will save the company 25 percent on chemical costs in the first year of use by allowing the company to fully exploit chemicals that are already available within the company, dispose of fewer partially used or expired containers, and use a standard chemical purchasing process. </a:t>
            </a:r>
            <a:r>
              <a:rPr lang="en-GB" b="1" i="1" dirty="0"/>
              <a:t>Unlike </a:t>
            </a:r>
            <a:r>
              <a:rPr lang="en-GB" i="1" dirty="0"/>
              <a:t>the current manual ordering processes, </a:t>
            </a:r>
            <a:r>
              <a:rPr lang="en-GB" b="1" i="1" dirty="0"/>
              <a:t>our product </a:t>
            </a:r>
            <a:r>
              <a:rPr lang="en-GB" i="1" dirty="0"/>
              <a:t>will generate all reports required to comply with federal and state government regulations that require the reporting of chemical usage, storage, and disposal.</a:t>
            </a:r>
            <a:endParaRPr lang="en-US" dirty="0"/>
          </a:p>
        </p:txBody>
      </p:sp>
    </p:spTree>
    <p:extLst>
      <p:ext uri="{BB962C8B-B14F-4D97-AF65-F5344CB8AC3E}">
        <p14:creationId xmlns:p14="http://schemas.microsoft.com/office/powerpoint/2010/main" val="1657941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1.6 </a:t>
            </a:r>
            <a:r>
              <a:rPr lang="en-US" b="1" dirty="0"/>
              <a:t>Business risks</a:t>
            </a:r>
            <a:endParaRPr lang="en-US" dirty="0"/>
          </a:p>
        </p:txBody>
      </p:sp>
      <p:sp>
        <p:nvSpPr>
          <p:cNvPr id="3" name="Content Placeholder 2"/>
          <p:cNvSpPr>
            <a:spLocks noGrp="1"/>
          </p:cNvSpPr>
          <p:nvPr>
            <p:ph idx="1"/>
          </p:nvPr>
        </p:nvSpPr>
        <p:spPr/>
        <p:txBody>
          <a:bodyPr/>
          <a:lstStyle/>
          <a:p>
            <a:r>
              <a:rPr lang="en-GB" dirty="0"/>
              <a:t>Summarize the major business risks associated with developing—or not developing—this product. Risk categories include marketplace competition, timing issues, user acceptance, implementation issues, and possible negative impacts on the business. </a:t>
            </a:r>
            <a:endParaRPr lang="en-GB" dirty="0" smtClean="0"/>
          </a:p>
          <a:p>
            <a:r>
              <a:rPr lang="en-GB" dirty="0"/>
              <a:t>Business risks are not the same as project risks, which often include resource availability concerns and technology factors. </a:t>
            </a:r>
            <a:endParaRPr lang="en-GB" dirty="0" smtClean="0"/>
          </a:p>
          <a:p>
            <a:r>
              <a:rPr lang="en-GB" dirty="0"/>
              <a:t>Estimate the potential loss from each risk, the likelihood of it occurring, and any potential mitigation actions </a:t>
            </a:r>
            <a:endParaRPr lang="en-US" dirty="0"/>
          </a:p>
        </p:txBody>
      </p:sp>
    </p:spTree>
    <p:extLst>
      <p:ext uri="{BB962C8B-B14F-4D97-AF65-F5344CB8AC3E}">
        <p14:creationId xmlns:p14="http://schemas.microsoft.com/office/powerpoint/2010/main" val="1651806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1.7 Business assumptions and dependencies</a:t>
            </a:r>
            <a:endParaRPr lang="en-US" dirty="0"/>
          </a:p>
        </p:txBody>
      </p:sp>
      <p:sp>
        <p:nvSpPr>
          <p:cNvPr id="3" name="Content Placeholder 2"/>
          <p:cNvSpPr>
            <a:spLocks noGrp="1"/>
          </p:cNvSpPr>
          <p:nvPr>
            <p:ph idx="1"/>
          </p:nvPr>
        </p:nvSpPr>
        <p:spPr/>
        <p:txBody>
          <a:bodyPr>
            <a:normAutofit fontScale="70000" lnSpcReduction="20000"/>
          </a:bodyPr>
          <a:lstStyle/>
          <a:p>
            <a:r>
              <a:rPr lang="en-GB" dirty="0"/>
              <a:t>An </a:t>
            </a:r>
            <a:r>
              <a:rPr lang="en-GB" i="1" dirty="0"/>
              <a:t>assumption </a:t>
            </a:r>
            <a:r>
              <a:rPr lang="en-GB" dirty="0"/>
              <a:t>is a statement that is believed to be true in the absence of proof or definitive knowledge. </a:t>
            </a:r>
            <a:endParaRPr lang="en-GB" dirty="0" smtClean="0"/>
          </a:p>
          <a:p>
            <a:r>
              <a:rPr lang="en-GB" dirty="0" smtClean="0"/>
              <a:t>Business </a:t>
            </a:r>
            <a:r>
              <a:rPr lang="en-GB" dirty="0"/>
              <a:t>assumptions are specifically related to the business requirements. </a:t>
            </a:r>
            <a:endParaRPr lang="en-GB" dirty="0" smtClean="0"/>
          </a:p>
          <a:p>
            <a:r>
              <a:rPr lang="en-GB" dirty="0"/>
              <a:t>If you learn that certain assumptions are wrong, you might have to change scope, adjust the schedule, or launch other projects to achieve the objectives.</a:t>
            </a:r>
          </a:p>
          <a:p>
            <a:r>
              <a:rPr lang="en-GB" dirty="0"/>
              <a:t>Record any assumptions that the stakeholders made when conceiving the project and writing their vision and scope document. Often, one party’s assumptions are not shared by others. If you write them down and review them, you can avoid possible confusion and aggravation in the future.</a:t>
            </a:r>
          </a:p>
          <a:p>
            <a:r>
              <a:rPr lang="en-GB" dirty="0"/>
              <a:t>Record any major </a:t>
            </a:r>
            <a:r>
              <a:rPr lang="en-GB" b="1" dirty="0"/>
              <a:t>dependencies</a:t>
            </a:r>
            <a:r>
              <a:rPr lang="en-GB" dirty="0"/>
              <a:t> the project has on external factors. Examples are pending industry standards or government regulations, deliverables from other projects, third-party suppliers, or development partners. </a:t>
            </a:r>
            <a:endParaRPr lang="en-GB" dirty="0" smtClean="0"/>
          </a:p>
          <a:p>
            <a:r>
              <a:rPr lang="en-GB" dirty="0" smtClean="0"/>
              <a:t>Some </a:t>
            </a:r>
            <a:r>
              <a:rPr lang="en-GB" dirty="0"/>
              <a:t>business assumptions and dependencies might turn into risks that the project manager must monitor regularly. Broken dependencies are a common source of project delays. Note the impact of an assumption not being true, or the impact of a broken dependency, to help stakeholders understand why it is critical.</a:t>
            </a:r>
            <a:endParaRPr lang="en-US" dirty="0"/>
          </a:p>
        </p:txBody>
      </p:sp>
    </p:spTree>
    <p:extLst>
      <p:ext uri="{BB962C8B-B14F-4D97-AF65-F5344CB8AC3E}">
        <p14:creationId xmlns:p14="http://schemas.microsoft.com/office/powerpoint/2010/main" val="3970059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745</TotalTime>
  <Words>2094</Words>
  <Application>Microsoft Office PowerPoint</Application>
  <PresentationFormat>Widescreen</PresentationFormat>
  <Paragraphs>132</Paragraphs>
  <Slides>26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Calibri</vt:lpstr>
      <vt:lpstr>Calibri Light</vt:lpstr>
      <vt:lpstr>Segoe</vt:lpstr>
      <vt:lpstr>Office Theme</vt:lpstr>
      <vt:lpstr>Software Requirements Engineering</vt:lpstr>
      <vt:lpstr>Establishing business requirements</vt:lpstr>
      <vt:lpstr>Defining business requirements</vt:lpstr>
      <vt:lpstr>Benefits of identifying business requirements</vt:lpstr>
      <vt:lpstr>Product Vision and Project Scope </vt:lpstr>
      <vt:lpstr>Product Vision and Project Scope </vt:lpstr>
      <vt:lpstr>Conflicting Business Requirements</vt:lpstr>
      <vt:lpstr>PowerPoint Presentation</vt:lpstr>
      <vt:lpstr>PowerPoint Presentation</vt:lpstr>
      <vt:lpstr>Vision and scope document </vt:lpstr>
      <vt:lpstr>Vision and Scope document</vt:lpstr>
      <vt:lpstr>Template of Vision and Scope document</vt:lpstr>
      <vt:lpstr>1. Business requirements</vt:lpstr>
      <vt:lpstr>1. Business Requirements 1.3 Business Objectives</vt:lpstr>
      <vt:lpstr>Examples of financial business objectives</vt:lpstr>
      <vt:lpstr>Examples of non-financial business objectives</vt:lpstr>
      <vt:lpstr>Case study</vt:lpstr>
      <vt:lpstr>PowerPoint Presentation</vt:lpstr>
      <vt:lpstr>Hierarchy of business problems and objectives</vt:lpstr>
      <vt:lpstr>PowerPoint Presentation</vt:lpstr>
      <vt:lpstr>PowerPoint Presentation</vt:lpstr>
      <vt:lpstr>1.4 Success Metrics</vt:lpstr>
      <vt:lpstr>1.5 Vision Statement</vt:lpstr>
      <vt:lpstr>PowerPoint Presentation</vt:lpstr>
      <vt:lpstr>1.6 Business risks</vt:lpstr>
      <vt:lpstr>1.7 Business assumptions and dependencies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Sara Qasim</dc:creator>
  <cp:lastModifiedBy>Sara Qasim</cp:lastModifiedBy>
  <cp:revision>33</cp:revision>
  <dcterms:created xsi:type="dcterms:W3CDTF">2020-09-16T03:23:18Z</dcterms:created>
  <dcterms:modified xsi:type="dcterms:W3CDTF">2020-09-23T10:33:31Z</dcterms:modified>
</cp:coreProperties>
</file>