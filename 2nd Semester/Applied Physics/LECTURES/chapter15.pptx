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86"/>
  </p:notesMasterIdLst>
  <p:sldIdLst>
    <p:sldId id="256" r:id="rId2"/>
    <p:sldId id="323" r:id="rId3"/>
    <p:sldId id="257" r:id="rId4"/>
    <p:sldId id="344" r:id="rId5"/>
    <p:sldId id="347" r:id="rId6"/>
    <p:sldId id="258" r:id="rId7"/>
    <p:sldId id="259" r:id="rId8"/>
    <p:sldId id="260" r:id="rId9"/>
    <p:sldId id="263" r:id="rId10"/>
    <p:sldId id="265" r:id="rId11"/>
    <p:sldId id="348" r:id="rId12"/>
    <p:sldId id="270" r:id="rId13"/>
    <p:sldId id="272" r:id="rId14"/>
    <p:sldId id="274" r:id="rId15"/>
    <p:sldId id="278" r:id="rId16"/>
    <p:sldId id="279" r:id="rId17"/>
    <p:sldId id="331" r:id="rId18"/>
    <p:sldId id="350" r:id="rId19"/>
    <p:sldId id="349" r:id="rId20"/>
    <p:sldId id="351" r:id="rId21"/>
    <p:sldId id="327" r:id="rId22"/>
    <p:sldId id="329" r:id="rId23"/>
    <p:sldId id="352" r:id="rId24"/>
    <p:sldId id="353" r:id="rId25"/>
    <p:sldId id="354" r:id="rId26"/>
    <p:sldId id="355" r:id="rId27"/>
    <p:sldId id="356" r:id="rId28"/>
    <p:sldId id="357" r:id="rId29"/>
    <p:sldId id="358" r:id="rId30"/>
    <p:sldId id="359" r:id="rId31"/>
    <p:sldId id="360" r:id="rId32"/>
    <p:sldId id="361" r:id="rId33"/>
    <p:sldId id="343" r:id="rId34"/>
    <p:sldId id="283" r:id="rId35"/>
    <p:sldId id="362" r:id="rId36"/>
    <p:sldId id="285" r:id="rId37"/>
    <p:sldId id="284" r:id="rId38"/>
    <p:sldId id="286" r:id="rId39"/>
    <p:sldId id="324" r:id="rId40"/>
    <p:sldId id="363" r:id="rId41"/>
    <p:sldId id="364" r:id="rId42"/>
    <p:sldId id="365" r:id="rId43"/>
    <p:sldId id="288" r:id="rId44"/>
    <p:sldId id="289" r:id="rId45"/>
    <p:sldId id="290" r:id="rId46"/>
    <p:sldId id="292" r:id="rId47"/>
    <p:sldId id="293" r:id="rId48"/>
    <p:sldId id="332" r:id="rId49"/>
    <p:sldId id="367" r:id="rId50"/>
    <p:sldId id="366" r:id="rId51"/>
    <p:sldId id="295" r:id="rId52"/>
    <p:sldId id="296" r:id="rId53"/>
    <p:sldId id="298" r:id="rId54"/>
    <p:sldId id="299" r:id="rId55"/>
    <p:sldId id="342" r:id="rId56"/>
    <p:sldId id="301" r:id="rId57"/>
    <p:sldId id="368" r:id="rId58"/>
    <p:sldId id="302" r:id="rId59"/>
    <p:sldId id="303" r:id="rId60"/>
    <p:sldId id="304" r:id="rId61"/>
    <p:sldId id="369" r:id="rId62"/>
    <p:sldId id="373" r:id="rId63"/>
    <p:sldId id="306" r:id="rId64"/>
    <p:sldId id="370" r:id="rId65"/>
    <p:sldId id="308" r:id="rId66"/>
    <p:sldId id="310" r:id="rId67"/>
    <p:sldId id="375" r:id="rId68"/>
    <p:sldId id="311" r:id="rId69"/>
    <p:sldId id="313" r:id="rId70"/>
    <p:sldId id="309" r:id="rId71"/>
    <p:sldId id="314" r:id="rId72"/>
    <p:sldId id="315" r:id="rId73"/>
    <p:sldId id="334" r:id="rId74"/>
    <p:sldId id="318" r:id="rId75"/>
    <p:sldId id="319" r:id="rId76"/>
    <p:sldId id="321" r:id="rId77"/>
    <p:sldId id="371" r:id="rId78"/>
    <p:sldId id="380" r:id="rId79"/>
    <p:sldId id="379" r:id="rId80"/>
    <p:sldId id="378" r:id="rId81"/>
    <p:sldId id="377" r:id="rId82"/>
    <p:sldId id="376" r:id="rId83"/>
    <p:sldId id="372" r:id="rId84"/>
    <p:sldId id="374" r:id="rId85"/>
  </p:sldIdLst>
  <p:sldSz cx="11430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S PGothic" pitchFamily="34" charset="-128"/>
        <a:cs typeface="+mn-cs"/>
      </a:defRPr>
    </a:lvl1pPr>
    <a:lvl2pPr marL="457200" algn="l" rtl="0" fontAlgn="base">
      <a:spcBef>
        <a:spcPct val="0"/>
      </a:spcBef>
      <a:spcAft>
        <a:spcPct val="0"/>
      </a:spcAft>
      <a:defRPr kern="1200">
        <a:solidFill>
          <a:schemeClr val="tx1"/>
        </a:solidFill>
        <a:latin typeface="Arial" charset="0"/>
        <a:ea typeface="MS PGothic" pitchFamily="34" charset="-128"/>
        <a:cs typeface="+mn-cs"/>
      </a:defRPr>
    </a:lvl2pPr>
    <a:lvl3pPr marL="914400" algn="l" rtl="0" fontAlgn="base">
      <a:spcBef>
        <a:spcPct val="0"/>
      </a:spcBef>
      <a:spcAft>
        <a:spcPct val="0"/>
      </a:spcAft>
      <a:defRPr kern="1200">
        <a:solidFill>
          <a:schemeClr val="tx1"/>
        </a:solidFill>
        <a:latin typeface="Arial" charset="0"/>
        <a:ea typeface="MS PGothic" pitchFamily="34" charset="-128"/>
        <a:cs typeface="+mn-cs"/>
      </a:defRPr>
    </a:lvl3pPr>
    <a:lvl4pPr marL="1371600" algn="l" rtl="0" fontAlgn="base">
      <a:spcBef>
        <a:spcPct val="0"/>
      </a:spcBef>
      <a:spcAft>
        <a:spcPct val="0"/>
      </a:spcAft>
      <a:defRPr kern="1200">
        <a:solidFill>
          <a:schemeClr val="tx1"/>
        </a:solidFill>
        <a:latin typeface="Arial" charset="0"/>
        <a:ea typeface="MS PGothic" pitchFamily="34" charset="-128"/>
        <a:cs typeface="+mn-cs"/>
      </a:defRPr>
    </a:lvl4pPr>
    <a:lvl5pPr marL="1828800" algn="l" rtl="0" fontAlgn="base">
      <a:spcBef>
        <a:spcPct val="0"/>
      </a:spcBef>
      <a:spcAft>
        <a:spcPct val="0"/>
      </a:spcAft>
      <a:defRPr kern="1200">
        <a:solidFill>
          <a:schemeClr val="tx1"/>
        </a:solidFill>
        <a:latin typeface="Arial" charset="0"/>
        <a:ea typeface="MS PGothic" pitchFamily="34" charset="-128"/>
        <a:cs typeface="+mn-cs"/>
      </a:defRPr>
    </a:lvl5pPr>
    <a:lvl6pPr marL="2286000" algn="l" defTabSz="914400" rtl="0" eaLnBrk="1" latinLnBrk="0" hangingPunct="1">
      <a:defRPr kern="1200">
        <a:solidFill>
          <a:schemeClr val="tx1"/>
        </a:solidFill>
        <a:latin typeface="Arial" charset="0"/>
        <a:ea typeface="MS PGothic" pitchFamily="34" charset="-128"/>
        <a:cs typeface="+mn-cs"/>
      </a:defRPr>
    </a:lvl6pPr>
    <a:lvl7pPr marL="2743200" algn="l" defTabSz="914400" rtl="0" eaLnBrk="1" latinLnBrk="0" hangingPunct="1">
      <a:defRPr kern="1200">
        <a:solidFill>
          <a:schemeClr val="tx1"/>
        </a:solidFill>
        <a:latin typeface="Arial" charset="0"/>
        <a:ea typeface="MS PGothic" pitchFamily="34" charset="-128"/>
        <a:cs typeface="+mn-cs"/>
      </a:defRPr>
    </a:lvl7pPr>
    <a:lvl8pPr marL="3200400" algn="l" defTabSz="914400" rtl="0" eaLnBrk="1" latinLnBrk="0" hangingPunct="1">
      <a:defRPr kern="1200">
        <a:solidFill>
          <a:schemeClr val="tx1"/>
        </a:solidFill>
        <a:latin typeface="Arial" charset="0"/>
        <a:ea typeface="MS PGothic" pitchFamily="34" charset="-128"/>
        <a:cs typeface="+mn-cs"/>
      </a:defRPr>
    </a:lvl8pPr>
    <a:lvl9pPr marL="3657600" algn="l" defTabSz="914400" rtl="0" eaLnBrk="1" latinLnBrk="0" hangingPunct="1">
      <a:defRPr kern="1200">
        <a:solidFill>
          <a:schemeClr val="tx1"/>
        </a:solidFill>
        <a:latin typeface="Arial"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7" autoAdjust="0"/>
    <p:restoredTop sz="94664" autoAdjust="0"/>
  </p:normalViewPr>
  <p:slideViewPr>
    <p:cSldViewPr>
      <p:cViewPr varScale="1">
        <p:scale>
          <a:sx n="51" d="100"/>
          <a:sy n="51" d="100"/>
        </p:scale>
        <p:origin x="-888" y="-77"/>
      </p:cViewPr>
      <p:guideLst>
        <p:guide orient="horz" pos="2160"/>
        <p:guide pos="36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11" Type="http://schemas.openxmlformats.org/officeDocument/2006/relationships/image" Target="../media/image30.wmf"/><Relationship Id="rId5" Type="http://schemas.openxmlformats.org/officeDocument/2006/relationships/image" Target="../media/image24.wmf"/><Relationship Id="rId10" Type="http://schemas.openxmlformats.org/officeDocument/2006/relationships/image" Target="../media/image29.wmf"/><Relationship Id="rId4" Type="http://schemas.openxmlformats.org/officeDocument/2006/relationships/image" Target="../media/image23.wmf"/><Relationship Id="rId9"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image" Target="../media/image4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4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50.wmf"/><Relationship Id="rId1" Type="http://schemas.openxmlformats.org/officeDocument/2006/relationships/image" Target="../media/image35.wmf"/><Relationship Id="rId4"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5" Type="http://schemas.openxmlformats.org/officeDocument/2006/relationships/image" Target="../media/image69.wmf"/><Relationship Id="rId4"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2.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4"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6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4" Type="http://schemas.openxmlformats.org/officeDocument/2006/relationships/image" Target="../media/image8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5" Type="http://schemas.openxmlformats.org/officeDocument/2006/relationships/image" Target="../media/image95.wmf"/><Relationship Id="rId4" Type="http://schemas.openxmlformats.org/officeDocument/2006/relationships/image" Target="../media/image94.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image" Target="../media/image108.wmf"/><Relationship Id="rId3" Type="http://schemas.openxmlformats.org/officeDocument/2006/relationships/image" Target="../media/image98.wmf"/><Relationship Id="rId7" Type="http://schemas.openxmlformats.org/officeDocument/2006/relationships/image" Target="../media/image102.wmf"/><Relationship Id="rId12" Type="http://schemas.openxmlformats.org/officeDocument/2006/relationships/image" Target="../media/image107.wmf"/><Relationship Id="rId2" Type="http://schemas.openxmlformats.org/officeDocument/2006/relationships/image" Target="../media/image97.wmf"/><Relationship Id="rId1" Type="http://schemas.openxmlformats.org/officeDocument/2006/relationships/image" Target="../media/image96.wmf"/><Relationship Id="rId6" Type="http://schemas.openxmlformats.org/officeDocument/2006/relationships/image" Target="../media/image101.wmf"/><Relationship Id="rId11" Type="http://schemas.openxmlformats.org/officeDocument/2006/relationships/image" Target="../media/image106.wmf"/><Relationship Id="rId5" Type="http://schemas.openxmlformats.org/officeDocument/2006/relationships/image" Target="../media/image100.wmf"/><Relationship Id="rId10" Type="http://schemas.openxmlformats.org/officeDocument/2006/relationships/image" Target="../media/image105.wmf"/><Relationship Id="rId4" Type="http://schemas.openxmlformats.org/officeDocument/2006/relationships/image" Target="../media/image99.wmf"/><Relationship Id="rId9"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10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 Id="rId5" Type="http://schemas.openxmlformats.org/officeDocument/2006/relationships/image" Target="../media/image114.wmf"/><Relationship Id="rId4" Type="http://schemas.openxmlformats.org/officeDocument/2006/relationships/image" Target="../media/image11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38.wmf"/><Relationship Id="rId1" Type="http://schemas.openxmlformats.org/officeDocument/2006/relationships/image" Target="../media/image137.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142.wmf"/><Relationship Id="rId1" Type="http://schemas.openxmlformats.org/officeDocument/2006/relationships/image" Target="../media/image141.wmf"/><Relationship Id="rId5" Type="http://schemas.openxmlformats.org/officeDocument/2006/relationships/image" Target="../media/image138.wmf"/><Relationship Id="rId4" Type="http://schemas.openxmlformats.org/officeDocument/2006/relationships/image" Target="../media/image33.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150.wmf"/><Relationship Id="rId1" Type="http://schemas.openxmlformats.org/officeDocument/2006/relationships/image" Target="../media/image149.wmf"/><Relationship Id="rId4" Type="http://schemas.openxmlformats.org/officeDocument/2006/relationships/image" Target="../media/image14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 Id="rId5" Type="http://schemas.openxmlformats.org/officeDocument/2006/relationships/image" Target="../media/image167.wmf"/><Relationship Id="rId4" Type="http://schemas.openxmlformats.org/officeDocument/2006/relationships/image" Target="../media/image16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image" Target="../media/image172.wmf"/><Relationship Id="rId7" Type="http://schemas.openxmlformats.org/officeDocument/2006/relationships/image" Target="../media/image176.wmf"/><Relationship Id="rId2" Type="http://schemas.openxmlformats.org/officeDocument/2006/relationships/image" Target="../media/image171.wmf"/><Relationship Id="rId1" Type="http://schemas.openxmlformats.org/officeDocument/2006/relationships/image" Target="../media/image170.wmf"/><Relationship Id="rId6" Type="http://schemas.openxmlformats.org/officeDocument/2006/relationships/image" Target="../media/image175.wmf"/><Relationship Id="rId11" Type="http://schemas.openxmlformats.org/officeDocument/2006/relationships/image" Target="../media/image180.wmf"/><Relationship Id="rId5" Type="http://schemas.openxmlformats.org/officeDocument/2006/relationships/image" Target="../media/image174.wmf"/><Relationship Id="rId10" Type="http://schemas.openxmlformats.org/officeDocument/2006/relationships/image" Target="../media/image179.wmf"/><Relationship Id="rId4" Type="http://schemas.openxmlformats.org/officeDocument/2006/relationships/image" Target="../media/image173.wmf"/><Relationship Id="rId9" Type="http://schemas.openxmlformats.org/officeDocument/2006/relationships/image" Target="../media/image17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83.wmf"/><Relationship Id="rId1" Type="http://schemas.openxmlformats.org/officeDocument/2006/relationships/image" Target="../media/image182.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85.wmf"/><Relationship Id="rId1" Type="http://schemas.openxmlformats.org/officeDocument/2006/relationships/image" Target="../media/image18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8.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91.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9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ＭＳ Ｐゴシック" pitchFamily="80" charset="-128"/>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ea typeface="ＭＳ Ｐゴシック" pitchFamily="80" charset="-128"/>
              </a:defRPr>
            </a:lvl1pPr>
          </a:lstStyle>
          <a:p>
            <a:pPr>
              <a:defRPr/>
            </a:pPr>
            <a:fld id="{65AEB2F2-DCD7-4C8D-8ECD-D37D9EE172A3}" type="datetimeFigureOut">
              <a:rPr lang="en-US"/>
              <a:pPr>
                <a:defRPr/>
              </a:pPr>
              <a:t>29-Apr-20</a:t>
            </a:fld>
            <a:endParaRPr lang="en-US"/>
          </a:p>
        </p:txBody>
      </p:sp>
      <p:sp>
        <p:nvSpPr>
          <p:cNvPr id="4" name="Slide Image Placeholder 3"/>
          <p:cNvSpPr>
            <a:spLocks noGrp="1" noRot="1" noChangeAspect="1"/>
          </p:cNvSpPr>
          <p:nvPr>
            <p:ph type="sldImg" idx="2"/>
          </p:nvPr>
        </p:nvSpPr>
        <p:spPr>
          <a:xfrm>
            <a:off x="571500" y="685800"/>
            <a:ext cx="5715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ea typeface="ＭＳ Ｐゴシック" pitchFamily="80" charset="-128"/>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ea typeface="ＭＳ Ｐゴシック" pitchFamily="80" charset="-128"/>
              </a:defRPr>
            </a:lvl1pPr>
          </a:lstStyle>
          <a:p>
            <a:pPr>
              <a:defRPr/>
            </a:pPr>
            <a:fld id="{5662081B-B3CE-4F7E-B50B-C67915453963}" type="slidenum">
              <a:rPr lang="en-US"/>
              <a:pPr>
                <a:defRPr/>
              </a:pPr>
              <a:t>‹#›</a:t>
            </a:fld>
            <a:endParaRPr lang="en-US"/>
          </a:p>
        </p:txBody>
      </p:sp>
    </p:spTree>
    <p:extLst>
      <p:ext uri="{BB962C8B-B14F-4D97-AF65-F5344CB8AC3E}">
        <p14:creationId xmlns:p14="http://schemas.microsoft.com/office/powerpoint/2010/main" val="34015796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478D94A-1B16-4550-8DAD-BA89896FC31B}" type="slidenum">
              <a:rPr lang="en-US" altLang="en-US" smtClean="0">
                <a:latin typeface="Arial" charset="0"/>
                <a:ea typeface="MS PGothic" pitchFamily="34" charset="-128"/>
              </a:rPr>
              <a:pPr eaLnBrk="1" hangingPunct="1">
                <a:spcBef>
                  <a:spcPct val="0"/>
                </a:spcBef>
              </a:pPr>
              <a:t>1</a:t>
            </a:fld>
            <a:endParaRPr lang="en-US" altLang="en-US" smtClean="0">
              <a:latin typeface="Arial" charset="0"/>
              <a:ea typeface="MS PGothic"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D64B191-9CF2-49EA-9F5A-1A064A1A84E1}" type="slidenum">
              <a:rPr lang="en-US" altLang="en-US" smtClean="0">
                <a:latin typeface="Arial" charset="0"/>
                <a:ea typeface="MS PGothic" pitchFamily="34" charset="-128"/>
              </a:rPr>
              <a:pPr eaLnBrk="1" hangingPunct="1">
                <a:spcBef>
                  <a:spcPct val="0"/>
                </a:spcBef>
              </a:pPr>
              <a:t>2</a:t>
            </a:fld>
            <a:endParaRPr lang="en-US" altLang="en-US" smtClean="0">
              <a:latin typeface="Arial" charset="0"/>
              <a:ea typeface="MS PGothic"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70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C47FDE6-F568-4B76-8043-D857DBCAE5E3}" type="slidenum">
              <a:rPr lang="en-US" altLang="en-US" smtClean="0">
                <a:latin typeface="Arial" charset="0"/>
                <a:ea typeface="MS PGothic" pitchFamily="34" charset="-128"/>
              </a:rPr>
              <a:pPr eaLnBrk="1" hangingPunct="1">
                <a:spcBef>
                  <a:spcPct val="0"/>
                </a:spcBef>
              </a:pPr>
              <a:t>3</a:t>
            </a:fld>
            <a:endParaRPr lang="en-US" altLang="en-US" smtClean="0">
              <a:latin typeface="Arial" charset="0"/>
              <a:ea typeface="MS PGothic"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ACCE005-ED38-46FF-8D45-8B0E2A75BAFF}" type="slidenum">
              <a:rPr lang="en-US" altLang="en-US" smtClean="0">
                <a:latin typeface="Arial" charset="0"/>
                <a:ea typeface="MS PGothic" pitchFamily="34" charset="-128"/>
              </a:rPr>
              <a:pPr eaLnBrk="1" hangingPunct="1">
                <a:spcBef>
                  <a:spcPct val="0"/>
                </a:spcBef>
              </a:pPr>
              <a:t>4</a:t>
            </a:fld>
            <a:endParaRPr lang="en-US" altLang="en-US" smtClean="0">
              <a:latin typeface="Arial" charset="0"/>
              <a:ea typeface="MS PGothic"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89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F5AD70A-4B10-4DD7-B7AD-058410B54568}" type="slidenum">
              <a:rPr lang="en-US" altLang="en-US" smtClean="0">
                <a:latin typeface="Arial" charset="0"/>
                <a:ea typeface="MS PGothic" pitchFamily="34" charset="-128"/>
              </a:rPr>
              <a:pPr eaLnBrk="1" hangingPunct="1">
                <a:spcBef>
                  <a:spcPct val="0"/>
                </a:spcBef>
              </a:pPr>
              <a:t>5</a:t>
            </a:fld>
            <a:endParaRPr lang="en-US" altLang="en-US" smtClean="0">
              <a:latin typeface="Arial" charset="0"/>
              <a:ea typeface="MS PGothic"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C38960A-7CCC-4E98-AA95-430DFC7D8392}" type="slidenum">
              <a:rPr lang="en-US" altLang="en-US" smtClean="0">
                <a:latin typeface="Arial" charset="0"/>
                <a:ea typeface="MS PGothic" pitchFamily="34" charset="-128"/>
              </a:rPr>
              <a:pPr eaLnBrk="1" hangingPunct="1">
                <a:spcBef>
                  <a:spcPct val="0"/>
                </a:spcBef>
              </a:pPr>
              <a:t>6</a:t>
            </a:fld>
            <a:endParaRPr lang="en-US" altLang="en-US" smtClean="0">
              <a:latin typeface="Arial" charset="0"/>
              <a:ea typeface="MS PGothic"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1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6B6208A-41AD-4619-9E67-682FAD8E0620}" type="slidenum">
              <a:rPr lang="en-US" altLang="en-US" smtClean="0">
                <a:latin typeface="Arial" charset="0"/>
                <a:ea typeface="MS PGothic" pitchFamily="34" charset="-128"/>
              </a:rPr>
              <a:pPr eaLnBrk="1" hangingPunct="1">
                <a:spcBef>
                  <a:spcPct val="0"/>
                </a:spcBef>
              </a:pPr>
              <a:t>7</a:t>
            </a:fld>
            <a:endParaRPr lang="en-US" altLang="en-US" smtClean="0">
              <a:latin typeface="Arial" charset="0"/>
              <a:ea typeface="MS PGothic"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562B3AB-D392-44A3-B868-7376A122CF88}" type="slidenum">
              <a:rPr lang="en-US" altLang="en-US" smtClean="0">
                <a:latin typeface="Arial" charset="0"/>
                <a:ea typeface="MS PGothic" pitchFamily="34" charset="-128"/>
              </a:rPr>
              <a:pPr eaLnBrk="1" hangingPunct="1">
                <a:spcBef>
                  <a:spcPct val="0"/>
                </a:spcBef>
              </a:pPr>
              <a:t>8</a:t>
            </a:fld>
            <a:endParaRPr lang="en-US" altLang="en-US" smtClean="0">
              <a:latin typeface="Arial" charset="0"/>
              <a:ea typeface="MS PGothic"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31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A2E8E71-5496-42EE-A102-2F6E0D350343}" type="slidenum">
              <a:rPr lang="en-US" altLang="en-US" smtClean="0">
                <a:latin typeface="Arial" charset="0"/>
                <a:ea typeface="MS PGothic" pitchFamily="34" charset="-128"/>
              </a:rPr>
              <a:pPr eaLnBrk="1" hangingPunct="1">
                <a:spcBef>
                  <a:spcPct val="0"/>
                </a:spcBef>
              </a:pPr>
              <a:t>9</a:t>
            </a:fld>
            <a:endParaRPr lang="en-US" altLang="en-US" smtClean="0">
              <a:latin typeface="Arial" charset="0"/>
              <a:ea typeface="MS PGothic"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4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3060B35-29E1-4AEA-93B4-BFF278AA03DC}" type="slidenum">
              <a:rPr lang="en-US" altLang="en-US" smtClean="0">
                <a:latin typeface="Arial" charset="0"/>
                <a:ea typeface="MS PGothic" pitchFamily="34" charset="-128"/>
              </a:rPr>
              <a:pPr eaLnBrk="1" hangingPunct="1">
                <a:spcBef>
                  <a:spcPct val="0"/>
                </a:spcBef>
              </a:pPr>
              <a:t>10</a:t>
            </a:fld>
            <a:endParaRPr lang="en-US" altLang="en-US" smtClean="0">
              <a:latin typeface="Arial" charset="0"/>
              <a:ea typeface="MS PGothic"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45288A2-2597-4FB8-B45F-5066C09BBDB8}" type="slidenum">
              <a:rPr lang="en-US" altLang="en-US" smtClean="0">
                <a:latin typeface="Arial" charset="0"/>
                <a:ea typeface="MS PGothic" pitchFamily="34" charset="-128"/>
              </a:rPr>
              <a:pPr eaLnBrk="1" hangingPunct="1">
                <a:spcBef>
                  <a:spcPct val="0"/>
                </a:spcBef>
              </a:pPr>
              <a:t>11</a:t>
            </a:fld>
            <a:endParaRPr lang="en-US" altLang="en-US" smtClean="0">
              <a:latin typeface="Arial" charset="0"/>
              <a:ea typeface="MS PGothic"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C98BA00-30E4-4DDA-B30F-FD768C20C9AB}" type="slidenum">
              <a:rPr lang="en-US" altLang="en-US" smtClean="0">
                <a:latin typeface="Arial" charset="0"/>
                <a:ea typeface="MS PGothic" pitchFamily="34" charset="-128"/>
              </a:rPr>
              <a:pPr eaLnBrk="1" hangingPunct="1">
                <a:spcBef>
                  <a:spcPct val="0"/>
                </a:spcBef>
              </a:pPr>
              <a:t>12</a:t>
            </a:fld>
            <a:endParaRPr lang="en-US" altLang="en-US" smtClean="0">
              <a:latin typeface="Arial" charset="0"/>
              <a:ea typeface="MS PGothic"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65C71E4-36BA-4F9F-B262-B227BD2FA3C7}" type="slidenum">
              <a:rPr lang="en-US" altLang="en-US" smtClean="0">
                <a:latin typeface="Arial" charset="0"/>
                <a:ea typeface="MS PGothic" pitchFamily="34" charset="-128"/>
              </a:rPr>
              <a:pPr eaLnBrk="1" hangingPunct="1">
                <a:spcBef>
                  <a:spcPct val="0"/>
                </a:spcBef>
              </a:pPr>
              <a:t>13</a:t>
            </a:fld>
            <a:endParaRPr lang="en-US" altLang="en-US" smtClean="0">
              <a:latin typeface="Arial" charset="0"/>
              <a:ea typeface="MS PGothic"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98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2C3125E-586C-4915-AAF9-EF1761FAF811}" type="slidenum">
              <a:rPr lang="en-US" altLang="en-US" smtClean="0">
                <a:latin typeface="Arial" charset="0"/>
                <a:ea typeface="MS PGothic" pitchFamily="34" charset="-128"/>
              </a:rPr>
              <a:pPr eaLnBrk="1" hangingPunct="1">
                <a:spcBef>
                  <a:spcPct val="0"/>
                </a:spcBef>
              </a:pPr>
              <a:t>34</a:t>
            </a:fld>
            <a:endParaRPr lang="en-US" altLang="en-US" smtClean="0">
              <a:latin typeface="Arial" charset="0"/>
              <a:ea typeface="MS PGothic"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F9A45A4-DC7F-4C9C-8C93-B5307D0F71ED}" type="slidenum">
              <a:rPr lang="en-US" altLang="en-US" smtClean="0">
                <a:latin typeface="Arial" charset="0"/>
                <a:ea typeface="MS PGothic" pitchFamily="34" charset="-128"/>
              </a:rPr>
              <a:pPr eaLnBrk="1" hangingPunct="1">
                <a:spcBef>
                  <a:spcPct val="0"/>
                </a:spcBef>
              </a:pPr>
              <a:t>51</a:t>
            </a:fld>
            <a:endParaRPr lang="en-US" altLang="en-US" smtClean="0">
              <a:latin typeface="Arial" charset="0"/>
              <a:ea typeface="MS PGothic"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431588"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0"/>
          <p:cNvSpPr>
            <a:spLocks noChangeArrowheads="1"/>
          </p:cNvSpPr>
          <p:nvPr/>
        </p:nvSpPr>
        <p:spPr bwMode="gray">
          <a:xfrm>
            <a:off x="0" y="3200400"/>
            <a:ext cx="11430000" cy="9144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ＭＳ Ｐゴシック" pitchFamily="80" charset="-128"/>
              </a:defRPr>
            </a:lvl1pPr>
            <a:lvl2pPr marL="742950" indent="-285750" eaLnBrk="0" hangingPunct="0">
              <a:defRPr>
                <a:solidFill>
                  <a:schemeClr val="tx1"/>
                </a:solidFill>
                <a:latin typeface="Arial" charset="0"/>
                <a:ea typeface="ＭＳ Ｐゴシック" pitchFamily="80" charset="-128"/>
              </a:defRPr>
            </a:lvl2pPr>
            <a:lvl3pPr marL="1143000" indent="-228600" eaLnBrk="0" hangingPunct="0">
              <a:defRPr>
                <a:solidFill>
                  <a:schemeClr val="tx1"/>
                </a:solidFill>
                <a:latin typeface="Arial" charset="0"/>
                <a:ea typeface="ＭＳ Ｐゴシック" pitchFamily="80" charset="-128"/>
              </a:defRPr>
            </a:lvl3pPr>
            <a:lvl4pPr marL="1600200" indent="-228600" eaLnBrk="0" hangingPunct="0">
              <a:defRPr>
                <a:solidFill>
                  <a:schemeClr val="tx1"/>
                </a:solidFill>
                <a:latin typeface="Arial" charset="0"/>
                <a:ea typeface="ＭＳ Ｐゴシック" pitchFamily="80" charset="-128"/>
              </a:defRPr>
            </a:lvl4pPr>
            <a:lvl5pPr marL="2057400" indent="-228600" eaLnBrk="0" hangingPunct="0">
              <a:defRPr>
                <a:solidFill>
                  <a:schemeClr val="tx1"/>
                </a:solidFill>
                <a:latin typeface="Arial" charset="0"/>
                <a:ea typeface="ＭＳ Ｐゴシック" pitchFamily="80"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80"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80"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80"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80" charset="-128"/>
              </a:defRPr>
            </a:lvl9pPr>
          </a:lstStyle>
          <a:p>
            <a:pPr eaLnBrk="1" hangingPunct="1">
              <a:defRPr/>
            </a:pPr>
            <a:endParaRPr lang="en-US" altLang="en-US" smtClean="0"/>
          </a:p>
        </p:txBody>
      </p:sp>
      <p:sp>
        <p:nvSpPr>
          <p:cNvPr id="6" name="Rectangle 11"/>
          <p:cNvSpPr>
            <a:spLocks noChangeArrowheads="1"/>
          </p:cNvSpPr>
          <p:nvPr/>
        </p:nvSpPr>
        <p:spPr bwMode="gray">
          <a:xfrm>
            <a:off x="0" y="6629400"/>
            <a:ext cx="11430000" cy="228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ＭＳ Ｐゴシック" pitchFamily="80" charset="-128"/>
              </a:defRPr>
            </a:lvl1pPr>
            <a:lvl2pPr marL="742950" indent="-285750" eaLnBrk="0" hangingPunct="0">
              <a:defRPr>
                <a:solidFill>
                  <a:schemeClr val="tx1"/>
                </a:solidFill>
                <a:latin typeface="Arial" charset="0"/>
                <a:ea typeface="ＭＳ Ｐゴシック" pitchFamily="80" charset="-128"/>
              </a:defRPr>
            </a:lvl2pPr>
            <a:lvl3pPr marL="1143000" indent="-228600" eaLnBrk="0" hangingPunct="0">
              <a:defRPr>
                <a:solidFill>
                  <a:schemeClr val="tx1"/>
                </a:solidFill>
                <a:latin typeface="Arial" charset="0"/>
                <a:ea typeface="ＭＳ Ｐゴシック" pitchFamily="80" charset="-128"/>
              </a:defRPr>
            </a:lvl3pPr>
            <a:lvl4pPr marL="1600200" indent="-228600" eaLnBrk="0" hangingPunct="0">
              <a:defRPr>
                <a:solidFill>
                  <a:schemeClr val="tx1"/>
                </a:solidFill>
                <a:latin typeface="Arial" charset="0"/>
                <a:ea typeface="ＭＳ Ｐゴシック" pitchFamily="80" charset="-128"/>
              </a:defRPr>
            </a:lvl4pPr>
            <a:lvl5pPr marL="2057400" indent="-228600" eaLnBrk="0" hangingPunct="0">
              <a:defRPr>
                <a:solidFill>
                  <a:schemeClr val="tx1"/>
                </a:solidFill>
                <a:latin typeface="Arial" charset="0"/>
                <a:ea typeface="ＭＳ Ｐゴシック" pitchFamily="80"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80"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80"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80"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80" charset="-128"/>
              </a:defRPr>
            </a:lvl9pPr>
          </a:lstStyle>
          <a:p>
            <a:pPr eaLnBrk="1" hangingPunct="1">
              <a:defRPr/>
            </a:pPr>
            <a:endParaRPr lang="en-US" altLang="en-US" smtClean="0"/>
          </a:p>
        </p:txBody>
      </p:sp>
      <p:pic>
        <p:nvPicPr>
          <p:cNvPr id="7" name="Picture 12" descr="CL_Logo_RGB_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7516813" y="5002213"/>
            <a:ext cx="3371850"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13"/>
          <p:cNvSpPr>
            <a:spLocks noChangeShapeType="1"/>
          </p:cNvSpPr>
          <p:nvPr/>
        </p:nvSpPr>
        <p:spPr bwMode="gray">
          <a:xfrm>
            <a:off x="0" y="3200400"/>
            <a:ext cx="11430000" cy="0"/>
          </a:xfrm>
          <a:prstGeom prst="line">
            <a:avLst/>
          </a:prstGeom>
          <a:noFill/>
          <a:ln w="635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8" name="Rectangle 2"/>
          <p:cNvSpPr>
            <a:spLocks noGrp="1" noChangeArrowheads="1"/>
          </p:cNvSpPr>
          <p:nvPr>
            <p:ph type="ctrTitle"/>
          </p:nvPr>
        </p:nvSpPr>
        <p:spPr>
          <a:xfrm>
            <a:off x="571500" y="1371600"/>
            <a:ext cx="10191750" cy="1600200"/>
          </a:xfrm>
        </p:spPr>
        <p:txBody>
          <a:bodyPr anchor="b"/>
          <a:lstStyle>
            <a:lvl1pPr>
              <a:defRPr sz="3600">
                <a:solidFill>
                  <a:schemeClr val="bg1"/>
                </a:solidFill>
              </a:defRPr>
            </a:lvl1pPr>
          </a:lstStyle>
          <a:p>
            <a:r>
              <a:rPr lang="en-US" smtClean="0"/>
              <a:t>Click to edit Master title style</a:t>
            </a:r>
            <a:endParaRPr lang="en-US"/>
          </a:p>
        </p:txBody>
      </p:sp>
      <p:sp>
        <p:nvSpPr>
          <p:cNvPr id="4099" name="Rectangle 3"/>
          <p:cNvSpPr>
            <a:spLocks noGrp="1" noChangeArrowheads="1"/>
          </p:cNvSpPr>
          <p:nvPr>
            <p:ph type="subTitle" idx="1"/>
          </p:nvPr>
        </p:nvSpPr>
        <p:spPr>
          <a:xfrm>
            <a:off x="571500" y="3352800"/>
            <a:ext cx="10191750" cy="304800"/>
          </a:xfrm>
        </p:spPr>
        <p:txBody>
          <a:bodyPr/>
          <a:lstStyle>
            <a:lvl1pPr>
              <a:defRPr>
                <a:solidFill>
                  <a:schemeClr val="bg1"/>
                </a:solidFill>
              </a:defRPr>
            </a:lvl1pPr>
          </a:lstStyle>
          <a:p>
            <a:r>
              <a:rPr lang="en-US" smtClean="0"/>
              <a:t>Click to edit Master subtitle style</a:t>
            </a:r>
            <a:endParaRPr lang="en-US"/>
          </a:p>
        </p:txBody>
      </p:sp>
    </p:spTree>
    <p:extLst>
      <p:ext uri="{BB962C8B-B14F-4D97-AF65-F5344CB8AC3E}">
        <p14:creationId xmlns:p14="http://schemas.microsoft.com/office/powerpoint/2010/main" val="3476760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5D3A3DB-7231-4AC1-9FEA-F76B2614537E}" type="slidenum">
              <a:rPr lang="en-US"/>
              <a:pPr>
                <a:defRPr/>
              </a:pPr>
              <a:t>‹#›</a:t>
            </a:fld>
            <a:endParaRPr lang="en-US"/>
          </a:p>
        </p:txBody>
      </p:sp>
    </p:spTree>
    <p:extLst>
      <p:ext uri="{BB962C8B-B14F-4D97-AF65-F5344CB8AC3E}">
        <p14:creationId xmlns:p14="http://schemas.microsoft.com/office/powerpoint/2010/main" val="415123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02892" y="4406903"/>
            <a:ext cx="97155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02892" y="2906715"/>
            <a:ext cx="97155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A8B02FA-B168-4523-B7C7-040E0229074C}" type="slidenum">
              <a:rPr lang="en-US"/>
              <a:pPr>
                <a:defRPr/>
              </a:pPr>
              <a:t>‹#›</a:t>
            </a:fld>
            <a:endParaRPr lang="en-US"/>
          </a:p>
        </p:txBody>
      </p:sp>
    </p:spTree>
    <p:extLst>
      <p:ext uri="{BB962C8B-B14F-4D97-AF65-F5344CB8AC3E}">
        <p14:creationId xmlns:p14="http://schemas.microsoft.com/office/powerpoint/2010/main" val="3573009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71500" y="1676400"/>
            <a:ext cx="5048250" cy="4438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810250" y="1676400"/>
            <a:ext cx="5048250" cy="4438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C4EBB5E-64F6-4067-A88B-447699B39B29}" type="slidenum">
              <a:rPr lang="en-US"/>
              <a:pPr>
                <a:defRPr/>
              </a:pPr>
              <a:t>‹#›</a:t>
            </a:fld>
            <a:endParaRPr lang="en-US"/>
          </a:p>
        </p:txBody>
      </p:sp>
    </p:spTree>
    <p:extLst>
      <p:ext uri="{BB962C8B-B14F-4D97-AF65-F5344CB8AC3E}">
        <p14:creationId xmlns:p14="http://schemas.microsoft.com/office/powerpoint/2010/main" val="1412829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71500" y="274638"/>
            <a:ext cx="102870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71504" y="1535114"/>
            <a:ext cx="505023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71504" y="2174876"/>
            <a:ext cx="505023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806286" y="1535114"/>
            <a:ext cx="505221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286" y="2174876"/>
            <a:ext cx="505221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66B90B3-7714-4D1E-ABA9-F3122AFA1B2C}" type="slidenum">
              <a:rPr lang="en-US"/>
              <a:pPr>
                <a:defRPr/>
              </a:pPr>
              <a:t>‹#›</a:t>
            </a:fld>
            <a:endParaRPr lang="en-US"/>
          </a:p>
        </p:txBody>
      </p:sp>
    </p:spTree>
    <p:extLst>
      <p:ext uri="{BB962C8B-B14F-4D97-AF65-F5344CB8AC3E}">
        <p14:creationId xmlns:p14="http://schemas.microsoft.com/office/powerpoint/2010/main" val="1471996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28F5466-C9F9-46AE-9A1F-8D7BC0002777}" type="slidenum">
              <a:rPr lang="en-US"/>
              <a:pPr>
                <a:defRPr/>
              </a:pPr>
              <a:t>‹#›</a:t>
            </a:fld>
            <a:endParaRPr lang="en-US"/>
          </a:p>
        </p:txBody>
      </p:sp>
    </p:spTree>
    <p:extLst>
      <p:ext uri="{BB962C8B-B14F-4D97-AF65-F5344CB8AC3E}">
        <p14:creationId xmlns:p14="http://schemas.microsoft.com/office/powerpoint/2010/main" val="226738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DFCED331-CDED-48EA-A2AF-4EA22C339C8E}" type="slidenum">
              <a:rPr lang="en-US"/>
              <a:pPr>
                <a:defRPr/>
              </a:pPr>
              <a:t>‹#›</a:t>
            </a:fld>
            <a:endParaRPr lang="en-US"/>
          </a:p>
        </p:txBody>
      </p:sp>
    </p:spTree>
    <p:extLst>
      <p:ext uri="{BB962C8B-B14F-4D97-AF65-F5344CB8AC3E}">
        <p14:creationId xmlns:p14="http://schemas.microsoft.com/office/powerpoint/2010/main" val="2076205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71504" y="273050"/>
            <a:ext cx="3760392"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468813" y="273053"/>
            <a:ext cx="638968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71504" y="1435103"/>
            <a:ext cx="376039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328F899-1E58-4B09-BA61-086B28FA4C7E}" type="slidenum">
              <a:rPr lang="en-US"/>
              <a:pPr>
                <a:defRPr/>
              </a:pPr>
              <a:t>‹#›</a:t>
            </a:fld>
            <a:endParaRPr lang="en-US"/>
          </a:p>
        </p:txBody>
      </p:sp>
    </p:spTree>
    <p:extLst>
      <p:ext uri="{BB962C8B-B14F-4D97-AF65-F5344CB8AC3E}">
        <p14:creationId xmlns:p14="http://schemas.microsoft.com/office/powerpoint/2010/main" val="3820385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40360" y="4800601"/>
            <a:ext cx="68580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240360" y="612775"/>
            <a:ext cx="68580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2240360" y="5367339"/>
            <a:ext cx="68580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9BDD559-3C9F-4CF4-AC18-F0465A080324}" type="slidenum">
              <a:rPr lang="en-US"/>
              <a:pPr>
                <a:defRPr/>
              </a:pPr>
              <a:t>‹#›</a:t>
            </a:fld>
            <a:endParaRPr lang="en-US"/>
          </a:p>
        </p:txBody>
      </p:sp>
    </p:spTree>
    <p:extLst>
      <p:ext uri="{BB962C8B-B14F-4D97-AF65-F5344CB8AC3E}">
        <p14:creationId xmlns:p14="http://schemas.microsoft.com/office/powerpoint/2010/main" val="2314840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21D9E29-0E8E-46A3-83C1-5F31E3256637}" type="slidenum">
              <a:rPr lang="en-US"/>
              <a:pPr>
                <a:defRPr/>
              </a:pPr>
              <a:t>‹#›</a:t>
            </a:fld>
            <a:endParaRPr lang="en-US"/>
          </a:p>
        </p:txBody>
      </p:sp>
    </p:spTree>
    <p:extLst>
      <p:ext uri="{BB962C8B-B14F-4D97-AF65-F5344CB8AC3E}">
        <p14:creationId xmlns:p14="http://schemas.microsoft.com/office/powerpoint/2010/main" val="2232030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286750" y="914400"/>
            <a:ext cx="2571750" cy="52006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71500" y="914400"/>
            <a:ext cx="7524750" cy="52006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CA0BF32-847E-4BD7-A62D-FD0826CF6346}" type="slidenum">
              <a:rPr lang="en-US"/>
              <a:pPr>
                <a:defRPr/>
              </a:pPr>
              <a:t>‹#›</a:t>
            </a:fld>
            <a:endParaRPr lang="en-US"/>
          </a:p>
        </p:txBody>
      </p:sp>
    </p:spTree>
    <p:extLst>
      <p:ext uri="{BB962C8B-B14F-4D97-AF65-F5344CB8AC3E}">
        <p14:creationId xmlns:p14="http://schemas.microsoft.com/office/powerpoint/2010/main" val="3116653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1500" y="122238"/>
            <a:ext cx="942975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71500" y="1719263"/>
            <a:ext cx="504825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810250" y="1719263"/>
            <a:ext cx="504825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003F364-497A-48E0-9FFB-CFE8F72641DB}" type="slidenum">
              <a:rPr lang="en-US"/>
              <a:pPr>
                <a:defRPr/>
              </a:pPr>
              <a:t>‹#›</a:t>
            </a:fld>
            <a:endParaRPr lang="en-US"/>
          </a:p>
        </p:txBody>
      </p:sp>
    </p:spTree>
    <p:extLst>
      <p:ext uri="{BB962C8B-B14F-4D97-AF65-F5344CB8AC3E}">
        <p14:creationId xmlns:p14="http://schemas.microsoft.com/office/powerpoint/2010/main" val="3546187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71500" y="122238"/>
            <a:ext cx="942975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71500" y="1719263"/>
            <a:ext cx="504825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810250" y="1719263"/>
            <a:ext cx="5048250" cy="4411662"/>
          </a:xfrm>
        </p:spPr>
        <p:txBody>
          <a:bodyPr/>
          <a:lstStyle/>
          <a:p>
            <a:pPr lvl="0"/>
            <a:endParaRPr lang="en-US" noProof="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5CC2F4C-0804-441E-BB14-1E782B0EDD09}" type="slidenum">
              <a:rPr lang="en-US"/>
              <a:pPr>
                <a:defRPr/>
              </a:pPr>
              <a:t>‹#›</a:t>
            </a:fld>
            <a:endParaRPr lang="en-US"/>
          </a:p>
        </p:txBody>
      </p:sp>
    </p:spTree>
    <p:extLst>
      <p:ext uri="{BB962C8B-B14F-4D97-AF65-F5344CB8AC3E}">
        <p14:creationId xmlns:p14="http://schemas.microsoft.com/office/powerpoint/2010/main" val="1067799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914400"/>
            <a:ext cx="1028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571500" y="1676400"/>
            <a:ext cx="10287000" cy="443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953250" y="6413500"/>
            <a:ext cx="1333500" cy="228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r">
              <a:defRPr sz="800">
                <a:latin typeface="Arial" pitchFamily="34"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857250" y="6413500"/>
            <a:ext cx="6096000" cy="228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sz="800">
                <a:latin typeface="Arial" pitchFamily="34"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571500" y="6413500"/>
            <a:ext cx="285750" cy="2286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sz="800">
                <a:latin typeface="Arial" pitchFamily="34" charset="0"/>
                <a:ea typeface="+mn-ea"/>
                <a:cs typeface="+mn-cs"/>
              </a:defRPr>
            </a:lvl1pPr>
          </a:lstStyle>
          <a:p>
            <a:pPr>
              <a:defRPr/>
            </a:pPr>
            <a:fld id="{C09A3AA3-FDDC-4FDD-9BD3-9149AA42C731}" type="slidenum">
              <a:rPr lang="en-US"/>
              <a:pPr>
                <a:defRPr/>
              </a:pPr>
              <a:t>‹#›</a:t>
            </a:fld>
            <a:endParaRPr lang="en-US"/>
          </a:p>
        </p:txBody>
      </p:sp>
      <p:pic>
        <p:nvPicPr>
          <p:cNvPr id="1031" name="Picture 7"/>
          <p:cNvPicPr>
            <a:picLocks noChangeAspect="1" noChangeArrowheads="1"/>
          </p:cNvPicPr>
          <p:nvPr/>
        </p:nvPicPr>
        <p:blipFill>
          <a:blip r:embed="rId15">
            <a:extLst>
              <a:ext uri="{28A0092B-C50C-407E-A947-70E740481C1C}">
                <a14:useLocalDpi xmlns:a14="http://schemas.microsoft.com/office/drawing/2010/main" val="0"/>
              </a:ext>
            </a:extLst>
          </a:blip>
          <a:srcRect t="26190" b="52380"/>
          <a:stretch>
            <a:fillRect/>
          </a:stretch>
        </p:blipFill>
        <p:spPr bwMode="gray">
          <a:xfrm>
            <a:off x="0" y="0"/>
            <a:ext cx="114315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8"/>
          <p:cNvSpPr>
            <a:spLocks noChangeArrowheads="1"/>
          </p:cNvSpPr>
          <p:nvPr/>
        </p:nvSpPr>
        <p:spPr bwMode="gray">
          <a:xfrm>
            <a:off x="0" y="684213"/>
            <a:ext cx="11430000" cy="1095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ＭＳ Ｐゴシック" pitchFamily="80" charset="-128"/>
              </a:defRPr>
            </a:lvl1pPr>
            <a:lvl2pPr marL="742950" indent="-285750" eaLnBrk="0" hangingPunct="0">
              <a:defRPr>
                <a:solidFill>
                  <a:schemeClr val="tx1"/>
                </a:solidFill>
                <a:latin typeface="Arial" charset="0"/>
                <a:ea typeface="ＭＳ Ｐゴシック" pitchFamily="80" charset="-128"/>
              </a:defRPr>
            </a:lvl2pPr>
            <a:lvl3pPr marL="1143000" indent="-228600" eaLnBrk="0" hangingPunct="0">
              <a:defRPr>
                <a:solidFill>
                  <a:schemeClr val="tx1"/>
                </a:solidFill>
                <a:latin typeface="Arial" charset="0"/>
                <a:ea typeface="ＭＳ Ｐゴシック" pitchFamily="80" charset="-128"/>
              </a:defRPr>
            </a:lvl3pPr>
            <a:lvl4pPr marL="1600200" indent="-228600" eaLnBrk="0" hangingPunct="0">
              <a:defRPr>
                <a:solidFill>
                  <a:schemeClr val="tx1"/>
                </a:solidFill>
                <a:latin typeface="Arial" charset="0"/>
                <a:ea typeface="ＭＳ Ｐゴシック" pitchFamily="80" charset="-128"/>
              </a:defRPr>
            </a:lvl4pPr>
            <a:lvl5pPr marL="2057400" indent="-228600" eaLnBrk="0" hangingPunct="0">
              <a:defRPr>
                <a:solidFill>
                  <a:schemeClr val="tx1"/>
                </a:solidFill>
                <a:latin typeface="Arial" charset="0"/>
                <a:ea typeface="ＭＳ Ｐゴシック" pitchFamily="80"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80"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80"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80"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80" charset="-128"/>
              </a:defRPr>
            </a:lvl9pPr>
          </a:lstStyle>
          <a:p>
            <a:pPr eaLnBrk="1" hangingPunct="1">
              <a:defRPr/>
            </a:pPr>
            <a:endParaRPr lang="en-US" altLang="en-US" smtClean="0"/>
          </a:p>
        </p:txBody>
      </p:sp>
      <p:pic>
        <p:nvPicPr>
          <p:cNvPr id="1033" name="Picture 9" descr="CL_Logo_RGB_PNG"/>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12250" y="6035675"/>
            <a:ext cx="1930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 name="Rectangle 10"/>
          <p:cNvSpPr>
            <a:spLocks noChangeArrowheads="1"/>
          </p:cNvSpPr>
          <p:nvPr/>
        </p:nvSpPr>
        <p:spPr bwMode="gray">
          <a:xfrm>
            <a:off x="0" y="6721475"/>
            <a:ext cx="11430000" cy="1365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ＭＳ Ｐゴシック" pitchFamily="80" charset="-128"/>
              </a:defRPr>
            </a:lvl1pPr>
            <a:lvl2pPr marL="742950" indent="-285750" eaLnBrk="0" hangingPunct="0">
              <a:defRPr>
                <a:solidFill>
                  <a:schemeClr val="tx1"/>
                </a:solidFill>
                <a:latin typeface="Arial" charset="0"/>
                <a:ea typeface="ＭＳ Ｐゴシック" pitchFamily="80" charset="-128"/>
              </a:defRPr>
            </a:lvl2pPr>
            <a:lvl3pPr marL="1143000" indent="-228600" eaLnBrk="0" hangingPunct="0">
              <a:defRPr>
                <a:solidFill>
                  <a:schemeClr val="tx1"/>
                </a:solidFill>
                <a:latin typeface="Arial" charset="0"/>
                <a:ea typeface="ＭＳ Ｐゴシック" pitchFamily="80" charset="-128"/>
              </a:defRPr>
            </a:lvl3pPr>
            <a:lvl4pPr marL="1600200" indent="-228600" eaLnBrk="0" hangingPunct="0">
              <a:defRPr>
                <a:solidFill>
                  <a:schemeClr val="tx1"/>
                </a:solidFill>
                <a:latin typeface="Arial" charset="0"/>
                <a:ea typeface="ＭＳ Ｐゴシック" pitchFamily="80" charset="-128"/>
              </a:defRPr>
            </a:lvl4pPr>
            <a:lvl5pPr marL="2057400" indent="-228600" eaLnBrk="0" hangingPunct="0">
              <a:defRPr>
                <a:solidFill>
                  <a:schemeClr val="tx1"/>
                </a:solidFill>
                <a:latin typeface="Arial" charset="0"/>
                <a:ea typeface="ＭＳ Ｐゴシック" pitchFamily="80" charset="-128"/>
              </a:defRPr>
            </a:lvl5pPr>
            <a:lvl6pPr marL="2514600" indent="-228600" eaLnBrk="0" fontAlgn="base" hangingPunct="0">
              <a:spcBef>
                <a:spcPct val="0"/>
              </a:spcBef>
              <a:spcAft>
                <a:spcPct val="0"/>
              </a:spcAft>
              <a:defRPr>
                <a:solidFill>
                  <a:schemeClr val="tx1"/>
                </a:solidFill>
                <a:latin typeface="Arial" charset="0"/>
                <a:ea typeface="ＭＳ Ｐゴシック" pitchFamily="80" charset="-128"/>
              </a:defRPr>
            </a:lvl6pPr>
            <a:lvl7pPr marL="2971800" indent="-228600" eaLnBrk="0" fontAlgn="base" hangingPunct="0">
              <a:spcBef>
                <a:spcPct val="0"/>
              </a:spcBef>
              <a:spcAft>
                <a:spcPct val="0"/>
              </a:spcAft>
              <a:defRPr>
                <a:solidFill>
                  <a:schemeClr val="tx1"/>
                </a:solidFill>
                <a:latin typeface="Arial" charset="0"/>
                <a:ea typeface="ＭＳ Ｐゴシック" pitchFamily="80" charset="-128"/>
              </a:defRPr>
            </a:lvl7pPr>
            <a:lvl8pPr marL="3429000" indent="-228600" eaLnBrk="0" fontAlgn="base" hangingPunct="0">
              <a:spcBef>
                <a:spcPct val="0"/>
              </a:spcBef>
              <a:spcAft>
                <a:spcPct val="0"/>
              </a:spcAft>
              <a:defRPr>
                <a:solidFill>
                  <a:schemeClr val="tx1"/>
                </a:solidFill>
                <a:latin typeface="Arial" charset="0"/>
                <a:ea typeface="ＭＳ Ｐゴシック" pitchFamily="80" charset="-128"/>
              </a:defRPr>
            </a:lvl8pPr>
            <a:lvl9pPr marL="3886200" indent="-228600" eaLnBrk="0" fontAlgn="base" hangingPunct="0">
              <a:spcBef>
                <a:spcPct val="0"/>
              </a:spcBef>
              <a:spcAft>
                <a:spcPct val="0"/>
              </a:spcAft>
              <a:defRPr>
                <a:solidFill>
                  <a:schemeClr val="tx1"/>
                </a:solidFill>
                <a:latin typeface="Arial" charset="0"/>
                <a:ea typeface="ＭＳ Ｐゴシック" pitchFamily="80" charset="-128"/>
              </a:defRPr>
            </a:lvl9pPr>
          </a:lstStyle>
          <a:p>
            <a:pPr eaLnBrk="1" hangingPunct="1">
              <a:defRPr/>
            </a:pPr>
            <a:endParaRPr lang="en-US" altLang="en-US" smtClean="0"/>
          </a:p>
        </p:txBody>
      </p:sp>
    </p:spTree>
  </p:cSld>
  <p:clrMap bg1="lt1" tx1="dk1" bg2="lt2" tx2="dk2" accent1="accent1" accent2="accent2" accent3="accent3" accent4="accent4" accent5="accent5" accent6="accent6" hlink="hlink" folHlink="folHlink"/>
  <p:sldLayoutIdLst>
    <p:sldLayoutId id="2147483874"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Lst>
  <p:txStyles>
    <p:titleStyle>
      <a:lvl1pPr algn="l" rtl="0" eaLnBrk="0" fontAlgn="base" hangingPunct="0">
        <a:spcBef>
          <a:spcPct val="0"/>
        </a:spcBef>
        <a:spcAft>
          <a:spcPct val="0"/>
        </a:spcAft>
        <a:defRPr sz="2200">
          <a:solidFill>
            <a:schemeClr val="accent1"/>
          </a:solidFill>
          <a:latin typeface="+mj-lt"/>
          <a:ea typeface="MS PGothic" pitchFamily="34" charset="-128"/>
          <a:cs typeface="ＭＳ Ｐゴシック"/>
        </a:defRPr>
      </a:lvl1pPr>
      <a:lvl2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2pPr>
      <a:lvl3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3pPr>
      <a:lvl4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4pPr>
      <a:lvl5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5pPr>
      <a:lvl6pPr marL="457200" algn="l" rtl="0" eaLnBrk="1" fontAlgn="base" hangingPunct="1">
        <a:spcBef>
          <a:spcPct val="0"/>
        </a:spcBef>
        <a:spcAft>
          <a:spcPct val="0"/>
        </a:spcAft>
        <a:defRPr sz="2200">
          <a:solidFill>
            <a:schemeClr val="accent1"/>
          </a:solidFill>
          <a:latin typeface="Arial" charset="0"/>
          <a:ea typeface="ＭＳ Ｐゴシック" pitchFamily="112" charset="-128"/>
        </a:defRPr>
      </a:lvl6pPr>
      <a:lvl7pPr marL="914400" algn="l" rtl="0" eaLnBrk="1" fontAlgn="base" hangingPunct="1">
        <a:spcBef>
          <a:spcPct val="0"/>
        </a:spcBef>
        <a:spcAft>
          <a:spcPct val="0"/>
        </a:spcAft>
        <a:defRPr sz="2200">
          <a:solidFill>
            <a:schemeClr val="accent1"/>
          </a:solidFill>
          <a:latin typeface="Arial" charset="0"/>
          <a:ea typeface="ＭＳ Ｐゴシック" pitchFamily="112" charset="-128"/>
        </a:defRPr>
      </a:lvl7pPr>
      <a:lvl8pPr marL="1371600" algn="l" rtl="0" eaLnBrk="1" fontAlgn="base" hangingPunct="1">
        <a:spcBef>
          <a:spcPct val="0"/>
        </a:spcBef>
        <a:spcAft>
          <a:spcPct val="0"/>
        </a:spcAft>
        <a:defRPr sz="2200">
          <a:solidFill>
            <a:schemeClr val="accent1"/>
          </a:solidFill>
          <a:latin typeface="Arial" charset="0"/>
          <a:ea typeface="ＭＳ Ｐゴシック" pitchFamily="112" charset="-128"/>
        </a:defRPr>
      </a:lvl8pPr>
      <a:lvl9pPr marL="1828800" algn="l" rtl="0" eaLnBrk="1" fontAlgn="base" hangingPunct="1">
        <a:spcBef>
          <a:spcPct val="0"/>
        </a:spcBef>
        <a:spcAft>
          <a:spcPct val="0"/>
        </a:spcAft>
        <a:defRPr sz="2200">
          <a:solidFill>
            <a:schemeClr val="accent1"/>
          </a:solidFill>
          <a:latin typeface="Arial" charset="0"/>
          <a:ea typeface="ＭＳ Ｐゴシック" pitchFamily="112" charset="-128"/>
        </a:defRPr>
      </a:lvl9pPr>
    </p:titleStyle>
    <p:bodyStyle>
      <a:lvl1pPr marL="342900" indent="-342900" algn="l" rtl="0" eaLnBrk="0" fontAlgn="base" hangingPunct="0">
        <a:lnSpc>
          <a:spcPts val="2200"/>
        </a:lnSpc>
        <a:spcBef>
          <a:spcPct val="50000"/>
        </a:spcBef>
        <a:spcAft>
          <a:spcPct val="0"/>
        </a:spcAft>
        <a:defRPr>
          <a:solidFill>
            <a:schemeClr val="tx1"/>
          </a:solidFill>
          <a:latin typeface="+mn-lt"/>
          <a:ea typeface="MS PGothic" pitchFamily="34" charset="-128"/>
          <a:cs typeface="ＭＳ Ｐゴシック"/>
        </a:defRPr>
      </a:lvl1pPr>
      <a:lvl2pPr marL="452438" indent="-223838" algn="l" rtl="0" eaLnBrk="0" fontAlgn="base" hangingPunct="0">
        <a:spcBef>
          <a:spcPct val="50000"/>
        </a:spcBef>
        <a:spcAft>
          <a:spcPct val="0"/>
        </a:spcAft>
        <a:buClr>
          <a:schemeClr val="hlink"/>
        </a:buClr>
        <a:buFont typeface="Wingdings" pitchFamily="2" charset="2"/>
        <a:buChar char="§"/>
        <a:defRPr>
          <a:solidFill>
            <a:schemeClr val="tx1"/>
          </a:solidFill>
          <a:latin typeface="+mn-lt"/>
          <a:ea typeface="MS PGothic" pitchFamily="34" charset="-128"/>
          <a:cs typeface="ＭＳ Ｐゴシック"/>
        </a:defRPr>
      </a:lvl2pPr>
      <a:lvl3pPr marL="741363" indent="-174625" algn="l" rtl="0" eaLnBrk="0" fontAlgn="base" hangingPunct="0">
        <a:spcBef>
          <a:spcPct val="30000"/>
        </a:spcBef>
        <a:spcAft>
          <a:spcPct val="0"/>
        </a:spcAft>
        <a:buClr>
          <a:schemeClr val="hlink"/>
        </a:buClr>
        <a:buFont typeface="Wingdings" pitchFamily="2" charset="2"/>
        <a:buChar char="§"/>
        <a:defRPr sz="1600">
          <a:solidFill>
            <a:schemeClr val="tx1"/>
          </a:solidFill>
          <a:latin typeface="+mn-lt"/>
          <a:ea typeface="MS PGothic" pitchFamily="34" charset="-128"/>
          <a:cs typeface="ＭＳ Ｐゴシック"/>
        </a:defRPr>
      </a:lvl3pPr>
      <a:lvl4pPr marL="1028700" indent="-173038" algn="l" rtl="0" eaLnBrk="0" fontAlgn="base" hangingPunct="0">
        <a:spcBef>
          <a:spcPct val="30000"/>
        </a:spcBef>
        <a:spcAft>
          <a:spcPct val="0"/>
        </a:spcAft>
        <a:buClr>
          <a:schemeClr val="hlink"/>
        </a:buClr>
        <a:buFont typeface="Wingdings" pitchFamily="2" charset="2"/>
        <a:buChar char="§"/>
        <a:defRPr sz="1600">
          <a:solidFill>
            <a:schemeClr val="tx1"/>
          </a:solidFill>
          <a:latin typeface="+mn-lt"/>
          <a:ea typeface="MS PGothic" pitchFamily="34" charset="-128"/>
          <a:cs typeface="ＭＳ Ｐゴシック"/>
        </a:defRPr>
      </a:lvl4pPr>
      <a:lvl5pPr marL="1314450" indent="-171450" algn="l" rtl="0" eaLnBrk="0" fontAlgn="base" hangingPunct="0">
        <a:spcBef>
          <a:spcPct val="30000"/>
        </a:spcBef>
        <a:spcAft>
          <a:spcPct val="0"/>
        </a:spcAft>
        <a:buClr>
          <a:schemeClr val="hlink"/>
        </a:buClr>
        <a:buFont typeface="Wingdings" pitchFamily="2" charset="2"/>
        <a:buChar char="§"/>
        <a:defRPr sz="1400">
          <a:solidFill>
            <a:schemeClr val="tx1"/>
          </a:solidFill>
          <a:latin typeface="+mn-lt"/>
          <a:ea typeface="MS PGothic" pitchFamily="34" charset="-128"/>
          <a:cs typeface="ＭＳ Ｐゴシック"/>
        </a:defRPr>
      </a:lvl5pPr>
      <a:lvl6pPr marL="1771650" indent="-171450" algn="l" rtl="0" eaLnBrk="1" fontAlgn="base" hangingPunct="1">
        <a:spcBef>
          <a:spcPct val="30000"/>
        </a:spcBef>
        <a:spcAft>
          <a:spcPct val="0"/>
        </a:spcAft>
        <a:buClr>
          <a:schemeClr val="hlink"/>
        </a:buClr>
        <a:buFont typeface="Wingdings" pitchFamily="112" charset="2"/>
        <a:buChar char="§"/>
        <a:defRPr sz="1400">
          <a:solidFill>
            <a:schemeClr val="tx1"/>
          </a:solidFill>
          <a:latin typeface="+mn-lt"/>
          <a:ea typeface="+mn-ea"/>
        </a:defRPr>
      </a:lvl6pPr>
      <a:lvl7pPr marL="2228850" indent="-171450" algn="l" rtl="0" eaLnBrk="1" fontAlgn="base" hangingPunct="1">
        <a:spcBef>
          <a:spcPct val="30000"/>
        </a:spcBef>
        <a:spcAft>
          <a:spcPct val="0"/>
        </a:spcAft>
        <a:buClr>
          <a:schemeClr val="hlink"/>
        </a:buClr>
        <a:buFont typeface="Wingdings" pitchFamily="112" charset="2"/>
        <a:buChar char="§"/>
        <a:defRPr sz="1400">
          <a:solidFill>
            <a:schemeClr val="tx1"/>
          </a:solidFill>
          <a:latin typeface="+mn-lt"/>
          <a:ea typeface="+mn-ea"/>
        </a:defRPr>
      </a:lvl7pPr>
      <a:lvl8pPr marL="2686050" indent="-171450" algn="l" rtl="0" eaLnBrk="1" fontAlgn="base" hangingPunct="1">
        <a:spcBef>
          <a:spcPct val="30000"/>
        </a:spcBef>
        <a:spcAft>
          <a:spcPct val="0"/>
        </a:spcAft>
        <a:buClr>
          <a:schemeClr val="hlink"/>
        </a:buClr>
        <a:buFont typeface="Wingdings" pitchFamily="112" charset="2"/>
        <a:buChar char="§"/>
        <a:defRPr sz="1400">
          <a:solidFill>
            <a:schemeClr val="tx1"/>
          </a:solidFill>
          <a:latin typeface="+mn-lt"/>
          <a:ea typeface="+mn-ea"/>
        </a:defRPr>
      </a:lvl8pPr>
      <a:lvl9pPr marL="3143250" indent="-171450" algn="l" rtl="0" eaLnBrk="1" fontAlgn="base" hangingPunct="1">
        <a:spcBef>
          <a:spcPct val="30000"/>
        </a:spcBef>
        <a:spcAft>
          <a:spcPct val="0"/>
        </a:spcAft>
        <a:buClr>
          <a:schemeClr val="hlink"/>
        </a:buClr>
        <a:buFont typeface="Wingdings" pitchFamily="112" charset="2"/>
        <a:buChar char="§"/>
        <a:defRPr sz="14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2.wmf"/><Relationship Id="rId3" Type="http://schemas.openxmlformats.org/officeDocument/2006/relationships/notesSlide" Target="../notesSlides/notesSlide5.xml"/><Relationship Id="rId7" Type="http://schemas.openxmlformats.org/officeDocument/2006/relationships/image" Target="../media/image9.wmf"/><Relationship Id="rId12"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1.wmf"/><Relationship Id="rId5" Type="http://schemas.openxmlformats.org/officeDocument/2006/relationships/image" Target="../media/image8.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0.wmf"/><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7.jpe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image" Target="../media/image18.wmf"/><Relationship Id="rId4" Type="http://schemas.openxmlformats.org/officeDocument/2006/relationships/oleObject" Target="../embeddings/oleObject7.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4.wmf"/><Relationship Id="rId18" Type="http://schemas.openxmlformats.org/officeDocument/2006/relationships/oleObject" Target="../embeddings/oleObject16.bin"/><Relationship Id="rId26" Type="http://schemas.openxmlformats.org/officeDocument/2006/relationships/image" Target="../media/image31.png"/><Relationship Id="rId3" Type="http://schemas.openxmlformats.org/officeDocument/2006/relationships/notesSlide" Target="../notesSlides/notesSlide11.xml"/><Relationship Id="rId21" Type="http://schemas.openxmlformats.org/officeDocument/2006/relationships/image" Target="../media/image28.wmf"/><Relationship Id="rId7" Type="http://schemas.openxmlformats.org/officeDocument/2006/relationships/image" Target="../media/image21.wmf"/><Relationship Id="rId12" Type="http://schemas.openxmlformats.org/officeDocument/2006/relationships/oleObject" Target="../embeddings/oleObject13.bin"/><Relationship Id="rId17" Type="http://schemas.openxmlformats.org/officeDocument/2006/relationships/image" Target="../media/image26.wmf"/><Relationship Id="rId25" Type="http://schemas.openxmlformats.org/officeDocument/2006/relationships/image" Target="../media/image30.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4.vml"/><Relationship Id="rId6" Type="http://schemas.openxmlformats.org/officeDocument/2006/relationships/oleObject" Target="../embeddings/oleObject10.bin"/><Relationship Id="rId11" Type="http://schemas.openxmlformats.org/officeDocument/2006/relationships/image" Target="../media/image23.wmf"/><Relationship Id="rId24" Type="http://schemas.openxmlformats.org/officeDocument/2006/relationships/oleObject" Target="../embeddings/oleObject19.bin"/><Relationship Id="rId5" Type="http://schemas.openxmlformats.org/officeDocument/2006/relationships/image" Target="../media/image20.wmf"/><Relationship Id="rId15" Type="http://schemas.openxmlformats.org/officeDocument/2006/relationships/image" Target="../media/image25.wmf"/><Relationship Id="rId23" Type="http://schemas.openxmlformats.org/officeDocument/2006/relationships/image" Target="../media/image29.wmf"/><Relationship Id="rId10" Type="http://schemas.openxmlformats.org/officeDocument/2006/relationships/oleObject" Target="../embeddings/oleObject12.bin"/><Relationship Id="rId19" Type="http://schemas.openxmlformats.org/officeDocument/2006/relationships/image" Target="../media/image27.wmf"/><Relationship Id="rId4" Type="http://schemas.openxmlformats.org/officeDocument/2006/relationships/oleObject" Target="../embeddings/oleObject9.bin"/><Relationship Id="rId9" Type="http://schemas.openxmlformats.org/officeDocument/2006/relationships/image" Target="../media/image22.wmf"/><Relationship Id="rId14" Type="http://schemas.openxmlformats.org/officeDocument/2006/relationships/oleObject" Target="../embeddings/oleObject14.bin"/><Relationship Id="rId22"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notesSlide" Target="../notesSlides/notesSlide12.xml"/><Relationship Id="rId7"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32.wmf"/><Relationship Id="rId5" Type="http://schemas.openxmlformats.org/officeDocument/2006/relationships/oleObject" Target="../embeddings/oleObject20.bin"/><Relationship Id="rId4" Type="http://schemas.openxmlformats.org/officeDocument/2006/relationships/image" Target="../media/image34.jpe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13.xml"/><Relationship Id="rId7"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23.bin"/><Relationship Id="rId5" Type="http://schemas.openxmlformats.org/officeDocument/2006/relationships/image" Target="../media/image35.wmf"/><Relationship Id="rId10" Type="http://schemas.openxmlformats.org/officeDocument/2006/relationships/image" Target="../media/image38.png"/><Relationship Id="rId4" Type="http://schemas.openxmlformats.org/officeDocument/2006/relationships/oleObject" Target="../embeddings/oleObject22.bin"/><Relationship Id="rId9" Type="http://schemas.openxmlformats.org/officeDocument/2006/relationships/image" Target="../media/image37.wmf"/></Relationships>
</file>

<file path=ppt/slides/_rels/slide14.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30.bin"/><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0.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8.bin"/><Relationship Id="rId14" Type="http://schemas.openxmlformats.org/officeDocument/2006/relationships/image" Target="../media/image44.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6.jpeg"/><Relationship Id="rId4" Type="http://schemas.openxmlformats.org/officeDocument/2006/relationships/image" Target="../media/image4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6.jpeg"/><Relationship Id="rId4" Type="http://schemas.openxmlformats.org/officeDocument/2006/relationships/image" Target="../media/image47.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49.jpeg"/><Relationship Id="rId7" Type="http://schemas.openxmlformats.org/officeDocument/2006/relationships/image" Target="../media/image36.wmf"/><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oleObject" Target="../embeddings/oleObject34.bin"/><Relationship Id="rId11" Type="http://schemas.openxmlformats.org/officeDocument/2006/relationships/image" Target="../media/image48.wmf"/><Relationship Id="rId5" Type="http://schemas.openxmlformats.org/officeDocument/2006/relationships/image" Target="../media/image35.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52.jpeg"/><Relationship Id="rId7" Type="http://schemas.openxmlformats.org/officeDocument/2006/relationships/image" Target="../media/image50.wmf"/><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oleObject" Target="../embeddings/oleObject38.bin"/><Relationship Id="rId11" Type="http://schemas.openxmlformats.org/officeDocument/2006/relationships/image" Target="../media/image51.wmf"/><Relationship Id="rId5" Type="http://schemas.openxmlformats.org/officeDocument/2006/relationships/image" Target="../media/image35.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48.wmf"/></Relationships>
</file>

<file path=ppt/slides/_rels/slide1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image" Target="../media/image58.wmf"/><Relationship Id="rId5" Type="http://schemas.openxmlformats.org/officeDocument/2006/relationships/oleObject" Target="../embeddings/oleObject41.bin"/><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6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3.bin"/><Relationship Id="rId7"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63.wmf"/><Relationship Id="rId5" Type="http://schemas.openxmlformats.org/officeDocument/2006/relationships/oleObject" Target="../embeddings/oleObject44.bin"/><Relationship Id="rId4" Type="http://schemas.openxmlformats.org/officeDocument/2006/relationships/image" Target="../media/image62.wmf"/></Relationships>
</file>

<file path=ppt/slides/_rels/slide25.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69.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66.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48.bin"/></Relationships>
</file>

<file path=ppt/slides/_rels/slide26.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55.bin"/><Relationship Id="rId18" Type="http://schemas.openxmlformats.org/officeDocument/2006/relationships/image" Target="../media/image76.w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73.wmf"/><Relationship Id="rId17" Type="http://schemas.openxmlformats.org/officeDocument/2006/relationships/oleObject" Target="../embeddings/oleObject57.bin"/><Relationship Id="rId2" Type="http://schemas.openxmlformats.org/officeDocument/2006/relationships/slideLayout" Target="../slideLayouts/slideLayout2.xml"/><Relationship Id="rId16" Type="http://schemas.openxmlformats.org/officeDocument/2006/relationships/image" Target="../media/image75.wmf"/><Relationship Id="rId1" Type="http://schemas.openxmlformats.org/officeDocument/2006/relationships/vmlDrawing" Target="../drawings/vmlDrawing16.vml"/><Relationship Id="rId6" Type="http://schemas.openxmlformats.org/officeDocument/2006/relationships/image" Target="../media/image70.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72.wmf"/><Relationship Id="rId4" Type="http://schemas.openxmlformats.org/officeDocument/2006/relationships/image" Target="../media/image62.wmf"/><Relationship Id="rId9" Type="http://schemas.openxmlformats.org/officeDocument/2006/relationships/oleObject" Target="../embeddings/oleObject53.bin"/><Relationship Id="rId14" Type="http://schemas.openxmlformats.org/officeDocument/2006/relationships/image" Target="../media/image74.wmf"/></Relationships>
</file>

<file path=ppt/slides/_rels/slide27.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58.bin"/><Relationship Id="rId7"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78.wmf"/><Relationship Id="rId5" Type="http://schemas.openxmlformats.org/officeDocument/2006/relationships/oleObject" Target="../embeddings/oleObject59.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61.bin"/></Relationships>
</file>

<file path=ppt/slides/_rels/slide28.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81.wmf"/><Relationship Id="rId5" Type="http://schemas.openxmlformats.org/officeDocument/2006/relationships/oleObject" Target="../embeddings/oleObject63.bin"/><Relationship Id="rId4" Type="http://schemas.openxmlformats.org/officeDocument/2006/relationships/image" Target="../media/image62.wmf"/></Relationships>
</file>

<file path=ppt/slides/_rels/slide29.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84.wmf"/><Relationship Id="rId5" Type="http://schemas.openxmlformats.org/officeDocument/2006/relationships/oleObject" Target="../embeddings/oleObject66.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68.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88.wmf"/><Relationship Id="rId5" Type="http://schemas.openxmlformats.org/officeDocument/2006/relationships/oleObject" Target="../embeddings/oleObject70.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72.bin"/></Relationships>
</file>

<file path=ppt/slides/_rels/slide32.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95.w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92.w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76.bin"/></Relationships>
</file>

<file path=ppt/slides/_rels/slide33.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oleObject" Target="../embeddings/oleObject83.bin"/><Relationship Id="rId18" Type="http://schemas.openxmlformats.org/officeDocument/2006/relationships/image" Target="../media/image103.wmf"/><Relationship Id="rId26" Type="http://schemas.openxmlformats.org/officeDocument/2006/relationships/image" Target="../media/image107.wmf"/><Relationship Id="rId3" Type="http://schemas.openxmlformats.org/officeDocument/2006/relationships/oleObject" Target="../embeddings/oleObject78.bin"/><Relationship Id="rId21" Type="http://schemas.openxmlformats.org/officeDocument/2006/relationships/oleObject" Target="../embeddings/oleObject87.bin"/><Relationship Id="rId7" Type="http://schemas.openxmlformats.org/officeDocument/2006/relationships/oleObject" Target="../embeddings/oleObject80.bin"/><Relationship Id="rId12" Type="http://schemas.openxmlformats.org/officeDocument/2006/relationships/image" Target="../media/image100.wmf"/><Relationship Id="rId17" Type="http://schemas.openxmlformats.org/officeDocument/2006/relationships/oleObject" Target="../embeddings/oleObject85.bin"/><Relationship Id="rId25" Type="http://schemas.openxmlformats.org/officeDocument/2006/relationships/oleObject" Target="../embeddings/oleObject89.bin"/><Relationship Id="rId2" Type="http://schemas.openxmlformats.org/officeDocument/2006/relationships/slideLayout" Target="../slideLayouts/slideLayout6.xml"/><Relationship Id="rId16" Type="http://schemas.openxmlformats.org/officeDocument/2006/relationships/image" Target="../media/image102.wmf"/><Relationship Id="rId20" Type="http://schemas.openxmlformats.org/officeDocument/2006/relationships/image" Target="../media/image104.wmf"/><Relationship Id="rId1" Type="http://schemas.openxmlformats.org/officeDocument/2006/relationships/vmlDrawing" Target="../drawings/vmlDrawing22.vml"/><Relationship Id="rId6" Type="http://schemas.openxmlformats.org/officeDocument/2006/relationships/image" Target="../media/image97.wmf"/><Relationship Id="rId11" Type="http://schemas.openxmlformats.org/officeDocument/2006/relationships/oleObject" Target="../embeddings/oleObject82.bin"/><Relationship Id="rId24" Type="http://schemas.openxmlformats.org/officeDocument/2006/relationships/image" Target="../media/image106.wmf"/><Relationship Id="rId5" Type="http://schemas.openxmlformats.org/officeDocument/2006/relationships/oleObject" Target="../embeddings/oleObject79.bin"/><Relationship Id="rId15" Type="http://schemas.openxmlformats.org/officeDocument/2006/relationships/oleObject" Target="../embeddings/oleObject84.bin"/><Relationship Id="rId23" Type="http://schemas.openxmlformats.org/officeDocument/2006/relationships/oleObject" Target="../embeddings/oleObject88.bin"/><Relationship Id="rId28" Type="http://schemas.openxmlformats.org/officeDocument/2006/relationships/image" Target="../media/image108.wmf"/><Relationship Id="rId10" Type="http://schemas.openxmlformats.org/officeDocument/2006/relationships/image" Target="../media/image99.wmf"/><Relationship Id="rId19" Type="http://schemas.openxmlformats.org/officeDocument/2006/relationships/oleObject" Target="../embeddings/oleObject86.bin"/><Relationship Id="rId4" Type="http://schemas.openxmlformats.org/officeDocument/2006/relationships/image" Target="../media/image96.wmf"/><Relationship Id="rId9" Type="http://schemas.openxmlformats.org/officeDocument/2006/relationships/oleObject" Target="../embeddings/oleObject81.bin"/><Relationship Id="rId14" Type="http://schemas.openxmlformats.org/officeDocument/2006/relationships/image" Target="../media/image101.wmf"/><Relationship Id="rId22" Type="http://schemas.openxmlformats.org/officeDocument/2006/relationships/image" Target="../media/image105.wmf"/><Relationship Id="rId27" Type="http://schemas.openxmlformats.org/officeDocument/2006/relationships/oleObject" Target="../embeddings/oleObject90.bin"/></Relationships>
</file>

<file path=ppt/slides/_rels/slide34.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notesSlide" Target="../notesSlides/notesSlide14.xml"/><Relationship Id="rId7" Type="http://schemas.openxmlformats.org/officeDocument/2006/relationships/oleObject" Target="../embeddings/oleObject92.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109.wmf"/><Relationship Id="rId5" Type="http://schemas.openxmlformats.org/officeDocument/2006/relationships/oleObject" Target="../embeddings/oleObject91.bin"/><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oleObject" Target="../embeddings/oleObject93.bin"/><Relationship Id="rId7" Type="http://schemas.openxmlformats.org/officeDocument/2006/relationships/oleObject" Target="../embeddings/oleObject95.bin"/><Relationship Id="rId12" Type="http://schemas.openxmlformats.org/officeDocument/2006/relationships/image" Target="../media/image114.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11.wmf"/><Relationship Id="rId11" Type="http://schemas.openxmlformats.org/officeDocument/2006/relationships/oleObject" Target="../embeddings/oleObject97.bin"/><Relationship Id="rId5" Type="http://schemas.openxmlformats.org/officeDocument/2006/relationships/oleObject" Target="../embeddings/oleObject94.bin"/><Relationship Id="rId10" Type="http://schemas.openxmlformats.org/officeDocument/2006/relationships/image" Target="../media/image113.wmf"/><Relationship Id="rId4" Type="http://schemas.openxmlformats.org/officeDocument/2006/relationships/image" Target="../media/image110.wmf"/><Relationship Id="rId9" Type="http://schemas.openxmlformats.org/officeDocument/2006/relationships/oleObject" Target="../embeddings/oleObject96.bin"/></Relationships>
</file>

<file path=ppt/slides/_rels/slide36.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117.wmf"/></Relationships>
</file>

<file path=ppt/slides/_rels/slide4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wmf"/></Relationships>
</file>

<file path=ppt/slides/_rels/slide5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5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image" Target="../media/image139.png"/><Relationship Id="rId7" Type="http://schemas.openxmlformats.org/officeDocument/2006/relationships/oleObject" Target="../embeddings/oleObject101.bin"/><Relationship Id="rId2" Type="http://schemas.openxmlformats.org/officeDocument/2006/relationships/slideLayout" Target="../slideLayouts/slideLayout12.xml"/><Relationship Id="rId1" Type="http://schemas.openxmlformats.org/officeDocument/2006/relationships/vmlDrawing" Target="../drawings/vmlDrawing27.vml"/><Relationship Id="rId6" Type="http://schemas.openxmlformats.org/officeDocument/2006/relationships/image" Target="../media/image137.wmf"/><Relationship Id="rId5" Type="http://schemas.openxmlformats.org/officeDocument/2006/relationships/oleObject" Target="../embeddings/oleObject100.bin"/><Relationship Id="rId4" Type="http://schemas.openxmlformats.org/officeDocument/2006/relationships/image" Target="../media/image136.jpeg"/><Relationship Id="rId9" Type="http://schemas.openxmlformats.org/officeDocument/2006/relationships/image" Target="../media/image140.png"/></Relationships>
</file>

<file path=ppt/slides/_rels/slide53.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02.bin"/><Relationship Id="rId7" Type="http://schemas.openxmlformats.org/officeDocument/2006/relationships/oleObject" Target="../embeddings/oleObject104.bin"/><Relationship Id="rId12" Type="http://schemas.openxmlformats.org/officeDocument/2006/relationships/image" Target="../media/image138.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42.wmf"/><Relationship Id="rId11" Type="http://schemas.openxmlformats.org/officeDocument/2006/relationships/oleObject" Target="../embeddings/oleObject106.bin"/><Relationship Id="rId5" Type="http://schemas.openxmlformats.org/officeDocument/2006/relationships/oleObject" Target="../embeddings/oleObject103.bin"/><Relationship Id="rId10" Type="http://schemas.openxmlformats.org/officeDocument/2006/relationships/image" Target="../media/image33.wmf"/><Relationship Id="rId4" Type="http://schemas.openxmlformats.org/officeDocument/2006/relationships/image" Target="../media/image141.wmf"/><Relationship Id="rId9" Type="http://schemas.openxmlformats.org/officeDocument/2006/relationships/oleObject" Target="../embeddings/oleObject105.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image" Target="../media/image14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48.wmf"/><Relationship Id="rId5" Type="http://schemas.openxmlformats.org/officeDocument/2006/relationships/oleObject" Target="../embeddings/oleObject108.bin"/><Relationship Id="rId4" Type="http://schemas.openxmlformats.org/officeDocument/2006/relationships/image" Target="../media/image147.wmf"/></Relationships>
</file>

<file path=ppt/slides/_rels/slide5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09.bin"/><Relationship Id="rId7" Type="http://schemas.openxmlformats.org/officeDocument/2006/relationships/oleObject" Target="../embeddings/oleObject111.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50.wmf"/><Relationship Id="rId5" Type="http://schemas.openxmlformats.org/officeDocument/2006/relationships/oleObject" Target="../embeddings/oleObject110.bin"/><Relationship Id="rId10" Type="http://schemas.openxmlformats.org/officeDocument/2006/relationships/image" Target="../media/image148.wmf"/><Relationship Id="rId4" Type="http://schemas.openxmlformats.org/officeDocument/2006/relationships/image" Target="../media/image149.wmf"/><Relationship Id="rId9" Type="http://schemas.openxmlformats.org/officeDocument/2006/relationships/oleObject" Target="../embeddings/oleObject112.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 Id="rId4" Type="http://schemas.openxmlformats.org/officeDocument/2006/relationships/image" Target="../media/image153.png"/></Relationships>
</file>

<file path=ppt/slides/_rels/slide62.xml.rels><?xml version="1.0" encoding="UTF-8" standalone="yes"?>
<Relationships xmlns="http://schemas.openxmlformats.org/package/2006/relationships"><Relationship Id="rId8" Type="http://schemas.openxmlformats.org/officeDocument/2006/relationships/image" Target="../media/image156.wmf"/><Relationship Id="rId13" Type="http://schemas.openxmlformats.org/officeDocument/2006/relationships/oleObject" Target="../embeddings/oleObject118.bin"/><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58.wmf"/><Relationship Id="rId2" Type="http://schemas.openxmlformats.org/officeDocument/2006/relationships/slideLayout" Target="../slideLayouts/slideLayout6.xml"/><Relationship Id="rId1" Type="http://schemas.openxmlformats.org/officeDocument/2006/relationships/vmlDrawing" Target="../drawings/vmlDrawing31.vml"/><Relationship Id="rId6" Type="http://schemas.openxmlformats.org/officeDocument/2006/relationships/image" Target="../media/image155.wmf"/><Relationship Id="rId11" Type="http://schemas.openxmlformats.org/officeDocument/2006/relationships/oleObject" Target="../embeddings/oleObject117.bin"/><Relationship Id="rId5" Type="http://schemas.openxmlformats.org/officeDocument/2006/relationships/oleObject" Target="../embeddings/oleObject114.bin"/><Relationship Id="rId15" Type="http://schemas.openxmlformats.org/officeDocument/2006/relationships/image" Target="../media/image160.png"/><Relationship Id="rId10" Type="http://schemas.openxmlformats.org/officeDocument/2006/relationships/image" Target="../media/image157.wmf"/><Relationship Id="rId4" Type="http://schemas.openxmlformats.org/officeDocument/2006/relationships/image" Target="../media/image154.wmf"/><Relationship Id="rId9" Type="http://schemas.openxmlformats.org/officeDocument/2006/relationships/oleObject" Target="../embeddings/oleObject116.bin"/><Relationship Id="rId14" Type="http://schemas.openxmlformats.org/officeDocument/2006/relationships/image" Target="../media/image159.wmf"/></Relationships>
</file>

<file path=ppt/slides/_rels/slide63.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image" Target="../media/image161.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8" Type="http://schemas.openxmlformats.org/officeDocument/2006/relationships/image" Target="../media/image165.wmf"/><Relationship Id="rId3" Type="http://schemas.openxmlformats.org/officeDocument/2006/relationships/oleObject" Target="../embeddings/oleObject119.bin"/><Relationship Id="rId7" Type="http://schemas.openxmlformats.org/officeDocument/2006/relationships/oleObject" Target="../embeddings/oleObject121.bin"/><Relationship Id="rId12" Type="http://schemas.openxmlformats.org/officeDocument/2006/relationships/image" Target="../media/image167.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64.wmf"/><Relationship Id="rId11" Type="http://schemas.openxmlformats.org/officeDocument/2006/relationships/oleObject" Target="../embeddings/oleObject123.bin"/><Relationship Id="rId5" Type="http://schemas.openxmlformats.org/officeDocument/2006/relationships/oleObject" Target="../embeddings/oleObject120.bin"/><Relationship Id="rId10" Type="http://schemas.openxmlformats.org/officeDocument/2006/relationships/image" Target="../media/image166.wmf"/><Relationship Id="rId4" Type="http://schemas.openxmlformats.org/officeDocument/2006/relationships/image" Target="../media/image163.wmf"/><Relationship Id="rId9" Type="http://schemas.openxmlformats.org/officeDocument/2006/relationships/oleObject" Target="../embeddings/oleObject122.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4.xml"/><Relationship Id="rId1" Type="http://schemas.openxmlformats.org/officeDocument/2006/relationships/vmlDrawing" Target="../drawings/vmlDrawing33.vml"/><Relationship Id="rId5" Type="http://schemas.openxmlformats.org/officeDocument/2006/relationships/image" Target="../media/image169.jpeg"/><Relationship Id="rId4" Type="http://schemas.openxmlformats.org/officeDocument/2006/relationships/image" Target="../media/image168.wmf"/></Relationships>
</file>

<file path=ppt/slides/_rels/slide67.xml.rels><?xml version="1.0" encoding="UTF-8" standalone="yes"?>
<Relationships xmlns="http://schemas.openxmlformats.org/package/2006/relationships"><Relationship Id="rId8" Type="http://schemas.openxmlformats.org/officeDocument/2006/relationships/image" Target="../media/image172.wmf"/><Relationship Id="rId13" Type="http://schemas.openxmlformats.org/officeDocument/2006/relationships/oleObject" Target="../embeddings/oleObject130.bin"/><Relationship Id="rId18" Type="http://schemas.openxmlformats.org/officeDocument/2006/relationships/image" Target="../media/image177.wmf"/><Relationship Id="rId3" Type="http://schemas.openxmlformats.org/officeDocument/2006/relationships/oleObject" Target="../embeddings/oleObject125.bin"/><Relationship Id="rId21" Type="http://schemas.openxmlformats.org/officeDocument/2006/relationships/oleObject" Target="../embeddings/oleObject134.bin"/><Relationship Id="rId7" Type="http://schemas.openxmlformats.org/officeDocument/2006/relationships/oleObject" Target="../embeddings/oleObject127.bin"/><Relationship Id="rId12" Type="http://schemas.openxmlformats.org/officeDocument/2006/relationships/image" Target="../media/image174.wmf"/><Relationship Id="rId17" Type="http://schemas.openxmlformats.org/officeDocument/2006/relationships/oleObject" Target="../embeddings/oleObject132.bin"/><Relationship Id="rId25" Type="http://schemas.openxmlformats.org/officeDocument/2006/relationships/image" Target="../media/image181.png"/><Relationship Id="rId2" Type="http://schemas.openxmlformats.org/officeDocument/2006/relationships/slideLayout" Target="../slideLayouts/slideLayout6.xml"/><Relationship Id="rId16" Type="http://schemas.openxmlformats.org/officeDocument/2006/relationships/image" Target="../media/image176.wmf"/><Relationship Id="rId20" Type="http://schemas.openxmlformats.org/officeDocument/2006/relationships/image" Target="../media/image178.wmf"/><Relationship Id="rId1" Type="http://schemas.openxmlformats.org/officeDocument/2006/relationships/vmlDrawing" Target="../drawings/vmlDrawing34.vml"/><Relationship Id="rId6" Type="http://schemas.openxmlformats.org/officeDocument/2006/relationships/image" Target="../media/image171.wmf"/><Relationship Id="rId11" Type="http://schemas.openxmlformats.org/officeDocument/2006/relationships/oleObject" Target="../embeddings/oleObject129.bin"/><Relationship Id="rId24" Type="http://schemas.openxmlformats.org/officeDocument/2006/relationships/image" Target="../media/image180.wmf"/><Relationship Id="rId5" Type="http://schemas.openxmlformats.org/officeDocument/2006/relationships/oleObject" Target="../embeddings/oleObject126.bin"/><Relationship Id="rId15" Type="http://schemas.openxmlformats.org/officeDocument/2006/relationships/oleObject" Target="../embeddings/oleObject131.bin"/><Relationship Id="rId23" Type="http://schemas.openxmlformats.org/officeDocument/2006/relationships/oleObject" Target="../embeddings/oleObject135.bin"/><Relationship Id="rId10" Type="http://schemas.openxmlformats.org/officeDocument/2006/relationships/image" Target="../media/image173.wmf"/><Relationship Id="rId19" Type="http://schemas.openxmlformats.org/officeDocument/2006/relationships/oleObject" Target="../embeddings/oleObject133.bin"/><Relationship Id="rId4" Type="http://schemas.openxmlformats.org/officeDocument/2006/relationships/image" Target="../media/image170.wmf"/><Relationship Id="rId9" Type="http://schemas.openxmlformats.org/officeDocument/2006/relationships/oleObject" Target="../embeddings/oleObject128.bin"/><Relationship Id="rId14" Type="http://schemas.openxmlformats.org/officeDocument/2006/relationships/image" Target="../media/image175.wmf"/><Relationship Id="rId22" Type="http://schemas.openxmlformats.org/officeDocument/2006/relationships/image" Target="../media/image179.wmf"/></Relationships>
</file>

<file path=ppt/slides/_rels/slide68.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83.wmf"/><Relationship Id="rId5" Type="http://schemas.openxmlformats.org/officeDocument/2006/relationships/oleObject" Target="../embeddings/oleObject137.bin"/><Relationship Id="rId4" Type="http://schemas.openxmlformats.org/officeDocument/2006/relationships/image" Target="../media/image182.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39.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85.wmf"/><Relationship Id="rId5" Type="http://schemas.openxmlformats.org/officeDocument/2006/relationships/oleObject" Target="../embeddings/oleObject140.bin"/><Relationship Id="rId4" Type="http://schemas.openxmlformats.org/officeDocument/2006/relationships/image" Target="../media/image184.wmf"/></Relationships>
</file>

<file path=ppt/slides/_rels/slide70.xml.rels><?xml version="1.0" encoding="UTF-8" standalone="yes"?>
<Relationships xmlns="http://schemas.openxmlformats.org/package/2006/relationships"><Relationship Id="rId2" Type="http://schemas.openxmlformats.org/officeDocument/2006/relationships/image" Target="../media/image186.jpe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188.wmf"/></Relationships>
</file>

<file path=ppt/slides/_rels/slide75.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90.jpe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Layout" Target="../slideLayouts/slideLayout6.xml"/><Relationship Id="rId1" Type="http://schemas.openxmlformats.org/officeDocument/2006/relationships/vmlDrawing" Target="../drawings/vmlDrawing38.vml"/><Relationship Id="rId4" Type="http://schemas.openxmlformats.org/officeDocument/2006/relationships/image" Target="../media/image191.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43.bin"/><Relationship Id="rId2" Type="http://schemas.openxmlformats.org/officeDocument/2006/relationships/slideLayout" Target="../slideLayouts/slideLayout6.xml"/><Relationship Id="rId1" Type="http://schemas.openxmlformats.org/officeDocument/2006/relationships/vmlDrawing" Target="../drawings/vmlDrawing39.vml"/><Relationship Id="rId5" Type="http://schemas.openxmlformats.org/officeDocument/2006/relationships/image" Target="../media/image193.png"/><Relationship Id="rId4" Type="http://schemas.openxmlformats.org/officeDocument/2006/relationships/image" Target="../media/image192.wmf"/></Relationships>
</file>

<file path=ppt/slides/_rels/slide84.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smtClean="0"/>
              <a:t>Chapter 15</a:t>
            </a:r>
          </a:p>
        </p:txBody>
      </p:sp>
      <p:sp>
        <p:nvSpPr>
          <p:cNvPr id="3075" name="Rectangle 3"/>
          <p:cNvSpPr>
            <a:spLocks noGrp="1" noChangeArrowheads="1"/>
          </p:cNvSpPr>
          <p:nvPr>
            <p:ph type="subTitle" idx="1"/>
          </p:nvPr>
        </p:nvSpPr>
        <p:spPr/>
        <p:txBody>
          <a:bodyPr/>
          <a:lstStyle/>
          <a:p>
            <a:pPr marL="0" indent="0" eaLnBrk="1" hangingPunct="1">
              <a:buFont typeface="Wingdings" pitchFamily="2" charset="2"/>
              <a:buNone/>
            </a:pPr>
            <a:r>
              <a:rPr lang="en-US" altLang="en-US" smtClean="0"/>
              <a:t>Oscillatory Motion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solidFill>
            <a:srgbClr val="00B050"/>
          </a:solidFill>
          <a:ln>
            <a:solidFill>
              <a:schemeClr val="bg1"/>
            </a:solidFill>
            <a:miter lim="800000"/>
            <a:headEnd/>
            <a:tailEnd/>
          </a:ln>
        </p:spPr>
        <p:txBody>
          <a:bodyPr/>
          <a:lstStyle/>
          <a:p>
            <a:pPr eaLnBrk="1" hangingPunct="1"/>
            <a:r>
              <a:rPr lang="en-US" altLang="en-US" smtClean="0"/>
              <a:t>Periodic Motion</a:t>
            </a:r>
          </a:p>
        </p:txBody>
      </p:sp>
      <p:sp>
        <p:nvSpPr>
          <p:cNvPr id="4099" name="Content Placeholder 2"/>
          <p:cNvSpPr>
            <a:spLocks noGrp="1"/>
          </p:cNvSpPr>
          <p:nvPr>
            <p:ph idx="1"/>
          </p:nvPr>
        </p:nvSpPr>
        <p:spPr>
          <a:xfrm>
            <a:off x="457200" y="1676400"/>
            <a:ext cx="10401300" cy="4648200"/>
          </a:xfrm>
        </p:spPr>
        <p:txBody>
          <a:bodyPr/>
          <a:lstStyle/>
          <a:p>
            <a:pPr marL="285750" indent="-285750" eaLnBrk="1" hangingPunct="1">
              <a:buFont typeface="Wingdings" panose="05000000000000000000" pitchFamily="2" charset="2"/>
              <a:buChar char="Ø"/>
              <a:defRPr/>
            </a:pPr>
            <a:r>
              <a:rPr lang="en-US" altLang="en-US" b="1" i="1" dirty="0" smtClean="0">
                <a:latin typeface="Times New Roman" panose="02020603050405020304" pitchFamily="18" charset="0"/>
                <a:ea typeface="+mn-ea"/>
                <a:cs typeface="Times New Roman" panose="02020603050405020304" pitchFamily="18" charset="0"/>
              </a:rPr>
              <a:t>Periodic motion : </a:t>
            </a:r>
            <a:r>
              <a:rPr lang="en-US" altLang="en-US" dirty="0">
                <a:latin typeface="Times New Roman" panose="02020603050405020304" pitchFamily="18" charset="0"/>
                <a:ea typeface="+mn-ea"/>
                <a:cs typeface="Times New Roman" panose="02020603050405020304" pitchFamily="18" charset="0"/>
              </a:rPr>
              <a:t>Periodic motion </a:t>
            </a:r>
            <a:r>
              <a:rPr lang="en-US" altLang="en-US" dirty="0" smtClean="0">
                <a:latin typeface="Times New Roman" panose="02020603050405020304" pitchFamily="18" charset="0"/>
                <a:ea typeface="+mn-ea"/>
                <a:cs typeface="Times New Roman" panose="02020603050405020304" pitchFamily="18" charset="0"/>
              </a:rPr>
              <a:t>is the repeating motion of an object in which it continues to return to a given position after a fixed time interval.</a:t>
            </a:r>
          </a:p>
          <a:p>
            <a:pPr marL="285750" indent="-285750" eaLnBrk="1" hangingPunct="1">
              <a:buFont typeface="Wingdings" panose="05000000000000000000" pitchFamily="2" charset="2"/>
              <a:buChar char="Ø"/>
              <a:defRPr/>
            </a:pPr>
            <a:r>
              <a:rPr lang="en-US" dirty="0" smtClean="0">
                <a:latin typeface="Times New Roman" panose="02020603050405020304" pitchFamily="18" charset="0"/>
                <a:ea typeface="+mn-ea"/>
                <a:cs typeface="Times New Roman" panose="02020603050405020304" pitchFamily="18" charset="0"/>
              </a:rPr>
              <a:t>The beating </a:t>
            </a:r>
            <a:r>
              <a:rPr lang="en-US" dirty="0">
                <a:latin typeface="Times New Roman" panose="02020603050405020304" pitchFamily="18" charset="0"/>
                <a:ea typeface="+mn-ea"/>
                <a:cs typeface="Times New Roman" panose="02020603050405020304" pitchFamily="18" charset="0"/>
              </a:rPr>
              <a:t>of your heart,</a:t>
            </a:r>
            <a:r>
              <a:rPr lang="en-US" dirty="0" smtClean="0">
                <a:latin typeface="Times New Roman" panose="02020603050405020304" pitchFamily="18" charset="0"/>
                <a:ea typeface="+mn-ea"/>
                <a:cs typeface="Times New Roman" panose="02020603050405020304" pitchFamily="18" charset="0"/>
              </a:rPr>
              <a:t> </a:t>
            </a:r>
            <a:r>
              <a:rPr lang="en-US" dirty="0">
                <a:latin typeface="Times New Roman" panose="02020603050405020304" pitchFamily="18" charset="0"/>
                <a:ea typeface="+mn-ea"/>
                <a:cs typeface="Times New Roman" panose="02020603050405020304" pitchFamily="18" charset="0"/>
              </a:rPr>
              <a:t>the ticking of a clock, </a:t>
            </a:r>
            <a:r>
              <a:rPr lang="en-US" dirty="0" smtClean="0">
                <a:latin typeface="Times New Roman" panose="02020603050405020304" pitchFamily="18" charset="0"/>
                <a:ea typeface="+mn-ea"/>
                <a:cs typeface="Times New Roman" panose="02020603050405020304" pitchFamily="18" charset="0"/>
              </a:rPr>
              <a:t>and the </a:t>
            </a:r>
            <a:r>
              <a:rPr lang="en-US" dirty="0">
                <a:latin typeface="Times New Roman" panose="02020603050405020304" pitchFamily="18" charset="0"/>
                <a:ea typeface="+mn-ea"/>
                <a:cs typeface="Times New Roman" panose="02020603050405020304" pitchFamily="18" charset="0"/>
              </a:rPr>
              <a:t>movement of a child on </a:t>
            </a:r>
            <a:r>
              <a:rPr lang="en-US" dirty="0" smtClean="0">
                <a:latin typeface="Times New Roman" panose="02020603050405020304" pitchFamily="18" charset="0"/>
                <a:ea typeface="+mn-ea"/>
                <a:cs typeface="Times New Roman" panose="02020603050405020304" pitchFamily="18" charset="0"/>
              </a:rPr>
              <a:t>a swing. </a:t>
            </a:r>
            <a:r>
              <a:rPr lang="en-US" dirty="0">
                <a:latin typeface="Times New Roman" panose="02020603050405020304" pitchFamily="18" charset="0"/>
                <a:ea typeface="+mn-ea"/>
                <a:cs typeface="Times New Roman" panose="02020603050405020304" pitchFamily="18" charset="0"/>
              </a:rPr>
              <a:t>The Earth </a:t>
            </a:r>
            <a:r>
              <a:rPr lang="en-US" dirty="0" smtClean="0">
                <a:latin typeface="Times New Roman" panose="02020603050405020304" pitchFamily="18" charset="0"/>
                <a:ea typeface="+mn-ea"/>
                <a:cs typeface="Times New Roman" panose="02020603050405020304" pitchFamily="18" charset="0"/>
              </a:rPr>
              <a:t>returns to </a:t>
            </a:r>
            <a:r>
              <a:rPr lang="en-US" dirty="0">
                <a:latin typeface="Times New Roman" panose="02020603050405020304" pitchFamily="18" charset="0"/>
                <a:ea typeface="+mn-ea"/>
                <a:cs typeface="Times New Roman" panose="02020603050405020304" pitchFamily="18" charset="0"/>
              </a:rPr>
              <a:t>the same position in its orbit around the Sun each </a:t>
            </a:r>
            <a:r>
              <a:rPr lang="en-US" dirty="0" smtClean="0">
                <a:latin typeface="Times New Roman" panose="02020603050405020304" pitchFamily="18" charset="0"/>
                <a:ea typeface="+mn-ea"/>
                <a:cs typeface="Times New Roman" panose="02020603050405020304" pitchFamily="18" charset="0"/>
              </a:rPr>
              <a:t>year</a:t>
            </a:r>
            <a:r>
              <a:rPr lang="en-US" dirty="0" smtClean="0">
                <a:ea typeface="+mn-ea"/>
                <a:cs typeface="Times New Roman" panose="02020603050405020304" pitchFamily="18" charset="0"/>
              </a:rPr>
              <a:t>. </a:t>
            </a:r>
            <a:r>
              <a:rPr lang="en-US" dirty="0" smtClean="0">
                <a:latin typeface="Times New Roman" panose="02020603050405020304" pitchFamily="18" charset="0"/>
                <a:ea typeface="+mn-ea"/>
                <a:cs typeface="Times New Roman" panose="02020603050405020304" pitchFamily="18" charset="0"/>
              </a:rPr>
              <a:t>In alternating-current electrical circuits, voltage</a:t>
            </a:r>
            <a:r>
              <a:rPr lang="en-US" dirty="0">
                <a:latin typeface="Times New Roman" panose="02020603050405020304" pitchFamily="18" charset="0"/>
                <a:ea typeface="+mn-ea"/>
                <a:cs typeface="Times New Roman" panose="02020603050405020304" pitchFamily="18" charset="0"/>
              </a:rPr>
              <a:t>, current, and electric charge vary periodically with time.</a:t>
            </a:r>
            <a:r>
              <a:rPr lang="en-US" dirty="0" smtClean="0">
                <a:latin typeface="Times New Roman" panose="02020603050405020304" pitchFamily="18" charset="0"/>
                <a:ea typeface="+mn-ea"/>
                <a:cs typeface="Times New Roman" panose="02020603050405020304" pitchFamily="18" charset="0"/>
              </a:rPr>
              <a:t> </a:t>
            </a:r>
          </a:p>
          <a:p>
            <a:pPr marL="285750" indent="-285750" eaLnBrk="1" hangingPunct="1">
              <a:buFont typeface="Wingdings" panose="05000000000000000000" pitchFamily="2" charset="2"/>
              <a:buChar char="Ø"/>
              <a:defRPr/>
            </a:pPr>
            <a:r>
              <a:rPr lang="en-US" dirty="0">
                <a:latin typeface="Times New Roman" panose="02020603050405020304" pitchFamily="18" charset="0"/>
                <a:ea typeface="+mn-ea"/>
                <a:cs typeface="Times New Roman" panose="02020603050405020304" pitchFamily="18" charset="0"/>
              </a:rPr>
              <a:t>One of the key characteristics of a periodic system </a:t>
            </a:r>
            <a:r>
              <a:rPr lang="en-US" dirty="0" smtClean="0">
                <a:latin typeface="Times New Roman" panose="02020603050405020304" pitchFamily="18" charset="0"/>
                <a:ea typeface="+mn-ea"/>
                <a:cs typeface="Times New Roman" panose="02020603050405020304" pitchFamily="18" charset="0"/>
              </a:rPr>
              <a:t>is the </a:t>
            </a:r>
            <a:r>
              <a:rPr lang="en-US" dirty="0">
                <a:latin typeface="Times New Roman" panose="02020603050405020304" pitchFamily="18" charset="0"/>
                <a:ea typeface="+mn-ea"/>
                <a:cs typeface="Times New Roman" panose="02020603050405020304" pitchFamily="18" charset="0"/>
              </a:rPr>
              <a:t>time required for the completion of one cycle of its repetitive motion.</a:t>
            </a:r>
            <a:r>
              <a:rPr lang="en-US" dirty="0" smtClean="0">
                <a:latin typeface="Times New Roman" panose="02020603050405020304" pitchFamily="18" charset="0"/>
                <a:ea typeface="+mn-ea"/>
                <a:cs typeface="Times New Roman" panose="02020603050405020304" pitchFamily="18" charset="0"/>
              </a:rPr>
              <a:t> </a:t>
            </a:r>
          </a:p>
          <a:p>
            <a:pPr marL="285750" indent="-285750" eaLnBrk="1" hangingPunct="1">
              <a:buFont typeface="Wingdings" panose="05000000000000000000" pitchFamily="2" charset="2"/>
              <a:buChar char="Ø"/>
              <a:defRPr/>
            </a:pPr>
            <a:r>
              <a:rPr lang="en-US" b="1" dirty="0" smtClean="0">
                <a:latin typeface="Times New Roman" panose="02020603050405020304" pitchFamily="18" charset="0"/>
                <a:ea typeface="+mn-ea"/>
                <a:cs typeface="Times New Roman" panose="02020603050405020304" pitchFamily="18" charset="0"/>
              </a:rPr>
              <a:t>Definition </a:t>
            </a:r>
            <a:r>
              <a:rPr lang="en-US" b="1" dirty="0">
                <a:latin typeface="Times New Roman" panose="02020603050405020304" pitchFamily="18" charset="0"/>
                <a:ea typeface="+mn-ea"/>
                <a:cs typeface="Times New Roman" panose="02020603050405020304" pitchFamily="18" charset="0"/>
              </a:rPr>
              <a:t>of Period, </a:t>
            </a:r>
            <a:r>
              <a:rPr lang="en-US" b="1" i="1" dirty="0" smtClean="0">
                <a:latin typeface="Times New Roman" panose="02020603050405020304" pitchFamily="18" charset="0"/>
                <a:ea typeface="+mn-ea"/>
                <a:cs typeface="Times New Roman" panose="02020603050405020304" pitchFamily="18" charset="0"/>
              </a:rPr>
              <a:t>T</a:t>
            </a:r>
            <a:r>
              <a:rPr lang="en-US" i="1" dirty="0" smtClean="0">
                <a:latin typeface="Times New Roman" panose="02020603050405020304" pitchFamily="18" charset="0"/>
                <a:ea typeface="+mn-ea"/>
                <a:cs typeface="Times New Roman" panose="02020603050405020304" pitchFamily="18" charset="0"/>
              </a:rPr>
              <a:t>:  </a:t>
            </a:r>
            <a:r>
              <a:rPr lang="en-US" dirty="0" smtClean="0">
                <a:latin typeface="Times New Roman" panose="02020603050405020304" pitchFamily="18" charset="0"/>
                <a:ea typeface="+mn-ea"/>
                <a:cs typeface="Times New Roman" panose="02020603050405020304" pitchFamily="18" charset="0"/>
              </a:rPr>
              <a:t>T </a:t>
            </a:r>
            <a:r>
              <a:rPr lang="en-US" dirty="0">
                <a:latin typeface="Times New Roman" panose="02020603050405020304" pitchFamily="18" charset="0"/>
                <a:ea typeface="+mn-ea"/>
                <a:cs typeface="Times New Roman" panose="02020603050405020304" pitchFamily="18" charset="0"/>
              </a:rPr>
              <a:t>= time required for one cycle of a periodic motion</a:t>
            </a:r>
            <a:r>
              <a:rPr lang="en-US" dirty="0" smtClean="0">
                <a:latin typeface="Times New Roman" panose="02020603050405020304" pitchFamily="18" charset="0"/>
                <a:ea typeface="+mn-ea"/>
                <a:cs typeface="Times New Roman" panose="02020603050405020304" pitchFamily="18" charset="0"/>
              </a:rPr>
              <a:t> </a:t>
            </a:r>
          </a:p>
          <a:p>
            <a:pPr marL="285750" indent="-285750" eaLnBrk="1" hangingPunct="1">
              <a:buFont typeface="Wingdings" panose="05000000000000000000" pitchFamily="2" charset="2"/>
              <a:buChar char="Ø"/>
              <a:defRPr/>
            </a:pPr>
            <a:r>
              <a:rPr lang="en-US" dirty="0" smtClean="0">
                <a:latin typeface="Times New Roman" panose="02020603050405020304" pitchFamily="18" charset="0"/>
                <a:ea typeface="+mn-ea"/>
                <a:cs typeface="Times New Roman" panose="02020603050405020304" pitchFamily="18" charset="0"/>
              </a:rPr>
              <a:t>SI Unit: </a:t>
            </a:r>
            <a:r>
              <a:rPr lang="en-US" dirty="0">
                <a:latin typeface="Times New Roman" panose="02020603050405020304" pitchFamily="18" charset="0"/>
                <a:ea typeface="+mn-ea"/>
                <a:cs typeface="Times New Roman" panose="02020603050405020304" pitchFamily="18" charset="0"/>
              </a:rPr>
              <a:t>seconds/cycle = s</a:t>
            </a:r>
            <a:r>
              <a:rPr lang="en-US" dirty="0" smtClean="0">
                <a:latin typeface="Times New Roman" panose="02020603050405020304" pitchFamily="18" charset="0"/>
                <a:ea typeface="+mn-ea"/>
                <a:cs typeface="Times New Roman" panose="02020603050405020304" pitchFamily="18" charset="0"/>
              </a:rPr>
              <a:t> </a:t>
            </a:r>
          </a:p>
          <a:p>
            <a:pPr marL="285750" indent="-285750" eaLnBrk="1" hangingPunct="1">
              <a:buFont typeface="Wingdings" panose="05000000000000000000" pitchFamily="2" charset="2"/>
              <a:buChar char="Ø"/>
              <a:defRPr/>
            </a:pPr>
            <a:r>
              <a:rPr lang="en-US" b="1" dirty="0" smtClean="0">
                <a:latin typeface="Times New Roman" panose="02020603050405020304" pitchFamily="18" charset="0"/>
                <a:ea typeface="+mn-ea"/>
                <a:cs typeface="Times New Roman" panose="02020603050405020304" pitchFamily="18" charset="0"/>
              </a:rPr>
              <a:t>Definition of frequency</a:t>
            </a:r>
            <a:r>
              <a:rPr lang="en-US" b="1" dirty="0">
                <a:latin typeface="Times New Roman" panose="02020603050405020304" pitchFamily="18" charset="0"/>
                <a:ea typeface="+mn-ea"/>
                <a:cs typeface="Times New Roman" panose="02020603050405020304" pitchFamily="18" charset="0"/>
              </a:rPr>
              <a:t>, </a:t>
            </a:r>
            <a:r>
              <a:rPr lang="en-US" b="1" i="1" dirty="0">
                <a:latin typeface="Times New Roman" panose="02020603050405020304" pitchFamily="18" charset="0"/>
                <a:ea typeface="+mn-ea"/>
                <a:cs typeface="Times New Roman" panose="02020603050405020304" pitchFamily="18" charset="0"/>
              </a:rPr>
              <a:t>f</a:t>
            </a:r>
            <a:r>
              <a:rPr lang="en-US" dirty="0" smtClean="0">
                <a:latin typeface="Times New Roman" panose="02020603050405020304" pitchFamily="18" charset="0"/>
                <a:ea typeface="+mn-ea"/>
                <a:cs typeface="Times New Roman" panose="02020603050405020304" pitchFamily="18" charset="0"/>
              </a:rPr>
              <a:t> : </a:t>
            </a:r>
            <a:r>
              <a:rPr lang="en-US" dirty="0">
                <a:latin typeface="Times New Roman" panose="02020603050405020304" pitchFamily="18" charset="0"/>
                <a:ea typeface="+mn-ea"/>
                <a:cs typeface="Times New Roman" panose="02020603050405020304" pitchFamily="18" charset="0"/>
              </a:rPr>
              <a:t>The frequency of an oscillation is simply the number of oscillations per unit of time.</a:t>
            </a:r>
            <a:r>
              <a:rPr lang="en-US" dirty="0" smtClean="0">
                <a:ea typeface="+mn-ea"/>
              </a:rPr>
              <a:t>  </a:t>
            </a:r>
          </a:p>
          <a:p>
            <a:pPr marL="285750" indent="-285750" eaLnBrk="1" hangingPunct="1">
              <a:buFont typeface="Wingdings" panose="05000000000000000000" pitchFamily="2" charset="2"/>
              <a:buChar char="Ø"/>
              <a:defRPr/>
            </a:pPr>
            <a:r>
              <a:rPr lang="en-US" dirty="0" smtClean="0">
                <a:ea typeface="+mn-ea"/>
              </a:rPr>
              <a:t>SI Unit: cycle/ seconds = 1/ s = s</a:t>
            </a:r>
            <a:r>
              <a:rPr lang="en-US" baseline="30000" dirty="0" smtClean="0">
                <a:ea typeface="+mn-ea"/>
              </a:rPr>
              <a:t>-1</a:t>
            </a:r>
          </a:p>
          <a:p>
            <a:pPr marL="285750" indent="-285750" eaLnBrk="1" hangingPunct="1">
              <a:buFont typeface="Wingdings" panose="05000000000000000000" pitchFamily="2" charset="2"/>
              <a:buChar char="Ø"/>
              <a:defRPr/>
            </a:pPr>
            <a:r>
              <a:rPr lang="en-US" dirty="0">
                <a:ea typeface="+mn-ea"/>
              </a:rPr>
              <a:t>1 Hz = 1 cycle/second</a:t>
            </a:r>
            <a:r>
              <a:rPr lang="en-US" dirty="0" smtClean="0">
                <a:ea typeface="+mn-ea"/>
              </a:rPr>
              <a:t>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latin typeface="Times New Roman" panose="02020603050405020304" pitchFamily="18" charset="0"/>
                <a:ea typeface="+mn-ea"/>
                <a:cs typeface="Times New Roman" panose="02020603050405020304" pitchFamily="18" charset="0"/>
              </a:rPr>
              <a:t/>
            </a:r>
            <a:br>
              <a:rPr lang="en-US" dirty="0" smtClean="0">
                <a:latin typeface="Times New Roman" panose="02020603050405020304" pitchFamily="18" charset="0"/>
                <a:ea typeface="+mn-ea"/>
                <a:cs typeface="Times New Roman" panose="02020603050405020304" pitchFamily="18" charset="0"/>
              </a:rPr>
            </a:br>
            <a:r>
              <a:rPr lang="en-US" dirty="0" smtClean="0">
                <a:ea typeface="+mn-ea"/>
              </a:rPr>
              <a:t/>
            </a:r>
            <a:br>
              <a:rPr lang="en-US" dirty="0" smtClean="0">
                <a:ea typeface="+mn-ea"/>
              </a:rPr>
            </a:br>
            <a:r>
              <a:rPr lang="en-US" i="1" dirty="0" smtClean="0">
                <a:ea typeface="+mn-ea"/>
              </a:rPr>
              <a:t> </a:t>
            </a:r>
            <a:r>
              <a:rPr lang="en-US" dirty="0" smtClean="0">
                <a:ea typeface="+mn-ea"/>
              </a:rPr>
              <a:t>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endParaRPr lang="en-US" altLang="en-US" dirty="0" smtClean="0">
              <a:ea typeface="+mn-ea"/>
            </a:endParaRPr>
          </a:p>
          <a:p>
            <a:pPr marL="0" indent="0" eaLnBrk="1" hangingPunct="1">
              <a:defRPr/>
            </a:pPr>
            <a:r>
              <a:rPr lang="en-US" altLang="en-US" dirty="0" smtClean="0">
                <a:ea typeface="+mn-ea"/>
              </a:rPr>
              <a:t>The repetitive movements are called </a:t>
            </a:r>
            <a:r>
              <a:rPr lang="en-US" altLang="en-US" i="1" dirty="0" smtClean="0">
                <a:ea typeface="+mn-ea"/>
              </a:rPr>
              <a:t>oscillations.</a:t>
            </a:r>
            <a:endParaRPr lang="en-US" altLang="en-US" dirty="0" smtClean="0">
              <a:ea typeface="+mn-ea"/>
            </a:endParaRPr>
          </a:p>
          <a:p>
            <a:pPr marL="0" indent="0" eaLnBrk="1" hangingPunct="1">
              <a:defRPr/>
            </a:pPr>
            <a:r>
              <a:rPr lang="en-US" altLang="en-US" dirty="0" smtClean="0">
                <a:ea typeface="+mn-ea"/>
              </a:rPr>
              <a:t>A special case of periodic motion called </a:t>
            </a:r>
            <a:r>
              <a:rPr lang="en-US" altLang="en-US" i="1" dirty="0" smtClean="0">
                <a:ea typeface="+mn-ea"/>
              </a:rPr>
              <a:t>simple harmonic motion</a:t>
            </a:r>
            <a:r>
              <a:rPr lang="en-US" altLang="en-US" dirty="0" smtClean="0">
                <a:ea typeface="+mn-ea"/>
              </a:rPr>
              <a:t> will be the focus.</a:t>
            </a:r>
          </a:p>
          <a:p>
            <a:pPr lvl="1" eaLnBrk="1" hangingPunct="1">
              <a:defRPr/>
            </a:pPr>
            <a:r>
              <a:rPr lang="en-US" altLang="en-US" dirty="0" smtClean="0">
                <a:ea typeface="+mn-ea"/>
              </a:rPr>
              <a:t>Simple harmonic motion also forms the basis for understanding mechanical waves.</a:t>
            </a:r>
          </a:p>
          <a:p>
            <a:pPr marL="0" indent="0" eaLnBrk="1" hangingPunct="1">
              <a:defRPr/>
            </a:pPr>
            <a:r>
              <a:rPr lang="en-US" altLang="en-US" dirty="0" smtClean="0">
                <a:ea typeface="+mn-ea"/>
              </a:rPr>
              <a:t>Oscillations and waves also explain many other phenomena quantity.</a:t>
            </a:r>
          </a:p>
          <a:p>
            <a:pPr lvl="1" eaLnBrk="1" hangingPunct="1">
              <a:defRPr/>
            </a:pPr>
            <a:r>
              <a:rPr lang="en-US" altLang="en-US" dirty="0" smtClean="0">
                <a:ea typeface="+mn-ea"/>
              </a:rPr>
              <a:t>Oscillations of bridges and skyscrapers</a:t>
            </a:r>
          </a:p>
          <a:p>
            <a:pPr lvl="1" eaLnBrk="1" hangingPunct="1">
              <a:defRPr/>
            </a:pPr>
            <a:r>
              <a:rPr lang="en-US" altLang="en-US" dirty="0" smtClean="0">
                <a:ea typeface="+mn-ea"/>
              </a:rPr>
              <a:t>Radio and television</a:t>
            </a:r>
          </a:p>
          <a:p>
            <a:pPr lvl="1" eaLnBrk="1" hangingPunct="1">
              <a:defRPr/>
            </a:pPr>
            <a:r>
              <a:rPr lang="en-US" altLang="en-US" dirty="0" smtClean="0">
                <a:ea typeface="+mn-ea"/>
              </a:rPr>
              <a:t>Understanding atomic theory</a:t>
            </a:r>
          </a:p>
          <a:p>
            <a:pPr marL="0" indent="0" eaLnBrk="1" hangingPunct="1">
              <a:defRPr/>
            </a:pPr>
            <a:endParaRPr lang="en-US" altLang="en-US" dirty="0" smtClean="0">
              <a:ea typeface="+mn-ea"/>
            </a:endParaRPr>
          </a:p>
        </p:txBody>
      </p:sp>
      <p:sp>
        <p:nvSpPr>
          <p:cNvPr id="4100" name="TextBox 8"/>
          <p:cNvSpPr txBox="1">
            <a:spLocks noChangeArrowheads="1"/>
          </p:cNvSpPr>
          <p:nvPr/>
        </p:nvSpPr>
        <p:spPr bwMode="auto">
          <a:xfrm>
            <a:off x="4191000" y="6324600"/>
            <a:ext cx="2095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Introduction</a:t>
            </a:r>
          </a:p>
        </p:txBody>
      </p:sp>
      <p:graphicFrame>
        <p:nvGraphicFramePr>
          <p:cNvPr id="4101" name="Object 1"/>
          <p:cNvGraphicFramePr>
            <a:graphicFrameLocks noChangeAspect="1"/>
          </p:cNvGraphicFramePr>
          <p:nvPr/>
        </p:nvGraphicFramePr>
        <p:xfrm>
          <a:off x="1295400" y="5105400"/>
          <a:ext cx="533400" cy="473075"/>
        </p:xfrm>
        <a:graphic>
          <a:graphicData uri="http://schemas.openxmlformats.org/presentationml/2006/ole">
            <mc:AlternateContent xmlns:mc="http://schemas.openxmlformats.org/markup-compatibility/2006">
              <mc:Choice xmlns:v="urn:schemas-microsoft-com:vml" Requires="v">
                <p:oleObj spid="_x0000_s4116" name="Equation" r:id="rId4" imgW="444307" imgH="393529" progId="Equation.3">
                  <p:embed/>
                </p:oleObj>
              </mc:Choice>
              <mc:Fallback>
                <p:oleObj name="Equation" r:id="rId4" imgW="444307" imgH="393529"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5105400"/>
                        <a:ext cx="53340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99">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99">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99">
                                            <p:txEl>
                                              <p:pRg st="10" end="10"/>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99">
                                            <p:txEl>
                                              <p:pRg st="11" end="11"/>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099">
                                            <p:txEl>
                                              <p:pRg st="12" end="12"/>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99">
                                            <p:txEl>
                                              <p:pRg st="13" end="13"/>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9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mtClean="0"/>
              <a:t>Simple Harmonic Motion</a:t>
            </a:r>
          </a:p>
        </p:txBody>
      </p:sp>
      <p:sp>
        <p:nvSpPr>
          <p:cNvPr id="5123" name="Rectangle 3"/>
          <p:cNvSpPr>
            <a:spLocks noGrp="1" noChangeArrowheads="1"/>
          </p:cNvSpPr>
          <p:nvPr>
            <p:ph idx="1"/>
          </p:nvPr>
        </p:nvSpPr>
        <p:spPr/>
        <p:txBody>
          <a:bodyPr/>
          <a:lstStyle/>
          <a:p>
            <a:pPr marL="285750" indent="-285750" eaLnBrk="1" hangingPunct="1">
              <a:lnSpc>
                <a:spcPct val="90000"/>
              </a:lnSpc>
              <a:buFont typeface="Wingdings" panose="05000000000000000000" pitchFamily="2" charset="2"/>
              <a:buChar char="Ø"/>
              <a:defRPr/>
            </a:pPr>
            <a:r>
              <a:rPr lang="en-US" altLang="en-US" dirty="0" smtClean="0">
                <a:latin typeface="Times New Roman" panose="02020603050405020304" pitchFamily="18" charset="0"/>
                <a:ea typeface="+mn-ea"/>
                <a:cs typeface="Times New Roman" panose="02020603050405020304" pitchFamily="18" charset="0"/>
              </a:rPr>
              <a:t>A special kind of periodic motion occurs in mechanical systems when the force acting on the object is proportional to the position of the object relative to some equilibrium position.	</a:t>
            </a:r>
          </a:p>
          <a:p>
            <a:pPr lvl="1" eaLnBrk="1" hangingPunct="1">
              <a:lnSpc>
                <a:spcPct val="90000"/>
              </a:lnSpc>
              <a:defRPr/>
            </a:pPr>
            <a:r>
              <a:rPr lang="en-US" altLang="en-US" dirty="0" smtClean="0">
                <a:latin typeface="Times New Roman" panose="02020603050405020304" pitchFamily="18" charset="0"/>
                <a:ea typeface="+mn-ea"/>
                <a:cs typeface="Times New Roman" panose="02020603050405020304" pitchFamily="18" charset="0"/>
              </a:rPr>
              <a:t>If the force is always directed toward the equilibrium position, the motion is called </a:t>
            </a:r>
            <a:r>
              <a:rPr lang="en-US" altLang="en-US" b="1" i="1" dirty="0" smtClean="0">
                <a:latin typeface="Times New Roman" panose="02020603050405020304" pitchFamily="18" charset="0"/>
                <a:ea typeface="+mn-ea"/>
                <a:cs typeface="Times New Roman" panose="02020603050405020304" pitchFamily="18" charset="0"/>
              </a:rPr>
              <a:t>simple harmonic motion.</a:t>
            </a:r>
          </a:p>
          <a:p>
            <a:pPr lvl="1" eaLnBrk="1" hangingPunct="1">
              <a:lnSpc>
                <a:spcPct val="90000"/>
              </a:lnSpc>
              <a:defRPr/>
            </a:pPr>
            <a:r>
              <a:rPr lang="en-US" dirty="0">
                <a:latin typeface="Times New Roman" panose="02020603050405020304" pitchFamily="18" charset="0"/>
                <a:ea typeface="+mn-ea"/>
                <a:cs typeface="Times New Roman" panose="02020603050405020304" pitchFamily="18" charset="0"/>
              </a:rPr>
              <a:t>A classic example of simple harmonic motion is provided by the </a:t>
            </a:r>
            <a:r>
              <a:rPr lang="en-US" dirty="0" smtClean="0">
                <a:latin typeface="Times New Roman" panose="02020603050405020304" pitchFamily="18" charset="0"/>
                <a:ea typeface="+mn-ea"/>
                <a:cs typeface="Times New Roman" panose="02020603050405020304" pitchFamily="18" charset="0"/>
              </a:rPr>
              <a:t>oscillations of </a:t>
            </a:r>
            <a:r>
              <a:rPr lang="en-US" dirty="0">
                <a:latin typeface="Times New Roman" panose="02020603050405020304" pitchFamily="18" charset="0"/>
                <a:ea typeface="+mn-ea"/>
                <a:cs typeface="Times New Roman" panose="02020603050405020304" pitchFamily="18" charset="0"/>
              </a:rPr>
              <a:t>a mass attached to a spring.</a:t>
            </a:r>
            <a:r>
              <a:rPr lang="en-US" dirty="0" smtClean="0">
                <a:ea typeface="+mn-ea"/>
              </a:rPr>
              <a:t> </a:t>
            </a:r>
            <a:br>
              <a:rPr lang="en-US" dirty="0" smtClean="0">
                <a:ea typeface="+mn-ea"/>
              </a:rPr>
            </a:br>
            <a:endParaRPr lang="en-US" altLang="en-US" b="1" i="1" dirty="0" smtClean="0">
              <a:latin typeface="Times New Roman" panose="02020603050405020304" pitchFamily="18" charset="0"/>
              <a:ea typeface="+mn-ea"/>
              <a:cs typeface="Times New Roman" panose="02020603050405020304" pitchFamily="18" charset="0"/>
            </a:endParaRPr>
          </a:p>
          <a:p>
            <a:pPr marL="274320" lvl="1" eaLnBrk="1" hangingPunct="1">
              <a:lnSpc>
                <a:spcPct val="90000"/>
              </a:lnSpc>
              <a:buFont typeface="Wingdings" pitchFamily="2" charset="2"/>
              <a:buChar char="Ø"/>
              <a:defRPr/>
            </a:pPr>
            <a:r>
              <a:rPr lang="en-US" dirty="0">
                <a:latin typeface="Times New Roman" panose="02020603050405020304" pitchFamily="18" charset="0"/>
                <a:ea typeface="+mn-ea"/>
                <a:cs typeface="Times New Roman" panose="02020603050405020304" pitchFamily="18" charset="0"/>
              </a:rPr>
              <a:t>A body that undergoes periodic motion always has a stable equilibrium position. When it is moved </a:t>
            </a:r>
            <a:r>
              <a:rPr lang="en-US" dirty="0" smtClean="0">
                <a:latin typeface="Times New Roman" panose="02020603050405020304" pitchFamily="18" charset="0"/>
                <a:ea typeface="+mn-ea"/>
                <a:cs typeface="Times New Roman" panose="02020603050405020304" pitchFamily="18" charset="0"/>
              </a:rPr>
              <a:t> away </a:t>
            </a:r>
            <a:r>
              <a:rPr lang="en-US" dirty="0">
                <a:latin typeface="Times New Roman" panose="02020603050405020304" pitchFamily="18" charset="0"/>
                <a:ea typeface="+mn-ea"/>
                <a:cs typeface="Times New Roman" panose="02020603050405020304" pitchFamily="18" charset="0"/>
              </a:rPr>
              <a:t>from this position and released, a force or </a:t>
            </a:r>
            <a:r>
              <a:rPr lang="en-US" dirty="0" smtClean="0">
                <a:latin typeface="Times New Roman" panose="02020603050405020304" pitchFamily="18" charset="0"/>
                <a:ea typeface="+mn-ea"/>
                <a:cs typeface="Times New Roman" panose="02020603050405020304" pitchFamily="18" charset="0"/>
              </a:rPr>
              <a:t>torque comes </a:t>
            </a:r>
            <a:r>
              <a:rPr lang="en-US" dirty="0">
                <a:latin typeface="Times New Roman" panose="02020603050405020304" pitchFamily="18" charset="0"/>
                <a:ea typeface="+mn-ea"/>
                <a:cs typeface="Times New Roman" panose="02020603050405020304" pitchFamily="18" charset="0"/>
              </a:rPr>
              <a:t>into play to pull it back toward equilibrium.</a:t>
            </a:r>
            <a:r>
              <a:rPr lang="en-US" dirty="0" smtClean="0">
                <a:ea typeface="+mn-ea"/>
              </a:rPr>
              <a:t> </a:t>
            </a:r>
            <a:br>
              <a:rPr lang="en-US" dirty="0" smtClean="0">
                <a:ea typeface="+mn-ea"/>
              </a:rPr>
            </a:br>
            <a:r>
              <a:rPr lang="en-US" dirty="0" smtClean="0">
                <a:ea typeface="+mn-ea"/>
              </a:rPr>
              <a:t/>
            </a:r>
            <a:br>
              <a:rPr lang="en-US" dirty="0" smtClean="0">
                <a:ea typeface="+mn-ea"/>
              </a:rPr>
            </a:br>
            <a:endParaRPr lang="en-US" altLang="en-US" dirty="0" smtClean="0">
              <a:latin typeface="Times New Roman" panose="02020603050405020304" pitchFamily="18" charset="0"/>
              <a:ea typeface="+mn-ea"/>
              <a:cs typeface="Times New Roman" panose="02020603050405020304" pitchFamily="18" charset="0"/>
            </a:endParaRPr>
          </a:p>
        </p:txBody>
      </p:sp>
      <p:sp>
        <p:nvSpPr>
          <p:cNvPr id="512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Introduction</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233863"/>
            <a:ext cx="175260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5213" y="4295775"/>
            <a:ext cx="17430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a:spLocks noChangeArrowheads="1"/>
          </p:cNvSpPr>
          <p:nvPr/>
        </p:nvSpPr>
        <p:spPr bwMode="auto">
          <a:xfrm>
            <a:off x="2879725" y="4894263"/>
            <a:ext cx="533400" cy="400050"/>
          </a:xfrm>
          <a:prstGeom prst="rightArrow">
            <a:avLst>
              <a:gd name="adj1" fmla="val 50000"/>
              <a:gd name="adj2" fmla="val 49870"/>
            </a:avLst>
          </a:prstGeom>
          <a:solidFill>
            <a:schemeClr val="accent1"/>
          </a:solidFill>
          <a:ln w="9525" algn="ctr">
            <a:solidFill>
              <a:schemeClr val="tx1"/>
            </a:solidFill>
            <a:round/>
            <a:headEnd/>
            <a:tailEnd/>
          </a:ln>
        </p:spPr>
        <p:txBody>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nSpc>
                <a:spcPct val="100000"/>
              </a:lnSpc>
              <a:spcBef>
                <a:spcPct val="0"/>
              </a:spcBef>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60625"/>
            <a:ext cx="11387138" cy="176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標題 1"/>
          <p:cNvSpPr>
            <a:spLocks noGrp="1"/>
          </p:cNvSpPr>
          <p:nvPr>
            <p:ph type="title"/>
          </p:nvPr>
        </p:nvSpPr>
        <p:spPr>
          <a:xfrm>
            <a:off x="585788" y="260350"/>
            <a:ext cx="10287000" cy="668338"/>
          </a:xfrm>
        </p:spPr>
        <p:txBody>
          <a:bodyPr/>
          <a:lstStyle/>
          <a:p>
            <a:r>
              <a:rPr lang="en-US" altLang="zh-TW" smtClean="0">
                <a:solidFill>
                  <a:srgbClr val="0070C0"/>
                </a:solidFill>
                <a:ea typeface="PMingLiU" pitchFamily="18" charset="-120"/>
              </a:rPr>
              <a:t>Problem</a:t>
            </a:r>
            <a:r>
              <a:rPr lang="en-US" altLang="zh-TW" smtClean="0">
                <a:ea typeface="PMingLiU" pitchFamily="18" charset="-120"/>
              </a:rPr>
              <a:t>.  Oscillating Ruler</a:t>
            </a:r>
            <a:endParaRPr lang="zh-TW" altLang="en-US" smtClean="0">
              <a:ea typeface="PMingLiU" pitchFamily="18" charset="-120"/>
            </a:endParaRPr>
          </a:p>
        </p:txBody>
      </p:sp>
      <p:sp>
        <p:nvSpPr>
          <p:cNvPr id="2057" name="文字方塊 3"/>
          <p:cNvSpPr txBox="1">
            <a:spLocks noChangeArrowheads="1"/>
          </p:cNvSpPr>
          <p:nvPr/>
        </p:nvSpPr>
        <p:spPr bwMode="auto">
          <a:xfrm>
            <a:off x="152400" y="1071563"/>
            <a:ext cx="1097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50000"/>
              </a:lnSpc>
              <a:spcBef>
                <a:spcPct val="0"/>
              </a:spcBef>
            </a:pPr>
            <a:r>
              <a:rPr lang="en-US" altLang="zh-TW">
                <a:latin typeface="Times New Roman" pitchFamily="18" charset="0"/>
                <a:cs typeface="Times New Roman" pitchFamily="18" charset="0"/>
              </a:rPr>
              <a:t>An oscillating ruler completes 28 cycles in 10 s &amp; moves a total distance of 8.0 cm. What are the amplitude, period, &amp; frequency of this oscillatory motion?</a:t>
            </a:r>
            <a:endParaRPr lang="zh-TW" altLang="en-US">
              <a:latin typeface="Times New Roman" pitchFamily="18" charset="0"/>
              <a:cs typeface="Times New Roman" pitchFamily="18" charset="0"/>
            </a:endParaRPr>
          </a:p>
        </p:txBody>
      </p:sp>
      <p:sp>
        <p:nvSpPr>
          <p:cNvPr id="2058" name="文字方塊 4"/>
          <p:cNvSpPr txBox="1">
            <a:spLocks noChangeArrowheads="1"/>
          </p:cNvSpPr>
          <p:nvPr/>
        </p:nvSpPr>
        <p:spPr bwMode="auto">
          <a:xfrm>
            <a:off x="6697663" y="2714625"/>
            <a:ext cx="410686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zh-TW" sz="1600"/>
              <a:t>Amplitude = 8.0 cm / 2  = 4.0 cm.</a:t>
            </a:r>
            <a:endParaRPr lang="zh-TW" altLang="en-US" sz="1600"/>
          </a:p>
        </p:txBody>
      </p:sp>
      <p:graphicFrame>
        <p:nvGraphicFramePr>
          <p:cNvPr id="2050" name="Object 4"/>
          <p:cNvGraphicFramePr>
            <a:graphicFrameLocks noChangeAspect="1"/>
          </p:cNvGraphicFramePr>
          <p:nvPr/>
        </p:nvGraphicFramePr>
        <p:xfrm>
          <a:off x="7054850" y="3429000"/>
          <a:ext cx="1724025" cy="681038"/>
        </p:xfrm>
        <a:graphic>
          <a:graphicData uri="http://schemas.openxmlformats.org/presentationml/2006/ole">
            <mc:AlternateContent xmlns:mc="http://schemas.openxmlformats.org/markup-compatibility/2006">
              <mc:Choice xmlns:v="urn:schemas-microsoft-com:vml" Requires="v">
                <p:oleObj spid="_x0000_s7249" name="Equation" r:id="rId4" imgW="876300" imgH="431800" progId="Equation.DSMT4">
                  <p:embed/>
                </p:oleObj>
              </mc:Choice>
              <mc:Fallback>
                <p:oleObj name="Equation" r:id="rId4" imgW="876300" imgH="4318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4850" y="3429000"/>
                        <a:ext cx="1724025" cy="681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6786563" y="4500563"/>
          <a:ext cx="849312" cy="620712"/>
        </p:xfrm>
        <a:graphic>
          <a:graphicData uri="http://schemas.openxmlformats.org/presentationml/2006/ole">
            <mc:AlternateContent xmlns:mc="http://schemas.openxmlformats.org/markup-compatibility/2006">
              <mc:Choice xmlns:v="urn:schemas-microsoft-com:vml" Requires="v">
                <p:oleObj spid="_x0000_s7250" name="Equation" r:id="rId6" imgW="431613" imgH="393529" progId="Equation.DSMT4">
                  <p:embed/>
                </p:oleObj>
              </mc:Choice>
              <mc:Fallback>
                <p:oleObj name="Equation" r:id="rId6" imgW="431613" imgH="393529"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6563" y="4500563"/>
                        <a:ext cx="849312"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4"/>
          <p:cNvGraphicFramePr>
            <a:graphicFrameLocks noChangeAspect="1"/>
          </p:cNvGraphicFramePr>
          <p:nvPr/>
        </p:nvGraphicFramePr>
        <p:xfrm>
          <a:off x="8866188" y="3608388"/>
          <a:ext cx="1849437" cy="320675"/>
        </p:xfrm>
        <a:graphic>
          <a:graphicData uri="http://schemas.openxmlformats.org/presentationml/2006/ole">
            <mc:AlternateContent xmlns:mc="http://schemas.openxmlformats.org/markup-compatibility/2006">
              <mc:Choice xmlns:v="urn:schemas-microsoft-com:vml" Requires="v">
                <p:oleObj spid="_x0000_s7251" name="Equation" r:id="rId8" imgW="939392" imgH="203112" progId="Equation.DSMT4">
                  <p:embed/>
                </p:oleObj>
              </mc:Choice>
              <mc:Fallback>
                <p:oleObj name="Equation" r:id="rId8" imgW="939392" imgH="203112"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66188" y="3608388"/>
                        <a:ext cx="1849437"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3" name="Object 5"/>
          <p:cNvGraphicFramePr>
            <a:graphicFrameLocks noChangeAspect="1"/>
          </p:cNvGraphicFramePr>
          <p:nvPr/>
        </p:nvGraphicFramePr>
        <p:xfrm>
          <a:off x="7769225" y="4500563"/>
          <a:ext cx="1474788" cy="681037"/>
        </p:xfrm>
        <a:graphic>
          <a:graphicData uri="http://schemas.openxmlformats.org/presentationml/2006/ole">
            <mc:AlternateContent xmlns:mc="http://schemas.openxmlformats.org/markup-compatibility/2006">
              <mc:Choice xmlns:v="urn:schemas-microsoft-com:vml" Requires="v">
                <p:oleObj spid="_x0000_s7252" name="Equation" r:id="rId10" imgW="748975" imgH="431613" progId="Equation.DSMT4">
                  <p:embed/>
                </p:oleObj>
              </mc:Choice>
              <mc:Fallback>
                <p:oleObj name="Equation" r:id="rId10" imgW="748975" imgH="431613"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69225" y="4500563"/>
                        <a:ext cx="1474788"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4" name="Object 6"/>
          <p:cNvGraphicFramePr>
            <a:graphicFrameLocks noChangeAspect="1"/>
          </p:cNvGraphicFramePr>
          <p:nvPr/>
        </p:nvGraphicFramePr>
        <p:xfrm>
          <a:off x="9466263" y="4679950"/>
          <a:ext cx="1123950" cy="320675"/>
        </p:xfrm>
        <a:graphic>
          <a:graphicData uri="http://schemas.openxmlformats.org/presentationml/2006/ole">
            <mc:AlternateContent xmlns:mc="http://schemas.openxmlformats.org/markup-compatibility/2006">
              <mc:Choice xmlns:v="urn:schemas-microsoft-com:vml" Requires="v">
                <p:oleObj spid="_x0000_s7253" name="Equation" r:id="rId12" imgW="571252" imgH="203112" progId="Equation.DSMT4">
                  <p:embed/>
                </p:oleObj>
              </mc:Choice>
              <mc:Fallback>
                <p:oleObj name="Equation" r:id="rId12" imgW="571252" imgH="203112"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66263" y="4679950"/>
                        <a:ext cx="112395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059"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5475" y="2571750"/>
            <a:ext cx="5548313"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57">
                                            <p:txEl>
                                              <p:pRg st="0" end="0"/>
                                            </p:txEl>
                                          </p:spTgt>
                                        </p:tgtEl>
                                        <p:attrNameLst>
                                          <p:attrName>style.visibility</p:attrName>
                                        </p:attrNameLst>
                                      </p:cBhvr>
                                      <p:to>
                                        <p:strVal val="visible"/>
                                      </p:to>
                                    </p:set>
                                    <p:animEffect transition="in" filter="box(in)">
                                      <p:cBhvr>
                                        <p:cTn id="7" dur="500"/>
                                        <p:tgtEl>
                                          <p:spTgt spid="2057">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059"/>
                                        </p:tgtEl>
                                        <p:attrNameLst>
                                          <p:attrName>style.visibility</p:attrName>
                                        </p:attrNameLst>
                                      </p:cBhvr>
                                      <p:to>
                                        <p:strVal val="visible"/>
                                      </p:to>
                                    </p:set>
                                    <p:animEffect transition="in" filter="box(in)">
                                      <p:cBhvr>
                                        <p:cTn id="10" dur="500"/>
                                        <p:tgtEl>
                                          <p:spTgt spid="20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058"/>
                                        </p:tgtEl>
                                        <p:attrNameLst>
                                          <p:attrName>style.visibility</p:attrName>
                                        </p:attrNameLst>
                                      </p:cBhvr>
                                      <p:to>
                                        <p:strVal val="visible"/>
                                      </p:to>
                                    </p:set>
                                    <p:animEffect transition="in" filter="box(in)">
                                      <p:cBhvr>
                                        <p:cTn id="15" dur="500"/>
                                        <p:tgtEl>
                                          <p:spTgt spid="205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box(in)">
                                      <p:cBhvr>
                                        <p:cTn id="20" dur="500"/>
                                        <p:tgtEl>
                                          <p:spTgt spid="205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animEffect transition="in" filter="box(in)">
                                      <p:cBhvr>
                                        <p:cTn id="25" dur="500"/>
                                        <p:tgtEl>
                                          <p:spTgt spid="205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2051"/>
                                        </p:tgtEl>
                                        <p:attrNameLst>
                                          <p:attrName>style.visibility</p:attrName>
                                        </p:attrNameLst>
                                      </p:cBhvr>
                                      <p:to>
                                        <p:strVal val="visible"/>
                                      </p:to>
                                    </p:set>
                                    <p:animEffect transition="in" filter="box(in)">
                                      <p:cBhvr>
                                        <p:cTn id="30" dur="500"/>
                                        <p:tgtEl>
                                          <p:spTgt spid="205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2053"/>
                                        </p:tgtEl>
                                        <p:attrNameLst>
                                          <p:attrName>style.visibility</p:attrName>
                                        </p:attrNameLst>
                                      </p:cBhvr>
                                      <p:to>
                                        <p:strVal val="visible"/>
                                      </p:to>
                                    </p:set>
                                    <p:animEffect transition="in" filter="box(in)">
                                      <p:cBhvr>
                                        <p:cTn id="35" dur="500"/>
                                        <p:tgtEl>
                                          <p:spTgt spid="205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2054"/>
                                        </p:tgtEl>
                                        <p:attrNameLst>
                                          <p:attrName>style.visibility</p:attrName>
                                        </p:attrNameLst>
                                      </p:cBhvr>
                                      <p:to>
                                        <p:strVal val="visible"/>
                                      </p:to>
                                    </p:set>
                                    <p:animEffect transition="in" filter="box(in)">
                                      <p:cBhvr>
                                        <p:cTn id="40"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571500" y="762000"/>
            <a:ext cx="9429750" cy="655638"/>
          </a:xfrm>
        </p:spPr>
        <p:txBody>
          <a:bodyPr/>
          <a:lstStyle/>
          <a:p>
            <a:pPr eaLnBrk="1" hangingPunct="1"/>
            <a:r>
              <a:rPr lang="en-US" altLang="en-US" b="1" smtClean="0"/>
              <a:t>Motion of an Object Attached to a Spring</a:t>
            </a:r>
            <a:r>
              <a:rPr lang="en-US" altLang="en-US" smtClean="0"/>
              <a:t> </a:t>
            </a:r>
          </a:p>
        </p:txBody>
      </p:sp>
      <p:sp>
        <p:nvSpPr>
          <p:cNvPr id="6147" name="Rectangle 3"/>
          <p:cNvSpPr>
            <a:spLocks noGrp="1" noChangeArrowheads="1"/>
          </p:cNvSpPr>
          <p:nvPr>
            <p:ph type="body" sz="half" idx="1"/>
          </p:nvPr>
        </p:nvSpPr>
        <p:spPr/>
        <p:txBody>
          <a:bodyPr/>
          <a:lstStyle/>
          <a:p>
            <a:pPr marL="0" indent="0" eaLnBrk="1" hangingPunct="1"/>
            <a:r>
              <a:rPr lang="en-US" altLang="en-US" smtClean="0">
                <a:latin typeface="Times New Roman" pitchFamily="18" charset="0"/>
                <a:cs typeface="Times New Roman" pitchFamily="18" charset="0"/>
              </a:rPr>
              <a:t>A block of mass </a:t>
            </a:r>
            <a:r>
              <a:rPr lang="en-US" altLang="en-US" i="1" smtClean="0">
                <a:latin typeface="Times New Roman" pitchFamily="18" charset="0"/>
                <a:cs typeface="Times New Roman" pitchFamily="18" charset="0"/>
              </a:rPr>
              <a:t>m</a:t>
            </a:r>
            <a:r>
              <a:rPr lang="en-US" altLang="en-US" smtClean="0">
                <a:latin typeface="Times New Roman" pitchFamily="18" charset="0"/>
                <a:cs typeface="Times New Roman" pitchFamily="18" charset="0"/>
              </a:rPr>
              <a:t> is attached to a spring, the block is free to move on a frictionless horizontal surface.</a:t>
            </a:r>
          </a:p>
          <a:p>
            <a:pPr marL="0" indent="0" eaLnBrk="1" hangingPunct="1"/>
            <a:r>
              <a:rPr lang="en-US" altLang="en-US" smtClean="0">
                <a:latin typeface="Times New Roman" pitchFamily="18" charset="0"/>
                <a:cs typeface="Times New Roman" pitchFamily="18" charset="0"/>
              </a:rPr>
              <a:t>When the spring is neither stretched nor compressed, the block is at the </a:t>
            </a:r>
            <a:r>
              <a:rPr lang="en-US" altLang="en-US" b="1" i="1" smtClean="0">
                <a:latin typeface="Times New Roman" pitchFamily="18" charset="0"/>
                <a:cs typeface="Times New Roman" pitchFamily="18" charset="0"/>
              </a:rPr>
              <a:t>equilibrium position.</a:t>
            </a:r>
            <a:endParaRPr lang="en-US" altLang="en-US" smtClean="0">
              <a:latin typeface="Times New Roman" pitchFamily="18" charset="0"/>
              <a:cs typeface="Times New Roman" pitchFamily="18" charset="0"/>
            </a:endParaRPr>
          </a:p>
          <a:p>
            <a:pPr lvl="1" eaLnBrk="1" hangingPunct="1"/>
            <a:r>
              <a:rPr lang="en-US" altLang="en-US" i="1" smtClean="0">
                <a:latin typeface="Times New Roman" pitchFamily="18" charset="0"/>
                <a:cs typeface="Times New Roman" pitchFamily="18" charset="0"/>
              </a:rPr>
              <a:t>x</a:t>
            </a:r>
            <a:r>
              <a:rPr lang="en-US" altLang="en-US" smtClean="0">
                <a:latin typeface="Times New Roman" pitchFamily="18" charset="0"/>
                <a:cs typeface="Times New Roman" pitchFamily="18" charset="0"/>
              </a:rPr>
              <a:t> = 0</a:t>
            </a:r>
          </a:p>
          <a:p>
            <a:pPr marL="0" indent="0" eaLnBrk="1" hangingPunct="1"/>
            <a:r>
              <a:rPr lang="en-US" altLang="en-US" smtClean="0">
                <a:latin typeface="Times New Roman" pitchFamily="18" charset="0"/>
                <a:cs typeface="Times New Roman" pitchFamily="18" charset="0"/>
              </a:rPr>
              <a:t>Such a system will oscillate back and forth if disturbed from its equilibrium position.</a:t>
            </a:r>
          </a:p>
        </p:txBody>
      </p:sp>
      <p:sp>
        <p:nvSpPr>
          <p:cNvPr id="819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15.1</a:t>
            </a:r>
          </a:p>
        </p:txBody>
      </p:sp>
      <p:pic>
        <p:nvPicPr>
          <p:cNvPr id="8197" name="Picture 6" descr="15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566863"/>
            <a:ext cx="5730875"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Hooke’s Law</a:t>
            </a:r>
          </a:p>
        </p:txBody>
      </p:sp>
      <p:sp>
        <p:nvSpPr>
          <p:cNvPr id="7171" name="Rectangle 3"/>
          <p:cNvSpPr>
            <a:spLocks noGrp="1" noChangeArrowheads="1"/>
          </p:cNvSpPr>
          <p:nvPr>
            <p:ph idx="1"/>
          </p:nvPr>
        </p:nvSpPr>
        <p:spPr/>
        <p:txBody>
          <a:bodyPr/>
          <a:lstStyle/>
          <a:p>
            <a:pPr marL="285750" indent="-285750" eaLnBrk="1" hangingPunct="1">
              <a:buFont typeface="Wingdings" pitchFamily="2" charset="2"/>
              <a:buChar char="Ø"/>
            </a:pPr>
            <a:r>
              <a:rPr lang="en-US" altLang="en-US" smtClean="0">
                <a:latin typeface="Times New Roman" pitchFamily="18" charset="0"/>
                <a:cs typeface="Times New Roman" pitchFamily="18" charset="0"/>
              </a:rPr>
              <a:t>When the block is displaced to a position </a:t>
            </a:r>
            <a:r>
              <a:rPr lang="en-US" altLang="en-US" i="1" smtClean="0">
                <a:latin typeface="Times New Roman" pitchFamily="18" charset="0"/>
                <a:cs typeface="Times New Roman" pitchFamily="18" charset="0"/>
              </a:rPr>
              <a:t>x</a:t>
            </a:r>
            <a:r>
              <a:rPr lang="en-US" altLang="en-US" smtClean="0">
                <a:latin typeface="Times New Roman" pitchFamily="18" charset="0"/>
                <a:cs typeface="Times New Roman" pitchFamily="18" charset="0"/>
              </a:rPr>
              <a:t>, the spring exerts on the block a force that is proportional to the position and given by </a:t>
            </a:r>
            <a:r>
              <a:rPr lang="en-US" altLang="en-US" b="1" smtClean="0">
                <a:latin typeface="Times New Roman" pitchFamily="18" charset="0"/>
                <a:cs typeface="Times New Roman" pitchFamily="18" charset="0"/>
              </a:rPr>
              <a:t>Hooke’s law</a:t>
            </a:r>
            <a:r>
              <a:rPr lang="en-US" altLang="en-US" smtClean="0">
                <a:latin typeface="Times New Roman" pitchFamily="18" charset="0"/>
                <a:cs typeface="Times New Roman" pitchFamily="18" charset="0"/>
              </a:rPr>
              <a:t> </a:t>
            </a:r>
            <a:endParaRPr lang="en-US" altLang="en-US" smtClean="0">
              <a:cs typeface="Times New Roman" pitchFamily="18" charset="0"/>
            </a:endParaRPr>
          </a:p>
          <a:p>
            <a:pPr marL="285750" indent="-285750" eaLnBrk="1" hangingPunct="1">
              <a:buFont typeface="Wingdings" pitchFamily="2" charset="2"/>
              <a:buChar char="Ø"/>
            </a:pPr>
            <a:r>
              <a:rPr lang="en-US" altLang="en-US" b="1" smtClean="0">
                <a:latin typeface="Times New Roman" pitchFamily="18" charset="0"/>
                <a:cs typeface="Times New Roman" pitchFamily="18" charset="0"/>
              </a:rPr>
              <a:t>Hooke’s Law states</a:t>
            </a:r>
            <a:r>
              <a:rPr lang="en-US" altLang="en-US" smtClean="0">
                <a:latin typeface="Times New Roman" pitchFamily="18" charset="0"/>
                <a:cs typeface="Times New Roman" pitchFamily="18" charset="0"/>
              </a:rPr>
              <a:t>     </a:t>
            </a:r>
            <a:r>
              <a:rPr lang="en-US" altLang="en-US" sz="2400" i="1" smtClean="0"/>
              <a:t>F</a:t>
            </a:r>
            <a:r>
              <a:rPr lang="en-US" altLang="en-US" sz="2400" i="1" baseline="-25000" smtClean="0"/>
              <a:t>s</a:t>
            </a:r>
            <a:r>
              <a:rPr lang="en-US" altLang="en-US" sz="2400" smtClean="0"/>
              <a:t> = - </a:t>
            </a:r>
            <a:r>
              <a:rPr lang="en-US" altLang="en-US" sz="2400" i="1" smtClean="0"/>
              <a:t>kx</a:t>
            </a:r>
          </a:p>
          <a:p>
            <a:pPr marL="285750" indent="-285750" eaLnBrk="1" hangingPunct="1">
              <a:buFont typeface="Wingdings" pitchFamily="2" charset="2"/>
              <a:buChar char="Ø"/>
            </a:pPr>
            <a:r>
              <a:rPr lang="en-US" altLang="en-US" i="1" smtClean="0">
                <a:latin typeface="Times New Roman" pitchFamily="18" charset="0"/>
                <a:cs typeface="Times New Roman" pitchFamily="18" charset="0"/>
              </a:rPr>
              <a:t>F</a:t>
            </a:r>
            <a:r>
              <a:rPr lang="en-US" altLang="en-US" i="1" baseline="-25000" smtClean="0">
                <a:latin typeface="Times New Roman" pitchFamily="18" charset="0"/>
                <a:cs typeface="Times New Roman" pitchFamily="18" charset="0"/>
              </a:rPr>
              <a:t>s</a:t>
            </a:r>
            <a:r>
              <a:rPr lang="en-US" altLang="en-US" i="1" smtClean="0">
                <a:latin typeface="Times New Roman" pitchFamily="18" charset="0"/>
                <a:cs typeface="Times New Roman" pitchFamily="18" charset="0"/>
              </a:rPr>
              <a:t> is the restoring force.</a:t>
            </a:r>
          </a:p>
          <a:p>
            <a:pPr marL="285750" indent="-285750" eaLnBrk="1" hangingPunct="1">
              <a:buFont typeface="Wingdings" pitchFamily="2" charset="2"/>
              <a:buChar char="Ø"/>
            </a:pPr>
            <a:r>
              <a:rPr lang="en-US" altLang="en-US" i="1" smtClean="0">
                <a:latin typeface="Times New Roman" pitchFamily="18" charset="0"/>
                <a:cs typeface="Times New Roman" pitchFamily="18" charset="0"/>
              </a:rPr>
              <a:t>It is always directed toward the equilibrium position.</a:t>
            </a:r>
          </a:p>
          <a:p>
            <a:pPr marL="285750" indent="-285750" eaLnBrk="1" hangingPunct="1">
              <a:buFont typeface="Wingdings" pitchFamily="2" charset="2"/>
              <a:buChar char="Ø"/>
            </a:pPr>
            <a:r>
              <a:rPr lang="en-US" altLang="en-US" i="1" smtClean="0">
                <a:latin typeface="Times New Roman" pitchFamily="18" charset="0"/>
                <a:cs typeface="Times New Roman" pitchFamily="18" charset="0"/>
              </a:rPr>
              <a:t>Therefore it is always opposite the displacement from the equilibrium.</a:t>
            </a:r>
          </a:p>
          <a:p>
            <a:pPr marL="285750" indent="-285750" eaLnBrk="1" hangingPunct="1">
              <a:buFont typeface="Wingdings" pitchFamily="2" charset="2"/>
              <a:buChar char="Ø"/>
            </a:pPr>
            <a:r>
              <a:rPr lang="en-US" altLang="en-US" i="1" smtClean="0">
                <a:latin typeface="Times New Roman" pitchFamily="18" charset="0"/>
                <a:cs typeface="Times New Roman" pitchFamily="18" charset="0"/>
              </a:rPr>
              <a:t>K is the force (spring )Constant.</a:t>
            </a:r>
          </a:p>
          <a:p>
            <a:pPr marL="285750" indent="-285750" eaLnBrk="1" hangingPunct="1">
              <a:buFont typeface="Wingdings" pitchFamily="2" charset="2"/>
              <a:buChar char="Ø"/>
            </a:pPr>
            <a:r>
              <a:rPr lang="en-US" altLang="en-US" i="1" smtClean="0">
                <a:latin typeface="Times New Roman" pitchFamily="18" charset="0"/>
                <a:cs typeface="Times New Roman" pitchFamily="18" charset="0"/>
              </a:rPr>
              <a:t>x is the displacement from the mean position.</a:t>
            </a:r>
          </a:p>
        </p:txBody>
      </p:sp>
      <p:sp>
        <p:nvSpPr>
          <p:cNvPr id="922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mtClean="0"/>
              <a:t>Restoring Force and the Spring Mass System</a:t>
            </a:r>
          </a:p>
        </p:txBody>
      </p:sp>
      <p:sp>
        <p:nvSpPr>
          <p:cNvPr id="8195" name="Rectangle 3"/>
          <p:cNvSpPr>
            <a:spLocks noGrp="1" noChangeArrowheads="1"/>
          </p:cNvSpPr>
          <p:nvPr>
            <p:ph sz="half" idx="1"/>
          </p:nvPr>
        </p:nvSpPr>
        <p:spPr>
          <a:xfrm>
            <a:off x="571500" y="1676400"/>
            <a:ext cx="5372100" cy="4786313"/>
          </a:xfrm>
        </p:spPr>
        <p:txBody>
          <a:bodyPr/>
          <a:lstStyle/>
          <a:p>
            <a:pPr marL="0" indent="0" eaLnBrk="1" hangingPunct="1">
              <a:defRPr/>
            </a:pPr>
            <a:r>
              <a:rPr lang="en-US" altLang="en-US" sz="2000" dirty="0" smtClean="0">
                <a:latin typeface="Times New Roman" panose="02020603050405020304" pitchFamily="18" charset="0"/>
                <a:ea typeface="+mn-ea"/>
                <a:cs typeface="Times New Roman" panose="02020603050405020304" pitchFamily="18" charset="0"/>
              </a:rPr>
              <a:t>In </a:t>
            </a:r>
            <a:r>
              <a:rPr lang="en-US" altLang="en-US" sz="2000" b="1" i="1" dirty="0" smtClean="0">
                <a:latin typeface="Times New Roman" panose="02020603050405020304" pitchFamily="18" charset="0"/>
                <a:ea typeface="+mn-ea"/>
                <a:cs typeface="Times New Roman" panose="02020603050405020304" pitchFamily="18" charset="0"/>
              </a:rPr>
              <a:t>a</a:t>
            </a:r>
            <a:r>
              <a:rPr lang="en-US" altLang="en-US" sz="2000" dirty="0" smtClean="0">
                <a:latin typeface="Times New Roman" panose="02020603050405020304" pitchFamily="18" charset="0"/>
                <a:ea typeface="+mn-ea"/>
                <a:cs typeface="Times New Roman" panose="02020603050405020304" pitchFamily="18" charset="0"/>
              </a:rPr>
              <a:t>, the block is displaced to the right of </a:t>
            </a:r>
            <a:r>
              <a:rPr lang="en-US" altLang="en-US" sz="2000" i="1" dirty="0" smtClean="0">
                <a:latin typeface="Times New Roman" panose="02020603050405020304" pitchFamily="18" charset="0"/>
                <a:ea typeface="+mn-ea"/>
                <a:cs typeface="Times New Roman" panose="02020603050405020304" pitchFamily="18" charset="0"/>
              </a:rPr>
              <a:t>x</a:t>
            </a:r>
            <a:r>
              <a:rPr lang="en-US" altLang="en-US" sz="2000" dirty="0" smtClean="0">
                <a:latin typeface="Times New Roman" panose="02020603050405020304" pitchFamily="18" charset="0"/>
                <a:ea typeface="+mn-ea"/>
                <a:cs typeface="Times New Roman" panose="02020603050405020304" pitchFamily="18" charset="0"/>
              </a:rPr>
              <a:t> = 0.</a:t>
            </a:r>
          </a:p>
          <a:p>
            <a:pPr lvl="1" eaLnBrk="1" hangingPunct="1">
              <a:defRPr/>
            </a:pPr>
            <a:r>
              <a:rPr lang="en-US" altLang="en-US" sz="2000" dirty="0" smtClean="0">
                <a:latin typeface="Times New Roman" panose="02020603050405020304" pitchFamily="18" charset="0"/>
                <a:ea typeface="+mn-ea"/>
                <a:cs typeface="Times New Roman" panose="02020603050405020304" pitchFamily="18" charset="0"/>
              </a:rPr>
              <a:t>The position is positive.</a:t>
            </a:r>
          </a:p>
          <a:p>
            <a:pPr lvl="1" eaLnBrk="1" hangingPunct="1">
              <a:defRPr/>
            </a:pPr>
            <a:r>
              <a:rPr lang="en-US" altLang="en-US" sz="2000" dirty="0" smtClean="0">
                <a:latin typeface="Times New Roman" panose="02020603050405020304" pitchFamily="18" charset="0"/>
                <a:ea typeface="+mn-ea"/>
                <a:cs typeface="Times New Roman" panose="02020603050405020304" pitchFamily="18" charset="0"/>
              </a:rPr>
              <a:t>The restoring force is directed to the left.</a:t>
            </a:r>
          </a:p>
          <a:p>
            <a:pPr marL="0" indent="0" eaLnBrk="1" hangingPunct="1">
              <a:defRPr/>
            </a:pPr>
            <a:r>
              <a:rPr lang="en-US" altLang="en-US" sz="2000" dirty="0" smtClean="0">
                <a:latin typeface="Times New Roman" panose="02020603050405020304" pitchFamily="18" charset="0"/>
                <a:ea typeface="+mn-ea"/>
                <a:cs typeface="Times New Roman" panose="02020603050405020304" pitchFamily="18" charset="0"/>
              </a:rPr>
              <a:t>In </a:t>
            </a:r>
            <a:r>
              <a:rPr lang="en-US" altLang="en-US" sz="2000" b="1" i="1" dirty="0" smtClean="0">
                <a:latin typeface="Times New Roman" panose="02020603050405020304" pitchFamily="18" charset="0"/>
                <a:ea typeface="+mn-ea"/>
                <a:cs typeface="Times New Roman" panose="02020603050405020304" pitchFamily="18" charset="0"/>
              </a:rPr>
              <a:t>b</a:t>
            </a:r>
            <a:r>
              <a:rPr lang="en-US" altLang="en-US" sz="2000" dirty="0" smtClean="0">
                <a:latin typeface="Times New Roman" panose="02020603050405020304" pitchFamily="18" charset="0"/>
                <a:ea typeface="+mn-ea"/>
                <a:cs typeface="Times New Roman" panose="02020603050405020304" pitchFamily="18" charset="0"/>
              </a:rPr>
              <a:t>, the block is at the equilibrium position </a:t>
            </a:r>
            <a:r>
              <a:rPr lang="en-US" altLang="en-US" sz="2000" i="1" dirty="0" smtClean="0">
                <a:latin typeface="Times New Roman" panose="02020603050405020304" pitchFamily="18" charset="0"/>
                <a:ea typeface="+mn-ea"/>
                <a:cs typeface="Times New Roman" panose="02020603050405020304" pitchFamily="18" charset="0"/>
              </a:rPr>
              <a:t>x</a:t>
            </a:r>
            <a:r>
              <a:rPr lang="en-US" altLang="en-US" sz="2000" dirty="0" smtClean="0">
                <a:latin typeface="Times New Roman" panose="02020603050405020304" pitchFamily="18" charset="0"/>
                <a:ea typeface="+mn-ea"/>
                <a:cs typeface="Times New Roman" panose="02020603050405020304" pitchFamily="18" charset="0"/>
              </a:rPr>
              <a:t> = 0.</a:t>
            </a:r>
          </a:p>
          <a:p>
            <a:pPr lvl="1" eaLnBrk="1" hangingPunct="1">
              <a:defRPr/>
            </a:pPr>
            <a:r>
              <a:rPr lang="en-US" altLang="en-US" sz="2000" dirty="0" smtClean="0">
                <a:latin typeface="Times New Roman" panose="02020603050405020304" pitchFamily="18" charset="0"/>
                <a:ea typeface="+mn-ea"/>
                <a:cs typeface="Times New Roman" panose="02020603050405020304" pitchFamily="18" charset="0"/>
              </a:rPr>
              <a:t>The spring is neither stretched nor compressed.</a:t>
            </a:r>
          </a:p>
          <a:p>
            <a:pPr lvl="1" eaLnBrk="1" hangingPunct="1">
              <a:defRPr/>
            </a:pPr>
            <a:r>
              <a:rPr lang="en-US" altLang="en-US" sz="2000" dirty="0" smtClean="0">
                <a:latin typeface="Times New Roman" panose="02020603050405020304" pitchFamily="18" charset="0"/>
                <a:ea typeface="+mn-ea"/>
                <a:cs typeface="Times New Roman" panose="02020603050405020304" pitchFamily="18" charset="0"/>
              </a:rPr>
              <a:t>The force is 0.</a:t>
            </a:r>
          </a:p>
          <a:p>
            <a:pPr marL="0" lvl="1" indent="0" eaLnBrk="1" hangingPunct="1">
              <a:buFont typeface="Wingdings" pitchFamily="2" charset="2"/>
              <a:buNone/>
              <a:defRPr/>
            </a:pPr>
            <a:r>
              <a:rPr lang="en-US" altLang="en-US" sz="2000" dirty="0" smtClean="0">
                <a:latin typeface="Times New Roman" panose="02020603050405020304" pitchFamily="18" charset="0"/>
                <a:ea typeface="+mn-ea"/>
                <a:cs typeface="Times New Roman" panose="02020603050405020304" pitchFamily="18" charset="0"/>
              </a:rPr>
              <a:t>In </a:t>
            </a:r>
            <a:r>
              <a:rPr lang="en-US" altLang="en-US" sz="2000" b="1" i="1" dirty="0" smtClean="0">
                <a:latin typeface="Times New Roman" panose="02020603050405020304" pitchFamily="18" charset="0"/>
                <a:ea typeface="+mn-ea"/>
                <a:cs typeface="Times New Roman" panose="02020603050405020304" pitchFamily="18" charset="0"/>
              </a:rPr>
              <a:t>c</a:t>
            </a:r>
            <a:r>
              <a:rPr lang="en-US" altLang="en-US" sz="2000" dirty="0" smtClean="0">
                <a:latin typeface="Times New Roman" panose="02020603050405020304" pitchFamily="18" charset="0"/>
                <a:ea typeface="+mn-ea"/>
                <a:cs typeface="Times New Roman" panose="02020603050405020304" pitchFamily="18" charset="0"/>
              </a:rPr>
              <a:t>, The </a:t>
            </a:r>
            <a:r>
              <a:rPr lang="en-US" altLang="en-US" sz="2000" dirty="0">
                <a:latin typeface="Times New Roman" panose="02020603050405020304" pitchFamily="18" charset="0"/>
                <a:ea typeface="+mn-ea"/>
                <a:cs typeface="Times New Roman" panose="02020603050405020304" pitchFamily="18" charset="0"/>
              </a:rPr>
              <a:t>block is displaced to the left of </a:t>
            </a:r>
            <a:r>
              <a:rPr lang="en-US" altLang="en-US" sz="2000" i="1" dirty="0">
                <a:latin typeface="Times New Roman" panose="02020603050405020304" pitchFamily="18" charset="0"/>
                <a:ea typeface="+mn-ea"/>
                <a:cs typeface="Times New Roman" panose="02020603050405020304" pitchFamily="18" charset="0"/>
              </a:rPr>
              <a:t>x</a:t>
            </a:r>
            <a:r>
              <a:rPr lang="en-US" altLang="en-US" sz="2000" dirty="0">
                <a:latin typeface="Times New Roman" panose="02020603050405020304" pitchFamily="18" charset="0"/>
                <a:ea typeface="+mn-ea"/>
                <a:cs typeface="Times New Roman" panose="02020603050405020304" pitchFamily="18" charset="0"/>
              </a:rPr>
              <a:t> = 0</a:t>
            </a:r>
            <a:r>
              <a:rPr lang="en-US" altLang="en-US" sz="2000" dirty="0" smtClean="0">
                <a:latin typeface="Times New Roman" panose="02020603050405020304" pitchFamily="18" charset="0"/>
                <a:ea typeface="+mn-ea"/>
                <a:cs typeface="Times New Roman" panose="02020603050405020304" pitchFamily="18" charset="0"/>
              </a:rPr>
              <a:t>.</a:t>
            </a:r>
          </a:p>
          <a:p>
            <a:pPr lvl="1" eaLnBrk="1" hangingPunct="1">
              <a:defRPr/>
            </a:pPr>
            <a:r>
              <a:rPr lang="en-US" altLang="en-US" sz="2000" dirty="0">
                <a:latin typeface="Times New Roman" panose="02020603050405020304" pitchFamily="18" charset="0"/>
                <a:ea typeface="+mn-ea"/>
                <a:cs typeface="Times New Roman" panose="02020603050405020304" pitchFamily="18" charset="0"/>
              </a:rPr>
              <a:t>The position is </a:t>
            </a:r>
            <a:r>
              <a:rPr lang="en-US" altLang="en-US" sz="2000" dirty="0" smtClean="0">
                <a:latin typeface="Times New Roman" panose="02020603050405020304" pitchFamily="18" charset="0"/>
                <a:ea typeface="+mn-ea"/>
                <a:cs typeface="Times New Roman" panose="02020603050405020304" pitchFamily="18" charset="0"/>
              </a:rPr>
              <a:t>negative.</a:t>
            </a:r>
            <a:endParaRPr lang="en-US" altLang="en-US" sz="2000" dirty="0">
              <a:latin typeface="Times New Roman" panose="02020603050405020304" pitchFamily="18" charset="0"/>
              <a:ea typeface="+mn-ea"/>
              <a:cs typeface="Times New Roman" panose="02020603050405020304" pitchFamily="18" charset="0"/>
            </a:endParaRPr>
          </a:p>
          <a:p>
            <a:pPr lvl="1" eaLnBrk="1" hangingPunct="1">
              <a:defRPr/>
            </a:pPr>
            <a:r>
              <a:rPr lang="en-US" altLang="en-US" sz="2000" dirty="0">
                <a:latin typeface="Times New Roman" panose="02020603050405020304" pitchFamily="18" charset="0"/>
                <a:ea typeface="+mn-ea"/>
                <a:cs typeface="Times New Roman" panose="02020603050405020304" pitchFamily="18" charset="0"/>
              </a:rPr>
              <a:t>The restoring force is directed to the </a:t>
            </a:r>
            <a:r>
              <a:rPr lang="en-US" altLang="en-US" sz="2000" dirty="0" smtClean="0">
                <a:latin typeface="Times New Roman" panose="02020603050405020304" pitchFamily="18" charset="0"/>
                <a:ea typeface="+mn-ea"/>
                <a:cs typeface="Times New Roman" panose="02020603050405020304" pitchFamily="18" charset="0"/>
              </a:rPr>
              <a:t>right.</a:t>
            </a:r>
            <a:endParaRPr lang="en-US" altLang="en-US" sz="2000" dirty="0">
              <a:latin typeface="Times New Roman" panose="02020603050405020304" pitchFamily="18" charset="0"/>
              <a:ea typeface="+mn-ea"/>
              <a:cs typeface="Times New Roman" panose="02020603050405020304" pitchFamily="18" charset="0"/>
            </a:endParaRPr>
          </a:p>
          <a:p>
            <a:pPr marL="0" lvl="1" indent="0" eaLnBrk="1" hangingPunct="1">
              <a:buFont typeface="Wingdings" pitchFamily="2" charset="2"/>
              <a:buNone/>
              <a:defRPr/>
            </a:pPr>
            <a:endParaRPr lang="en-US" altLang="en-US" sz="2000" dirty="0" smtClean="0">
              <a:ea typeface="+mn-ea"/>
            </a:endParaRPr>
          </a:p>
          <a:p>
            <a:pPr marL="0" lvl="1" indent="0" eaLnBrk="1" hangingPunct="1">
              <a:buFont typeface="Wingdings" pitchFamily="2" charset="2"/>
              <a:buNone/>
              <a:defRPr/>
            </a:pPr>
            <a:endParaRPr lang="en-US" altLang="en-US" sz="2000" dirty="0">
              <a:ea typeface="+mn-ea"/>
            </a:endParaRPr>
          </a:p>
          <a:p>
            <a:pPr marL="0" lvl="1" indent="0" eaLnBrk="1" hangingPunct="1">
              <a:buFont typeface="Wingdings" pitchFamily="2" charset="2"/>
              <a:buNone/>
              <a:defRPr/>
            </a:pPr>
            <a:endParaRPr lang="en-US" altLang="en-US" sz="2000" dirty="0">
              <a:latin typeface="Times New Roman" panose="02020603050405020304" pitchFamily="18" charset="0"/>
              <a:ea typeface="+mn-ea"/>
              <a:cs typeface="Times New Roman" panose="02020603050405020304" pitchFamily="18" charset="0"/>
            </a:endParaRPr>
          </a:p>
          <a:p>
            <a:pPr marL="0" lvl="1" indent="0" eaLnBrk="1" hangingPunct="1">
              <a:buFont typeface="Wingdings" pitchFamily="2" charset="2"/>
              <a:buNone/>
              <a:defRPr/>
            </a:pPr>
            <a:endParaRPr lang="en-US" altLang="en-US" sz="2000" dirty="0" smtClean="0">
              <a:latin typeface="Times New Roman" panose="02020603050405020304" pitchFamily="18" charset="0"/>
              <a:ea typeface="+mn-ea"/>
              <a:cs typeface="Times New Roman" panose="02020603050405020304" pitchFamily="18" charset="0"/>
            </a:endParaRPr>
          </a:p>
          <a:p>
            <a:pPr lvl="1" eaLnBrk="1" hangingPunct="1">
              <a:defRPr/>
            </a:pPr>
            <a:endParaRPr lang="en-US" altLang="en-US" sz="1800" dirty="0" smtClean="0">
              <a:ea typeface="+mn-ea"/>
            </a:endParaRPr>
          </a:p>
        </p:txBody>
      </p:sp>
      <p:sp>
        <p:nvSpPr>
          <p:cNvPr id="1024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15.1</a:t>
            </a:r>
          </a:p>
        </p:txBody>
      </p:sp>
      <p:pic>
        <p:nvPicPr>
          <p:cNvPr id="8197" name="Picture 6" descr="1501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775" y="1676400"/>
            <a:ext cx="4841875"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7" descr="1501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3200400"/>
            <a:ext cx="503237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1501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75" y="4724400"/>
            <a:ext cx="531812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additive="base">
                                        <p:cTn id="7" dur="500" fill="hold"/>
                                        <p:tgtEl>
                                          <p:spTgt spid="8197"/>
                                        </p:tgtEl>
                                        <p:attrNameLst>
                                          <p:attrName>ppt_x</p:attrName>
                                        </p:attrNameLst>
                                      </p:cBhvr>
                                      <p:tavLst>
                                        <p:tav tm="0">
                                          <p:val>
                                            <p:strVal val="#ppt_x"/>
                                          </p:val>
                                        </p:tav>
                                        <p:tav tm="100000">
                                          <p:val>
                                            <p:strVal val="#ppt_x"/>
                                          </p:val>
                                        </p:tav>
                                      </p:tavLst>
                                    </p:anim>
                                    <p:anim calcmode="lin" valueType="num">
                                      <p:cBhvr additive="base">
                                        <p:cTn id="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195">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195">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8198"/>
                                        </p:tgtEl>
                                        <p:attrNameLst>
                                          <p:attrName>style.visibility</p:attrName>
                                        </p:attrNameLst>
                                      </p:cBhvr>
                                      <p:to>
                                        <p:strVal val="visible"/>
                                      </p:to>
                                    </p:set>
                                    <p:anim calcmode="lin" valueType="num">
                                      <p:cBhvr additive="base">
                                        <p:cTn id="21" dur="500" fill="hold"/>
                                        <p:tgtEl>
                                          <p:spTgt spid="8198"/>
                                        </p:tgtEl>
                                        <p:attrNameLst>
                                          <p:attrName>ppt_x</p:attrName>
                                        </p:attrNameLst>
                                      </p:cBhvr>
                                      <p:tavLst>
                                        <p:tav tm="0">
                                          <p:val>
                                            <p:strVal val="#ppt_x"/>
                                          </p:val>
                                        </p:tav>
                                        <p:tav tm="100000">
                                          <p:val>
                                            <p:strVal val="#ppt_x"/>
                                          </p:val>
                                        </p:tav>
                                      </p:tavLst>
                                    </p:anim>
                                    <p:anim calcmode="lin" valueType="num">
                                      <p:cBhvr additive="base">
                                        <p:cTn id="22" dur="500" fill="hold"/>
                                        <p:tgtEl>
                                          <p:spTgt spid="8198"/>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8195">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195">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smtClean="0"/>
              <a:t>Acceleration of the spring mass system</a:t>
            </a:r>
          </a:p>
        </p:txBody>
      </p:sp>
      <p:sp>
        <p:nvSpPr>
          <p:cNvPr id="10243" name="Rectangle 3"/>
          <p:cNvSpPr>
            <a:spLocks noGrp="1" noChangeArrowheads="1"/>
          </p:cNvSpPr>
          <p:nvPr>
            <p:ph idx="1"/>
          </p:nvPr>
        </p:nvSpPr>
        <p:spPr/>
        <p:txBody>
          <a:bodyPr/>
          <a:lstStyle/>
          <a:p>
            <a:pPr marL="285750" indent="-285750" eaLnBrk="1" hangingPunct="1">
              <a:buFont typeface="Wingdings" panose="05000000000000000000" pitchFamily="2" charset="2"/>
              <a:buChar char="Ø"/>
              <a:defRPr/>
            </a:pPr>
            <a:r>
              <a:rPr lang="en-US" altLang="en-US" dirty="0" smtClean="0">
                <a:latin typeface="Times New Roman" panose="02020603050405020304" pitchFamily="18" charset="0"/>
                <a:ea typeface="+mn-ea"/>
                <a:cs typeface="Times New Roman" panose="02020603050405020304" pitchFamily="18" charset="0"/>
              </a:rPr>
              <a:t>When the block is displaced from the equilibrium point and released, it is a particle under a net force and therefore has an acceleration.</a:t>
            </a:r>
          </a:p>
          <a:p>
            <a:pPr marL="285750" indent="-285750" eaLnBrk="1" hangingPunct="1">
              <a:buFont typeface="Wingdings" panose="05000000000000000000" pitchFamily="2" charset="2"/>
              <a:buChar char="Ø"/>
              <a:defRPr/>
            </a:pPr>
            <a:r>
              <a:rPr lang="en-US" altLang="en-US" dirty="0" smtClean="0">
                <a:latin typeface="Times New Roman" panose="02020603050405020304" pitchFamily="18" charset="0"/>
                <a:ea typeface="+mn-ea"/>
                <a:cs typeface="Times New Roman" panose="02020603050405020304" pitchFamily="18" charset="0"/>
              </a:rPr>
              <a:t>The force described by Hooke’s Law is the net force in Newton’s Second Law.</a:t>
            </a:r>
          </a:p>
          <a:p>
            <a:pPr marL="285750" indent="-285750" eaLnBrk="1" hangingPunct="1">
              <a:buFont typeface="Wingdings" panose="05000000000000000000" pitchFamily="2" charset="2"/>
              <a:buChar char="Ø"/>
              <a:defRPr/>
            </a:pPr>
            <a:endParaRPr lang="en-US" altLang="en-US" dirty="0" smtClean="0">
              <a:latin typeface="Times New Roman" panose="02020603050405020304" pitchFamily="18" charset="0"/>
              <a:ea typeface="+mn-ea"/>
              <a:cs typeface="Times New Roman" panose="02020603050405020304" pitchFamily="18" charset="0"/>
            </a:endParaRPr>
          </a:p>
          <a:p>
            <a:pPr marL="285750" indent="-285750" eaLnBrk="1" hangingPunct="1">
              <a:buFont typeface="Wingdings" panose="05000000000000000000" pitchFamily="2" charset="2"/>
              <a:buChar char="Ø"/>
              <a:defRPr/>
            </a:pPr>
            <a:endParaRPr lang="en-US" altLang="en-US" dirty="0" smtClean="0">
              <a:latin typeface="Times New Roman" panose="02020603050405020304" pitchFamily="18" charset="0"/>
              <a:ea typeface="+mn-ea"/>
              <a:cs typeface="Times New Roman" panose="02020603050405020304" pitchFamily="18" charset="0"/>
            </a:endParaRPr>
          </a:p>
          <a:p>
            <a:pPr marL="285750" indent="-285750" eaLnBrk="1" hangingPunct="1">
              <a:buFont typeface="Wingdings" panose="05000000000000000000" pitchFamily="2" charset="2"/>
              <a:buChar char="Ø"/>
              <a:defRPr/>
            </a:pPr>
            <a:endParaRPr lang="en-US" altLang="en-US" dirty="0" smtClean="0">
              <a:latin typeface="Times New Roman" panose="02020603050405020304" pitchFamily="18" charset="0"/>
              <a:ea typeface="+mn-ea"/>
              <a:cs typeface="Times New Roman" panose="02020603050405020304" pitchFamily="18" charset="0"/>
            </a:endParaRPr>
          </a:p>
          <a:p>
            <a:pPr marL="285750" indent="-285750" eaLnBrk="1" hangingPunct="1">
              <a:buFont typeface="Wingdings" panose="05000000000000000000" pitchFamily="2" charset="2"/>
              <a:buChar char="Ø"/>
              <a:defRPr/>
            </a:pPr>
            <a:r>
              <a:rPr lang="en-US" altLang="en-US" dirty="0" smtClean="0">
                <a:latin typeface="Times New Roman" panose="02020603050405020304" pitchFamily="18" charset="0"/>
                <a:ea typeface="+mn-ea"/>
                <a:cs typeface="Times New Roman" panose="02020603050405020304" pitchFamily="18" charset="0"/>
              </a:rPr>
              <a:t>The acceleration is proportional to the displacement of the block.</a:t>
            </a:r>
          </a:p>
          <a:p>
            <a:pPr marL="285750" indent="-285750" eaLnBrk="1" hangingPunct="1">
              <a:buFont typeface="Wingdings" panose="05000000000000000000" pitchFamily="2" charset="2"/>
              <a:buChar char="Ø"/>
              <a:defRPr/>
            </a:pPr>
            <a:r>
              <a:rPr lang="en-US" altLang="en-US" dirty="0" smtClean="0">
                <a:latin typeface="Times New Roman" panose="02020603050405020304" pitchFamily="18" charset="0"/>
                <a:ea typeface="+mn-ea"/>
                <a:cs typeface="Times New Roman" panose="02020603050405020304" pitchFamily="18" charset="0"/>
              </a:rPr>
              <a:t>The direction of the acceleration is opposite the direction of the displacement from equilibrium.</a:t>
            </a:r>
          </a:p>
          <a:p>
            <a:pPr marL="285750" indent="-285750" eaLnBrk="1" hangingPunct="1">
              <a:buFont typeface="Wingdings" panose="05000000000000000000" pitchFamily="2" charset="2"/>
              <a:buChar char="Ø"/>
              <a:defRPr/>
            </a:pPr>
            <a:r>
              <a:rPr lang="en-US" altLang="en-US" b="1" i="1" dirty="0" smtClean="0">
                <a:latin typeface="Times New Roman" panose="02020603050405020304" pitchFamily="18" charset="0"/>
                <a:ea typeface="+mn-ea"/>
                <a:cs typeface="Times New Roman" panose="02020603050405020304" pitchFamily="18" charset="0"/>
              </a:rPr>
              <a:t>An object moves with simple harmonic motion whenever its acceleration is proportional to its position and is oppositely directed to the displacement from equilibrium</a:t>
            </a:r>
            <a:r>
              <a:rPr lang="en-US" altLang="en-US" dirty="0" smtClean="0">
                <a:latin typeface="Times New Roman" panose="02020603050405020304" pitchFamily="18" charset="0"/>
                <a:ea typeface="+mn-ea"/>
                <a:cs typeface="Times New Roman" panose="02020603050405020304" pitchFamily="18" charset="0"/>
              </a:rPr>
              <a:t>.</a:t>
            </a:r>
          </a:p>
          <a:p>
            <a:pPr marL="0" indent="0" eaLnBrk="1" hangingPunct="1">
              <a:defRPr/>
            </a:pPr>
            <a:endParaRPr lang="en-US" altLang="en-US" dirty="0" smtClean="0">
              <a:ea typeface="+mn-ea"/>
            </a:endParaRPr>
          </a:p>
          <a:p>
            <a:pPr marL="0" indent="0" eaLnBrk="1" hangingPunct="1">
              <a:defRPr/>
            </a:pPr>
            <a:endParaRPr lang="en-US" altLang="en-US" dirty="0" smtClean="0">
              <a:ea typeface="+mn-ea"/>
            </a:endParaRPr>
          </a:p>
        </p:txBody>
      </p:sp>
      <p:graphicFrame>
        <p:nvGraphicFramePr>
          <p:cNvPr id="10244" name="Object 4"/>
          <p:cNvGraphicFramePr>
            <a:graphicFrameLocks noChangeAspect="1"/>
          </p:cNvGraphicFramePr>
          <p:nvPr/>
        </p:nvGraphicFramePr>
        <p:xfrm>
          <a:off x="1143000" y="2819400"/>
          <a:ext cx="1600200" cy="1122363"/>
        </p:xfrm>
        <a:graphic>
          <a:graphicData uri="http://schemas.openxmlformats.org/presentationml/2006/ole">
            <mc:AlternateContent xmlns:mc="http://schemas.openxmlformats.org/markup-compatibility/2006">
              <mc:Choice xmlns:v="urn:schemas-microsoft-com:vml" Requires="v">
                <p:oleObj spid="_x0000_s11299" name="Equation" r:id="rId4" imgW="723586" imgH="634725" progId="Equation.DSMT4">
                  <p:embed/>
                </p:oleObj>
              </mc:Choice>
              <mc:Fallback>
                <p:oleObj name="Equation" r:id="rId4" imgW="723586" imgH="634725"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819400"/>
                        <a:ext cx="1600200" cy="11223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15.1</a:t>
            </a:r>
          </a:p>
        </p:txBody>
      </p:sp>
      <p:graphicFrame>
        <p:nvGraphicFramePr>
          <p:cNvPr id="2" name="Object 1"/>
          <p:cNvGraphicFramePr>
            <a:graphicFrameLocks noChangeAspect="1"/>
          </p:cNvGraphicFramePr>
          <p:nvPr/>
        </p:nvGraphicFramePr>
        <p:xfrm>
          <a:off x="3619500" y="1963738"/>
          <a:ext cx="1017588" cy="322262"/>
        </p:xfrm>
        <a:graphic>
          <a:graphicData uri="http://schemas.openxmlformats.org/presentationml/2006/ole">
            <mc:AlternateContent xmlns:mc="http://schemas.openxmlformats.org/markup-compatibility/2006">
              <mc:Choice xmlns:v="urn:schemas-microsoft-com:vml" Requires="v">
                <p:oleObj spid="_x0000_s11300" name="Equation" r:id="rId6" imgW="799753" imgH="253890" progId="Equation.3">
                  <p:embed/>
                </p:oleObj>
              </mc:Choice>
              <mc:Fallback>
                <p:oleObj name="Equation" r:id="rId6" imgW="799753" imgH="25389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19500" y="1963738"/>
                        <a:ext cx="1017588"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smtClean="0"/>
              <a:t>Acceleration, cont.</a:t>
            </a:r>
          </a:p>
        </p:txBody>
      </p:sp>
      <p:sp>
        <p:nvSpPr>
          <p:cNvPr id="11267" name="Rectangle 3"/>
          <p:cNvSpPr>
            <a:spLocks noGrp="1" noChangeArrowheads="1"/>
          </p:cNvSpPr>
          <p:nvPr>
            <p:ph idx="1"/>
          </p:nvPr>
        </p:nvSpPr>
        <p:spPr/>
        <p:txBody>
          <a:bodyPr/>
          <a:lstStyle/>
          <a:p>
            <a:pPr marL="0" indent="0" eaLnBrk="1" hangingPunct="1">
              <a:lnSpc>
                <a:spcPct val="90000"/>
              </a:lnSpc>
            </a:pPr>
            <a:r>
              <a:rPr lang="en-US" altLang="en-US" sz="2000" smtClean="0">
                <a:latin typeface="Times New Roman" pitchFamily="18" charset="0"/>
                <a:cs typeface="Times New Roman" pitchFamily="18" charset="0"/>
              </a:rPr>
              <a:t>The acceleration is </a:t>
            </a:r>
            <a:r>
              <a:rPr lang="en-US" altLang="en-US" sz="2000" b="1" i="1" smtClean="0">
                <a:latin typeface="Times New Roman" pitchFamily="18" charset="0"/>
                <a:cs typeface="Times New Roman" pitchFamily="18" charset="0"/>
              </a:rPr>
              <a:t>not</a:t>
            </a:r>
            <a:r>
              <a:rPr lang="en-US" altLang="en-US" sz="2000" smtClean="0">
                <a:latin typeface="Times New Roman" pitchFamily="18" charset="0"/>
                <a:cs typeface="Times New Roman" pitchFamily="18" charset="0"/>
              </a:rPr>
              <a:t> constant.</a:t>
            </a:r>
          </a:p>
          <a:p>
            <a:pPr lvl="1" eaLnBrk="1" hangingPunct="1">
              <a:lnSpc>
                <a:spcPct val="90000"/>
              </a:lnSpc>
            </a:pPr>
            <a:r>
              <a:rPr lang="en-US" altLang="en-US" sz="2000" smtClean="0">
                <a:latin typeface="Times New Roman" pitchFamily="18" charset="0"/>
                <a:cs typeface="Times New Roman" pitchFamily="18" charset="0"/>
              </a:rPr>
              <a:t>Therefore, the kinematic equations cannot be applied.</a:t>
            </a:r>
          </a:p>
          <a:p>
            <a:pPr lvl="1" eaLnBrk="1" hangingPunct="1">
              <a:lnSpc>
                <a:spcPct val="90000"/>
              </a:lnSpc>
            </a:pPr>
            <a:r>
              <a:rPr lang="en-US" altLang="en-US" sz="2000" smtClean="0">
                <a:latin typeface="Times New Roman" pitchFamily="18" charset="0"/>
                <a:cs typeface="Times New Roman" pitchFamily="18" charset="0"/>
              </a:rPr>
              <a:t>If the block is released from some position </a:t>
            </a:r>
            <a:r>
              <a:rPr lang="en-US" altLang="en-US" sz="2000" i="1" smtClean="0">
                <a:latin typeface="Times New Roman" pitchFamily="18" charset="0"/>
                <a:cs typeface="Times New Roman" pitchFamily="18" charset="0"/>
              </a:rPr>
              <a:t>x</a:t>
            </a:r>
            <a:r>
              <a:rPr lang="en-US" altLang="en-US" sz="2000" smtClean="0">
                <a:latin typeface="Times New Roman" pitchFamily="18" charset="0"/>
                <a:cs typeface="Times New Roman" pitchFamily="18" charset="0"/>
              </a:rPr>
              <a:t> = </a:t>
            </a:r>
            <a:r>
              <a:rPr lang="en-US" altLang="en-US" sz="2000" i="1" smtClean="0">
                <a:latin typeface="Times New Roman" pitchFamily="18" charset="0"/>
                <a:cs typeface="Times New Roman" pitchFamily="18" charset="0"/>
              </a:rPr>
              <a:t>A</a:t>
            </a:r>
            <a:r>
              <a:rPr lang="en-US" altLang="en-US" sz="2000" smtClean="0">
                <a:latin typeface="Times New Roman" pitchFamily="18" charset="0"/>
                <a:cs typeface="Times New Roman" pitchFamily="18" charset="0"/>
              </a:rPr>
              <a:t>, then the initial acceleration is –</a:t>
            </a:r>
            <a:r>
              <a:rPr lang="en-US" altLang="en-US" sz="2000" i="1" smtClean="0">
                <a:latin typeface="Times New Roman" pitchFamily="18" charset="0"/>
                <a:cs typeface="Times New Roman" pitchFamily="18" charset="0"/>
              </a:rPr>
              <a:t>kA</a:t>
            </a:r>
            <a:r>
              <a:rPr lang="en-US" altLang="en-US" sz="2000" smtClean="0">
                <a:latin typeface="Times New Roman" pitchFamily="18" charset="0"/>
                <a:cs typeface="Times New Roman" pitchFamily="18" charset="0"/>
              </a:rPr>
              <a:t>/</a:t>
            </a:r>
            <a:r>
              <a:rPr lang="en-US" altLang="en-US" sz="2000" i="1" smtClean="0">
                <a:latin typeface="Times New Roman" pitchFamily="18" charset="0"/>
                <a:cs typeface="Times New Roman" pitchFamily="18" charset="0"/>
              </a:rPr>
              <a:t>m.</a:t>
            </a:r>
          </a:p>
          <a:p>
            <a:pPr lvl="1" eaLnBrk="1" hangingPunct="1">
              <a:lnSpc>
                <a:spcPct val="90000"/>
              </a:lnSpc>
            </a:pPr>
            <a:r>
              <a:rPr lang="en-US" altLang="en-US" sz="2000" smtClean="0">
                <a:latin typeface="Times New Roman" pitchFamily="18" charset="0"/>
                <a:cs typeface="Times New Roman" pitchFamily="18" charset="0"/>
              </a:rPr>
              <a:t>When the block passes through the equilibrium position, </a:t>
            </a:r>
            <a:r>
              <a:rPr lang="en-US" altLang="en-US" sz="2000" i="1" smtClean="0">
                <a:latin typeface="Times New Roman" pitchFamily="18" charset="0"/>
                <a:cs typeface="Times New Roman" pitchFamily="18" charset="0"/>
              </a:rPr>
              <a:t>a</a:t>
            </a:r>
            <a:r>
              <a:rPr lang="en-US" altLang="en-US" sz="2000" smtClean="0">
                <a:latin typeface="Times New Roman" pitchFamily="18" charset="0"/>
                <a:cs typeface="Times New Roman" pitchFamily="18" charset="0"/>
              </a:rPr>
              <a:t> = 0.</a:t>
            </a:r>
          </a:p>
          <a:p>
            <a:pPr lvl="1" eaLnBrk="1" hangingPunct="1">
              <a:lnSpc>
                <a:spcPct val="90000"/>
              </a:lnSpc>
            </a:pPr>
            <a:r>
              <a:rPr lang="en-US" altLang="en-US" sz="2000" smtClean="0">
                <a:latin typeface="Times New Roman" pitchFamily="18" charset="0"/>
                <a:cs typeface="Times New Roman" pitchFamily="18" charset="0"/>
              </a:rPr>
              <a:t>At this instant, its speed is a maximum because the acceleration changes sign </a:t>
            </a:r>
          </a:p>
          <a:p>
            <a:pPr lvl="1" eaLnBrk="1" hangingPunct="1">
              <a:lnSpc>
                <a:spcPct val="90000"/>
              </a:lnSpc>
            </a:pPr>
            <a:r>
              <a:rPr lang="en-US" altLang="en-US" sz="2000" smtClean="0">
                <a:latin typeface="Times New Roman" pitchFamily="18" charset="0"/>
                <a:cs typeface="Times New Roman" pitchFamily="18" charset="0"/>
              </a:rPr>
              <a:t>The block continues to </a:t>
            </a:r>
            <a:r>
              <a:rPr lang="en-US" altLang="en-US" sz="2000" i="1" smtClean="0">
                <a:latin typeface="Times New Roman" pitchFamily="18" charset="0"/>
                <a:cs typeface="Times New Roman" pitchFamily="18" charset="0"/>
              </a:rPr>
              <a:t>x</a:t>
            </a:r>
            <a:r>
              <a:rPr lang="en-US" altLang="en-US" sz="2000" smtClean="0">
                <a:latin typeface="Times New Roman" pitchFamily="18" charset="0"/>
                <a:cs typeface="Times New Roman" pitchFamily="18" charset="0"/>
              </a:rPr>
              <a:t> = -</a:t>
            </a:r>
            <a:r>
              <a:rPr lang="en-US" altLang="en-US" sz="2000" i="1" smtClean="0">
                <a:latin typeface="Times New Roman" pitchFamily="18" charset="0"/>
                <a:cs typeface="Times New Roman" pitchFamily="18" charset="0"/>
              </a:rPr>
              <a:t>A</a:t>
            </a:r>
            <a:r>
              <a:rPr lang="en-US" altLang="en-US" sz="2000" smtClean="0">
                <a:latin typeface="Times New Roman" pitchFamily="18" charset="0"/>
                <a:cs typeface="Times New Roman" pitchFamily="18" charset="0"/>
              </a:rPr>
              <a:t> where its acceleration is +</a:t>
            </a:r>
            <a:r>
              <a:rPr lang="en-US" altLang="en-US" sz="2000" i="1" smtClean="0">
                <a:latin typeface="Times New Roman" pitchFamily="18" charset="0"/>
                <a:cs typeface="Times New Roman" pitchFamily="18" charset="0"/>
              </a:rPr>
              <a:t>kA</a:t>
            </a:r>
            <a:r>
              <a:rPr lang="en-US" altLang="en-US" sz="2000" smtClean="0">
                <a:latin typeface="Times New Roman" pitchFamily="18" charset="0"/>
                <a:cs typeface="Times New Roman" pitchFamily="18" charset="0"/>
              </a:rPr>
              <a:t>/</a:t>
            </a:r>
            <a:r>
              <a:rPr lang="en-US" altLang="en-US" sz="2000" i="1" smtClean="0">
                <a:latin typeface="Times New Roman" pitchFamily="18" charset="0"/>
                <a:cs typeface="Times New Roman" pitchFamily="18" charset="0"/>
              </a:rPr>
              <a:t>m.</a:t>
            </a:r>
          </a:p>
          <a:p>
            <a:pPr lvl="1" eaLnBrk="1" hangingPunct="1">
              <a:lnSpc>
                <a:spcPct val="90000"/>
              </a:lnSpc>
            </a:pPr>
            <a:r>
              <a:rPr lang="en-US" altLang="en-US" sz="2000" smtClean="0">
                <a:latin typeface="Times New Roman" pitchFamily="18" charset="0"/>
                <a:cs typeface="Times New Roman" pitchFamily="18" charset="0"/>
              </a:rPr>
              <a:t>The block continues to oscillate between –A and +A.</a:t>
            </a:r>
          </a:p>
          <a:p>
            <a:pPr marL="0" indent="0" eaLnBrk="1" hangingPunct="1"/>
            <a:r>
              <a:rPr lang="en-US" altLang="en-US" smtClean="0">
                <a:latin typeface="Times New Roman" pitchFamily="18" charset="0"/>
                <a:cs typeface="Times New Roman" pitchFamily="18" charset="0"/>
              </a:rPr>
              <a:t>In the absence of friction, the motion will continue forever.</a:t>
            </a:r>
          </a:p>
          <a:p>
            <a:pPr lvl="1" eaLnBrk="1" hangingPunct="1"/>
            <a:r>
              <a:rPr lang="en-US" altLang="en-US" smtClean="0">
                <a:latin typeface="Times New Roman" pitchFamily="18" charset="0"/>
                <a:cs typeface="Times New Roman" pitchFamily="18" charset="0"/>
              </a:rPr>
              <a:t>Real systems are generally subject to friction, so they do not actually oscillate forever.</a:t>
            </a:r>
          </a:p>
          <a:p>
            <a:pPr lvl="1" eaLnBrk="1" hangingPunct="1">
              <a:lnSpc>
                <a:spcPct val="90000"/>
              </a:lnSpc>
            </a:pPr>
            <a:endParaRPr lang="en-US" altLang="en-US" sz="2000" smtClean="0">
              <a:latin typeface="Times New Roman" pitchFamily="18" charset="0"/>
              <a:cs typeface="Times New Roman" pitchFamily="18" charset="0"/>
            </a:endParaRPr>
          </a:p>
          <a:p>
            <a:pPr lvl="1" eaLnBrk="1" hangingPunct="1">
              <a:lnSpc>
                <a:spcPct val="90000"/>
              </a:lnSpc>
            </a:pPr>
            <a:endParaRPr lang="en-US" altLang="en-US" sz="2000" i="1" smtClean="0">
              <a:latin typeface="Times New Roman" pitchFamily="18" charset="0"/>
              <a:cs typeface="Times New Roman" pitchFamily="18" charset="0"/>
            </a:endParaRPr>
          </a:p>
        </p:txBody>
      </p:sp>
      <p:sp>
        <p:nvSpPr>
          <p:cNvPr id="1229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mtClean="0"/>
              <a:t>Mathematical Representation of Spring Mass System</a:t>
            </a:r>
          </a:p>
        </p:txBody>
      </p:sp>
      <p:sp>
        <p:nvSpPr>
          <p:cNvPr id="3" name="Content Placeholder 2"/>
          <p:cNvSpPr>
            <a:spLocks noGrp="1"/>
          </p:cNvSpPr>
          <p:nvPr>
            <p:ph idx="1"/>
          </p:nvPr>
        </p:nvSpPr>
        <p:spPr/>
        <p:txBody>
          <a:bodyPr/>
          <a:lstStyle/>
          <a:p>
            <a:r>
              <a:rPr lang="en-US" altLang="en-US" smtClean="0"/>
              <a:t>As we know </a:t>
            </a:r>
          </a:p>
        </p:txBody>
      </p:sp>
      <p:graphicFrame>
        <p:nvGraphicFramePr>
          <p:cNvPr id="4" name="Object 3"/>
          <p:cNvGraphicFramePr>
            <a:graphicFrameLocks noChangeAspect="1"/>
          </p:cNvGraphicFramePr>
          <p:nvPr/>
        </p:nvGraphicFramePr>
        <p:xfrm>
          <a:off x="457200" y="2057400"/>
          <a:ext cx="1828800" cy="754063"/>
        </p:xfrm>
        <a:graphic>
          <a:graphicData uri="http://schemas.openxmlformats.org/presentationml/2006/ole">
            <mc:AlternateContent xmlns:mc="http://schemas.openxmlformats.org/markup-compatibility/2006">
              <mc:Choice xmlns:v="urn:schemas-microsoft-com:vml" Requires="v">
                <p:oleObj spid="_x0000_s13488" name="Equation" r:id="rId4" imgW="1040948" imgH="418918" progId="Equation.3">
                  <p:embed/>
                </p:oleObj>
              </mc:Choice>
              <mc:Fallback>
                <p:oleObj name="Equation" r:id="rId4" imgW="1040948" imgH="418918"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2057400"/>
                        <a:ext cx="18288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p:cNvSpPr txBox="1">
            <a:spLocks noChangeArrowheads="1"/>
          </p:cNvSpPr>
          <p:nvPr/>
        </p:nvSpPr>
        <p:spPr bwMode="auto">
          <a:xfrm>
            <a:off x="457200" y="27432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Now Applying Hook’s Law </a:t>
            </a:r>
          </a:p>
        </p:txBody>
      </p:sp>
      <p:graphicFrame>
        <p:nvGraphicFramePr>
          <p:cNvPr id="6" name="Object 5"/>
          <p:cNvGraphicFramePr>
            <a:graphicFrameLocks noChangeAspect="1"/>
          </p:cNvGraphicFramePr>
          <p:nvPr/>
        </p:nvGraphicFramePr>
        <p:xfrm>
          <a:off x="533400" y="3276600"/>
          <a:ext cx="1465263" cy="341313"/>
        </p:xfrm>
        <a:graphic>
          <a:graphicData uri="http://schemas.openxmlformats.org/presentationml/2006/ole">
            <mc:AlternateContent xmlns:mc="http://schemas.openxmlformats.org/markup-compatibility/2006">
              <mc:Choice xmlns:v="urn:schemas-microsoft-com:vml" Requires="v">
                <p:oleObj spid="_x0000_s13489" name="Equation" r:id="rId6" imgW="761669" imgH="177723" progId="Equation.3">
                  <p:embed/>
                </p:oleObj>
              </mc:Choice>
              <mc:Fallback>
                <p:oleObj name="Equation" r:id="rId6" imgW="761669" imgH="177723"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276600"/>
                        <a:ext cx="14652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228600" y="3733800"/>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Applying Newton’s second Law</a:t>
            </a:r>
          </a:p>
        </p:txBody>
      </p:sp>
      <p:graphicFrame>
        <p:nvGraphicFramePr>
          <p:cNvPr id="8" name="Object 7"/>
          <p:cNvGraphicFramePr>
            <a:graphicFrameLocks noChangeAspect="1"/>
          </p:cNvGraphicFramePr>
          <p:nvPr/>
        </p:nvGraphicFramePr>
        <p:xfrm>
          <a:off x="304800" y="4191000"/>
          <a:ext cx="2252663" cy="474663"/>
        </p:xfrm>
        <a:graphic>
          <a:graphicData uri="http://schemas.openxmlformats.org/presentationml/2006/ole">
            <mc:AlternateContent xmlns:mc="http://schemas.openxmlformats.org/markup-compatibility/2006">
              <mc:Choice xmlns:v="urn:schemas-microsoft-com:vml" Requires="v">
                <p:oleObj spid="_x0000_s13490" name="Equation" r:id="rId8" imgW="1205977" imgH="253890" progId="Equation.3">
                  <p:embed/>
                </p:oleObj>
              </mc:Choice>
              <mc:Fallback>
                <p:oleObj name="Equation" r:id="rId8" imgW="1205977" imgH="25389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4191000"/>
                        <a:ext cx="2252663"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nvGraphicFramePr>
        <p:xfrm>
          <a:off x="298450" y="4800600"/>
          <a:ext cx="1987550" cy="800100"/>
        </p:xfrm>
        <a:graphic>
          <a:graphicData uri="http://schemas.openxmlformats.org/presentationml/2006/ole">
            <mc:AlternateContent xmlns:mc="http://schemas.openxmlformats.org/markup-compatibility/2006">
              <mc:Choice xmlns:v="urn:schemas-microsoft-com:vml" Requires="v">
                <p:oleObj spid="_x0000_s13491" name="Equation" r:id="rId10" imgW="1040948" imgH="418918" progId="Equation.3">
                  <p:embed/>
                </p:oleObj>
              </mc:Choice>
              <mc:Fallback>
                <p:oleObj name="Equation" r:id="rId10" imgW="1040948" imgH="418918"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450" y="4800600"/>
                        <a:ext cx="19875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4038600" y="1752600"/>
          <a:ext cx="1941513" cy="800100"/>
        </p:xfrm>
        <a:graphic>
          <a:graphicData uri="http://schemas.openxmlformats.org/presentationml/2006/ole">
            <mc:AlternateContent xmlns:mc="http://schemas.openxmlformats.org/markup-compatibility/2006">
              <mc:Choice xmlns:v="urn:schemas-microsoft-com:vml" Requires="v">
                <p:oleObj spid="_x0000_s13492" name="Equation" r:id="rId12" imgW="1016000" imgH="419100" progId="Equation.3">
                  <p:embed/>
                </p:oleObj>
              </mc:Choice>
              <mc:Fallback>
                <p:oleObj name="Equation" r:id="rId12" imgW="1016000" imgH="4191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8600" y="1752600"/>
                        <a:ext cx="194151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a:spLocks noChangeArrowheads="1"/>
          </p:cNvSpPr>
          <p:nvPr/>
        </p:nvSpPr>
        <p:spPr bwMode="auto">
          <a:xfrm>
            <a:off x="3962400" y="292735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Let </a:t>
            </a:r>
          </a:p>
        </p:txBody>
      </p:sp>
      <p:graphicFrame>
        <p:nvGraphicFramePr>
          <p:cNvPr id="12" name="Object 11"/>
          <p:cNvGraphicFramePr>
            <a:graphicFrameLocks noChangeAspect="1"/>
          </p:cNvGraphicFramePr>
          <p:nvPr/>
        </p:nvGraphicFramePr>
        <p:xfrm>
          <a:off x="4572000" y="2730500"/>
          <a:ext cx="1009650" cy="763588"/>
        </p:xfrm>
        <a:graphic>
          <a:graphicData uri="http://schemas.openxmlformats.org/presentationml/2006/ole">
            <mc:AlternateContent xmlns:mc="http://schemas.openxmlformats.org/markup-compatibility/2006">
              <mc:Choice xmlns:v="urn:schemas-microsoft-com:vml" Requires="v">
                <p:oleObj spid="_x0000_s13493" name="Equation" r:id="rId14" imgW="520474" imgH="393529" progId="Equation.3">
                  <p:embed/>
                </p:oleObj>
              </mc:Choice>
              <mc:Fallback>
                <p:oleObj name="Equation" r:id="rId14" imgW="520474" imgH="393529"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2000" y="2730500"/>
                        <a:ext cx="100965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nvGraphicFramePr>
        <p:xfrm>
          <a:off x="4038600" y="3657600"/>
          <a:ext cx="1893888" cy="800100"/>
        </p:xfrm>
        <a:graphic>
          <a:graphicData uri="http://schemas.openxmlformats.org/presentationml/2006/ole">
            <mc:AlternateContent xmlns:mc="http://schemas.openxmlformats.org/markup-compatibility/2006">
              <mc:Choice xmlns:v="urn:schemas-microsoft-com:vml" Requires="v">
                <p:oleObj spid="_x0000_s13494" name="Equation" r:id="rId16" imgW="990600" imgH="419100" progId="Equation.3">
                  <p:embed/>
                </p:oleObj>
              </mc:Choice>
              <mc:Fallback>
                <p:oleObj name="Equation" r:id="rId16" imgW="990600" imgH="419100" progId="Equation.3">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38600" y="3657600"/>
                        <a:ext cx="18938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3"/>
          <p:cNvGraphicFramePr>
            <a:graphicFrameLocks noChangeAspect="1"/>
          </p:cNvGraphicFramePr>
          <p:nvPr/>
        </p:nvGraphicFramePr>
        <p:xfrm>
          <a:off x="3886200" y="5257800"/>
          <a:ext cx="3255963" cy="439738"/>
        </p:xfrm>
        <a:graphic>
          <a:graphicData uri="http://schemas.openxmlformats.org/presentationml/2006/ole">
            <mc:AlternateContent xmlns:mc="http://schemas.openxmlformats.org/markup-compatibility/2006">
              <mc:Choice xmlns:v="urn:schemas-microsoft-com:vml" Requires="v">
                <p:oleObj spid="_x0000_s13495" name="Equation" r:id="rId18" imgW="1473200" imgH="203200" progId="Equation.3">
                  <p:embed/>
                </p:oleObj>
              </mc:Choice>
              <mc:Fallback>
                <p:oleObj name="Equation" r:id="rId18" imgW="1473200" imgH="203200" progId="Equation.3">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86200" y="5257800"/>
                        <a:ext cx="3255963"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a:spLocks noChangeArrowheads="1"/>
          </p:cNvSpPr>
          <p:nvPr/>
        </p:nvSpPr>
        <p:spPr bwMode="auto">
          <a:xfrm>
            <a:off x="3886200" y="4648200"/>
            <a:ext cx="3411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Solution of differential equation </a:t>
            </a:r>
          </a:p>
        </p:txBody>
      </p:sp>
      <p:graphicFrame>
        <p:nvGraphicFramePr>
          <p:cNvPr id="17" name="Object 16"/>
          <p:cNvGraphicFramePr>
            <a:graphicFrameLocks noChangeAspect="1"/>
          </p:cNvGraphicFramePr>
          <p:nvPr/>
        </p:nvGraphicFramePr>
        <p:xfrm>
          <a:off x="6629400" y="1905000"/>
          <a:ext cx="4410075" cy="630238"/>
        </p:xfrm>
        <a:graphic>
          <a:graphicData uri="http://schemas.openxmlformats.org/presentationml/2006/ole">
            <mc:AlternateContent xmlns:mc="http://schemas.openxmlformats.org/markup-compatibility/2006">
              <mc:Choice xmlns:v="urn:schemas-microsoft-com:vml" Requires="v">
                <p:oleObj spid="_x0000_s13496" name="Equation" r:id="rId20" imgW="2527300" imgH="393700" progId="Equation.3">
                  <p:embed/>
                </p:oleObj>
              </mc:Choice>
              <mc:Fallback>
                <p:oleObj name="Equation" r:id="rId20" imgW="2527300" imgH="393700" progId="Equation.3">
                  <p:embed/>
                  <p:pic>
                    <p:nvPicPr>
                      <p:cNvPr id="0" name="Object 1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629400" y="1905000"/>
                        <a:ext cx="44100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7"/>
          <p:cNvGraphicFramePr>
            <a:graphicFrameLocks noChangeAspect="1"/>
          </p:cNvGraphicFramePr>
          <p:nvPr/>
        </p:nvGraphicFramePr>
        <p:xfrm>
          <a:off x="6321425" y="2743200"/>
          <a:ext cx="5029200" cy="671513"/>
        </p:xfrm>
        <a:graphic>
          <a:graphicData uri="http://schemas.openxmlformats.org/presentationml/2006/ole">
            <mc:AlternateContent xmlns:mc="http://schemas.openxmlformats.org/markup-compatibility/2006">
              <mc:Choice xmlns:v="urn:schemas-microsoft-com:vml" Requires="v">
                <p:oleObj spid="_x0000_s13497" name="Equation" r:id="rId22" imgW="2882900" imgH="419100" progId="Equation.3">
                  <p:embed/>
                </p:oleObj>
              </mc:Choice>
              <mc:Fallback>
                <p:oleObj name="Equation" r:id="rId22" imgW="2882900" imgH="419100" progId="Equation.3">
                  <p:embed/>
                  <p:pic>
                    <p:nvPicPr>
                      <p:cNvPr id="0" name="Object 1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21425" y="2743200"/>
                        <a:ext cx="50292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19"/>
          <p:cNvSpPr>
            <a:spLocks noChangeArrowheads="1"/>
          </p:cNvSpPr>
          <p:nvPr/>
        </p:nvSpPr>
        <p:spPr bwMode="auto">
          <a:xfrm>
            <a:off x="9906000" y="2743200"/>
            <a:ext cx="1447800" cy="7620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nSpc>
                <a:spcPct val="100000"/>
              </a:lnSpc>
              <a:spcBef>
                <a:spcPct val="0"/>
              </a:spcBef>
            </a:pPr>
            <a:endParaRPr lang="en-US" altLang="en-US" sz="2400"/>
          </a:p>
        </p:txBody>
      </p:sp>
      <p:cxnSp>
        <p:nvCxnSpPr>
          <p:cNvPr id="22" name="Elbow Connector 21"/>
          <p:cNvCxnSpPr/>
          <p:nvPr/>
        </p:nvCxnSpPr>
        <p:spPr bwMode="auto">
          <a:xfrm rot="10800000" flipV="1">
            <a:off x="8991600" y="3505200"/>
            <a:ext cx="914400" cy="228600"/>
          </a:xfrm>
          <a:prstGeom prst="bentConnector3">
            <a:avLst/>
          </a:prstGeom>
          <a:ln>
            <a:headEnd type="none" w="med" len="med"/>
            <a:tailEnd type="arrow"/>
          </a:ln>
        </p:spPr>
        <p:style>
          <a:lnRef idx="3">
            <a:schemeClr val="dk1"/>
          </a:lnRef>
          <a:fillRef idx="0">
            <a:schemeClr val="dk1"/>
          </a:fillRef>
          <a:effectRef idx="2">
            <a:schemeClr val="dk1"/>
          </a:effectRef>
          <a:fontRef idx="minor">
            <a:schemeClr val="tx1"/>
          </a:fontRef>
        </p:style>
      </p:cxnSp>
      <p:graphicFrame>
        <p:nvGraphicFramePr>
          <p:cNvPr id="23" name="Object 22"/>
          <p:cNvGraphicFramePr>
            <a:graphicFrameLocks noChangeAspect="1"/>
          </p:cNvGraphicFramePr>
          <p:nvPr/>
        </p:nvGraphicFramePr>
        <p:xfrm>
          <a:off x="7540625" y="3619500"/>
          <a:ext cx="1417638" cy="671513"/>
        </p:xfrm>
        <a:graphic>
          <a:graphicData uri="http://schemas.openxmlformats.org/presentationml/2006/ole">
            <mc:AlternateContent xmlns:mc="http://schemas.openxmlformats.org/markup-compatibility/2006">
              <mc:Choice xmlns:v="urn:schemas-microsoft-com:vml" Requires="v">
                <p:oleObj spid="_x0000_s13498" name="Equation" r:id="rId24" imgW="812447" imgH="418918" progId="Equation.3">
                  <p:embed/>
                </p:oleObj>
              </mc:Choice>
              <mc:Fallback>
                <p:oleObj name="Equation" r:id="rId24" imgW="812447" imgH="418918" progId="Equation.3">
                  <p:embed/>
                  <p:pic>
                    <p:nvPicPr>
                      <p:cNvPr id="0" name="Object 2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40625" y="3619500"/>
                        <a:ext cx="1417638" cy="6715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4" name="Picture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264400" y="4419600"/>
            <a:ext cx="41433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17"/>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nodeType="clickEffect">
                                  <p:stCondLst>
                                    <p:cond delay="0"/>
                                  </p:stCondLst>
                                  <p:childTnLst>
                                    <p:set>
                                      <p:cBhvr>
                                        <p:cTn id="67" dur="1" fill="hold">
                                          <p:stCondLst>
                                            <p:cond delay="0"/>
                                          </p:stCondLst>
                                        </p:cTn>
                                        <p:tgtEl>
                                          <p:spTgt spid="18"/>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22"/>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nodeType="withGroup">
                            <p:stCondLst>
                              <p:cond delay="0"/>
                            </p:stCondLst>
                            <p:childTnLst>
                              <p:par>
                                <p:cTn id="78" presetID="1" presetClass="entr" presetSubtype="0" fill="hold" nodeType="clickEffect">
                                  <p:stCondLst>
                                    <p:cond delay="0"/>
                                  </p:stCondLst>
                                  <p:childTnLst>
                                    <p:set>
                                      <p:cBhvr>
                                        <p:cTn id="7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p:bldP spid="15" grpId="0"/>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Simple Harmonic Motion – Graphical Representation</a:t>
            </a:r>
          </a:p>
        </p:txBody>
      </p:sp>
      <p:sp>
        <p:nvSpPr>
          <p:cNvPr id="16387" name="Rectangle 3"/>
          <p:cNvSpPr>
            <a:spLocks noGrp="1" noChangeArrowheads="1"/>
          </p:cNvSpPr>
          <p:nvPr>
            <p:ph sz="half" idx="1"/>
          </p:nvPr>
        </p:nvSpPr>
        <p:spPr>
          <a:xfrm>
            <a:off x="571500" y="1676400"/>
            <a:ext cx="6057900" cy="4784725"/>
          </a:xfrm>
        </p:spPr>
        <p:txBody>
          <a:bodyPr/>
          <a:lstStyle/>
          <a:p>
            <a:pPr marL="0" indent="0" eaLnBrk="1" hangingPunct="1"/>
            <a:r>
              <a:rPr lang="en-US" altLang="en-US" sz="2400" smtClean="0">
                <a:latin typeface="Times New Roman" pitchFamily="18" charset="0"/>
                <a:cs typeface="Times New Roman" pitchFamily="18" charset="0"/>
              </a:rPr>
              <a:t> Position for an object in SHM </a:t>
            </a:r>
          </a:p>
          <a:p>
            <a:pPr marL="0" indent="0" eaLnBrk="1" hangingPunct="1"/>
            <a:r>
              <a:rPr lang="en-US" altLang="en-US" sz="2000" i="1" smtClean="0">
                <a:latin typeface="Times New Roman" pitchFamily="18" charset="0"/>
                <a:cs typeface="Times New Roman" pitchFamily="18" charset="0"/>
              </a:rPr>
              <a:t>The parameters A</a:t>
            </a:r>
            <a:r>
              <a:rPr lang="en-US" altLang="en-US" sz="2000" smtClean="0">
                <a:latin typeface="Times New Roman" pitchFamily="18" charset="0"/>
                <a:cs typeface="Times New Roman" pitchFamily="18" charset="0"/>
              </a:rPr>
              <a:t>, </a:t>
            </a:r>
            <a:r>
              <a:rPr lang="el-GR" altLang="en-US" sz="2000" smtClean="0">
                <a:latin typeface="Garamond" pitchFamily="18" charset="0"/>
              </a:rPr>
              <a:t>ω</a:t>
            </a:r>
            <a:r>
              <a:rPr lang="en-US" altLang="en-US" sz="2000" smtClean="0">
                <a:latin typeface="Symbol" pitchFamily="18" charset="2"/>
              </a:rPr>
              <a:t>, </a:t>
            </a:r>
            <a:r>
              <a:rPr lang="en-US" altLang="en-US" sz="2000" smtClean="0">
                <a:latin typeface="Times New Roman" pitchFamily="18" charset="0"/>
                <a:cs typeface="Times New Roman" pitchFamily="18" charset="0"/>
              </a:rPr>
              <a:t>and</a:t>
            </a:r>
            <a:r>
              <a:rPr lang="en-US" altLang="en-US" sz="2000" smtClean="0">
                <a:latin typeface="Symbol" pitchFamily="18" charset="2"/>
              </a:rPr>
              <a:t> </a:t>
            </a:r>
            <a:r>
              <a:rPr lang="el-GR" altLang="en-US" sz="2000" smtClean="0">
                <a:latin typeface="Garamond" pitchFamily="18" charset="0"/>
                <a:sym typeface="Symbol" pitchFamily="18" charset="2"/>
              </a:rPr>
              <a:t></a:t>
            </a:r>
            <a:r>
              <a:rPr lang="en-US" altLang="en-US" sz="2000" smtClean="0">
                <a:latin typeface="Times New Roman" pitchFamily="18" charset="0"/>
                <a:cs typeface="Times New Roman" pitchFamily="18" charset="0"/>
              </a:rPr>
              <a:t> are all constants</a:t>
            </a:r>
          </a:p>
          <a:p>
            <a:pPr marL="0" indent="0" eaLnBrk="1" hangingPunct="1"/>
            <a:r>
              <a:rPr lang="en-US" altLang="en-US" sz="2000" smtClean="0">
                <a:latin typeface="Times New Roman" pitchFamily="18" charset="0"/>
                <a:cs typeface="Times New Roman" pitchFamily="18" charset="0"/>
              </a:rPr>
              <a:t>A is the amplitude of the motion, is simply </a:t>
            </a:r>
            <a:r>
              <a:rPr lang="en-US" altLang="en-US" sz="2000" b="1" smtClean="0">
                <a:latin typeface="Times New Roman" pitchFamily="18" charset="0"/>
                <a:cs typeface="Times New Roman" pitchFamily="18" charset="0"/>
              </a:rPr>
              <a:t>the maximum value of the position of the particle in either the positive or negative </a:t>
            </a:r>
            <a:r>
              <a:rPr lang="en-US" altLang="en-US" sz="2000" b="1" i="1" smtClean="0">
                <a:latin typeface="Times New Roman" pitchFamily="18" charset="0"/>
                <a:cs typeface="Times New Roman" pitchFamily="18" charset="0"/>
              </a:rPr>
              <a:t>x </a:t>
            </a:r>
            <a:r>
              <a:rPr lang="en-US" altLang="en-US" sz="2000" b="1" smtClean="0">
                <a:latin typeface="Times New Roman" pitchFamily="18" charset="0"/>
                <a:cs typeface="Times New Roman" pitchFamily="18" charset="0"/>
              </a:rPr>
              <a:t>direction. </a:t>
            </a:r>
          </a:p>
          <a:p>
            <a:pPr marL="0" indent="0" eaLnBrk="1" hangingPunct="1"/>
            <a:r>
              <a:rPr lang="en-US" altLang="en-US" sz="2000" b="1" smtClean="0">
                <a:latin typeface="Times New Roman" pitchFamily="18" charset="0"/>
                <a:cs typeface="Times New Roman" pitchFamily="18" charset="0"/>
              </a:rPr>
              <a:t>The constant </a:t>
            </a:r>
            <a:r>
              <a:rPr lang="el-GR" altLang="en-US" sz="2000" smtClean="0">
                <a:latin typeface="Times New Roman" pitchFamily="18" charset="0"/>
                <a:cs typeface="Times New Roman" pitchFamily="18" charset="0"/>
              </a:rPr>
              <a:t>ω</a:t>
            </a:r>
            <a:r>
              <a:rPr lang="en-US" altLang="en-US" sz="2000" smtClean="0">
                <a:latin typeface="Times New Roman" pitchFamily="18" charset="0"/>
                <a:cs typeface="Times New Roman" pitchFamily="18" charset="0"/>
              </a:rPr>
              <a:t>, is called angular frequency and has unit rad/s. It is a measure of how rapidly the oscillations are occurring—the more oscillations per unit time, the higher is the value of . </a:t>
            </a:r>
            <a:br>
              <a:rPr lang="en-US" altLang="en-US" sz="2000" smtClean="0">
                <a:latin typeface="Times New Roman" pitchFamily="18" charset="0"/>
                <a:cs typeface="Times New Roman" pitchFamily="18" charset="0"/>
              </a:rPr>
            </a:br>
            <a:endParaRPr lang="en-US" altLang="en-US" sz="2000" smtClean="0">
              <a:latin typeface="Times New Roman" pitchFamily="18" charset="0"/>
              <a:cs typeface="Times New Roman" pitchFamily="18" charset="0"/>
            </a:endParaRPr>
          </a:p>
          <a:p>
            <a:pPr marL="0" indent="0" eaLnBrk="1" hangingPunct="1"/>
            <a:endParaRPr lang="en-US" altLang="en-US" sz="2000" smtClean="0">
              <a:latin typeface="Times New Roman" pitchFamily="18" charset="0"/>
              <a:cs typeface="Times New Roman" pitchFamily="18" charset="0"/>
            </a:endParaRPr>
          </a:p>
          <a:p>
            <a:pPr marL="0" indent="0" eaLnBrk="1" hangingPunct="1"/>
            <a:r>
              <a:rPr lang="en-US" altLang="en-US" sz="2000" smtClean="0">
                <a:latin typeface="Times New Roman" pitchFamily="18" charset="0"/>
                <a:cs typeface="Times New Roman" pitchFamily="18" charset="0"/>
              </a:rPr>
              <a:t>The </a:t>
            </a:r>
            <a:r>
              <a:rPr lang="en-US" altLang="en-US" sz="2000" b="1" smtClean="0">
                <a:latin typeface="Times New Roman" pitchFamily="18" charset="0"/>
                <a:cs typeface="Times New Roman" pitchFamily="18" charset="0"/>
              </a:rPr>
              <a:t>constant angle </a:t>
            </a:r>
            <a:r>
              <a:rPr lang="el-GR" altLang="en-US" sz="2000" b="1" smtClean="0">
                <a:latin typeface="Times New Roman" pitchFamily="18" charset="0"/>
                <a:cs typeface="Times New Roman" pitchFamily="18" charset="0"/>
                <a:sym typeface="Symbol" pitchFamily="18" charset="2"/>
              </a:rPr>
              <a:t></a:t>
            </a:r>
            <a:r>
              <a:rPr lang="en-US" altLang="en-US" sz="2000" smtClean="0">
                <a:latin typeface="Times New Roman" pitchFamily="18" charset="0"/>
                <a:cs typeface="Times New Roman" pitchFamily="18" charset="0"/>
                <a:sym typeface="Symbol" pitchFamily="18" charset="2"/>
              </a:rPr>
              <a:t> </a:t>
            </a:r>
            <a:r>
              <a:rPr lang="en-US" altLang="en-US" sz="2000" smtClean="0">
                <a:latin typeface="Times New Roman" pitchFamily="18" charset="0"/>
                <a:cs typeface="Times New Roman" pitchFamily="18" charset="0"/>
              </a:rPr>
              <a:t>( is called the </a:t>
            </a:r>
            <a:r>
              <a:rPr lang="en-US" altLang="en-US" sz="2000" b="1" smtClean="0">
                <a:latin typeface="Times New Roman" pitchFamily="18" charset="0"/>
                <a:cs typeface="Times New Roman" pitchFamily="18" charset="0"/>
              </a:rPr>
              <a:t>phase constant </a:t>
            </a:r>
            <a:r>
              <a:rPr lang="en-US" altLang="en-US" sz="2000" smtClean="0">
                <a:latin typeface="Times New Roman" pitchFamily="18" charset="0"/>
                <a:cs typeface="Times New Roman" pitchFamily="18" charset="0"/>
              </a:rPr>
              <a:t>(or initial phase angle) </a:t>
            </a:r>
            <a:endParaRPr lang="en-US" altLang="en-US" sz="2400" smtClean="0">
              <a:latin typeface="Times New Roman" pitchFamily="18" charset="0"/>
              <a:cs typeface="Times New Roman" pitchFamily="18" charset="0"/>
            </a:endParaRPr>
          </a:p>
        </p:txBody>
      </p:sp>
      <p:sp>
        <p:nvSpPr>
          <p:cNvPr id="1434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pic>
        <p:nvPicPr>
          <p:cNvPr id="14341" name="Picture 6" descr="150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133600"/>
            <a:ext cx="4637088"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42" name="Object 1"/>
          <p:cNvGraphicFramePr>
            <a:graphicFrameLocks noChangeAspect="1"/>
          </p:cNvGraphicFramePr>
          <p:nvPr/>
        </p:nvGraphicFramePr>
        <p:xfrm>
          <a:off x="4476750" y="1600200"/>
          <a:ext cx="2514600" cy="398463"/>
        </p:xfrm>
        <a:graphic>
          <a:graphicData uri="http://schemas.openxmlformats.org/presentationml/2006/ole">
            <mc:AlternateContent xmlns:mc="http://schemas.openxmlformats.org/markup-compatibility/2006">
              <mc:Choice xmlns:v="urn:schemas-microsoft-com:vml" Requires="v">
                <p:oleObj spid="_x0000_s14372" name="Equation" r:id="rId5" imgW="1282700" imgH="203200" progId="Equation.3">
                  <p:embed/>
                </p:oleObj>
              </mc:Choice>
              <mc:Fallback>
                <p:oleObj name="Equation" r:id="rId5" imgW="1282700" imgH="2032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0" y="1600200"/>
                        <a:ext cx="25146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4343400" y="4576763"/>
          <a:ext cx="1174750" cy="701675"/>
        </p:xfrm>
        <a:graphic>
          <a:graphicData uri="http://schemas.openxmlformats.org/presentationml/2006/ole">
            <mc:AlternateContent xmlns:mc="http://schemas.openxmlformats.org/markup-compatibility/2006">
              <mc:Choice xmlns:v="urn:schemas-microsoft-com:vml" Requires="v">
                <p:oleObj spid="_x0000_s14373" name="Equation" r:id="rId7" imgW="596641" imgH="444307" progId="Equation.DSMT4">
                  <p:embed/>
                </p:oleObj>
              </mc:Choice>
              <mc:Fallback>
                <p:oleObj name="Equation" r:id="rId7" imgW="596641" imgH="444307"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4576763"/>
                        <a:ext cx="1174750" cy="701675"/>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p:txBody>
          <a:bodyPr/>
          <a:lstStyle/>
          <a:p>
            <a:pPr eaLnBrk="1" hangingPunct="1"/>
            <a:r>
              <a:rPr lang="en-US" altLang="en-US" smtClean="0"/>
              <a:t>Simple Harmonic Motion, cont.</a:t>
            </a:r>
          </a:p>
        </p:txBody>
      </p:sp>
      <p:sp>
        <p:nvSpPr>
          <p:cNvPr id="18435" name="Rectangle 5"/>
          <p:cNvSpPr>
            <a:spLocks noGrp="1" noChangeArrowheads="1"/>
          </p:cNvSpPr>
          <p:nvPr>
            <p:ph idx="1"/>
          </p:nvPr>
        </p:nvSpPr>
        <p:spPr/>
        <p:txBody>
          <a:bodyPr/>
          <a:lstStyle/>
          <a:p>
            <a:pPr marL="0" indent="0" eaLnBrk="1" hangingPunct="1"/>
            <a:r>
              <a:rPr lang="en-US" altLang="en-US" sz="2000" smtClean="0"/>
              <a:t>A and </a:t>
            </a:r>
            <a:r>
              <a:rPr lang="en-US" altLang="en-US" sz="2000" smtClean="0">
                <a:latin typeface="Symbol" pitchFamily="18" charset="2"/>
              </a:rPr>
              <a:t>f</a:t>
            </a:r>
            <a:r>
              <a:rPr lang="en-US" altLang="en-US" sz="2000" smtClean="0"/>
              <a:t> are determined uniquely by the position and velocity of the particle at t = 0.</a:t>
            </a:r>
          </a:p>
          <a:p>
            <a:pPr lvl="1" eaLnBrk="1" hangingPunct="1"/>
            <a:r>
              <a:rPr lang="en-US" altLang="en-US" smtClean="0"/>
              <a:t>If the particle is at x = A at t = 0, then </a:t>
            </a:r>
            <a:r>
              <a:rPr lang="en-US" altLang="en-US" smtClean="0">
                <a:latin typeface="Symbol" pitchFamily="18" charset="2"/>
              </a:rPr>
              <a:t>f</a:t>
            </a:r>
            <a:r>
              <a:rPr lang="en-US" altLang="en-US" smtClean="0"/>
              <a:t> = 0</a:t>
            </a:r>
          </a:p>
          <a:p>
            <a:pPr lvl="1"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r>
              <a:rPr lang="en-US" altLang="en-US" smtClean="0"/>
              <a:t>The </a:t>
            </a:r>
            <a:r>
              <a:rPr lang="en-US" altLang="en-US" b="1" smtClean="0"/>
              <a:t>phase</a:t>
            </a:r>
            <a:r>
              <a:rPr lang="en-US" altLang="en-US" smtClean="0"/>
              <a:t> of the motion is the quantity (</a:t>
            </a:r>
            <a:r>
              <a:rPr lang="en-US" altLang="en-US" smtClean="0">
                <a:latin typeface="Symbol" pitchFamily="18" charset="2"/>
              </a:rPr>
              <a:t>w</a:t>
            </a:r>
            <a:r>
              <a:rPr lang="en-US" altLang="en-US" smtClean="0"/>
              <a:t>t + </a:t>
            </a:r>
            <a:r>
              <a:rPr lang="en-US" altLang="en-US" smtClean="0">
                <a:latin typeface="Symbol" pitchFamily="18" charset="2"/>
              </a:rPr>
              <a:t>f</a:t>
            </a:r>
            <a:r>
              <a:rPr lang="en-US" altLang="en-US" smtClean="0"/>
              <a:t>).</a:t>
            </a:r>
          </a:p>
          <a:p>
            <a:pPr marL="0" indent="0" eaLnBrk="1" hangingPunct="1"/>
            <a:r>
              <a:rPr lang="en-US" altLang="en-US" sz="2000" smtClean="0"/>
              <a:t>x (t) is periodic and its value is the same each time </a:t>
            </a:r>
            <a:r>
              <a:rPr lang="en-US" altLang="en-US" sz="2000" smtClean="0">
                <a:latin typeface="Symbol" pitchFamily="18" charset="2"/>
              </a:rPr>
              <a:t>w</a:t>
            </a:r>
            <a:r>
              <a:rPr lang="en-US" altLang="en-US" sz="2000" smtClean="0"/>
              <a:t>t increases by 2</a:t>
            </a:r>
            <a:r>
              <a:rPr lang="en-US" altLang="en-US" sz="2000" smtClean="0">
                <a:latin typeface="Symbol" pitchFamily="18" charset="2"/>
              </a:rPr>
              <a:t>p</a:t>
            </a:r>
            <a:r>
              <a:rPr lang="en-US" altLang="en-US" sz="2000" smtClean="0"/>
              <a:t> radians.</a:t>
            </a:r>
          </a:p>
          <a:p>
            <a:pPr marL="0" indent="0" eaLnBrk="1" hangingPunct="1"/>
            <a:endParaRPr lang="en-US" altLang="en-US" smtClean="0"/>
          </a:p>
        </p:txBody>
      </p:sp>
      <p:sp>
        <p:nvSpPr>
          <p:cNvPr id="1536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graphicFrame>
        <p:nvGraphicFramePr>
          <p:cNvPr id="2" name="Object 1"/>
          <p:cNvGraphicFramePr>
            <a:graphicFrameLocks noChangeAspect="1"/>
          </p:cNvGraphicFramePr>
          <p:nvPr/>
        </p:nvGraphicFramePr>
        <p:xfrm>
          <a:off x="671513" y="2514600"/>
          <a:ext cx="2738437" cy="381000"/>
        </p:xfrm>
        <a:graphic>
          <a:graphicData uri="http://schemas.openxmlformats.org/presentationml/2006/ole">
            <mc:AlternateContent xmlns:mc="http://schemas.openxmlformats.org/markup-compatibility/2006">
              <mc:Choice xmlns:v="urn:schemas-microsoft-com:vml" Requires="v">
                <p:oleObj spid="_x0000_s15411" name="Equation" r:id="rId4" imgW="1459866" imgH="203112" progId="Equation.3">
                  <p:embed/>
                </p:oleObj>
              </mc:Choice>
              <mc:Fallback>
                <p:oleObj name="Equation" r:id="rId4" imgW="1459866" imgH="203112"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513" y="2514600"/>
                        <a:ext cx="27384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762000" y="2971800"/>
          <a:ext cx="1928813" cy="381000"/>
        </p:xfrm>
        <a:graphic>
          <a:graphicData uri="http://schemas.openxmlformats.org/presentationml/2006/ole">
            <mc:AlternateContent xmlns:mc="http://schemas.openxmlformats.org/markup-compatibility/2006">
              <mc:Choice xmlns:v="urn:schemas-microsoft-com:vml" Requires="v">
                <p:oleObj spid="_x0000_s15412" name="Equation" r:id="rId6" imgW="1028254" imgH="203112" progId="Equation.3">
                  <p:embed/>
                </p:oleObj>
              </mc:Choice>
              <mc:Fallback>
                <p:oleObj name="Equation" r:id="rId6" imgW="1028254" imgH="203112"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2971800"/>
                        <a:ext cx="19288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p:cNvGraphicFramePr>
            <a:graphicFrameLocks noChangeAspect="1"/>
          </p:cNvGraphicFramePr>
          <p:nvPr/>
        </p:nvGraphicFramePr>
        <p:xfrm>
          <a:off x="609600" y="3276600"/>
          <a:ext cx="3119438" cy="738188"/>
        </p:xfrm>
        <a:graphic>
          <a:graphicData uri="http://schemas.openxmlformats.org/presentationml/2006/ole">
            <mc:AlternateContent xmlns:mc="http://schemas.openxmlformats.org/markup-compatibility/2006">
              <mc:Choice xmlns:v="urn:schemas-microsoft-com:vml" Requires="v">
                <p:oleObj spid="_x0000_s15413" name="Equation" r:id="rId8" imgW="1663700" imgH="393700" progId="Equation.3">
                  <p:embed/>
                </p:oleObj>
              </mc:Choice>
              <mc:Fallback>
                <p:oleObj name="Equation" r:id="rId8" imgW="1663700" imgH="3937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3276600"/>
                        <a:ext cx="311943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368"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24800" y="2098675"/>
            <a:ext cx="3222625" cy="1931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t>Period of spring mass system</a:t>
            </a:r>
          </a:p>
        </p:txBody>
      </p:sp>
      <p:sp>
        <p:nvSpPr>
          <p:cNvPr id="19459" name="Rectangle 3"/>
          <p:cNvSpPr>
            <a:spLocks noGrp="1" noChangeArrowheads="1"/>
          </p:cNvSpPr>
          <p:nvPr>
            <p:ph idx="1"/>
          </p:nvPr>
        </p:nvSpPr>
        <p:spPr/>
        <p:txBody>
          <a:bodyPr/>
          <a:lstStyle/>
          <a:p>
            <a:pPr marL="0" indent="0" eaLnBrk="1" hangingPunct="1"/>
            <a:r>
              <a:rPr lang="en-US" altLang="en-US" sz="2000" smtClean="0"/>
              <a:t>The </a:t>
            </a:r>
            <a:r>
              <a:rPr lang="en-US" altLang="en-US" sz="2000" b="1" i="1" smtClean="0"/>
              <a:t>period</a:t>
            </a:r>
            <a:r>
              <a:rPr lang="en-US" altLang="en-US" sz="2000" smtClean="0"/>
              <a:t>, </a:t>
            </a:r>
            <a:r>
              <a:rPr lang="en-US" altLang="en-US" sz="2000" i="1" smtClean="0"/>
              <a:t>T</a:t>
            </a:r>
            <a:r>
              <a:rPr lang="en-US" altLang="en-US" sz="2000" smtClean="0"/>
              <a:t>, of the motion is the time interval required for the particle to go through one full cycle of its motion.</a:t>
            </a:r>
          </a:p>
          <a:p>
            <a:pPr lvl="1" eaLnBrk="1" hangingPunct="1"/>
            <a:r>
              <a:rPr lang="en-US" altLang="en-US" sz="2000" smtClean="0"/>
              <a:t>The values of </a:t>
            </a:r>
            <a:r>
              <a:rPr lang="en-US" altLang="en-US" sz="2000" i="1" smtClean="0"/>
              <a:t>x</a:t>
            </a:r>
            <a:r>
              <a:rPr lang="en-US" altLang="en-US" sz="2000" smtClean="0"/>
              <a:t> and </a:t>
            </a:r>
            <a:r>
              <a:rPr lang="en-US" altLang="en-US" sz="2000" i="1" smtClean="0"/>
              <a:t>v</a:t>
            </a:r>
            <a:r>
              <a:rPr lang="en-US" altLang="en-US" sz="2000" smtClean="0"/>
              <a:t> for the particle at time </a:t>
            </a:r>
            <a:r>
              <a:rPr lang="en-US" altLang="en-US" sz="2000" i="1" smtClean="0"/>
              <a:t>t</a:t>
            </a:r>
            <a:r>
              <a:rPr lang="en-US" altLang="en-US" sz="2000" smtClean="0"/>
              <a:t> equal the values of </a:t>
            </a:r>
            <a:r>
              <a:rPr lang="en-US" altLang="en-US" sz="2000" i="1" smtClean="0"/>
              <a:t>x</a:t>
            </a:r>
            <a:r>
              <a:rPr lang="en-US" altLang="en-US" sz="2000" smtClean="0"/>
              <a:t> and </a:t>
            </a:r>
            <a:r>
              <a:rPr lang="en-US" altLang="en-US" sz="2000" i="1" smtClean="0"/>
              <a:t>v</a:t>
            </a:r>
            <a:r>
              <a:rPr lang="en-US" altLang="en-US" sz="2000" smtClean="0"/>
              <a:t> at </a:t>
            </a:r>
            <a:r>
              <a:rPr lang="en-US" altLang="en-US" sz="2000" i="1" smtClean="0"/>
              <a:t>t</a:t>
            </a:r>
            <a:r>
              <a:rPr lang="en-US" altLang="en-US" sz="2000" smtClean="0"/>
              <a:t> + </a:t>
            </a:r>
            <a:r>
              <a:rPr lang="en-US" altLang="en-US" sz="2000" i="1" smtClean="0"/>
              <a:t>T.</a:t>
            </a:r>
          </a:p>
          <a:p>
            <a:pPr lvl="1" eaLnBrk="1" hangingPunct="1"/>
            <a:endParaRPr lang="en-US" altLang="en-US" i="1" smtClean="0"/>
          </a:p>
          <a:p>
            <a:pPr marL="0" indent="0" eaLnBrk="1" hangingPunct="1"/>
            <a:endParaRPr lang="en-US" altLang="en-US" smtClean="0"/>
          </a:p>
        </p:txBody>
      </p:sp>
      <p:sp>
        <p:nvSpPr>
          <p:cNvPr id="16388"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graphicFrame>
        <p:nvGraphicFramePr>
          <p:cNvPr id="2" name="Object 1"/>
          <p:cNvGraphicFramePr>
            <a:graphicFrameLocks noChangeAspect="1"/>
          </p:cNvGraphicFramePr>
          <p:nvPr/>
        </p:nvGraphicFramePr>
        <p:xfrm>
          <a:off x="638175" y="2819400"/>
          <a:ext cx="4543425" cy="457200"/>
        </p:xfrm>
        <a:graphic>
          <a:graphicData uri="http://schemas.openxmlformats.org/presentationml/2006/ole">
            <mc:AlternateContent xmlns:mc="http://schemas.openxmlformats.org/markup-compatibility/2006">
              <mc:Choice xmlns:v="urn:schemas-microsoft-com:vml" Requires="v">
                <p:oleObj spid="_x0000_s16483" name="Equation" r:id="rId3" imgW="2019300" imgH="203200" progId="Equation.3">
                  <p:embed/>
                </p:oleObj>
              </mc:Choice>
              <mc:Fallback>
                <p:oleObj name="Equation" r:id="rId3" imgW="2019300" imgH="2032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2819400"/>
                        <a:ext cx="4543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a:spLocks noChangeArrowheads="1"/>
          </p:cNvSpPr>
          <p:nvPr/>
        </p:nvSpPr>
        <p:spPr bwMode="auto">
          <a:xfrm>
            <a:off x="838200" y="3348038"/>
            <a:ext cx="3200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400"/>
              <a:t>After simplification</a:t>
            </a:r>
          </a:p>
        </p:txBody>
      </p:sp>
      <p:graphicFrame>
        <p:nvGraphicFramePr>
          <p:cNvPr id="4" name="Object 3"/>
          <p:cNvGraphicFramePr>
            <a:graphicFrameLocks noChangeAspect="1"/>
          </p:cNvGraphicFramePr>
          <p:nvPr/>
        </p:nvGraphicFramePr>
        <p:xfrm>
          <a:off x="609600" y="4038600"/>
          <a:ext cx="2119313" cy="485775"/>
        </p:xfrm>
        <a:graphic>
          <a:graphicData uri="http://schemas.openxmlformats.org/presentationml/2006/ole">
            <mc:AlternateContent xmlns:mc="http://schemas.openxmlformats.org/markup-compatibility/2006">
              <mc:Choice xmlns:v="urn:schemas-microsoft-com:vml" Requires="v">
                <p:oleObj spid="_x0000_s16484" name="Equation" r:id="rId5" imgW="774028" imgH="177646" progId="Equation.3">
                  <p:embed/>
                </p:oleObj>
              </mc:Choice>
              <mc:Fallback>
                <p:oleObj name="Equation" r:id="rId5" imgW="774028" imgH="17764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038600"/>
                        <a:ext cx="21193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595313" y="4572000"/>
          <a:ext cx="1876425" cy="1076325"/>
        </p:xfrm>
        <a:graphic>
          <a:graphicData uri="http://schemas.openxmlformats.org/presentationml/2006/ole">
            <mc:AlternateContent xmlns:mc="http://schemas.openxmlformats.org/markup-compatibility/2006">
              <mc:Choice xmlns:v="urn:schemas-microsoft-com:vml" Requires="v">
                <p:oleObj spid="_x0000_s16485" name="Equation" r:id="rId7" imgW="685800" imgH="393700" progId="Equation.3">
                  <p:embed/>
                </p:oleObj>
              </mc:Choice>
              <mc:Fallback>
                <p:oleObj name="Equation" r:id="rId7" imgW="685800" imgH="3937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5313" y="4572000"/>
                        <a:ext cx="18764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5562600" y="2819400"/>
          <a:ext cx="2535238" cy="1216025"/>
        </p:xfrm>
        <a:graphic>
          <a:graphicData uri="http://schemas.openxmlformats.org/presentationml/2006/ole">
            <mc:AlternateContent xmlns:mc="http://schemas.openxmlformats.org/markup-compatibility/2006">
              <mc:Choice xmlns:v="urn:schemas-microsoft-com:vml" Requires="v">
                <p:oleObj spid="_x0000_s16486" name="Equation" r:id="rId9" imgW="926698" imgH="444307" progId="Equation.3">
                  <p:embed/>
                </p:oleObj>
              </mc:Choice>
              <mc:Fallback>
                <p:oleObj name="Equation" r:id="rId9" imgW="926698" imgH="444307"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2600" y="2819400"/>
                        <a:ext cx="2535238" cy="12160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5381625" y="4038600"/>
          <a:ext cx="2674938" cy="1076325"/>
        </p:xfrm>
        <a:graphic>
          <a:graphicData uri="http://schemas.openxmlformats.org/presentationml/2006/ole">
            <mc:AlternateContent xmlns:mc="http://schemas.openxmlformats.org/markup-compatibility/2006">
              <mc:Choice xmlns:v="urn:schemas-microsoft-com:vml" Requires="v">
                <p:oleObj spid="_x0000_s16487" name="Equation" r:id="rId11" imgW="977476" imgH="393529" progId="Equation.3">
                  <p:embed/>
                </p:oleObj>
              </mc:Choice>
              <mc:Fallback>
                <p:oleObj name="Equation" r:id="rId11" imgW="977476" imgH="393529"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81625" y="4038600"/>
                        <a:ext cx="267493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nvGraphicFramePr>
        <p:xfrm>
          <a:off x="5427663" y="5110163"/>
          <a:ext cx="2674937" cy="1214437"/>
        </p:xfrm>
        <a:graphic>
          <a:graphicData uri="http://schemas.openxmlformats.org/presentationml/2006/ole">
            <mc:AlternateContent xmlns:mc="http://schemas.openxmlformats.org/markup-compatibility/2006">
              <mc:Choice xmlns:v="urn:schemas-microsoft-com:vml" Requires="v">
                <p:oleObj spid="_x0000_s16488" name="Equation" r:id="rId13" imgW="977476" imgH="444307" progId="Equation.3">
                  <p:embed/>
                </p:oleObj>
              </mc:Choice>
              <mc:Fallback>
                <p:oleObj name="Equation" r:id="rId13" imgW="977476" imgH="444307"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7663" y="5110163"/>
                        <a:ext cx="2674937" cy="12144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a:spLocks noChangeArrowheads="1"/>
          </p:cNvSpPr>
          <p:nvPr/>
        </p:nvSpPr>
        <p:spPr bwMode="auto">
          <a:xfrm>
            <a:off x="8229600" y="32004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Time Period</a:t>
            </a:r>
          </a:p>
        </p:txBody>
      </p:sp>
      <p:sp>
        <p:nvSpPr>
          <p:cNvPr id="14" name="TextBox 13"/>
          <p:cNvSpPr txBox="1">
            <a:spLocks noChangeArrowheads="1"/>
          </p:cNvSpPr>
          <p:nvPr/>
        </p:nvSpPr>
        <p:spPr bwMode="auto">
          <a:xfrm>
            <a:off x="8251825" y="5649913"/>
            <a:ext cx="144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Frequency</a:t>
            </a:r>
          </a:p>
        </p:txBody>
      </p:sp>
      <p:sp>
        <p:nvSpPr>
          <p:cNvPr id="10" name="TextBox 9"/>
          <p:cNvSpPr txBox="1">
            <a:spLocks noChangeArrowheads="1"/>
          </p:cNvSpPr>
          <p:nvPr/>
        </p:nvSpPr>
        <p:spPr bwMode="auto">
          <a:xfrm>
            <a:off x="8251825" y="3932238"/>
            <a:ext cx="31781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The frequency represents the </a:t>
            </a:r>
            <a:r>
              <a:rPr lang="en-US" altLang="en-US" b="1"/>
              <a:t>number of oscillations the particle undergoes per unit time interval:</a:t>
            </a:r>
            <a:r>
              <a:rPr lang="en-US" altLang="en-US"/>
              <a:t> </a:t>
            </a:r>
            <a:br>
              <a:rPr lang="en-US" altLang="en-US"/>
            </a:b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4"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Motion Equations for Simple Harmonic Motion</a:t>
            </a:r>
          </a:p>
        </p:txBody>
      </p:sp>
      <p:sp>
        <p:nvSpPr>
          <p:cNvPr id="22531" name="Rectangle 3"/>
          <p:cNvSpPr>
            <a:spLocks noGrp="1" noChangeArrowheads="1"/>
          </p:cNvSpPr>
          <p:nvPr>
            <p:ph idx="1"/>
          </p:nvPr>
        </p:nvSpPr>
        <p:spPr>
          <a:xfrm>
            <a:off x="571500" y="1676400"/>
            <a:ext cx="6851650" cy="4495800"/>
          </a:xfrm>
        </p:spPr>
        <p:txBody>
          <a:bodyPr/>
          <a:lstStyle/>
          <a:p>
            <a:pPr marL="0" indent="0" eaLnBrk="1" hangingPunct="1"/>
            <a:endParaRPr lang="en-US" altLang="en-US" sz="2600" smtClean="0"/>
          </a:p>
          <a:p>
            <a:pPr marL="0" indent="0" eaLnBrk="1" hangingPunct="1"/>
            <a:endParaRPr lang="en-US" altLang="en-US" sz="2600" smtClean="0"/>
          </a:p>
          <a:p>
            <a:pPr marL="0" indent="0" eaLnBrk="1" hangingPunct="1"/>
            <a:endParaRPr lang="en-US" altLang="en-US" sz="2600" smtClean="0"/>
          </a:p>
          <a:p>
            <a:pPr marL="0" indent="0" eaLnBrk="1" hangingPunct="1"/>
            <a:endParaRPr lang="en-US" altLang="en-US" sz="2600" smtClean="0"/>
          </a:p>
          <a:p>
            <a:pPr marL="0" indent="0" eaLnBrk="1" hangingPunct="1"/>
            <a:endParaRPr lang="en-US" altLang="en-US" sz="2600" smtClean="0"/>
          </a:p>
          <a:p>
            <a:pPr marL="0" indent="0" eaLnBrk="1" hangingPunct="1"/>
            <a:r>
              <a:rPr lang="en-US" altLang="en-US" smtClean="0"/>
              <a:t>Simple harmonic motion is one-dimensional and so directions can be denoted by + or - sign.</a:t>
            </a:r>
          </a:p>
          <a:p>
            <a:pPr marL="0" indent="0" eaLnBrk="1" hangingPunct="1"/>
            <a:r>
              <a:rPr lang="en-US" altLang="en-US" smtClean="0"/>
              <a:t>The velocity is 90</a:t>
            </a:r>
            <a:r>
              <a:rPr lang="en-US" altLang="en-US" baseline="30000" smtClean="0"/>
              <a:t>o</a:t>
            </a:r>
            <a:r>
              <a:rPr lang="en-US" altLang="en-US" smtClean="0"/>
              <a:t> out of phase with the displacement and the acceleration is 180</a:t>
            </a:r>
            <a:r>
              <a:rPr lang="en-US" altLang="en-US" baseline="30000" smtClean="0"/>
              <a:t>o</a:t>
            </a:r>
            <a:r>
              <a:rPr lang="en-US" altLang="en-US" smtClean="0"/>
              <a:t> out of phase with the displacement.</a:t>
            </a:r>
          </a:p>
          <a:p>
            <a:pPr marL="0" indent="0" eaLnBrk="1" hangingPunct="1"/>
            <a:endParaRPr lang="en-US" altLang="en-US" smtClean="0"/>
          </a:p>
        </p:txBody>
      </p:sp>
      <p:graphicFrame>
        <p:nvGraphicFramePr>
          <p:cNvPr id="22532" name="Object 4"/>
          <p:cNvGraphicFramePr>
            <a:graphicFrameLocks noChangeAspect="1"/>
          </p:cNvGraphicFramePr>
          <p:nvPr/>
        </p:nvGraphicFramePr>
        <p:xfrm>
          <a:off x="609600" y="1676400"/>
          <a:ext cx="4297363" cy="1828800"/>
        </p:xfrm>
        <a:graphic>
          <a:graphicData uri="http://schemas.openxmlformats.org/presentationml/2006/ole">
            <mc:AlternateContent xmlns:mc="http://schemas.openxmlformats.org/markup-compatibility/2006">
              <mc:Choice xmlns:v="urn:schemas-microsoft-com:vml" Requires="v">
                <p:oleObj spid="_x0000_s17429" name="Equation" r:id="rId3" imgW="1981200" imgH="1054100" progId="Equation.DSMT4">
                  <p:embed/>
                </p:oleObj>
              </mc:Choice>
              <mc:Fallback>
                <p:oleObj name="Equation" r:id="rId3" imgW="1981200" imgH="1054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676400"/>
                        <a:ext cx="4297363"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3"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pic>
        <p:nvPicPr>
          <p:cNvPr id="6" name="Picture 6" descr="15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6950" y="1295400"/>
            <a:ext cx="40068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2531">
                                            <p:txEl>
                                              <p:pRg st="5" end="5"/>
                                            </p:txEl>
                                          </p:spTgt>
                                        </p:tgtEl>
                                        <p:attrNameLst>
                                          <p:attrName>style.visibility</p:attrName>
                                        </p:attrNameLst>
                                      </p:cBhvr>
                                      <p:to>
                                        <p:strVal val="visible"/>
                                      </p:to>
                                    </p:set>
                                    <p:animEffect transition="in" filter="fade">
                                      <p:cBhvr>
                                        <p:cTn id="17" dur="500"/>
                                        <p:tgtEl>
                                          <p:spTgt spid="22531">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2531">
                                            <p:txEl>
                                              <p:pRg st="6" end="6"/>
                                            </p:txEl>
                                          </p:spTgt>
                                        </p:tgtEl>
                                        <p:attrNameLst>
                                          <p:attrName>style.visibility</p:attrName>
                                        </p:attrNameLst>
                                      </p:cBhvr>
                                      <p:to>
                                        <p:strVal val="visible"/>
                                      </p:to>
                                    </p:set>
                                    <p:animEffect transition="in" filter="fade">
                                      <p:cBhvr>
                                        <p:cTn id="22" dur="500"/>
                                        <p:tgtEl>
                                          <p:spTgt spid="2253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mtClean="0"/>
              <a:t>Maximum Values of v and a</a:t>
            </a:r>
          </a:p>
        </p:txBody>
      </p:sp>
      <p:sp>
        <p:nvSpPr>
          <p:cNvPr id="18435" name="Rectangle 3"/>
          <p:cNvSpPr>
            <a:spLocks noGrp="1" noChangeArrowheads="1"/>
          </p:cNvSpPr>
          <p:nvPr>
            <p:ph idx="1"/>
          </p:nvPr>
        </p:nvSpPr>
        <p:spPr>
          <a:xfrm>
            <a:off x="571500" y="1676400"/>
            <a:ext cx="6775450" cy="4648200"/>
          </a:xfrm>
        </p:spPr>
        <p:txBody>
          <a:bodyPr/>
          <a:lstStyle/>
          <a:p>
            <a:pPr marL="0" indent="0" eaLnBrk="1" hangingPunct="1"/>
            <a:r>
              <a:rPr lang="en-US" altLang="en-US" smtClean="0"/>
              <a:t>Because the sine and cosine functions oscillate between </a:t>
            </a:r>
            <a:r>
              <a:rPr lang="en-US" altLang="en-US" smtClean="0">
                <a:latin typeface="Symbol" pitchFamily="18" charset="2"/>
              </a:rPr>
              <a:t>±</a:t>
            </a:r>
            <a:r>
              <a:rPr lang="en-US" altLang="en-US" smtClean="0"/>
              <a:t>1, we can easily find the maximum values of velocity and acceleration for an object in SHM.</a:t>
            </a:r>
          </a:p>
          <a:p>
            <a:pPr marL="0" indent="0" eaLnBrk="1" hangingPunct="1"/>
            <a:endParaRPr lang="en-US" altLang="en-US" smtClean="0">
              <a:latin typeface="Symbol" pitchFamily="18" charset="2"/>
            </a:endParaRPr>
          </a:p>
        </p:txBody>
      </p:sp>
      <p:graphicFrame>
        <p:nvGraphicFramePr>
          <p:cNvPr id="18436" name="Object 4"/>
          <p:cNvGraphicFramePr>
            <a:graphicFrameLocks noChangeAspect="1"/>
          </p:cNvGraphicFramePr>
          <p:nvPr/>
        </p:nvGraphicFramePr>
        <p:xfrm>
          <a:off x="3143250" y="2286000"/>
          <a:ext cx="2667000" cy="1466850"/>
        </p:xfrm>
        <a:graphic>
          <a:graphicData uri="http://schemas.openxmlformats.org/presentationml/2006/ole">
            <mc:AlternateContent xmlns:mc="http://schemas.openxmlformats.org/markup-compatibility/2006">
              <mc:Choice xmlns:v="urn:schemas-microsoft-com:vml" Requires="v">
                <p:oleObj spid="_x0000_s18453" name="Equation" r:id="rId3" imgW="1256755" imgH="863225" progId="Equation.DSMT4">
                  <p:embed/>
                </p:oleObj>
              </mc:Choice>
              <mc:Fallback>
                <p:oleObj name="Equation" r:id="rId3" imgW="1256755" imgH="86322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0" y="2286000"/>
                        <a:ext cx="2667000" cy="146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7"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pic>
        <p:nvPicPr>
          <p:cNvPr id="7" name="Picture 6" descr="150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6950" y="1295400"/>
            <a:ext cx="40068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71500" y="838200"/>
            <a:ext cx="9429750" cy="579438"/>
          </a:xfrm>
        </p:spPr>
        <p:txBody>
          <a:bodyPr/>
          <a:lstStyle/>
          <a:p>
            <a:pPr eaLnBrk="1" hangingPunct="1"/>
            <a:r>
              <a:rPr lang="en-US" altLang="en-US" smtClean="0"/>
              <a:t>SHM Example 1</a:t>
            </a:r>
          </a:p>
        </p:txBody>
      </p:sp>
      <p:sp>
        <p:nvSpPr>
          <p:cNvPr id="19459" name="Rectangle 3"/>
          <p:cNvSpPr>
            <a:spLocks noGrp="1" noChangeArrowheads="1"/>
          </p:cNvSpPr>
          <p:nvPr>
            <p:ph type="body" sz="half" idx="1"/>
          </p:nvPr>
        </p:nvSpPr>
        <p:spPr>
          <a:xfrm>
            <a:off x="381000" y="1752600"/>
            <a:ext cx="5715000" cy="4710113"/>
          </a:xfrm>
        </p:spPr>
        <p:txBody>
          <a:bodyPr/>
          <a:lstStyle/>
          <a:p>
            <a:pPr marL="0" indent="0" eaLnBrk="1" hangingPunct="1">
              <a:lnSpc>
                <a:spcPct val="90000"/>
              </a:lnSpc>
            </a:pPr>
            <a:r>
              <a:rPr lang="en-US" altLang="en-US" smtClean="0"/>
              <a:t>Initial conditions at </a:t>
            </a:r>
            <a:r>
              <a:rPr lang="en-US" altLang="en-US" i="1" smtClean="0"/>
              <a:t>t</a:t>
            </a:r>
            <a:r>
              <a:rPr lang="en-US" altLang="en-US" smtClean="0"/>
              <a:t> = 0 are</a:t>
            </a:r>
          </a:p>
          <a:p>
            <a:pPr lvl="1" eaLnBrk="1" hangingPunct="1">
              <a:lnSpc>
                <a:spcPct val="90000"/>
              </a:lnSpc>
            </a:pPr>
            <a:r>
              <a:rPr lang="en-US" altLang="en-US" i="1" smtClean="0"/>
              <a:t>x </a:t>
            </a:r>
            <a:r>
              <a:rPr lang="en-US" altLang="en-US" smtClean="0"/>
              <a:t>(0)= </a:t>
            </a:r>
            <a:r>
              <a:rPr lang="en-US" altLang="en-US" i="1" smtClean="0"/>
              <a:t>A</a:t>
            </a:r>
          </a:p>
          <a:p>
            <a:pPr lvl="1" eaLnBrk="1" hangingPunct="1">
              <a:lnSpc>
                <a:spcPct val="90000"/>
              </a:lnSpc>
            </a:pPr>
            <a:r>
              <a:rPr lang="en-US" altLang="en-US" i="1" smtClean="0"/>
              <a:t>v </a:t>
            </a:r>
            <a:r>
              <a:rPr lang="en-US" altLang="en-US" smtClean="0"/>
              <a:t>(0) = 0</a:t>
            </a:r>
          </a:p>
          <a:p>
            <a:pPr marL="0" indent="0" eaLnBrk="1" hangingPunct="1">
              <a:lnSpc>
                <a:spcPct val="90000"/>
              </a:lnSpc>
            </a:pPr>
            <a:r>
              <a:rPr lang="en-US" altLang="en-US" smtClean="0"/>
              <a:t>This means </a:t>
            </a:r>
            <a:r>
              <a:rPr lang="en-US" altLang="en-US" i="1" smtClean="0">
                <a:latin typeface="Symbol" pitchFamily="18" charset="2"/>
              </a:rPr>
              <a:t>f</a:t>
            </a:r>
            <a:r>
              <a:rPr lang="en-US" altLang="en-US" smtClean="0"/>
              <a:t> = 0</a:t>
            </a:r>
          </a:p>
          <a:p>
            <a:pPr marL="0" indent="0" eaLnBrk="1" hangingPunct="1">
              <a:lnSpc>
                <a:spcPct val="90000"/>
              </a:lnSpc>
            </a:pPr>
            <a:r>
              <a:rPr lang="en-US" altLang="en-US" smtClean="0"/>
              <a:t>The acceleration reaches extremes of   </a:t>
            </a:r>
            <a:r>
              <a:rPr lang="en-US" altLang="en-US" smtClean="0">
                <a:latin typeface="Symbol" pitchFamily="18" charset="2"/>
              </a:rPr>
              <a:t>± </a:t>
            </a:r>
            <a:r>
              <a:rPr lang="en-US" altLang="en-US" i="1" smtClean="0">
                <a:latin typeface="Symbol" pitchFamily="18" charset="2"/>
              </a:rPr>
              <a:t>w</a:t>
            </a:r>
            <a:r>
              <a:rPr lang="en-US" altLang="en-US" baseline="30000" smtClean="0"/>
              <a:t>2</a:t>
            </a:r>
            <a:r>
              <a:rPr lang="en-US" altLang="en-US" i="1" smtClean="0"/>
              <a:t>A </a:t>
            </a:r>
            <a:r>
              <a:rPr lang="en-US" altLang="en-US" smtClean="0"/>
              <a:t>at </a:t>
            </a:r>
            <a:r>
              <a:rPr lang="en-US" altLang="en-US" smtClean="0">
                <a:cs typeface="Arial" charset="0"/>
              </a:rPr>
              <a:t>±</a:t>
            </a:r>
            <a:r>
              <a:rPr lang="en-US" altLang="en-US" smtClean="0"/>
              <a:t>A.</a:t>
            </a:r>
            <a:endParaRPr lang="en-US" altLang="en-US" i="1" smtClean="0"/>
          </a:p>
          <a:p>
            <a:pPr marL="0" indent="0" eaLnBrk="1" hangingPunct="1">
              <a:lnSpc>
                <a:spcPct val="90000"/>
              </a:lnSpc>
            </a:pPr>
            <a:r>
              <a:rPr lang="en-US" altLang="en-US" smtClean="0"/>
              <a:t>The velocity reaches extremes of </a:t>
            </a:r>
            <a:r>
              <a:rPr lang="en-US" altLang="en-US" smtClean="0">
                <a:latin typeface="Symbol" pitchFamily="18" charset="2"/>
              </a:rPr>
              <a:t>± </a:t>
            </a:r>
            <a:r>
              <a:rPr lang="en-US" altLang="en-US" i="1" smtClean="0">
                <a:latin typeface="Symbol" pitchFamily="18" charset="2"/>
              </a:rPr>
              <a:t>w</a:t>
            </a:r>
            <a:r>
              <a:rPr lang="en-US" altLang="en-US" i="1" smtClean="0"/>
              <a:t>A</a:t>
            </a:r>
            <a:r>
              <a:rPr lang="en-US" altLang="en-US" smtClean="0"/>
              <a:t> at x = 0.</a:t>
            </a:r>
            <a:endParaRPr lang="en-US" altLang="en-US" i="1" smtClean="0">
              <a:latin typeface="Symbol" pitchFamily="18" charset="2"/>
            </a:endParaRPr>
          </a:p>
        </p:txBody>
      </p:sp>
      <p:sp>
        <p:nvSpPr>
          <p:cNvPr id="1946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pic>
        <p:nvPicPr>
          <p:cNvPr id="19461" name="Picture 6" descr="1507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95400"/>
            <a:ext cx="4754563"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1"/>
          <p:cNvGraphicFramePr>
            <a:graphicFrameLocks noChangeAspect="1"/>
          </p:cNvGraphicFramePr>
          <p:nvPr/>
        </p:nvGraphicFramePr>
        <p:xfrm>
          <a:off x="381000" y="4114800"/>
          <a:ext cx="2738438" cy="381000"/>
        </p:xfrm>
        <a:graphic>
          <a:graphicData uri="http://schemas.openxmlformats.org/presentationml/2006/ole">
            <mc:AlternateContent xmlns:mc="http://schemas.openxmlformats.org/markup-compatibility/2006">
              <mc:Choice xmlns:v="urn:schemas-microsoft-com:vml" Requires="v">
                <p:oleObj spid="_x0000_s19522" name="Equation" r:id="rId4" imgW="1459866" imgH="203112" progId="Equation.3">
                  <p:embed/>
                </p:oleObj>
              </mc:Choice>
              <mc:Fallback>
                <p:oleObj name="Equation" r:id="rId4" imgW="1459866" imgH="203112"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4114800"/>
                        <a:ext cx="2738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457200" y="4648200"/>
          <a:ext cx="1928813" cy="381000"/>
        </p:xfrm>
        <a:graphic>
          <a:graphicData uri="http://schemas.openxmlformats.org/presentationml/2006/ole">
            <mc:AlternateContent xmlns:mc="http://schemas.openxmlformats.org/markup-compatibility/2006">
              <mc:Choice xmlns:v="urn:schemas-microsoft-com:vml" Requires="v">
                <p:oleObj spid="_x0000_s19523" name="Equation" r:id="rId6" imgW="1028254" imgH="203112" progId="Equation.3">
                  <p:embed/>
                </p:oleObj>
              </mc:Choice>
              <mc:Fallback>
                <p:oleObj name="Equation" r:id="rId6" imgW="1028254" imgH="203112"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4648200"/>
                        <a:ext cx="19288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p:cNvGraphicFramePr>
            <a:graphicFrameLocks noChangeAspect="1"/>
          </p:cNvGraphicFramePr>
          <p:nvPr/>
        </p:nvGraphicFramePr>
        <p:xfrm>
          <a:off x="457200" y="5043488"/>
          <a:ext cx="3119438" cy="738187"/>
        </p:xfrm>
        <a:graphic>
          <a:graphicData uri="http://schemas.openxmlformats.org/presentationml/2006/ole">
            <mc:AlternateContent xmlns:mc="http://schemas.openxmlformats.org/markup-compatibility/2006">
              <mc:Choice xmlns:v="urn:schemas-microsoft-com:vml" Requires="v">
                <p:oleObj spid="_x0000_s19524" name="Equation" r:id="rId8" imgW="1663700" imgH="393700" progId="Equation.3">
                  <p:embed/>
                </p:oleObj>
              </mc:Choice>
              <mc:Fallback>
                <p:oleObj name="Equation" r:id="rId8" imgW="1663700" imgH="3937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 y="5043488"/>
                        <a:ext cx="311943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5" name="Object 4"/>
          <p:cNvGraphicFramePr>
            <a:graphicFrameLocks noChangeAspect="1"/>
          </p:cNvGraphicFramePr>
          <p:nvPr/>
        </p:nvGraphicFramePr>
        <p:xfrm>
          <a:off x="304800" y="5886450"/>
          <a:ext cx="3276600" cy="415925"/>
        </p:xfrm>
        <a:graphic>
          <a:graphicData uri="http://schemas.openxmlformats.org/presentationml/2006/ole">
            <mc:AlternateContent xmlns:mc="http://schemas.openxmlformats.org/markup-compatibility/2006">
              <mc:Choice xmlns:v="urn:schemas-microsoft-com:vml" Requires="v">
                <p:oleObj spid="_x0000_s19525" name="Equation" r:id="rId10" imgW="1600200" imgH="203200" progId="Equation.3">
                  <p:embed/>
                </p:oleObj>
              </mc:Choice>
              <mc:Fallback>
                <p:oleObj name="Equation" r:id="rId10" imgW="1600200" imgH="2032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4800" y="5886450"/>
                        <a:ext cx="32766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71500" y="838200"/>
            <a:ext cx="9429750" cy="579438"/>
          </a:xfrm>
        </p:spPr>
        <p:txBody>
          <a:bodyPr/>
          <a:lstStyle/>
          <a:p>
            <a:pPr eaLnBrk="1" hangingPunct="1"/>
            <a:r>
              <a:rPr lang="en-US" altLang="en-US" smtClean="0"/>
              <a:t>SHM Example 2</a:t>
            </a:r>
          </a:p>
        </p:txBody>
      </p:sp>
      <p:sp>
        <p:nvSpPr>
          <p:cNvPr id="20483" name="Rectangle 3"/>
          <p:cNvSpPr>
            <a:spLocks noGrp="1" noChangeArrowheads="1"/>
          </p:cNvSpPr>
          <p:nvPr>
            <p:ph type="body" sz="half" idx="1"/>
          </p:nvPr>
        </p:nvSpPr>
        <p:spPr/>
        <p:txBody>
          <a:bodyPr/>
          <a:lstStyle/>
          <a:p>
            <a:pPr marL="0" indent="0" eaLnBrk="1" hangingPunct="1">
              <a:lnSpc>
                <a:spcPct val="90000"/>
              </a:lnSpc>
            </a:pPr>
            <a:r>
              <a:rPr lang="en-US" altLang="en-US" smtClean="0"/>
              <a:t>Initial conditions at </a:t>
            </a:r>
            <a:r>
              <a:rPr lang="en-US" altLang="en-US" i="1" smtClean="0"/>
              <a:t>t</a:t>
            </a:r>
            <a:r>
              <a:rPr lang="en-US" altLang="en-US" smtClean="0"/>
              <a:t> = 0 are</a:t>
            </a:r>
          </a:p>
          <a:p>
            <a:pPr lvl="1" eaLnBrk="1" hangingPunct="1">
              <a:lnSpc>
                <a:spcPct val="90000"/>
              </a:lnSpc>
            </a:pPr>
            <a:r>
              <a:rPr lang="en-US" altLang="en-US" i="1" smtClean="0"/>
              <a:t>x </a:t>
            </a:r>
            <a:r>
              <a:rPr lang="en-US" altLang="en-US" smtClean="0"/>
              <a:t>(0)=0</a:t>
            </a:r>
          </a:p>
          <a:p>
            <a:pPr lvl="1" eaLnBrk="1" hangingPunct="1">
              <a:lnSpc>
                <a:spcPct val="90000"/>
              </a:lnSpc>
            </a:pPr>
            <a:r>
              <a:rPr lang="en-US" altLang="en-US" i="1" smtClean="0"/>
              <a:t>v </a:t>
            </a:r>
            <a:r>
              <a:rPr lang="en-US" altLang="en-US" smtClean="0"/>
              <a:t>(0) = </a:t>
            </a:r>
            <a:r>
              <a:rPr lang="en-US" altLang="en-US" i="1" smtClean="0"/>
              <a:t>v</a:t>
            </a:r>
            <a:r>
              <a:rPr lang="en-US" altLang="en-US" i="1" baseline="-25000" smtClean="0"/>
              <a:t>i</a:t>
            </a:r>
            <a:endParaRPr lang="en-US" altLang="en-US" i="1" smtClean="0"/>
          </a:p>
          <a:p>
            <a:pPr marL="0" indent="0" eaLnBrk="1" hangingPunct="1">
              <a:lnSpc>
                <a:spcPct val="90000"/>
              </a:lnSpc>
            </a:pPr>
            <a:r>
              <a:rPr lang="en-US" altLang="en-US" smtClean="0"/>
              <a:t>This means </a:t>
            </a:r>
            <a:r>
              <a:rPr lang="en-US" altLang="en-US" i="1" smtClean="0">
                <a:latin typeface="Symbol" pitchFamily="18" charset="2"/>
              </a:rPr>
              <a:t>f</a:t>
            </a:r>
            <a:r>
              <a:rPr lang="en-US" altLang="en-US" smtClean="0"/>
              <a:t> = </a:t>
            </a:r>
            <a:r>
              <a:rPr lang="en-US" altLang="en-US" smtClean="0">
                <a:latin typeface="Symbol" pitchFamily="18" charset="2"/>
              </a:rPr>
              <a:t>- </a:t>
            </a:r>
            <a:r>
              <a:rPr lang="en-US" altLang="en-US" i="1" smtClean="0">
                <a:latin typeface="Symbol" pitchFamily="18" charset="2"/>
              </a:rPr>
              <a:t>p </a:t>
            </a:r>
            <a:r>
              <a:rPr lang="en-US" altLang="en-US" smtClean="0"/>
              <a:t>/ 2</a:t>
            </a:r>
          </a:p>
          <a:p>
            <a:pPr marL="0" indent="0" eaLnBrk="1" hangingPunct="1">
              <a:lnSpc>
                <a:spcPct val="90000"/>
              </a:lnSpc>
            </a:pPr>
            <a:r>
              <a:rPr lang="en-US" altLang="en-US" smtClean="0"/>
              <a:t>The graph is shifted one-quarter cycle to the right compared to the graph of </a:t>
            </a:r>
            <a:r>
              <a:rPr lang="en-US" altLang="en-US" i="1" smtClean="0"/>
              <a:t>x </a:t>
            </a:r>
            <a:r>
              <a:rPr lang="en-US" altLang="en-US" smtClean="0"/>
              <a:t>(0) = </a:t>
            </a:r>
            <a:r>
              <a:rPr lang="en-US" altLang="en-US" i="1" smtClean="0"/>
              <a:t>A.</a:t>
            </a:r>
            <a:endParaRPr lang="en-US" altLang="en-US" i="1" smtClean="0">
              <a:latin typeface="Symbol" pitchFamily="18" charset="2"/>
            </a:endParaRPr>
          </a:p>
          <a:p>
            <a:pPr marL="0" indent="0" eaLnBrk="1" hangingPunct="1">
              <a:lnSpc>
                <a:spcPct val="90000"/>
              </a:lnSpc>
            </a:pPr>
            <a:endParaRPr lang="en-US" altLang="en-US" smtClean="0"/>
          </a:p>
        </p:txBody>
      </p:sp>
      <p:sp>
        <p:nvSpPr>
          <p:cNvPr id="2048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15.2</a:t>
            </a:r>
          </a:p>
        </p:txBody>
      </p:sp>
      <p:pic>
        <p:nvPicPr>
          <p:cNvPr id="20485" name="Picture 6" descr="1507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0" y="1295400"/>
            <a:ext cx="5005388"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1"/>
          <p:cNvGraphicFramePr>
            <a:graphicFrameLocks noChangeAspect="1"/>
          </p:cNvGraphicFramePr>
          <p:nvPr/>
        </p:nvGraphicFramePr>
        <p:xfrm>
          <a:off x="457200" y="4114800"/>
          <a:ext cx="2738438" cy="381000"/>
        </p:xfrm>
        <a:graphic>
          <a:graphicData uri="http://schemas.openxmlformats.org/presentationml/2006/ole">
            <mc:AlternateContent xmlns:mc="http://schemas.openxmlformats.org/markup-compatibility/2006">
              <mc:Choice xmlns:v="urn:schemas-microsoft-com:vml" Requires="v">
                <p:oleObj spid="_x0000_s20546" name="Equation" r:id="rId4" imgW="1459866" imgH="203112" progId="Equation.3">
                  <p:embed/>
                </p:oleObj>
              </mc:Choice>
              <mc:Fallback>
                <p:oleObj name="Equation" r:id="rId4" imgW="1459866" imgH="203112"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114800"/>
                        <a:ext cx="2738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609600" y="4648200"/>
          <a:ext cx="1857375" cy="381000"/>
        </p:xfrm>
        <a:graphic>
          <a:graphicData uri="http://schemas.openxmlformats.org/presentationml/2006/ole">
            <mc:AlternateContent xmlns:mc="http://schemas.openxmlformats.org/markup-compatibility/2006">
              <mc:Choice xmlns:v="urn:schemas-microsoft-com:vml" Requires="v">
                <p:oleObj spid="_x0000_s20547" name="Equation" r:id="rId6" imgW="990170" imgH="203112" progId="Equation.3">
                  <p:embed/>
                </p:oleObj>
              </mc:Choice>
              <mc:Fallback>
                <p:oleObj name="Equation" r:id="rId6" imgW="990170" imgH="203112"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648200"/>
                        <a:ext cx="18573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8" name="Object 3"/>
          <p:cNvGraphicFramePr>
            <a:graphicFrameLocks noChangeAspect="1"/>
          </p:cNvGraphicFramePr>
          <p:nvPr/>
        </p:nvGraphicFramePr>
        <p:xfrm>
          <a:off x="304800" y="5105400"/>
          <a:ext cx="3276600" cy="415925"/>
        </p:xfrm>
        <a:graphic>
          <a:graphicData uri="http://schemas.openxmlformats.org/presentationml/2006/ole">
            <mc:AlternateContent xmlns:mc="http://schemas.openxmlformats.org/markup-compatibility/2006">
              <mc:Choice xmlns:v="urn:schemas-microsoft-com:vml" Requires="v">
                <p:oleObj spid="_x0000_s20548" name="Equation" r:id="rId8" imgW="1600200" imgH="203200" progId="Equation.3">
                  <p:embed/>
                </p:oleObj>
              </mc:Choice>
              <mc:Fallback>
                <p:oleObj name="Equation" r:id="rId8" imgW="1600200" imgH="2032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5105400"/>
                        <a:ext cx="32766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9" name="Object 4"/>
          <p:cNvGraphicFramePr>
            <a:graphicFrameLocks noChangeAspect="1"/>
          </p:cNvGraphicFramePr>
          <p:nvPr/>
        </p:nvGraphicFramePr>
        <p:xfrm>
          <a:off x="381000" y="5638800"/>
          <a:ext cx="1585913" cy="466725"/>
        </p:xfrm>
        <a:graphic>
          <a:graphicData uri="http://schemas.openxmlformats.org/presentationml/2006/ole">
            <mc:AlternateContent xmlns:mc="http://schemas.openxmlformats.org/markup-compatibility/2006">
              <mc:Choice xmlns:v="urn:schemas-microsoft-com:vml" Requires="v">
                <p:oleObj spid="_x0000_s20549" name="Equation" r:id="rId10" imgW="774364" imgH="228501" progId="Equation.3">
                  <p:embed/>
                </p:oleObj>
              </mc:Choice>
              <mc:Fallback>
                <p:oleObj name="Equation" r:id="rId10" imgW="774364" imgH="228501"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1000" y="5638800"/>
                        <a:ext cx="15859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endParaRPr lang="en-US" altLang="en-US" smtClean="0"/>
          </a:p>
        </p:txBody>
      </p:sp>
      <p:pic>
        <p:nvPicPr>
          <p:cNvPr id="2150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 y="1752600"/>
            <a:ext cx="10668000" cy="2889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pic>
        <p:nvPicPr>
          <p:cNvPr id="215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4641850"/>
            <a:ext cx="3143250" cy="1839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09" name="TextBox 3"/>
          <p:cNvSpPr txBox="1">
            <a:spLocks noChangeArrowheads="1"/>
          </p:cNvSpPr>
          <p:nvPr/>
        </p:nvSpPr>
        <p:spPr bwMode="auto">
          <a:xfrm>
            <a:off x="4953000" y="6259513"/>
            <a:ext cx="137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Figure:15.3</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905000"/>
            <a:ext cx="11039475" cy="2009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85750" y="990600"/>
            <a:ext cx="9429750" cy="563563"/>
          </a:xfrm>
        </p:spPr>
        <p:txBody>
          <a:bodyPr/>
          <a:lstStyle/>
          <a:p>
            <a:r>
              <a:rPr lang="en-US" altLang="en-US" smtClean="0"/>
              <a:t>SHM Example 1</a:t>
            </a:r>
          </a:p>
        </p:txBody>
      </p:sp>
      <p:sp>
        <p:nvSpPr>
          <p:cNvPr id="26627" name="Text Placeholder 2"/>
          <p:cNvSpPr>
            <a:spLocks noGrp="1" noRot="1" noChangeAspect="1" noMove="1" noResize="1" noEditPoints="1" noAdjustHandles="1" noChangeArrowheads="1" noChangeShapeType="1" noTextEdit="1"/>
          </p:cNvSpPr>
          <p:nvPr>
            <p:ph type="body" sz="half" idx="1"/>
          </p:nvPr>
        </p:nvSpPr>
        <p:spPr>
          <a:xfrm>
            <a:off x="190500" y="2133600"/>
            <a:ext cx="6286500" cy="3124200"/>
          </a:xfrm>
          <a:blipFill rotWithShape="1">
            <a:blip r:embed="rId2"/>
            <a:stretch>
              <a:fillRect l="-2788" t="-2729" r="-1212"/>
            </a:stretch>
          </a:blipFill>
          <a:extLst/>
        </p:spPr>
        <p:txBody>
          <a:bodyPr/>
          <a:lstStyle/>
          <a:p>
            <a:pPr>
              <a:defRPr/>
            </a:pPr>
            <a:r>
              <a:rPr lang="en-US">
                <a:noFill/>
                <a:ea typeface="+mn-ea"/>
              </a:rPr>
              <a:t> </a:t>
            </a:r>
          </a:p>
        </p:txBody>
      </p:sp>
      <p:pic>
        <p:nvPicPr>
          <p:cNvPr id="23556" name="Picture 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32600" y="2244725"/>
            <a:ext cx="4502150" cy="2632075"/>
          </a:xfrm>
          <a:solidFill>
            <a:schemeClr val="accent1"/>
          </a:solid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90500" y="1066800"/>
            <a:ext cx="9429750" cy="563563"/>
          </a:xfrm>
        </p:spPr>
        <p:txBody>
          <a:bodyPr/>
          <a:lstStyle/>
          <a:p>
            <a:r>
              <a:rPr lang="en-US" altLang="en-US" smtClean="0"/>
              <a:t>SHM Example 2</a:t>
            </a:r>
            <a:endParaRPr lang="en-US" altLang="en-US" smtClean="0">
              <a:cs typeface="Times New Roman" pitchFamily="18" charset="0"/>
            </a:endParaRPr>
          </a:p>
        </p:txBody>
      </p:sp>
      <p:sp>
        <p:nvSpPr>
          <p:cNvPr id="26627" name="Text Placeholder 2"/>
          <p:cNvSpPr>
            <a:spLocks noGrp="1" noRot="1" noChangeAspect="1" noMove="1" noResize="1" noEditPoints="1" noAdjustHandles="1" noChangeArrowheads="1" noChangeShapeType="1" noTextEdit="1"/>
          </p:cNvSpPr>
          <p:nvPr>
            <p:ph type="body" sz="half" idx="1"/>
          </p:nvPr>
        </p:nvSpPr>
        <p:spPr>
          <a:xfrm>
            <a:off x="190500" y="1981200"/>
            <a:ext cx="6762750" cy="3352800"/>
          </a:xfrm>
          <a:blipFill rotWithShape="1">
            <a:blip r:embed="rId3"/>
            <a:stretch>
              <a:fillRect l="-2590" t="-2545" r="-3266"/>
            </a:stretch>
          </a:blipFill>
          <a:extLst/>
        </p:spPr>
        <p:txBody>
          <a:bodyPr/>
          <a:lstStyle/>
          <a:p>
            <a:pPr>
              <a:defRPr/>
            </a:pPr>
            <a:r>
              <a:rPr lang="en-US">
                <a:noFill/>
                <a:ea typeface="+mn-ea"/>
              </a:rPr>
              <a:t> </a:t>
            </a:r>
          </a:p>
        </p:txBody>
      </p:sp>
      <p:pic>
        <p:nvPicPr>
          <p:cNvPr id="2458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775" y="2057400"/>
            <a:ext cx="4149725" cy="2039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581" name="TextBox 1"/>
          <p:cNvSpPr txBox="1">
            <a:spLocks noChangeArrowheads="1"/>
          </p:cNvSpPr>
          <p:nvPr/>
        </p:nvSpPr>
        <p:spPr bwMode="auto">
          <a:xfrm>
            <a:off x="76200" y="5257800"/>
            <a:ext cx="10972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a:t>The first of these condition tells us </a:t>
            </a:r>
            <a:r>
              <a:rPr lang="en-US" altLang="en-US">
                <a:sym typeface="Symbol" pitchFamily="18" charset="2"/>
              </a:rPr>
              <a:t>   , while the second condition tells us that              </a:t>
            </a:r>
          </a:p>
          <a:p>
            <a:pPr eaLnBrk="1" hangingPunct="1">
              <a:lnSpc>
                <a:spcPct val="100000"/>
              </a:lnSpc>
              <a:spcBef>
                <a:spcPct val="0"/>
              </a:spcBef>
            </a:pPr>
            <a:r>
              <a:rPr lang="en-US" altLang="en-US"/>
              <a:t>We must have </a:t>
            </a:r>
            <a:r>
              <a:rPr lang="en-US" altLang="en-US">
                <a:sym typeface="Symbol" pitchFamily="18" charset="2"/>
              </a:rPr>
              <a:t> </a:t>
            </a:r>
            <a:r>
              <a:rPr lang="en-US" altLang="en-US"/>
              <a:t/>
            </a:r>
            <a:br>
              <a:rPr lang="en-US" altLang="en-US"/>
            </a:br>
            <a:endParaRPr lang="en-US" altLang="en-US"/>
          </a:p>
        </p:txBody>
      </p:sp>
      <p:graphicFrame>
        <p:nvGraphicFramePr>
          <p:cNvPr id="24582" name="Object 2"/>
          <p:cNvGraphicFramePr>
            <a:graphicFrameLocks noChangeAspect="1"/>
          </p:cNvGraphicFramePr>
          <p:nvPr/>
        </p:nvGraphicFramePr>
        <p:xfrm>
          <a:off x="8610600" y="5105400"/>
          <a:ext cx="865188" cy="609600"/>
        </p:xfrm>
        <a:graphic>
          <a:graphicData uri="http://schemas.openxmlformats.org/presentationml/2006/ole">
            <mc:AlternateContent xmlns:mc="http://schemas.openxmlformats.org/markup-compatibility/2006">
              <mc:Choice xmlns:v="urn:schemas-microsoft-com:vml" Requires="v">
                <p:oleObj spid="_x0000_s24597" name="Equation" r:id="rId5" imgW="558558" imgH="393529" progId="Equation.3">
                  <p:embed/>
                </p:oleObj>
              </mc:Choice>
              <mc:Fallback>
                <p:oleObj name="Equation" r:id="rId5" imgW="558558" imgH="393529"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0600" y="5105400"/>
                        <a:ext cx="8651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0" y="0"/>
            <a:ext cx="11430000" cy="762000"/>
          </a:xfrm>
          <a:solidFill>
            <a:srgbClr val="FFFF00"/>
          </a:solidFill>
        </p:spPr>
        <p:txBody>
          <a:bodyPr/>
          <a:lstStyle/>
          <a:p>
            <a:r>
              <a:rPr lang="en-US" altLang="en-US" sz="2800" smtClean="0"/>
              <a:t>Problem 1: </a:t>
            </a:r>
            <a:endParaRPr lang="en-US" altLang="en-US" smtClean="0"/>
          </a:p>
        </p:txBody>
      </p:sp>
      <p:sp>
        <p:nvSpPr>
          <p:cNvPr id="3" name="Content Placeholder 2"/>
          <p:cNvSpPr>
            <a:spLocks noGrp="1"/>
          </p:cNvSpPr>
          <p:nvPr>
            <p:ph idx="1"/>
          </p:nvPr>
        </p:nvSpPr>
        <p:spPr>
          <a:xfrm>
            <a:off x="152400" y="838200"/>
            <a:ext cx="11201400" cy="4572000"/>
          </a:xfrm>
        </p:spPr>
        <p:txBody>
          <a:bodyPr/>
          <a:lstStyle/>
          <a:p>
            <a:pPr marL="0">
              <a:lnSpc>
                <a:spcPct val="150000"/>
              </a:lnSpc>
              <a:defRPr/>
            </a:pPr>
            <a:r>
              <a:rPr lang="en-US" sz="2400" dirty="0">
                <a:ea typeface="+mn-ea"/>
              </a:rPr>
              <a:t>An object oscillates with simple harmonic motion along </a:t>
            </a:r>
            <a:r>
              <a:rPr lang="en-US" sz="2400" dirty="0" smtClean="0">
                <a:ea typeface="+mn-ea"/>
              </a:rPr>
              <a:t>the </a:t>
            </a:r>
            <a:r>
              <a:rPr lang="en-US" sz="2400" i="1" dirty="0" smtClean="0">
                <a:ea typeface="+mn-ea"/>
              </a:rPr>
              <a:t>x </a:t>
            </a:r>
            <a:r>
              <a:rPr lang="en-US" sz="2400" dirty="0">
                <a:ea typeface="+mn-ea"/>
              </a:rPr>
              <a:t>axis. Its position varies with time according to the </a:t>
            </a:r>
            <a:r>
              <a:rPr lang="en-US" sz="2400" dirty="0" smtClean="0">
                <a:ea typeface="+mn-ea"/>
              </a:rPr>
              <a:t>equation                               , </a:t>
            </a:r>
            <a:r>
              <a:rPr lang="en-US" sz="2400" dirty="0">
                <a:ea typeface="+mn-ea"/>
              </a:rPr>
              <a:t>where </a:t>
            </a:r>
            <a:r>
              <a:rPr lang="en-US" sz="2400" i="1" dirty="0">
                <a:ea typeface="+mn-ea"/>
              </a:rPr>
              <a:t>t </a:t>
            </a:r>
            <a:r>
              <a:rPr lang="en-US" sz="2400" dirty="0">
                <a:ea typeface="+mn-ea"/>
              </a:rPr>
              <a:t>is in seconds and the angles in the parentheses </a:t>
            </a:r>
            <a:r>
              <a:rPr lang="en-US" sz="2400" dirty="0" smtClean="0">
                <a:ea typeface="+mn-ea"/>
              </a:rPr>
              <a:t>are in </a:t>
            </a:r>
            <a:r>
              <a:rPr lang="en-US" sz="2400" dirty="0">
                <a:ea typeface="+mn-ea"/>
              </a:rPr>
              <a:t>radians.</a:t>
            </a:r>
            <a:r>
              <a:rPr lang="en-US" sz="2400" dirty="0" smtClean="0">
                <a:ea typeface="+mn-ea"/>
              </a:rPr>
              <a:t> </a:t>
            </a:r>
          </a:p>
          <a:p>
            <a:pPr marL="114300" indent="-457200">
              <a:lnSpc>
                <a:spcPct val="100000"/>
              </a:lnSpc>
              <a:buFontTx/>
              <a:buAutoNum type="alphaUcParenBoth"/>
              <a:defRPr/>
            </a:pPr>
            <a:r>
              <a:rPr lang="en-US" sz="2400" dirty="0" smtClean="0">
                <a:ea typeface="+mn-ea"/>
              </a:rPr>
              <a:t>Determine </a:t>
            </a:r>
            <a:r>
              <a:rPr lang="en-US" sz="2400" dirty="0">
                <a:ea typeface="+mn-ea"/>
              </a:rPr>
              <a:t>the amplitude, frequency, and period of </a:t>
            </a:r>
            <a:r>
              <a:rPr lang="en-US" sz="2400" dirty="0" smtClean="0">
                <a:ea typeface="+mn-ea"/>
              </a:rPr>
              <a:t>the motion</a:t>
            </a:r>
            <a:r>
              <a:rPr lang="en-US" sz="2400" dirty="0">
                <a:ea typeface="+mn-ea"/>
              </a:rPr>
              <a:t>.</a:t>
            </a:r>
            <a:r>
              <a:rPr lang="en-US" sz="2400" dirty="0" smtClean="0">
                <a:ea typeface="+mn-ea"/>
              </a:rPr>
              <a:t> </a:t>
            </a:r>
          </a:p>
          <a:p>
            <a:pPr marL="114300" indent="-457200">
              <a:lnSpc>
                <a:spcPct val="100000"/>
              </a:lnSpc>
              <a:buFontTx/>
              <a:buAutoNum type="alphaUcParenBoth"/>
              <a:defRPr/>
            </a:pPr>
            <a:r>
              <a:rPr lang="en-US" sz="2400" dirty="0" smtClean="0">
                <a:ea typeface="+mn-ea"/>
              </a:rPr>
              <a:t>Calculate </a:t>
            </a:r>
            <a:r>
              <a:rPr lang="en-US" sz="2400" dirty="0">
                <a:ea typeface="+mn-ea"/>
              </a:rPr>
              <a:t>the velocity and acceleration of the object </a:t>
            </a:r>
            <a:r>
              <a:rPr lang="en-US" sz="2400" dirty="0" smtClean="0">
                <a:ea typeface="+mn-ea"/>
              </a:rPr>
              <a:t>at any </a:t>
            </a:r>
            <a:r>
              <a:rPr lang="en-US" sz="2400" dirty="0">
                <a:ea typeface="+mn-ea"/>
              </a:rPr>
              <a:t>time </a:t>
            </a:r>
            <a:r>
              <a:rPr lang="en-US" sz="2400" i="1" dirty="0" smtClean="0">
                <a:ea typeface="+mn-ea"/>
              </a:rPr>
              <a:t>t</a:t>
            </a:r>
            <a:r>
              <a:rPr lang="en-US" sz="2400" dirty="0" smtClean="0">
                <a:ea typeface="+mn-ea"/>
              </a:rPr>
              <a:t>.</a:t>
            </a:r>
          </a:p>
          <a:p>
            <a:pPr marL="114300" indent="-457200">
              <a:lnSpc>
                <a:spcPct val="100000"/>
              </a:lnSpc>
              <a:buFontTx/>
              <a:buAutoNum type="alphaUcParenBoth"/>
              <a:defRPr/>
            </a:pPr>
            <a:r>
              <a:rPr lang="en-US" sz="2400" dirty="0" smtClean="0">
                <a:ea typeface="+mn-ea"/>
              </a:rPr>
              <a:t>Using </a:t>
            </a:r>
            <a:r>
              <a:rPr lang="en-US" sz="2400" dirty="0">
                <a:ea typeface="+mn-ea"/>
              </a:rPr>
              <a:t>the results of part (B), determine the </a:t>
            </a:r>
            <a:r>
              <a:rPr lang="en-US" sz="2400" dirty="0" smtClean="0">
                <a:ea typeface="+mn-ea"/>
              </a:rPr>
              <a:t>position, velocity</a:t>
            </a:r>
            <a:r>
              <a:rPr lang="en-US" sz="2400" dirty="0">
                <a:ea typeface="+mn-ea"/>
              </a:rPr>
              <a:t>, and acceleration of the object at </a:t>
            </a:r>
            <a:r>
              <a:rPr lang="en-US" sz="2400" i="1" dirty="0">
                <a:ea typeface="+mn-ea"/>
              </a:rPr>
              <a:t>t </a:t>
            </a:r>
            <a:r>
              <a:rPr lang="en-US" sz="2400" dirty="0" smtClean="0">
                <a:ea typeface="+mn-ea"/>
              </a:rPr>
              <a:t>= </a:t>
            </a:r>
            <a:r>
              <a:rPr lang="en-US" sz="2400" dirty="0">
                <a:ea typeface="+mn-ea"/>
              </a:rPr>
              <a:t>1.00 s.</a:t>
            </a:r>
            <a:r>
              <a:rPr lang="en-US" sz="2400" dirty="0" smtClean="0">
                <a:ea typeface="+mn-ea"/>
              </a:rPr>
              <a:t> </a:t>
            </a:r>
          </a:p>
          <a:p>
            <a:pPr marL="114300" indent="-457200">
              <a:lnSpc>
                <a:spcPct val="100000"/>
              </a:lnSpc>
              <a:buFontTx/>
              <a:buAutoNum type="alphaUcParenBoth"/>
              <a:defRPr/>
            </a:pPr>
            <a:r>
              <a:rPr lang="en-US" sz="2400" dirty="0">
                <a:ea typeface="+mn-ea"/>
              </a:rPr>
              <a:t>Determine the maximum speed and maximum acceleration of the object.</a:t>
            </a:r>
            <a:r>
              <a:rPr lang="en-US" sz="2400" dirty="0" smtClean="0">
                <a:ea typeface="+mn-ea"/>
              </a:rPr>
              <a:t> </a:t>
            </a:r>
          </a:p>
          <a:p>
            <a:pPr marL="114300" indent="-457200">
              <a:lnSpc>
                <a:spcPct val="100000"/>
              </a:lnSpc>
              <a:buFontTx/>
              <a:buAutoNum type="alphaUcParenBoth"/>
              <a:defRPr/>
            </a:pPr>
            <a:r>
              <a:rPr lang="en-US" sz="2400" dirty="0" smtClean="0">
                <a:ea typeface="+mn-ea"/>
              </a:rPr>
              <a:t>Find </a:t>
            </a:r>
            <a:r>
              <a:rPr lang="en-US" sz="2400" dirty="0">
                <a:ea typeface="+mn-ea"/>
              </a:rPr>
              <a:t>the displacement of the object between </a:t>
            </a:r>
            <a:r>
              <a:rPr lang="en-US" sz="2400" i="1" dirty="0">
                <a:ea typeface="+mn-ea"/>
              </a:rPr>
              <a:t>t </a:t>
            </a:r>
            <a:r>
              <a:rPr lang="en-US" sz="2400" dirty="0" smtClean="0">
                <a:ea typeface="+mn-ea"/>
              </a:rPr>
              <a:t>= </a:t>
            </a:r>
            <a:r>
              <a:rPr lang="en-US" sz="2400" dirty="0">
                <a:ea typeface="+mn-ea"/>
              </a:rPr>
              <a:t>0 </a:t>
            </a:r>
            <a:r>
              <a:rPr lang="en-US" sz="2400" dirty="0" smtClean="0">
                <a:ea typeface="+mn-ea"/>
              </a:rPr>
              <a:t>and </a:t>
            </a:r>
            <a:r>
              <a:rPr lang="en-US" sz="2400" i="1" dirty="0" smtClean="0">
                <a:ea typeface="+mn-ea"/>
              </a:rPr>
              <a:t>t </a:t>
            </a:r>
            <a:r>
              <a:rPr lang="en-US" sz="2400" dirty="0" smtClean="0">
                <a:ea typeface="+mn-ea"/>
              </a:rPr>
              <a:t>= </a:t>
            </a:r>
            <a:r>
              <a:rPr lang="en-US" sz="2400" dirty="0">
                <a:ea typeface="+mn-ea"/>
              </a:rPr>
              <a:t>1.00 s</a:t>
            </a:r>
            <a:r>
              <a:rPr lang="en-US" sz="2400" dirty="0" smtClean="0">
                <a:ea typeface="+mn-ea"/>
              </a:rPr>
              <a:t> </a:t>
            </a:r>
            <a:br>
              <a:rPr lang="en-US" sz="2400" dirty="0" smtClean="0">
                <a:ea typeface="+mn-ea"/>
              </a:rPr>
            </a:br>
            <a:r>
              <a:rPr lang="en-US" sz="2400" dirty="0" smtClean="0">
                <a:ea typeface="+mn-ea"/>
              </a:rPr>
              <a:t/>
            </a:r>
            <a:br>
              <a:rPr lang="en-US" sz="2400" dirty="0" smtClean="0">
                <a:ea typeface="+mn-ea"/>
              </a:rPr>
            </a:br>
            <a:r>
              <a:rPr lang="en-US" sz="2400" dirty="0" smtClean="0">
                <a:ea typeface="+mn-ea"/>
              </a:rPr>
              <a:t/>
            </a:r>
            <a:br>
              <a:rPr lang="en-US" sz="2400" dirty="0" smtClean="0">
                <a:ea typeface="+mn-ea"/>
              </a:rPr>
            </a:br>
            <a:r>
              <a:rPr lang="en-US" sz="2400" dirty="0" smtClean="0">
                <a:ea typeface="+mn-ea"/>
              </a:rPr>
              <a:t/>
            </a:r>
            <a:br>
              <a:rPr lang="en-US" sz="2400" dirty="0" smtClean="0">
                <a:ea typeface="+mn-ea"/>
              </a:rPr>
            </a:br>
            <a:r>
              <a:rPr lang="en-US" sz="2400" dirty="0" smtClean="0">
                <a:ea typeface="+mn-ea"/>
              </a:rPr>
              <a:t/>
            </a:r>
            <a:br>
              <a:rPr lang="en-US" sz="2400" dirty="0" smtClean="0">
                <a:ea typeface="+mn-ea"/>
              </a:rPr>
            </a:br>
            <a:r>
              <a:rPr lang="en-US" sz="2400" dirty="0" smtClean="0">
                <a:ea typeface="+mn-ea"/>
              </a:rPr>
              <a:t/>
            </a:r>
            <a:br>
              <a:rPr lang="en-US" sz="2400" dirty="0" smtClean="0">
                <a:ea typeface="+mn-ea"/>
              </a:rPr>
            </a:br>
            <a:r>
              <a:rPr lang="en-US" sz="2400" dirty="0" smtClean="0">
                <a:ea typeface="+mn-ea"/>
              </a:rPr>
              <a:t> </a:t>
            </a:r>
            <a:br>
              <a:rPr lang="en-US" sz="2400" dirty="0" smtClean="0">
                <a:ea typeface="+mn-ea"/>
              </a:rPr>
            </a:br>
            <a:endParaRPr lang="en-US" dirty="0">
              <a:ea typeface="+mn-ea"/>
            </a:endParaRPr>
          </a:p>
        </p:txBody>
      </p:sp>
      <p:graphicFrame>
        <p:nvGraphicFramePr>
          <p:cNvPr id="4" name="Object 3"/>
          <p:cNvGraphicFramePr>
            <a:graphicFrameLocks noChangeAspect="1"/>
          </p:cNvGraphicFramePr>
          <p:nvPr/>
        </p:nvGraphicFramePr>
        <p:xfrm>
          <a:off x="5867400" y="1371600"/>
          <a:ext cx="2514600" cy="684213"/>
        </p:xfrm>
        <a:graphic>
          <a:graphicData uri="http://schemas.openxmlformats.org/presentationml/2006/ole">
            <mc:AlternateContent xmlns:mc="http://schemas.openxmlformats.org/markup-compatibility/2006">
              <mc:Choice xmlns:v="urn:schemas-microsoft-com:vml" Requires="v">
                <p:oleObj spid="_x0000_s25619" name="Equation" r:id="rId3" imgW="1587500" imgH="431800" progId="Equation.3">
                  <p:embed/>
                </p:oleObj>
              </mc:Choice>
              <mc:Fallback>
                <p:oleObj name="Equation" r:id="rId3" imgW="15875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371600"/>
                        <a:ext cx="25146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ircle(in)">
                                      <p:cBhvr>
                                        <p:cTn id="22" dur="20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ircle(in)">
                                      <p:cBhvr>
                                        <p:cTn id="27" dur="20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ircle(in)">
                                      <p:cBhvr>
                                        <p:cTn id="32" dur="2000"/>
                                        <p:tgtEl>
                                          <p:spTgt spid="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ircle(in)">
                                      <p:cBhvr>
                                        <p:cTn id="3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0" y="0"/>
            <a:ext cx="11430000" cy="762000"/>
          </a:xfrm>
          <a:solidFill>
            <a:srgbClr val="FFFF00"/>
          </a:solidFill>
        </p:spPr>
        <p:txBody>
          <a:bodyPr/>
          <a:lstStyle/>
          <a:p>
            <a:r>
              <a:rPr lang="en-US" altLang="en-US" sz="2000" smtClean="0"/>
              <a:t>Problem 1:</a:t>
            </a:r>
            <a:r>
              <a:rPr lang="en-US" altLang="en-US" sz="2800" smtClean="0"/>
              <a:t> </a:t>
            </a:r>
            <a:r>
              <a:rPr lang="en-US" altLang="en-US" sz="2000" smtClean="0"/>
              <a:t>Determine the amplitude, frequency, and period of the motion. </a:t>
            </a:r>
            <a:endParaRPr lang="en-US" altLang="en-US" smtClean="0"/>
          </a:p>
        </p:txBody>
      </p:sp>
      <p:sp>
        <p:nvSpPr>
          <p:cNvPr id="3" name="Content Placeholder 2"/>
          <p:cNvSpPr>
            <a:spLocks noGrp="1"/>
          </p:cNvSpPr>
          <p:nvPr>
            <p:ph idx="1"/>
          </p:nvPr>
        </p:nvSpPr>
        <p:spPr>
          <a:xfrm>
            <a:off x="152400" y="838200"/>
            <a:ext cx="11201400" cy="4572000"/>
          </a:xfrm>
        </p:spPr>
        <p:txBody>
          <a:bodyPr/>
          <a:lstStyle/>
          <a:p>
            <a:pPr marL="0">
              <a:lnSpc>
                <a:spcPct val="150000"/>
              </a:lnSpc>
            </a:pPr>
            <a:r>
              <a:rPr lang="en-US" altLang="en-US" sz="2400" smtClean="0"/>
              <a:t>Solution: Given</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t>
            </a:r>
            <a:br>
              <a:rPr lang="en-US" altLang="en-US" sz="2400" smtClean="0"/>
            </a:br>
            <a:endParaRPr lang="en-US" altLang="en-US" smtClean="0"/>
          </a:p>
        </p:txBody>
      </p:sp>
      <p:graphicFrame>
        <p:nvGraphicFramePr>
          <p:cNvPr id="4" name="Object 3"/>
          <p:cNvGraphicFramePr>
            <a:graphicFrameLocks noChangeAspect="1"/>
          </p:cNvGraphicFramePr>
          <p:nvPr/>
        </p:nvGraphicFramePr>
        <p:xfrm>
          <a:off x="0" y="1296988"/>
          <a:ext cx="4033838" cy="987425"/>
        </p:xfrm>
        <a:graphic>
          <a:graphicData uri="http://schemas.openxmlformats.org/presentationml/2006/ole">
            <mc:AlternateContent xmlns:mc="http://schemas.openxmlformats.org/markup-compatibility/2006">
              <mc:Choice xmlns:v="urn:schemas-microsoft-com:vml" Requires="v">
                <p:oleObj spid="_x0000_s26661" name="Equation" r:id="rId3" imgW="1765300" imgH="431800" progId="Equation.3">
                  <p:embed/>
                </p:oleObj>
              </mc:Choice>
              <mc:Fallback>
                <p:oleObj name="Equation" r:id="rId3" imgW="17653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6988"/>
                        <a:ext cx="403383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ight Arrow 4"/>
          <p:cNvSpPr>
            <a:spLocks noChangeArrowheads="1"/>
          </p:cNvSpPr>
          <p:nvPr/>
        </p:nvSpPr>
        <p:spPr bwMode="auto">
          <a:xfrm>
            <a:off x="4191000" y="1600200"/>
            <a:ext cx="1219200" cy="381000"/>
          </a:xfrm>
          <a:prstGeom prst="rightArrow">
            <a:avLst>
              <a:gd name="adj1" fmla="val 50000"/>
              <a:gd name="adj2" fmla="val 50000"/>
            </a:avLst>
          </a:prstGeom>
          <a:solidFill>
            <a:srgbClr val="00B050"/>
          </a:solidFill>
          <a:ln w="9525" algn="ctr">
            <a:solidFill>
              <a:schemeClr val="bg1"/>
            </a:solidFill>
            <a:round/>
            <a:headEnd/>
            <a:tailEnd/>
          </a:ln>
        </p:spPr>
        <p:txBody>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nSpc>
                <a:spcPct val="100000"/>
              </a:lnSpc>
              <a:spcBef>
                <a:spcPct val="0"/>
              </a:spcBef>
            </a:pPr>
            <a:endParaRPr lang="en-US" altLang="en-US" sz="2400"/>
          </a:p>
        </p:txBody>
      </p:sp>
      <p:graphicFrame>
        <p:nvGraphicFramePr>
          <p:cNvPr id="6" name="Object 5"/>
          <p:cNvGraphicFramePr>
            <a:graphicFrameLocks noChangeAspect="1"/>
          </p:cNvGraphicFramePr>
          <p:nvPr/>
        </p:nvGraphicFramePr>
        <p:xfrm>
          <a:off x="5535613" y="1447800"/>
          <a:ext cx="3608387" cy="571500"/>
        </p:xfrm>
        <a:graphic>
          <a:graphicData uri="http://schemas.openxmlformats.org/presentationml/2006/ole">
            <mc:AlternateContent xmlns:mc="http://schemas.openxmlformats.org/markup-compatibility/2006">
              <mc:Choice xmlns:v="urn:schemas-microsoft-com:vml" Requires="v">
                <p:oleObj spid="_x0000_s26662" name="Equation" r:id="rId5" imgW="1282700" imgH="203200" progId="Equation.3">
                  <p:embed/>
                </p:oleObj>
              </mc:Choice>
              <mc:Fallback>
                <p:oleObj name="Equation" r:id="rId5" imgW="12827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5613" y="1447800"/>
                        <a:ext cx="360838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457200" y="2590800"/>
            <a:ext cx="3429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800"/>
              <a:t>Amplitude: A = 4 m</a:t>
            </a:r>
          </a:p>
        </p:txBody>
      </p:sp>
      <p:sp>
        <p:nvSpPr>
          <p:cNvPr id="8" name="TextBox 7"/>
          <p:cNvSpPr txBox="1">
            <a:spLocks noRot="1" noChangeAspect="1" noMove="1" noResize="1" noEditPoints="1" noAdjustHandles="1" noChangeArrowheads="1" noChangeShapeType="1" noTextEdit="1"/>
          </p:cNvSpPr>
          <p:nvPr/>
        </p:nvSpPr>
        <p:spPr>
          <a:xfrm>
            <a:off x="304800" y="3200401"/>
            <a:ext cx="10744200" cy="769891"/>
          </a:xfrm>
          <a:prstGeom prst="rect">
            <a:avLst/>
          </a:prstGeom>
          <a:blipFill rotWithShape="1">
            <a:blip r:embed="rId7"/>
            <a:stretch>
              <a:fillRect l="-1134" b="-794"/>
            </a:stretch>
          </a:blipFill>
        </p:spPr>
        <p:txBody>
          <a:bodyPr/>
          <a:lstStyle/>
          <a:p>
            <a:pPr>
              <a:defRPr/>
            </a:pPr>
            <a:r>
              <a:rPr lang="en-US">
                <a:noFill/>
                <a:ea typeface="ＭＳ Ｐゴシック" pitchFamily="80"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0" y="0"/>
            <a:ext cx="11430000" cy="762000"/>
          </a:xfrm>
          <a:solidFill>
            <a:srgbClr val="FFFF00"/>
          </a:solidFill>
        </p:spPr>
        <p:txBody>
          <a:bodyPr/>
          <a:lstStyle/>
          <a:p>
            <a:pPr marL="114300" indent="-457200"/>
            <a:r>
              <a:rPr lang="en-US" altLang="en-US" sz="2000" smtClean="0"/>
              <a:t>Using the results of part (B), determine the position, velocity, and acceleration of the object at </a:t>
            </a:r>
            <a:r>
              <a:rPr lang="en-US" altLang="en-US" sz="2000" i="1" smtClean="0"/>
              <a:t>t </a:t>
            </a:r>
            <a:r>
              <a:rPr lang="en-US" altLang="en-US" sz="2000" smtClean="0"/>
              <a:t>= 1.00 s.</a:t>
            </a:r>
          </a:p>
        </p:txBody>
      </p:sp>
      <p:sp>
        <p:nvSpPr>
          <p:cNvPr id="27651" name="Content Placeholder 2"/>
          <p:cNvSpPr>
            <a:spLocks noGrp="1"/>
          </p:cNvSpPr>
          <p:nvPr>
            <p:ph idx="1"/>
          </p:nvPr>
        </p:nvSpPr>
        <p:spPr>
          <a:xfrm>
            <a:off x="152400" y="838200"/>
            <a:ext cx="11201400" cy="4572000"/>
          </a:xfrm>
        </p:spPr>
        <p:txBody>
          <a:bodyPr/>
          <a:lstStyle/>
          <a:p>
            <a:pPr marL="0">
              <a:lnSpc>
                <a:spcPct val="150000"/>
              </a:lnSpc>
            </a:pPr>
            <a:r>
              <a:rPr lang="en-US" altLang="en-US" sz="2400" smtClean="0"/>
              <a:t>Solution:</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t>
            </a:r>
            <a:br>
              <a:rPr lang="en-US" altLang="en-US" sz="2400" smtClean="0"/>
            </a:br>
            <a:endParaRPr lang="en-US" altLang="en-US" smtClean="0"/>
          </a:p>
        </p:txBody>
      </p:sp>
      <p:graphicFrame>
        <p:nvGraphicFramePr>
          <p:cNvPr id="4" name="Object 3"/>
          <p:cNvGraphicFramePr>
            <a:graphicFrameLocks noChangeAspect="1"/>
          </p:cNvGraphicFramePr>
          <p:nvPr/>
        </p:nvGraphicFramePr>
        <p:xfrm>
          <a:off x="0" y="1296988"/>
          <a:ext cx="4033838" cy="987425"/>
        </p:xfrm>
        <a:graphic>
          <a:graphicData uri="http://schemas.openxmlformats.org/presentationml/2006/ole">
            <mc:AlternateContent xmlns:mc="http://schemas.openxmlformats.org/markup-compatibility/2006">
              <mc:Choice xmlns:v="urn:schemas-microsoft-com:vml" Requires="v">
                <p:oleObj spid="_x0000_s27727" name="Equation" r:id="rId3" imgW="1765300" imgH="431800" progId="Equation.3">
                  <p:embed/>
                </p:oleObj>
              </mc:Choice>
              <mc:Fallback>
                <p:oleObj name="Equation" r:id="rId3" imgW="17653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6988"/>
                        <a:ext cx="403383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4143375" y="1143000"/>
          <a:ext cx="7286625" cy="1216025"/>
        </p:xfrm>
        <a:graphic>
          <a:graphicData uri="http://schemas.openxmlformats.org/presentationml/2006/ole">
            <mc:AlternateContent xmlns:mc="http://schemas.openxmlformats.org/markup-compatibility/2006">
              <mc:Choice xmlns:v="urn:schemas-microsoft-com:vml" Requires="v">
                <p:oleObj spid="_x0000_s27728" name="Equation" r:id="rId5" imgW="2590800" imgH="431800" progId="Equation.3">
                  <p:embed/>
                </p:oleObj>
              </mc:Choice>
              <mc:Fallback>
                <p:oleObj name="Equation" r:id="rId5" imgW="25908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375" y="1143000"/>
                        <a:ext cx="72866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nvGraphicFramePr>
        <p:xfrm>
          <a:off x="0" y="3813175"/>
          <a:ext cx="7608888" cy="1216025"/>
        </p:xfrm>
        <a:graphic>
          <a:graphicData uri="http://schemas.openxmlformats.org/presentationml/2006/ole">
            <mc:AlternateContent xmlns:mc="http://schemas.openxmlformats.org/markup-compatibility/2006">
              <mc:Choice xmlns:v="urn:schemas-microsoft-com:vml" Requires="v">
                <p:oleObj spid="_x0000_s27729" name="Equation" r:id="rId7" imgW="2705100" imgH="431800" progId="Equation.3">
                  <p:embed/>
                </p:oleObj>
              </mc:Choice>
              <mc:Fallback>
                <p:oleObj name="Equation" r:id="rId7" imgW="2705100" imgH="4318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813175"/>
                        <a:ext cx="7608888"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76200" y="2438400"/>
          <a:ext cx="6357938" cy="1216025"/>
        </p:xfrm>
        <a:graphic>
          <a:graphicData uri="http://schemas.openxmlformats.org/presentationml/2006/ole">
            <mc:AlternateContent xmlns:mc="http://schemas.openxmlformats.org/markup-compatibility/2006">
              <mc:Choice xmlns:v="urn:schemas-microsoft-com:vml" Requires="v">
                <p:oleObj spid="_x0000_s27730" name="Equation" r:id="rId9" imgW="2260600" imgH="431800" progId="Equation.3">
                  <p:embed/>
                </p:oleObj>
              </mc:Choice>
              <mc:Fallback>
                <p:oleObj name="Equation" r:id="rId9" imgW="2260600" imgH="4318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 y="2438400"/>
                        <a:ext cx="6357938"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152400" y="5105400"/>
          <a:ext cx="6572250" cy="1216025"/>
        </p:xfrm>
        <a:graphic>
          <a:graphicData uri="http://schemas.openxmlformats.org/presentationml/2006/ole">
            <mc:AlternateContent xmlns:mc="http://schemas.openxmlformats.org/markup-compatibility/2006">
              <mc:Choice xmlns:v="urn:schemas-microsoft-com:vml" Requires="v">
                <p:oleObj spid="_x0000_s27731" name="Equation" r:id="rId11" imgW="2336800" imgH="431800" progId="Equation.3">
                  <p:embed/>
                </p:oleObj>
              </mc:Choice>
              <mc:Fallback>
                <p:oleObj name="Equation" r:id="rId11" imgW="2336800" imgH="4318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 y="5105400"/>
                        <a:ext cx="65722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circle(in)">
                                      <p:cBhvr>
                                        <p:cTn id="2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0" y="0"/>
            <a:ext cx="11430000" cy="762000"/>
          </a:xfrm>
          <a:solidFill>
            <a:srgbClr val="FFFF00"/>
          </a:solidFill>
        </p:spPr>
        <p:txBody>
          <a:bodyPr/>
          <a:lstStyle/>
          <a:p>
            <a:r>
              <a:rPr lang="en-US" altLang="en-US" sz="2000" smtClean="0"/>
              <a:t>Determine the maximum speed and maximum acceleration of the object.</a:t>
            </a:r>
            <a:endParaRPr lang="en-US" altLang="en-US" smtClean="0"/>
          </a:p>
        </p:txBody>
      </p:sp>
      <p:sp>
        <p:nvSpPr>
          <p:cNvPr id="28675" name="Content Placeholder 2"/>
          <p:cNvSpPr>
            <a:spLocks noGrp="1"/>
          </p:cNvSpPr>
          <p:nvPr>
            <p:ph idx="1"/>
          </p:nvPr>
        </p:nvSpPr>
        <p:spPr>
          <a:xfrm>
            <a:off x="152400" y="838200"/>
            <a:ext cx="11201400" cy="4572000"/>
          </a:xfrm>
        </p:spPr>
        <p:txBody>
          <a:bodyPr/>
          <a:lstStyle/>
          <a:p>
            <a:pPr marL="0">
              <a:lnSpc>
                <a:spcPct val="150000"/>
              </a:lnSpc>
            </a:pPr>
            <a:r>
              <a:rPr lang="en-US" altLang="en-US" sz="2400" dirty="0" smtClean="0"/>
              <a:t>Solution:</a:t>
            </a:r>
            <a:br>
              <a:rPr lang="en-US" altLang="en-US" sz="2400" dirty="0" smtClean="0"/>
            </a:br>
            <a:r>
              <a:rPr lang="en-US" altLang="en-US" sz="2400" dirty="0" smtClean="0"/>
              <a:t/>
            </a:r>
            <a:br>
              <a:rPr lang="en-US" altLang="en-US" sz="2400" dirty="0" smtClean="0"/>
            </a:br>
            <a:r>
              <a:rPr lang="en-US" altLang="en-US" sz="2400" dirty="0" smtClean="0"/>
              <a:t/>
            </a:r>
            <a:br>
              <a:rPr lang="en-US" altLang="en-US" sz="2400" dirty="0" smtClean="0"/>
            </a:br>
            <a:r>
              <a:rPr lang="en-US" altLang="en-US" sz="2400" dirty="0" smtClean="0"/>
              <a:t/>
            </a:r>
            <a:br>
              <a:rPr lang="en-US" altLang="en-US" sz="2400" dirty="0" smtClean="0"/>
            </a:br>
            <a:r>
              <a:rPr lang="en-US" altLang="en-US" sz="2400" dirty="0" smtClean="0"/>
              <a:t> </a:t>
            </a:r>
            <a:br>
              <a:rPr lang="en-US" altLang="en-US" sz="2400" dirty="0" smtClean="0"/>
            </a:br>
            <a:endParaRPr lang="en-US" altLang="en-US" dirty="0" smtClean="0"/>
          </a:p>
        </p:txBody>
      </p:sp>
      <p:graphicFrame>
        <p:nvGraphicFramePr>
          <p:cNvPr id="4" name="Object 3"/>
          <p:cNvGraphicFramePr>
            <a:graphicFrameLocks noChangeAspect="1"/>
          </p:cNvGraphicFramePr>
          <p:nvPr/>
        </p:nvGraphicFramePr>
        <p:xfrm>
          <a:off x="0" y="1296988"/>
          <a:ext cx="4033838" cy="987425"/>
        </p:xfrm>
        <a:graphic>
          <a:graphicData uri="http://schemas.openxmlformats.org/presentationml/2006/ole">
            <mc:AlternateContent xmlns:mc="http://schemas.openxmlformats.org/markup-compatibility/2006">
              <mc:Choice xmlns:v="urn:schemas-microsoft-com:vml" Requires="v">
                <p:oleObj spid="_x0000_s28797" name="Equation" r:id="rId3" imgW="1765300" imgH="431800" progId="Equation.3">
                  <p:embed/>
                </p:oleObj>
              </mc:Choice>
              <mc:Fallback>
                <p:oleObj name="Equation" r:id="rId3" imgW="17653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6988"/>
                        <a:ext cx="403383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152400" y="2362200"/>
            <a:ext cx="4953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800"/>
              <a:t>At t= 1.00 s</a:t>
            </a:r>
          </a:p>
        </p:txBody>
      </p:sp>
      <p:graphicFrame>
        <p:nvGraphicFramePr>
          <p:cNvPr id="9" name="Object 8"/>
          <p:cNvGraphicFramePr>
            <a:graphicFrameLocks noChangeAspect="1"/>
          </p:cNvGraphicFramePr>
          <p:nvPr/>
        </p:nvGraphicFramePr>
        <p:xfrm>
          <a:off x="333375" y="2895600"/>
          <a:ext cx="3976688" cy="987425"/>
        </p:xfrm>
        <a:graphic>
          <a:graphicData uri="http://schemas.openxmlformats.org/presentationml/2006/ole">
            <mc:AlternateContent xmlns:mc="http://schemas.openxmlformats.org/markup-compatibility/2006">
              <mc:Choice xmlns:v="urn:schemas-microsoft-com:vml" Requires="v">
                <p:oleObj spid="_x0000_s28798" name="Equation" r:id="rId5" imgW="1739900" imgH="431800" progId="Equation.3">
                  <p:embed/>
                </p:oleObj>
              </mc:Choice>
              <mc:Fallback>
                <p:oleObj name="Equation" r:id="rId5" imgW="1739900" imgH="431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375" y="2895600"/>
                        <a:ext cx="397668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381000" y="4038600"/>
          <a:ext cx="3600450" cy="987425"/>
        </p:xfrm>
        <a:graphic>
          <a:graphicData uri="http://schemas.openxmlformats.org/presentationml/2006/ole">
            <mc:AlternateContent xmlns:mc="http://schemas.openxmlformats.org/markup-compatibility/2006">
              <mc:Choice xmlns:v="urn:schemas-microsoft-com:vml" Requires="v">
                <p:oleObj spid="_x0000_s28799" name="Equation" r:id="rId7" imgW="1574800" imgH="431800" progId="Equation.3">
                  <p:embed/>
                </p:oleObj>
              </mc:Choice>
              <mc:Fallback>
                <p:oleObj name="Equation" r:id="rId7" imgW="1574800" imgH="431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4038600"/>
                        <a:ext cx="3600450"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104775" y="5181600"/>
          <a:ext cx="5049838" cy="465138"/>
        </p:xfrm>
        <a:graphic>
          <a:graphicData uri="http://schemas.openxmlformats.org/presentationml/2006/ole">
            <mc:AlternateContent xmlns:mc="http://schemas.openxmlformats.org/markup-compatibility/2006">
              <mc:Choice xmlns:v="urn:schemas-microsoft-com:vml" Requires="v">
                <p:oleObj spid="_x0000_s28800" name="Equation" r:id="rId9" imgW="2209800" imgH="203200" progId="Equation.3">
                  <p:embed/>
                </p:oleObj>
              </mc:Choice>
              <mc:Fallback>
                <p:oleObj name="Equation" r:id="rId9" imgW="2209800" imgH="203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775" y="5181600"/>
                        <a:ext cx="5049838"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nvGraphicFramePr>
        <p:xfrm>
          <a:off x="5181600" y="1066800"/>
          <a:ext cx="4605338" cy="962025"/>
        </p:xfrm>
        <a:graphic>
          <a:graphicData uri="http://schemas.openxmlformats.org/presentationml/2006/ole">
            <mc:AlternateContent xmlns:mc="http://schemas.openxmlformats.org/markup-compatibility/2006">
              <mc:Choice xmlns:v="urn:schemas-microsoft-com:vml" Requires="v">
                <p:oleObj spid="_x0000_s28801" name="Equation" r:id="rId11" imgW="2070100" imgH="431800" progId="Equation.3">
                  <p:embed/>
                </p:oleObj>
              </mc:Choice>
              <mc:Fallback>
                <p:oleObj name="Equation" r:id="rId11" imgW="2070100" imgH="4318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81600" y="1066800"/>
                        <a:ext cx="4605338"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nvGraphicFramePr>
        <p:xfrm>
          <a:off x="4876800" y="2184400"/>
          <a:ext cx="6216650" cy="877888"/>
        </p:xfrm>
        <a:graphic>
          <a:graphicData uri="http://schemas.openxmlformats.org/presentationml/2006/ole">
            <mc:AlternateContent xmlns:mc="http://schemas.openxmlformats.org/markup-compatibility/2006">
              <mc:Choice xmlns:v="urn:schemas-microsoft-com:vml" Requires="v">
                <p:oleObj spid="_x0000_s28802" name="Equation" r:id="rId13" imgW="2794000" imgH="393700" progId="Equation.3">
                  <p:embed/>
                </p:oleObj>
              </mc:Choice>
              <mc:Fallback>
                <p:oleObj name="Equation" r:id="rId13" imgW="2794000" imgH="3937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76800" y="2184400"/>
                        <a:ext cx="621665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p:cNvGraphicFramePr>
            <a:graphicFrameLocks noChangeAspect="1"/>
          </p:cNvGraphicFramePr>
          <p:nvPr/>
        </p:nvGraphicFramePr>
        <p:xfrm>
          <a:off x="5327650" y="3200400"/>
          <a:ext cx="5003800" cy="1008063"/>
        </p:xfrm>
        <a:graphic>
          <a:graphicData uri="http://schemas.openxmlformats.org/presentationml/2006/ole">
            <mc:AlternateContent xmlns:mc="http://schemas.openxmlformats.org/markup-compatibility/2006">
              <mc:Choice xmlns:v="urn:schemas-microsoft-com:vml" Requires="v">
                <p:oleObj spid="_x0000_s28803" name="Equation" r:id="rId15" imgW="2146300" imgH="431800" progId="Equation.3">
                  <p:embed/>
                </p:oleObj>
              </mc:Choice>
              <mc:Fallback>
                <p:oleObj name="Equation" r:id="rId15" imgW="2146300" imgH="4318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27650" y="3200400"/>
                        <a:ext cx="5003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p:cNvGraphicFramePr>
            <a:graphicFrameLocks noChangeAspect="1"/>
          </p:cNvGraphicFramePr>
          <p:nvPr/>
        </p:nvGraphicFramePr>
        <p:xfrm>
          <a:off x="4495800" y="4343400"/>
          <a:ext cx="6781800" cy="919163"/>
        </p:xfrm>
        <a:graphic>
          <a:graphicData uri="http://schemas.openxmlformats.org/presentationml/2006/ole">
            <mc:AlternateContent xmlns:mc="http://schemas.openxmlformats.org/markup-compatibility/2006">
              <mc:Choice xmlns:v="urn:schemas-microsoft-com:vml" Requires="v">
                <p:oleObj spid="_x0000_s28804" name="Equation" r:id="rId17" imgW="2908300" imgH="393700" progId="Equation.3">
                  <p:embed/>
                </p:oleObj>
              </mc:Choice>
              <mc:Fallback>
                <p:oleObj name="Equation" r:id="rId17" imgW="2908300" imgH="3937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95800" y="4343400"/>
                        <a:ext cx="6781800"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0" y="0"/>
            <a:ext cx="11430000" cy="685800"/>
          </a:xfrm>
          <a:solidFill>
            <a:srgbClr val="FFFF00"/>
          </a:solidFill>
        </p:spPr>
        <p:txBody>
          <a:bodyPr/>
          <a:lstStyle/>
          <a:p>
            <a:r>
              <a:rPr lang="en-US" altLang="en-US" sz="2000" smtClean="0"/>
              <a:t>Find the displacement of the object between </a:t>
            </a:r>
            <a:r>
              <a:rPr lang="en-US" altLang="en-US" sz="2000" i="1" smtClean="0"/>
              <a:t>t </a:t>
            </a:r>
            <a:r>
              <a:rPr lang="en-US" altLang="en-US" sz="2000" smtClean="0"/>
              <a:t>= 0 and </a:t>
            </a:r>
            <a:r>
              <a:rPr lang="en-US" altLang="en-US" sz="2000" i="1" smtClean="0"/>
              <a:t>t </a:t>
            </a:r>
            <a:r>
              <a:rPr lang="en-US" altLang="en-US" sz="2000" smtClean="0"/>
              <a:t>= 1.00 s </a:t>
            </a:r>
            <a:endParaRPr lang="en-US" altLang="en-US" smtClean="0"/>
          </a:p>
        </p:txBody>
      </p:sp>
      <p:sp>
        <p:nvSpPr>
          <p:cNvPr id="29699" name="Content Placeholder 2"/>
          <p:cNvSpPr>
            <a:spLocks noGrp="1"/>
          </p:cNvSpPr>
          <p:nvPr>
            <p:ph idx="1"/>
          </p:nvPr>
        </p:nvSpPr>
        <p:spPr>
          <a:xfrm>
            <a:off x="152400" y="838200"/>
            <a:ext cx="11201400" cy="4572000"/>
          </a:xfrm>
        </p:spPr>
        <p:txBody>
          <a:bodyPr/>
          <a:lstStyle/>
          <a:p>
            <a:pPr marL="0">
              <a:lnSpc>
                <a:spcPct val="150000"/>
              </a:lnSpc>
            </a:pPr>
            <a:r>
              <a:rPr lang="en-US" altLang="en-US" sz="2400" smtClean="0"/>
              <a:t>Solution:</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t>
            </a:r>
            <a:br>
              <a:rPr lang="en-US" altLang="en-US" sz="2400" smtClean="0"/>
            </a:br>
            <a:endParaRPr lang="en-US" altLang="en-US" smtClean="0"/>
          </a:p>
        </p:txBody>
      </p:sp>
      <p:graphicFrame>
        <p:nvGraphicFramePr>
          <p:cNvPr id="12" name="Object 11"/>
          <p:cNvGraphicFramePr>
            <a:graphicFrameLocks noChangeAspect="1"/>
          </p:cNvGraphicFramePr>
          <p:nvPr/>
        </p:nvGraphicFramePr>
        <p:xfrm>
          <a:off x="381000" y="1752600"/>
          <a:ext cx="1835150" cy="509588"/>
        </p:xfrm>
        <a:graphic>
          <a:graphicData uri="http://schemas.openxmlformats.org/presentationml/2006/ole">
            <mc:AlternateContent xmlns:mc="http://schemas.openxmlformats.org/markup-compatibility/2006">
              <mc:Choice xmlns:v="urn:schemas-microsoft-com:vml" Requires="v">
                <p:oleObj spid="_x0000_s29760" name="Equation" r:id="rId3" imgW="825500" imgH="228600" progId="Equation.3">
                  <p:embed/>
                </p:oleObj>
              </mc:Choice>
              <mc:Fallback>
                <p:oleObj name="Equation" r:id="rId3" imgW="825500"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752600"/>
                        <a:ext cx="1835150"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p:cNvGraphicFramePr>
            <a:graphicFrameLocks noChangeAspect="1"/>
          </p:cNvGraphicFramePr>
          <p:nvPr/>
        </p:nvGraphicFramePr>
        <p:xfrm>
          <a:off x="304800" y="3886200"/>
          <a:ext cx="2132013" cy="563563"/>
        </p:xfrm>
        <a:graphic>
          <a:graphicData uri="http://schemas.openxmlformats.org/presentationml/2006/ole">
            <mc:AlternateContent xmlns:mc="http://schemas.openxmlformats.org/markup-compatibility/2006">
              <mc:Choice xmlns:v="urn:schemas-microsoft-com:vml" Requires="v">
                <p:oleObj spid="_x0000_s29761" name="Equation" r:id="rId5" imgW="914400" imgH="241300" progId="Equation.3">
                  <p:embed/>
                </p:oleObj>
              </mc:Choice>
              <mc:Fallback>
                <p:oleObj name="Equation" r:id="rId5" imgW="914400" imgH="2413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886200"/>
                        <a:ext cx="2132013"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152400" y="2667000"/>
          <a:ext cx="5148263" cy="609600"/>
        </p:xfrm>
        <a:graphic>
          <a:graphicData uri="http://schemas.openxmlformats.org/presentationml/2006/ole">
            <mc:AlternateContent xmlns:mc="http://schemas.openxmlformats.org/markup-compatibility/2006">
              <mc:Choice xmlns:v="urn:schemas-microsoft-com:vml" Requires="v">
                <p:oleObj spid="_x0000_s29762" name="Equation" r:id="rId7" imgW="1930400" imgH="228600" progId="Equation.3">
                  <p:embed/>
                </p:oleObj>
              </mc:Choice>
              <mc:Fallback>
                <p:oleObj name="Equation" r:id="rId7" imgW="19304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2667000"/>
                        <a:ext cx="51482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228600" y="4953000"/>
          <a:ext cx="5656263" cy="642938"/>
        </p:xfrm>
        <a:graphic>
          <a:graphicData uri="http://schemas.openxmlformats.org/presentationml/2006/ole">
            <mc:AlternateContent xmlns:mc="http://schemas.openxmlformats.org/markup-compatibility/2006">
              <mc:Choice xmlns:v="urn:schemas-microsoft-com:vml" Requires="v">
                <p:oleObj spid="_x0000_s29763" name="Equation" r:id="rId9" imgW="2120900" imgH="241300" progId="Equation.3">
                  <p:embed/>
                </p:oleObj>
              </mc:Choice>
              <mc:Fallback>
                <p:oleObj name="Equation" r:id="rId9" imgW="2120900" imgH="241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4953000"/>
                        <a:ext cx="565626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0" y="0"/>
            <a:ext cx="11430000" cy="762000"/>
          </a:xfrm>
          <a:solidFill>
            <a:srgbClr val="FFFF00"/>
          </a:solidFill>
        </p:spPr>
        <p:txBody>
          <a:bodyPr/>
          <a:lstStyle/>
          <a:p>
            <a:r>
              <a:rPr lang="en-US" altLang="en-US" sz="2000" smtClean="0"/>
              <a:t>Problem 1:</a:t>
            </a:r>
            <a:r>
              <a:rPr lang="en-US" altLang="en-US" sz="2800" smtClean="0"/>
              <a:t> </a:t>
            </a:r>
            <a:r>
              <a:rPr lang="en-US" altLang="en-US" sz="2000" smtClean="0"/>
              <a:t>Determine the amplitude, frequency, and period of the motion. </a:t>
            </a:r>
            <a:endParaRPr lang="en-US" altLang="en-US" smtClean="0"/>
          </a:p>
        </p:txBody>
      </p:sp>
      <p:sp>
        <p:nvSpPr>
          <p:cNvPr id="30723" name="Content Placeholder 2"/>
          <p:cNvSpPr>
            <a:spLocks noGrp="1"/>
          </p:cNvSpPr>
          <p:nvPr>
            <p:ph idx="1"/>
          </p:nvPr>
        </p:nvSpPr>
        <p:spPr>
          <a:xfrm>
            <a:off x="152400" y="838200"/>
            <a:ext cx="11201400" cy="4572000"/>
          </a:xfrm>
        </p:spPr>
        <p:txBody>
          <a:bodyPr/>
          <a:lstStyle/>
          <a:p>
            <a:pPr marL="0">
              <a:lnSpc>
                <a:spcPct val="150000"/>
              </a:lnSpc>
            </a:pPr>
            <a:r>
              <a:rPr lang="en-US" altLang="en-US" sz="2400" smtClean="0"/>
              <a:t>Solution:</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r>
            <a:br>
              <a:rPr lang="en-US" altLang="en-US" sz="2400" smtClean="0"/>
            </a:br>
            <a:r>
              <a:rPr lang="en-US" altLang="en-US" sz="2400" smtClean="0"/>
              <a:t> </a:t>
            </a:r>
            <a:br>
              <a:rPr lang="en-US" altLang="en-US" sz="2400" smtClean="0"/>
            </a:br>
            <a:endParaRPr lang="en-US" altLang="en-US" smtClean="0"/>
          </a:p>
        </p:txBody>
      </p:sp>
      <p:graphicFrame>
        <p:nvGraphicFramePr>
          <p:cNvPr id="4" name="Object 3"/>
          <p:cNvGraphicFramePr>
            <a:graphicFrameLocks noChangeAspect="1"/>
          </p:cNvGraphicFramePr>
          <p:nvPr/>
        </p:nvGraphicFramePr>
        <p:xfrm>
          <a:off x="0" y="1296988"/>
          <a:ext cx="4033838" cy="987425"/>
        </p:xfrm>
        <a:graphic>
          <a:graphicData uri="http://schemas.openxmlformats.org/presentationml/2006/ole">
            <mc:AlternateContent xmlns:mc="http://schemas.openxmlformats.org/markup-compatibility/2006">
              <mc:Choice xmlns:v="urn:schemas-microsoft-com:vml" Requires="v">
                <p:oleObj spid="_x0000_s30771" name="Equation" r:id="rId3" imgW="1765300" imgH="431800" progId="Equation.3">
                  <p:embed/>
                </p:oleObj>
              </mc:Choice>
              <mc:Fallback>
                <p:oleObj name="Equation" r:id="rId3" imgW="17653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6988"/>
                        <a:ext cx="4033838"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457200" y="2590800"/>
            <a:ext cx="464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800" dirty="0"/>
              <a:t>The position at t = 0 s</a:t>
            </a:r>
          </a:p>
        </p:txBody>
      </p:sp>
      <p:graphicFrame>
        <p:nvGraphicFramePr>
          <p:cNvPr id="9" name="Object 8"/>
          <p:cNvGraphicFramePr>
            <a:graphicFrameLocks noChangeAspect="1"/>
          </p:cNvGraphicFramePr>
          <p:nvPr/>
        </p:nvGraphicFramePr>
        <p:xfrm>
          <a:off x="304800" y="3352800"/>
          <a:ext cx="7864475" cy="987425"/>
        </p:xfrm>
        <a:graphic>
          <a:graphicData uri="http://schemas.openxmlformats.org/presentationml/2006/ole">
            <mc:AlternateContent xmlns:mc="http://schemas.openxmlformats.org/markup-compatibility/2006">
              <mc:Choice xmlns:v="urn:schemas-microsoft-com:vml" Requires="v">
                <p:oleObj spid="_x0000_s30772" name="Equation" r:id="rId5" imgW="3441700" imgH="431800" progId="Equation.3">
                  <p:embed/>
                </p:oleObj>
              </mc:Choice>
              <mc:Fallback>
                <p:oleObj name="Equation" r:id="rId5" imgW="3441700" imgH="431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3352800"/>
                        <a:ext cx="7864475"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a:spLocks noChangeArrowheads="1"/>
          </p:cNvSpPr>
          <p:nvPr/>
        </p:nvSpPr>
        <p:spPr bwMode="auto">
          <a:xfrm>
            <a:off x="609600" y="4419600"/>
            <a:ext cx="845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400"/>
              <a:t>In part C we found that the position at t = 1s, is -2.83 m      </a:t>
            </a:r>
          </a:p>
        </p:txBody>
      </p:sp>
      <p:graphicFrame>
        <p:nvGraphicFramePr>
          <p:cNvPr id="11" name="Object 10"/>
          <p:cNvGraphicFramePr>
            <a:graphicFrameLocks noChangeAspect="1"/>
          </p:cNvGraphicFramePr>
          <p:nvPr/>
        </p:nvGraphicFramePr>
        <p:xfrm>
          <a:off x="647700" y="5105400"/>
          <a:ext cx="6713538" cy="622300"/>
        </p:xfrm>
        <a:graphic>
          <a:graphicData uri="http://schemas.openxmlformats.org/presentationml/2006/ole">
            <mc:AlternateContent xmlns:mc="http://schemas.openxmlformats.org/markup-compatibility/2006">
              <mc:Choice xmlns:v="urn:schemas-microsoft-com:vml" Requires="v">
                <p:oleObj spid="_x0000_s30773" name="Equation" r:id="rId7" imgW="2603500" imgH="241300" progId="Equation.3">
                  <p:embed/>
                </p:oleObj>
              </mc:Choice>
              <mc:Fallback>
                <p:oleObj name="Equation" r:id="rId7" imgW="2603500" imgH="2413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700" y="5105400"/>
                        <a:ext cx="67135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0" y="0"/>
            <a:ext cx="11430000" cy="685800"/>
          </a:xfrm>
          <a:solidFill>
            <a:srgbClr val="FFFF00"/>
          </a:solidFill>
        </p:spPr>
        <p:txBody>
          <a:bodyPr/>
          <a:lstStyle/>
          <a:p>
            <a:r>
              <a:rPr lang="en-US" altLang="en-US" smtClean="0"/>
              <a:t>Problem 2: </a:t>
            </a:r>
          </a:p>
        </p:txBody>
      </p:sp>
      <p:sp>
        <p:nvSpPr>
          <p:cNvPr id="3" name="Content Placeholder 2"/>
          <p:cNvSpPr>
            <a:spLocks noGrp="1"/>
          </p:cNvSpPr>
          <p:nvPr>
            <p:ph idx="1"/>
          </p:nvPr>
        </p:nvSpPr>
        <p:spPr>
          <a:xfrm>
            <a:off x="571500" y="1066800"/>
            <a:ext cx="10287000" cy="4438650"/>
          </a:xfrm>
        </p:spPr>
        <p:txBody>
          <a:bodyPr/>
          <a:lstStyle/>
          <a:p>
            <a:pPr marL="0"/>
            <a:r>
              <a:rPr lang="en-US" altLang="en-US" sz="2000" smtClean="0">
                <a:latin typeface="Times New Roman" pitchFamily="18" charset="0"/>
                <a:cs typeface="Times New Roman" pitchFamily="18" charset="0"/>
              </a:rPr>
              <a:t>A car with a mass of 1 300 kg is constructed so that its frame is supported by four springs. Each spring has a force constant of 20 000 N/m. If two people riding in the car have a combined mass of 160 kg, find the frequency of vibration of the car after it is driven over a pothole in the road </a:t>
            </a:r>
            <a:br>
              <a:rPr lang="en-US" altLang="en-US" sz="2000" smtClean="0">
                <a:latin typeface="Times New Roman" pitchFamily="18" charset="0"/>
                <a:cs typeface="Times New Roman" pitchFamily="18" charset="0"/>
              </a:rPr>
            </a:br>
            <a:r>
              <a:rPr lang="en-US" altLang="en-US" sz="2400" b="1" smtClean="0">
                <a:latin typeface="Times New Roman" pitchFamily="18" charset="0"/>
                <a:cs typeface="Times New Roman" pitchFamily="18" charset="0"/>
              </a:rPr>
              <a:t>Solution:</a:t>
            </a:r>
            <a:r>
              <a:rPr lang="en-US" altLang="en-US" sz="2000" smtClean="0">
                <a:latin typeface="Times New Roman" pitchFamily="18" charset="0"/>
                <a:cs typeface="Times New Roman" pitchFamily="18" charset="0"/>
              </a:rPr>
              <a:t>   </a:t>
            </a:r>
          </a:p>
        </p:txBody>
      </p:sp>
      <p:graphicFrame>
        <p:nvGraphicFramePr>
          <p:cNvPr id="4" name="Object 3"/>
          <p:cNvGraphicFramePr>
            <a:graphicFrameLocks noChangeAspect="1"/>
          </p:cNvGraphicFramePr>
          <p:nvPr/>
        </p:nvGraphicFramePr>
        <p:xfrm>
          <a:off x="381000" y="2895600"/>
          <a:ext cx="4162425" cy="558800"/>
        </p:xfrm>
        <a:graphic>
          <a:graphicData uri="http://schemas.openxmlformats.org/presentationml/2006/ole">
            <mc:AlternateContent xmlns:mc="http://schemas.openxmlformats.org/markup-compatibility/2006">
              <mc:Choice xmlns:v="urn:schemas-microsoft-com:vml" Requires="v">
                <p:oleObj spid="_x0000_s31809" name="Equation" r:id="rId3" imgW="1892300" imgH="254000" progId="Equation.3">
                  <p:embed/>
                </p:oleObj>
              </mc:Choice>
              <mc:Fallback>
                <p:oleObj name="Equation" r:id="rId3" imgW="1892300" imgH="254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895600"/>
                        <a:ext cx="41624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nvGraphicFramePr>
        <p:xfrm>
          <a:off x="76200" y="4038600"/>
          <a:ext cx="6286500" cy="635000"/>
        </p:xfrm>
        <a:graphic>
          <a:graphicData uri="http://schemas.openxmlformats.org/presentationml/2006/ole">
            <mc:AlternateContent xmlns:mc="http://schemas.openxmlformats.org/markup-compatibility/2006">
              <mc:Choice xmlns:v="urn:schemas-microsoft-com:vml" Requires="v">
                <p:oleObj spid="_x0000_s31810" name="Equation" r:id="rId5" imgW="2514600" imgH="254000" progId="Equation.3">
                  <p:embed/>
                </p:oleObj>
              </mc:Choice>
              <mc:Fallback>
                <p:oleObj name="Equation" r:id="rId5" imgW="2514600" imgH="254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4038600"/>
                        <a:ext cx="62865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152400" y="4724400"/>
          <a:ext cx="4703763" cy="1143000"/>
        </p:xfrm>
        <a:graphic>
          <a:graphicData uri="http://schemas.openxmlformats.org/presentationml/2006/ole">
            <mc:AlternateContent xmlns:mc="http://schemas.openxmlformats.org/markup-compatibility/2006">
              <mc:Choice xmlns:v="urn:schemas-microsoft-com:vml" Requires="v">
                <p:oleObj spid="_x0000_s31811" name="Equation" r:id="rId7" imgW="1828800" imgH="444500" progId="Equation.3">
                  <p:embed/>
                </p:oleObj>
              </mc:Choice>
              <mc:Fallback>
                <p:oleObj name="Equation" r:id="rId7" imgW="1828800" imgH="444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724400"/>
                        <a:ext cx="470376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a:spLocks noChangeArrowheads="1"/>
          </p:cNvSpPr>
          <p:nvPr/>
        </p:nvSpPr>
        <p:spPr bwMode="auto">
          <a:xfrm>
            <a:off x="5105400" y="2819400"/>
            <a:ext cx="6172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dirty="0"/>
              <a:t>What if? Suppose the two people exit the car on the side of the road. One of them pushes downward on the car and release it so that it oscillates vertically. Is the frequency of the oscillation the same as the value we just calculated?</a:t>
            </a:r>
          </a:p>
        </p:txBody>
      </p:sp>
      <p:graphicFrame>
        <p:nvGraphicFramePr>
          <p:cNvPr id="9" name="Object 8"/>
          <p:cNvGraphicFramePr>
            <a:graphicFrameLocks noChangeAspect="1"/>
          </p:cNvGraphicFramePr>
          <p:nvPr/>
        </p:nvGraphicFramePr>
        <p:xfrm>
          <a:off x="6400800" y="4953000"/>
          <a:ext cx="4703763" cy="1143000"/>
        </p:xfrm>
        <a:graphic>
          <a:graphicData uri="http://schemas.openxmlformats.org/presentationml/2006/ole">
            <mc:AlternateContent xmlns:mc="http://schemas.openxmlformats.org/markup-compatibility/2006">
              <mc:Choice xmlns:v="urn:schemas-microsoft-com:vml" Requires="v">
                <p:oleObj spid="_x0000_s31812" name="Equation" r:id="rId9" imgW="1828800" imgH="444500" progId="Equation.3">
                  <p:embed/>
                </p:oleObj>
              </mc:Choice>
              <mc:Fallback>
                <p:oleObj name="Equation" r:id="rId9" imgW="1828800" imgH="4445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00800" y="4953000"/>
                        <a:ext cx="470376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smtClean="0"/>
              <a:t>Problem: 3</a:t>
            </a:r>
          </a:p>
        </p:txBody>
      </p:sp>
      <p:sp>
        <p:nvSpPr>
          <p:cNvPr id="3" name="Content Placeholder 2"/>
          <p:cNvSpPr>
            <a:spLocks noGrp="1"/>
          </p:cNvSpPr>
          <p:nvPr>
            <p:ph idx="1"/>
          </p:nvPr>
        </p:nvSpPr>
        <p:spPr/>
        <p:txBody>
          <a:bodyPr/>
          <a:lstStyle/>
          <a:p>
            <a:pPr marL="0">
              <a:defRPr/>
            </a:pPr>
            <a:r>
              <a:rPr lang="en-US" sz="2400" dirty="0">
                <a:latin typeface="Times New Roman" panose="02020603050405020304" pitchFamily="18" charset="0"/>
                <a:ea typeface="+mn-ea"/>
                <a:cs typeface="Times New Roman" panose="02020603050405020304" pitchFamily="18" charset="0"/>
              </a:rPr>
              <a:t>A 200-g block connected to a light spring for which </a:t>
            </a:r>
            <a:r>
              <a:rPr lang="en-US" sz="2400" dirty="0" smtClean="0">
                <a:latin typeface="Times New Roman" panose="02020603050405020304" pitchFamily="18" charset="0"/>
                <a:ea typeface="+mn-ea"/>
                <a:cs typeface="Times New Roman" panose="02020603050405020304" pitchFamily="18" charset="0"/>
              </a:rPr>
              <a:t>the force </a:t>
            </a:r>
            <a:r>
              <a:rPr lang="en-US" sz="2400" dirty="0">
                <a:latin typeface="Times New Roman" panose="02020603050405020304" pitchFamily="18" charset="0"/>
                <a:ea typeface="+mn-ea"/>
                <a:cs typeface="Times New Roman" panose="02020603050405020304" pitchFamily="18" charset="0"/>
              </a:rPr>
              <a:t>constant is 5.00 N/m is free to oscillate on a horizontal, frictionless surface. The block is displaced 5.00 cm </a:t>
            </a:r>
            <a:r>
              <a:rPr lang="en-US" sz="2400" dirty="0" smtClean="0">
                <a:latin typeface="Times New Roman" panose="02020603050405020304" pitchFamily="18" charset="0"/>
                <a:ea typeface="+mn-ea"/>
                <a:cs typeface="Times New Roman" panose="02020603050405020304" pitchFamily="18" charset="0"/>
              </a:rPr>
              <a:t>from equilibrium </a:t>
            </a:r>
            <a:r>
              <a:rPr lang="en-US" sz="2400" dirty="0">
                <a:latin typeface="Times New Roman" panose="02020603050405020304" pitchFamily="18" charset="0"/>
                <a:ea typeface="+mn-ea"/>
                <a:cs typeface="Times New Roman" panose="02020603050405020304" pitchFamily="18" charset="0"/>
              </a:rPr>
              <a:t>and released from </a:t>
            </a:r>
            <a:r>
              <a:rPr lang="en-US" sz="2400" dirty="0" smtClean="0">
                <a:latin typeface="Times New Roman" panose="02020603050405020304" pitchFamily="18" charset="0"/>
                <a:ea typeface="+mn-ea"/>
                <a:cs typeface="Times New Roman" panose="02020603050405020304" pitchFamily="18" charset="0"/>
              </a:rPr>
              <a:t>rest. </a:t>
            </a:r>
          </a:p>
          <a:p>
            <a:pPr marL="0">
              <a:buFontTx/>
              <a:buAutoNum type="alphaUcParenBoth"/>
              <a:defRPr/>
            </a:pPr>
            <a:r>
              <a:rPr lang="en-US" sz="2400" dirty="0" smtClean="0">
                <a:latin typeface="Times New Roman" panose="02020603050405020304" pitchFamily="18" charset="0"/>
                <a:ea typeface="+mn-ea"/>
                <a:cs typeface="Times New Roman" panose="02020603050405020304" pitchFamily="18" charset="0"/>
              </a:rPr>
              <a:t> Find </a:t>
            </a:r>
            <a:r>
              <a:rPr lang="en-US" sz="2400" dirty="0">
                <a:latin typeface="Times New Roman" panose="02020603050405020304" pitchFamily="18" charset="0"/>
                <a:ea typeface="+mn-ea"/>
                <a:cs typeface="Times New Roman" panose="02020603050405020304" pitchFamily="18" charset="0"/>
              </a:rPr>
              <a:t>the period of its motion.</a:t>
            </a:r>
            <a:r>
              <a:rPr lang="en-US" sz="2400" dirty="0" smtClean="0">
                <a:latin typeface="Times New Roman" panose="02020603050405020304" pitchFamily="18" charset="0"/>
                <a:ea typeface="+mn-ea"/>
                <a:cs typeface="Times New Roman" panose="02020603050405020304" pitchFamily="18" charset="0"/>
              </a:rPr>
              <a:t> </a:t>
            </a:r>
          </a:p>
          <a:p>
            <a:pPr marL="0">
              <a:buFontTx/>
              <a:buAutoNum type="alphaUcParenBoth"/>
              <a:defRPr/>
            </a:pPr>
            <a:r>
              <a:rPr lang="en-US" sz="2400" dirty="0" smtClean="0">
                <a:latin typeface="Times New Roman" panose="02020603050405020304" pitchFamily="18" charset="0"/>
                <a:ea typeface="+mn-ea"/>
                <a:cs typeface="Times New Roman" panose="02020603050405020304" pitchFamily="18" charset="0"/>
              </a:rPr>
              <a:t> Determine </a:t>
            </a:r>
            <a:r>
              <a:rPr lang="en-US" sz="2400" dirty="0">
                <a:latin typeface="Times New Roman" panose="02020603050405020304" pitchFamily="18" charset="0"/>
                <a:ea typeface="+mn-ea"/>
                <a:cs typeface="Times New Roman" panose="02020603050405020304" pitchFamily="18" charset="0"/>
              </a:rPr>
              <a:t>the maximum speed of the block.</a:t>
            </a:r>
            <a:r>
              <a:rPr lang="en-US" sz="2400" dirty="0" smtClean="0">
                <a:latin typeface="Times New Roman" panose="02020603050405020304" pitchFamily="18" charset="0"/>
                <a:ea typeface="+mn-ea"/>
                <a:cs typeface="Times New Roman" panose="02020603050405020304" pitchFamily="18" charset="0"/>
              </a:rPr>
              <a:t> </a:t>
            </a:r>
          </a:p>
          <a:p>
            <a:pPr marL="0">
              <a:buFontTx/>
              <a:buAutoNum type="alphaUcParenBoth"/>
              <a:defRPr/>
            </a:pPr>
            <a:r>
              <a:rPr lang="en-US" sz="2400" dirty="0" smtClean="0">
                <a:latin typeface="Times New Roman" panose="02020603050405020304" pitchFamily="18" charset="0"/>
                <a:ea typeface="+mn-ea"/>
                <a:cs typeface="Times New Roman" panose="02020603050405020304" pitchFamily="18" charset="0"/>
              </a:rPr>
              <a:t> What </a:t>
            </a:r>
            <a:r>
              <a:rPr lang="en-US" sz="2400" dirty="0">
                <a:latin typeface="Times New Roman" panose="02020603050405020304" pitchFamily="18" charset="0"/>
                <a:ea typeface="+mn-ea"/>
                <a:cs typeface="Times New Roman" panose="02020603050405020304" pitchFamily="18" charset="0"/>
              </a:rPr>
              <a:t>is the maximum acceleration of the block?</a:t>
            </a:r>
            <a:r>
              <a:rPr lang="en-US" sz="2400" dirty="0" smtClean="0">
                <a:latin typeface="Times New Roman" panose="02020603050405020304" pitchFamily="18" charset="0"/>
                <a:ea typeface="+mn-ea"/>
                <a:cs typeface="Times New Roman" panose="02020603050405020304" pitchFamily="18" charset="0"/>
              </a:rPr>
              <a:t> </a:t>
            </a:r>
          </a:p>
          <a:p>
            <a:pPr marL="0">
              <a:buFontTx/>
              <a:buAutoNum type="alphaUcParenBoth"/>
              <a:defRPr/>
            </a:pPr>
            <a:r>
              <a:rPr lang="en-US" sz="2400" dirty="0" smtClean="0">
                <a:latin typeface="Times New Roman" panose="02020603050405020304" pitchFamily="18" charset="0"/>
                <a:ea typeface="+mn-ea"/>
                <a:cs typeface="Times New Roman" panose="02020603050405020304" pitchFamily="18" charset="0"/>
              </a:rPr>
              <a:t> Express </a:t>
            </a:r>
            <a:r>
              <a:rPr lang="en-US" sz="2400" dirty="0">
                <a:latin typeface="Times New Roman" panose="02020603050405020304" pitchFamily="18" charset="0"/>
                <a:ea typeface="+mn-ea"/>
                <a:cs typeface="Times New Roman" panose="02020603050405020304" pitchFamily="18" charset="0"/>
              </a:rPr>
              <a:t>the position, speed, and acceleration as functions of time.</a:t>
            </a:r>
            <a:r>
              <a:rPr lang="en-US" sz="2400" dirty="0" smtClean="0">
                <a:latin typeface="Times New Roman" panose="02020603050405020304" pitchFamily="18" charset="0"/>
                <a:ea typeface="+mn-ea"/>
                <a:cs typeface="Times New Roman" panose="02020603050405020304" pitchFamily="18" charset="0"/>
              </a:rPr>
              <a:t> </a:t>
            </a:r>
          </a:p>
          <a:p>
            <a:pPr marL="0" indent="0">
              <a:defRPr/>
            </a:pPr>
            <a:r>
              <a:rPr lang="en-US" sz="2800" b="1" dirty="0" smtClean="0">
                <a:latin typeface="Times New Roman" panose="02020603050405020304" pitchFamily="18" charset="0"/>
                <a:ea typeface="+mn-ea"/>
                <a:cs typeface="Times New Roman" panose="02020603050405020304" pitchFamily="18" charset="0"/>
              </a:rPr>
              <a:t>What </a:t>
            </a:r>
            <a:r>
              <a:rPr lang="en-US" sz="2800" b="1" dirty="0">
                <a:latin typeface="Times New Roman" panose="02020603050405020304" pitchFamily="18" charset="0"/>
                <a:ea typeface="+mn-ea"/>
                <a:cs typeface="Times New Roman" panose="02020603050405020304" pitchFamily="18" charset="0"/>
              </a:rPr>
              <a:t>If?</a:t>
            </a:r>
            <a:r>
              <a:rPr lang="en-US" sz="2400" dirty="0">
                <a:latin typeface="Times New Roman" panose="02020603050405020304" pitchFamily="18" charset="0"/>
                <a:ea typeface="+mn-ea"/>
                <a:cs typeface="Times New Roman" panose="02020603050405020304" pitchFamily="18" charset="0"/>
              </a:rPr>
              <a:t> What if the block is released from the same </a:t>
            </a:r>
            <a:r>
              <a:rPr lang="en-US" sz="2400" dirty="0" smtClean="0">
                <a:latin typeface="Times New Roman" panose="02020603050405020304" pitchFamily="18" charset="0"/>
                <a:ea typeface="+mn-ea"/>
                <a:cs typeface="Times New Roman" panose="02020603050405020304" pitchFamily="18" charset="0"/>
              </a:rPr>
              <a:t>initial position</a:t>
            </a:r>
            <a:r>
              <a:rPr lang="en-US" sz="2400" dirty="0">
                <a:latin typeface="Times New Roman" panose="02020603050405020304" pitchFamily="18" charset="0"/>
                <a:ea typeface="+mn-ea"/>
                <a:cs typeface="Times New Roman" panose="02020603050405020304" pitchFamily="18" charset="0"/>
              </a:rPr>
              <a:t>, </a:t>
            </a:r>
            <a:r>
              <a:rPr lang="en-US" sz="2400" b="1" i="1" dirty="0">
                <a:latin typeface="Times New Roman" panose="02020603050405020304" pitchFamily="18" charset="0"/>
                <a:ea typeface="+mn-ea"/>
                <a:cs typeface="Times New Roman" panose="02020603050405020304" pitchFamily="18" charset="0"/>
              </a:rPr>
              <a:t>x</a:t>
            </a:r>
            <a:r>
              <a:rPr lang="en-US" sz="2400" b="1" i="1" baseline="-25000" dirty="0">
                <a:latin typeface="Times New Roman" panose="02020603050405020304" pitchFamily="18" charset="0"/>
                <a:ea typeface="+mn-ea"/>
                <a:cs typeface="Times New Roman" panose="02020603050405020304" pitchFamily="18" charset="0"/>
              </a:rPr>
              <a:t>i</a:t>
            </a:r>
            <a:r>
              <a:rPr lang="en-US" sz="2400" b="1" i="1" dirty="0">
                <a:latin typeface="Times New Roman" panose="02020603050405020304" pitchFamily="18" charset="0"/>
                <a:ea typeface="+mn-ea"/>
                <a:cs typeface="Times New Roman" panose="02020603050405020304" pitchFamily="18" charset="0"/>
              </a:rPr>
              <a:t> </a:t>
            </a:r>
            <a:r>
              <a:rPr lang="en-US" sz="2400" b="1" dirty="0" smtClean="0">
                <a:latin typeface="Times New Roman" panose="02020603050405020304" pitchFamily="18" charset="0"/>
                <a:ea typeface="+mn-ea"/>
                <a:cs typeface="Times New Roman" panose="02020603050405020304" pitchFamily="18" charset="0"/>
              </a:rPr>
              <a:t>= </a:t>
            </a:r>
            <a:r>
              <a:rPr lang="en-US" sz="2400" b="1" dirty="0">
                <a:latin typeface="Times New Roman" panose="02020603050405020304" pitchFamily="18" charset="0"/>
                <a:ea typeface="+mn-ea"/>
                <a:cs typeface="Times New Roman" panose="02020603050405020304" pitchFamily="18" charset="0"/>
              </a:rPr>
              <a:t>5.00 cm</a:t>
            </a:r>
            <a:r>
              <a:rPr lang="en-US" sz="2400" dirty="0">
                <a:latin typeface="Times New Roman" panose="02020603050405020304" pitchFamily="18" charset="0"/>
                <a:ea typeface="+mn-ea"/>
                <a:cs typeface="Times New Roman" panose="02020603050405020304" pitchFamily="18" charset="0"/>
              </a:rPr>
              <a:t>, but with an initial velocity </a:t>
            </a:r>
            <a:r>
              <a:rPr lang="en-US" sz="2400" dirty="0" smtClean="0">
                <a:latin typeface="Times New Roman" panose="02020603050405020304" pitchFamily="18" charset="0"/>
                <a:ea typeface="+mn-ea"/>
                <a:cs typeface="Times New Roman" panose="02020603050405020304" pitchFamily="18" charset="0"/>
              </a:rPr>
              <a:t>of </a:t>
            </a:r>
            <a:r>
              <a:rPr lang="en-US" sz="2400" b="1" i="1" dirty="0" smtClean="0">
                <a:latin typeface="Times New Roman" panose="02020603050405020304" pitchFamily="18" charset="0"/>
                <a:ea typeface="+mn-ea"/>
                <a:cs typeface="Times New Roman" panose="02020603050405020304" pitchFamily="18" charset="0"/>
              </a:rPr>
              <a:t>v</a:t>
            </a:r>
            <a:r>
              <a:rPr lang="en-US" sz="2400" b="1" i="1" baseline="-25000" dirty="0" smtClean="0">
                <a:latin typeface="Times New Roman" panose="02020603050405020304" pitchFamily="18" charset="0"/>
                <a:ea typeface="+mn-ea"/>
                <a:cs typeface="Times New Roman" panose="02020603050405020304" pitchFamily="18" charset="0"/>
              </a:rPr>
              <a:t>i</a:t>
            </a:r>
            <a:r>
              <a:rPr lang="en-US" sz="2400" b="1" i="1" dirty="0" smtClean="0">
                <a:latin typeface="Times New Roman" panose="02020603050405020304" pitchFamily="18" charset="0"/>
                <a:ea typeface="+mn-ea"/>
                <a:cs typeface="Times New Roman" panose="02020603050405020304" pitchFamily="18" charset="0"/>
              </a:rPr>
              <a:t> </a:t>
            </a:r>
            <a:r>
              <a:rPr lang="en-US" sz="2400" b="1" dirty="0" smtClean="0">
                <a:latin typeface="Times New Roman" panose="02020603050405020304" pitchFamily="18" charset="0"/>
                <a:ea typeface="+mn-ea"/>
                <a:cs typeface="Times New Roman" panose="02020603050405020304" pitchFamily="18" charset="0"/>
              </a:rPr>
              <a:t>= 0.100 </a:t>
            </a:r>
            <a:r>
              <a:rPr lang="en-US" sz="2400" b="1" dirty="0">
                <a:latin typeface="Times New Roman" panose="02020603050405020304" pitchFamily="18" charset="0"/>
                <a:ea typeface="+mn-ea"/>
                <a:cs typeface="Times New Roman" panose="02020603050405020304" pitchFamily="18" charset="0"/>
              </a:rPr>
              <a:t>m/s?</a:t>
            </a:r>
            <a:r>
              <a:rPr lang="en-US" sz="2400" dirty="0">
                <a:latin typeface="Times New Roman" panose="02020603050405020304" pitchFamily="18" charset="0"/>
                <a:ea typeface="+mn-ea"/>
                <a:cs typeface="Times New Roman" panose="02020603050405020304" pitchFamily="18" charset="0"/>
              </a:rPr>
              <a:t> Which parts of the solution change </a:t>
            </a:r>
            <a:r>
              <a:rPr lang="en-US" sz="2400" dirty="0" smtClean="0">
                <a:latin typeface="Times New Roman" panose="02020603050405020304" pitchFamily="18" charset="0"/>
                <a:ea typeface="+mn-ea"/>
                <a:cs typeface="Times New Roman" panose="02020603050405020304" pitchFamily="18" charset="0"/>
              </a:rPr>
              <a:t>and what </a:t>
            </a:r>
            <a:r>
              <a:rPr lang="en-US" sz="2400" dirty="0">
                <a:latin typeface="Times New Roman" panose="02020603050405020304" pitchFamily="18" charset="0"/>
                <a:ea typeface="+mn-ea"/>
                <a:cs typeface="Times New Roman" panose="02020603050405020304" pitchFamily="18" charset="0"/>
              </a:rPr>
              <a:t>are the new answers for those that do change?</a:t>
            </a:r>
            <a:r>
              <a:rPr lang="en-US" sz="2400" dirty="0" smtClean="0">
                <a:latin typeface="Times New Roman" panose="02020603050405020304" pitchFamily="18" charset="0"/>
                <a:ea typeface="+mn-ea"/>
                <a:cs typeface="Times New Roman" panose="02020603050405020304" pitchFamily="18" charset="0"/>
              </a:rPr>
              <a:t> </a:t>
            </a:r>
            <a:r>
              <a:rPr lang="en-US" sz="2000" dirty="0" smtClean="0">
                <a:ea typeface="+mn-ea"/>
              </a:rPr>
              <a:t/>
            </a:r>
            <a:br>
              <a:rPr lang="en-US" sz="2000"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r>
              <a:rPr lang="en-US" dirty="0" smtClean="0">
                <a:ea typeface="+mn-ea"/>
              </a:rPr>
              <a:t/>
            </a:r>
            <a:br>
              <a:rPr lang="en-US" dirty="0" smtClean="0">
                <a:ea typeface="+mn-ea"/>
              </a:rPr>
            </a:br>
            <a:endParaRPr lang="en-US" dirty="0">
              <a:ea typeface="+mn-ea"/>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Solution: </a:t>
            </a:r>
          </a:p>
        </p:txBody>
      </p:sp>
      <p:sp>
        <p:nvSpPr>
          <p:cNvPr id="3" name="Content Placeholder 2"/>
          <p:cNvSpPr>
            <a:spLocks noGrp="1"/>
          </p:cNvSpPr>
          <p:nvPr>
            <p:ph idx="1"/>
          </p:nvPr>
        </p:nvSpPr>
        <p:spPr/>
        <p:txBody>
          <a:bodyPr/>
          <a:lstStyle/>
          <a:p>
            <a:pPr>
              <a:buFontTx/>
              <a:buAutoNum type="alphaUcParenBoth"/>
              <a:defRPr/>
            </a:pPr>
            <a:r>
              <a:rPr lang="en-US" b="1" dirty="0" smtClean="0">
                <a:ea typeface="+mn-ea"/>
              </a:rPr>
              <a:t>Find the period of it motion? </a:t>
            </a:r>
            <a:r>
              <a:rPr lang="en-US" dirty="0" smtClean="0">
                <a:ea typeface="+mn-ea"/>
              </a:rPr>
              <a:t>                          </a:t>
            </a:r>
          </a:p>
          <a:p>
            <a:pPr marL="0" indent="0">
              <a:defRPr/>
            </a:pPr>
            <a:endParaRPr lang="en-US" dirty="0">
              <a:ea typeface="+mn-ea"/>
            </a:endParaRPr>
          </a:p>
          <a:p>
            <a:pPr marL="0" indent="0">
              <a:defRPr/>
            </a:pPr>
            <a:endParaRPr lang="en-US" dirty="0" smtClean="0">
              <a:ea typeface="+mn-ea"/>
            </a:endParaRPr>
          </a:p>
          <a:p>
            <a:pPr marL="0" indent="0">
              <a:defRPr/>
            </a:pPr>
            <a:endParaRPr lang="en-US" dirty="0">
              <a:ea typeface="+mn-ea"/>
            </a:endParaRPr>
          </a:p>
          <a:p>
            <a:pPr marL="0" indent="0">
              <a:defRPr/>
            </a:pPr>
            <a:endParaRPr lang="en-US" dirty="0" smtClean="0">
              <a:ea typeface="+mn-ea"/>
            </a:endParaRPr>
          </a:p>
          <a:p>
            <a:pPr marL="0" indent="0">
              <a:defRPr/>
            </a:pPr>
            <a:endParaRPr lang="en-US" dirty="0" smtClean="0">
              <a:ea typeface="+mn-ea"/>
            </a:endParaRPr>
          </a:p>
          <a:p>
            <a:pPr marL="0" indent="0">
              <a:defRPr/>
            </a:pPr>
            <a:endParaRPr lang="en-US" dirty="0">
              <a:ea typeface="+mn-ea"/>
            </a:endParaRPr>
          </a:p>
          <a:p>
            <a:pPr marL="0" indent="0">
              <a:defRPr/>
            </a:pPr>
            <a:r>
              <a:rPr lang="en-US" b="1" dirty="0" smtClean="0">
                <a:ea typeface="+mn-ea"/>
              </a:rPr>
              <a:t>(b) Determine the maximum speed of the block?</a:t>
            </a:r>
          </a:p>
          <a:p>
            <a:pPr marL="0" indent="0">
              <a:defRPr/>
            </a:pPr>
            <a:endParaRPr lang="en-US" dirty="0">
              <a:ea typeface="+mn-ea"/>
            </a:endParaRPr>
          </a:p>
        </p:txBody>
      </p:sp>
      <p:graphicFrame>
        <p:nvGraphicFramePr>
          <p:cNvPr id="33796" name="Object 3"/>
          <p:cNvGraphicFramePr>
            <a:graphicFrameLocks noChangeAspect="1"/>
          </p:cNvGraphicFramePr>
          <p:nvPr/>
        </p:nvGraphicFramePr>
        <p:xfrm>
          <a:off x="304800" y="2590800"/>
          <a:ext cx="4335463" cy="838200"/>
        </p:xfrm>
        <a:graphic>
          <a:graphicData uri="http://schemas.openxmlformats.org/presentationml/2006/ole">
            <mc:AlternateContent xmlns:mc="http://schemas.openxmlformats.org/markup-compatibility/2006">
              <mc:Choice xmlns:v="urn:schemas-microsoft-com:vml" Requires="v">
                <p:oleObj spid="_x0000_s33857" name="Equation" r:id="rId3" imgW="2298700" imgH="444500" progId="Equation.3">
                  <p:embed/>
                </p:oleObj>
              </mc:Choice>
              <mc:Fallback>
                <p:oleObj name="Equation" r:id="rId3" imgW="22987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590800"/>
                        <a:ext cx="433546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7" name="Object 4"/>
          <p:cNvGraphicFramePr>
            <a:graphicFrameLocks noChangeAspect="1"/>
          </p:cNvGraphicFramePr>
          <p:nvPr/>
        </p:nvGraphicFramePr>
        <p:xfrm>
          <a:off x="381000" y="3733800"/>
          <a:ext cx="2946400" cy="741363"/>
        </p:xfrm>
        <a:graphic>
          <a:graphicData uri="http://schemas.openxmlformats.org/presentationml/2006/ole">
            <mc:AlternateContent xmlns:mc="http://schemas.openxmlformats.org/markup-compatibility/2006">
              <mc:Choice xmlns:v="urn:schemas-microsoft-com:vml" Requires="v">
                <p:oleObj spid="_x0000_s33858" name="Equation" r:id="rId5" imgW="1562100" imgH="393700" progId="Equation.3">
                  <p:embed/>
                </p:oleObj>
              </mc:Choice>
              <mc:Fallback>
                <p:oleObj name="Equation" r:id="rId5" imgW="1562100" imgH="393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733800"/>
                        <a:ext cx="29464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8" name="Object 5"/>
          <p:cNvGraphicFramePr>
            <a:graphicFrameLocks noChangeAspect="1"/>
          </p:cNvGraphicFramePr>
          <p:nvPr/>
        </p:nvGraphicFramePr>
        <p:xfrm>
          <a:off x="457200" y="5334000"/>
          <a:ext cx="4767263" cy="454025"/>
        </p:xfrm>
        <a:graphic>
          <a:graphicData uri="http://schemas.openxmlformats.org/presentationml/2006/ole">
            <mc:AlternateContent xmlns:mc="http://schemas.openxmlformats.org/markup-compatibility/2006">
              <mc:Choice xmlns:v="urn:schemas-microsoft-com:vml" Requires="v">
                <p:oleObj spid="_x0000_s33859" name="Equation" r:id="rId7" imgW="2527300" imgH="241300" progId="Equation.3">
                  <p:embed/>
                </p:oleObj>
              </mc:Choice>
              <mc:Fallback>
                <p:oleObj name="Equation" r:id="rId7" imgW="2527300" imgH="2413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5334000"/>
                        <a:ext cx="47672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9" name="TextBox 6"/>
          <p:cNvSpPr txBox="1">
            <a:spLocks noChangeArrowheads="1"/>
          </p:cNvSpPr>
          <p:nvPr/>
        </p:nvSpPr>
        <p:spPr bwMode="auto">
          <a:xfrm>
            <a:off x="5029200" y="1676400"/>
            <a:ext cx="6400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lang="en-US" altLang="en-US" sz="2000" b="1"/>
              <a:t>(c) What is the maximum acceleration of the block? </a:t>
            </a:r>
          </a:p>
        </p:txBody>
      </p:sp>
      <p:graphicFrame>
        <p:nvGraphicFramePr>
          <p:cNvPr id="33800" name="Object 7"/>
          <p:cNvGraphicFramePr>
            <a:graphicFrameLocks noChangeAspect="1"/>
          </p:cNvGraphicFramePr>
          <p:nvPr/>
        </p:nvGraphicFramePr>
        <p:xfrm>
          <a:off x="5715000" y="2362200"/>
          <a:ext cx="4957763" cy="454025"/>
        </p:xfrm>
        <a:graphic>
          <a:graphicData uri="http://schemas.openxmlformats.org/presentationml/2006/ole">
            <mc:AlternateContent xmlns:mc="http://schemas.openxmlformats.org/markup-compatibility/2006">
              <mc:Choice xmlns:v="urn:schemas-microsoft-com:vml" Requires="v">
                <p:oleObj spid="_x0000_s33860" name="Equation" r:id="rId9" imgW="2628900" imgH="241300" progId="Equation.3">
                  <p:embed/>
                </p:oleObj>
              </mc:Choice>
              <mc:Fallback>
                <p:oleObj name="Equation" r:id="rId9" imgW="2628900" imgH="241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2362200"/>
                        <a:ext cx="49577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smtClean="0"/>
              <a:t>Solution: </a:t>
            </a:r>
          </a:p>
        </p:txBody>
      </p:sp>
      <p:sp>
        <p:nvSpPr>
          <p:cNvPr id="34819" name="Content Placeholder 2"/>
          <p:cNvSpPr>
            <a:spLocks noGrp="1"/>
          </p:cNvSpPr>
          <p:nvPr>
            <p:ph idx="1"/>
          </p:nvPr>
        </p:nvSpPr>
        <p:spPr/>
        <p:txBody>
          <a:bodyPr/>
          <a:lstStyle/>
          <a:p>
            <a:pPr marL="0" indent="0"/>
            <a:r>
              <a:rPr lang="en-US" altLang="en-US" sz="2000" b="1" smtClean="0"/>
              <a:t>(D) Express the position, speed and acceleration as function of time?     </a:t>
            </a:r>
          </a:p>
          <a:p>
            <a:pPr marL="0" indent="0"/>
            <a:r>
              <a:rPr lang="en-US" altLang="en-US" sz="2000" b="1" smtClean="0"/>
              <a:t>First we will find  phase constant from the initial condition that </a:t>
            </a:r>
            <a:r>
              <a:rPr lang="en-US" altLang="en-US" sz="2000" b="1" i="1" smtClean="0"/>
              <a:t>x </a:t>
            </a:r>
            <a:r>
              <a:rPr lang="en-US" altLang="en-US" sz="2000" b="1" smtClean="0"/>
              <a:t>= </a:t>
            </a:r>
            <a:r>
              <a:rPr lang="en-US" altLang="en-US" sz="2000" b="1" i="1" smtClean="0"/>
              <a:t>A </a:t>
            </a:r>
            <a:r>
              <a:rPr lang="en-US" altLang="en-US" sz="2000" b="1" smtClean="0"/>
              <a:t>at </a:t>
            </a:r>
            <a:r>
              <a:rPr lang="en-US" altLang="en-US" sz="2000" b="1" i="1" smtClean="0"/>
              <a:t>t </a:t>
            </a:r>
            <a:r>
              <a:rPr lang="en-US" altLang="en-US" sz="2000" b="1" smtClean="0"/>
              <a:t>= 0: </a:t>
            </a:r>
            <a:br>
              <a:rPr lang="en-US" altLang="en-US" sz="2000" b="1" smtClean="0"/>
            </a:br>
            <a:r>
              <a:rPr lang="en-US" altLang="en-US" smtClean="0"/>
              <a:t>                      </a:t>
            </a:r>
          </a:p>
          <a:p>
            <a:pPr marL="0" indent="0"/>
            <a:endParaRPr lang="en-US" altLang="en-US" smtClean="0"/>
          </a:p>
          <a:p>
            <a:pPr marL="0" indent="0"/>
            <a:endParaRPr lang="en-US" altLang="en-US" smtClean="0"/>
          </a:p>
          <a:p>
            <a:pPr marL="0" indent="0"/>
            <a:endParaRPr lang="en-US" altLang="en-US" smtClean="0"/>
          </a:p>
          <a:p>
            <a:pPr marL="0" indent="0"/>
            <a:endParaRPr lang="en-US" altLang="en-US" smtClean="0"/>
          </a:p>
          <a:p>
            <a:pPr marL="0" indent="0"/>
            <a:endParaRPr lang="en-US" altLang="en-US" smtClean="0"/>
          </a:p>
          <a:p>
            <a:pPr marL="0" indent="0"/>
            <a:endParaRPr lang="en-US" altLang="en-US" smtClean="0"/>
          </a:p>
          <a:p>
            <a:pPr marL="0" indent="0"/>
            <a:endParaRPr lang="en-US" altLang="en-US" smtClean="0"/>
          </a:p>
        </p:txBody>
      </p:sp>
      <p:graphicFrame>
        <p:nvGraphicFramePr>
          <p:cNvPr id="34820" name="Object 8"/>
          <p:cNvGraphicFramePr>
            <a:graphicFrameLocks noChangeAspect="1"/>
          </p:cNvGraphicFramePr>
          <p:nvPr/>
        </p:nvGraphicFramePr>
        <p:xfrm>
          <a:off x="207963" y="2667000"/>
          <a:ext cx="3589337" cy="531813"/>
        </p:xfrm>
        <a:graphic>
          <a:graphicData uri="http://schemas.openxmlformats.org/presentationml/2006/ole">
            <mc:AlternateContent xmlns:mc="http://schemas.openxmlformats.org/markup-compatibility/2006">
              <mc:Choice xmlns:v="urn:schemas-microsoft-com:vml" Requires="v">
                <p:oleObj spid="_x0000_s34895" name="Equation" r:id="rId3" imgW="1371600" imgH="203200" progId="Equation.3">
                  <p:embed/>
                </p:oleObj>
              </mc:Choice>
              <mc:Fallback>
                <p:oleObj name="Equation" r:id="rId3" imgW="1371600" imgH="2032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963" y="2667000"/>
                        <a:ext cx="3589337"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1" name="Object 9"/>
          <p:cNvGraphicFramePr>
            <a:graphicFrameLocks noChangeAspect="1"/>
          </p:cNvGraphicFramePr>
          <p:nvPr/>
        </p:nvGraphicFramePr>
        <p:xfrm>
          <a:off x="381000" y="3505200"/>
          <a:ext cx="1428750" cy="531813"/>
        </p:xfrm>
        <a:graphic>
          <a:graphicData uri="http://schemas.openxmlformats.org/presentationml/2006/ole">
            <mc:AlternateContent xmlns:mc="http://schemas.openxmlformats.org/markup-compatibility/2006">
              <mc:Choice xmlns:v="urn:schemas-microsoft-com:vml" Requires="v">
                <p:oleObj spid="_x0000_s34896" name="Equation" r:id="rId5" imgW="545626" imgH="203024" progId="Equation.3">
                  <p:embed/>
                </p:oleObj>
              </mc:Choice>
              <mc:Fallback>
                <p:oleObj name="Equation" r:id="rId5" imgW="545626" imgH="203024"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505200"/>
                        <a:ext cx="14287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228600" y="4267200"/>
          <a:ext cx="4611688" cy="463550"/>
        </p:xfrm>
        <a:graphic>
          <a:graphicData uri="http://schemas.openxmlformats.org/presentationml/2006/ole">
            <mc:AlternateContent xmlns:mc="http://schemas.openxmlformats.org/markup-compatibility/2006">
              <mc:Choice xmlns:v="urn:schemas-microsoft-com:vml" Requires="v">
                <p:oleObj spid="_x0000_s34897" name="Equation" r:id="rId7" imgW="2019300" imgH="203200" progId="Equation.3">
                  <p:embed/>
                </p:oleObj>
              </mc:Choice>
              <mc:Fallback>
                <p:oleObj name="Equation" r:id="rId7" imgW="2019300" imgH="203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4267200"/>
                        <a:ext cx="46116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nvGraphicFramePr>
        <p:xfrm>
          <a:off x="15875" y="4953000"/>
          <a:ext cx="5191125" cy="463550"/>
        </p:xfrm>
        <a:graphic>
          <a:graphicData uri="http://schemas.openxmlformats.org/presentationml/2006/ole">
            <mc:AlternateContent xmlns:mc="http://schemas.openxmlformats.org/markup-compatibility/2006">
              <mc:Choice xmlns:v="urn:schemas-microsoft-com:vml" Requires="v">
                <p:oleObj spid="_x0000_s34898" name="Equation" r:id="rId9" imgW="2273300" imgH="203200" progId="Equation.3">
                  <p:embed/>
                </p:oleObj>
              </mc:Choice>
              <mc:Fallback>
                <p:oleObj name="Equation" r:id="rId9" imgW="2273300" imgH="2032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5" y="4953000"/>
                        <a:ext cx="51911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nvGraphicFramePr>
        <p:xfrm>
          <a:off x="290513" y="5715000"/>
          <a:ext cx="4959350" cy="523875"/>
        </p:xfrm>
        <a:graphic>
          <a:graphicData uri="http://schemas.openxmlformats.org/presentationml/2006/ole">
            <mc:AlternateContent xmlns:mc="http://schemas.openxmlformats.org/markup-compatibility/2006">
              <mc:Choice xmlns:v="urn:schemas-microsoft-com:vml" Requires="v">
                <p:oleObj spid="_x0000_s34899" name="Equation" r:id="rId11" imgW="2171700" imgH="228600" progId="Equation.3">
                  <p:embed/>
                </p:oleObj>
              </mc:Choice>
              <mc:Fallback>
                <p:oleObj name="Equation" r:id="rId11" imgW="217170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0513" y="5715000"/>
                        <a:ext cx="4959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ircle(in)">
                                      <p:cBhvr>
                                        <p:cTn id="1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標題 1"/>
          <p:cNvSpPr>
            <a:spLocks noGrp="1"/>
          </p:cNvSpPr>
          <p:nvPr>
            <p:ph type="title"/>
          </p:nvPr>
        </p:nvSpPr>
        <p:spPr>
          <a:xfrm>
            <a:off x="0" y="17463"/>
            <a:ext cx="11430000" cy="744537"/>
          </a:xfrm>
          <a:solidFill>
            <a:srgbClr val="FFFF00"/>
          </a:solidFill>
        </p:spPr>
        <p:txBody>
          <a:bodyPr/>
          <a:lstStyle/>
          <a:p>
            <a:r>
              <a:rPr lang="en-US" altLang="zh-TW" smtClean="0">
                <a:solidFill>
                  <a:srgbClr val="0070C0"/>
                </a:solidFill>
              </a:rPr>
              <a:t>Problem</a:t>
            </a:r>
            <a:r>
              <a:rPr lang="en-US" altLang="zh-TW" smtClean="0"/>
              <a:t>:  Tuned Mass Damper</a:t>
            </a:r>
            <a:endParaRPr lang="zh-TW" altLang="en-US" smtClean="0"/>
          </a:p>
        </p:txBody>
      </p:sp>
      <p:sp>
        <p:nvSpPr>
          <p:cNvPr id="7184" name="文字方塊 3"/>
          <p:cNvSpPr txBox="1">
            <a:spLocks noChangeArrowheads="1"/>
          </p:cNvSpPr>
          <p:nvPr/>
        </p:nvSpPr>
        <p:spPr bwMode="auto">
          <a:xfrm>
            <a:off x="381000" y="960438"/>
            <a:ext cx="1024572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50000"/>
              </a:lnSpc>
              <a:spcBef>
                <a:spcPct val="0"/>
              </a:spcBef>
            </a:pPr>
            <a:r>
              <a:rPr kumimoji="1" lang="en-US" altLang="zh-TW" sz="2000">
                <a:latin typeface="Times New Roman" pitchFamily="18" charset="0"/>
                <a:ea typeface="PMingLiU" pitchFamily="18" charset="-120"/>
                <a:cs typeface="Times New Roman" pitchFamily="18" charset="0"/>
              </a:rPr>
              <a:t>The tuned mass damper in New York’s Citicorp Tower consists of a 373-10</a:t>
            </a:r>
            <a:r>
              <a:rPr kumimoji="1" lang="en-US" altLang="zh-TW" sz="2000" baseline="30000">
                <a:latin typeface="Times New Roman" pitchFamily="18" charset="0"/>
                <a:ea typeface="PMingLiU" pitchFamily="18" charset="-120"/>
                <a:cs typeface="Times New Roman" pitchFamily="18" charset="0"/>
              </a:rPr>
              <a:t>3</a:t>
            </a:r>
            <a:r>
              <a:rPr kumimoji="1" lang="en-US" altLang="zh-TW" sz="2000">
                <a:latin typeface="Times New Roman" pitchFamily="18" charset="0"/>
                <a:ea typeface="PMingLiU" pitchFamily="18" charset="-120"/>
                <a:cs typeface="Times New Roman" pitchFamily="18" charset="0"/>
              </a:rPr>
              <a:t> kg concrete block that completes one cycle of oscillation in 6.80 s. The oscillation amplitude in a high wind is 110 cm. Determine the spring constant &amp; the maximum speed &amp; acceleration of the block.</a:t>
            </a:r>
            <a:endParaRPr kumimoji="1" lang="zh-TW" altLang="en-US" sz="2000">
              <a:latin typeface="Times New Roman" pitchFamily="18" charset="0"/>
              <a:ea typeface="PMingLiU" pitchFamily="18" charset="-120"/>
              <a:cs typeface="Times New Roman" pitchFamily="18" charset="0"/>
            </a:endParaRPr>
          </a:p>
        </p:txBody>
      </p:sp>
      <p:graphicFrame>
        <p:nvGraphicFramePr>
          <p:cNvPr id="7170" name="Object 4"/>
          <p:cNvGraphicFramePr>
            <a:graphicFrameLocks noChangeAspect="1"/>
          </p:cNvGraphicFramePr>
          <p:nvPr/>
        </p:nvGraphicFramePr>
        <p:xfrm>
          <a:off x="5537200" y="2857500"/>
          <a:ext cx="3249613" cy="714375"/>
        </p:xfrm>
        <a:graphic>
          <a:graphicData uri="http://schemas.openxmlformats.org/presentationml/2006/ole">
            <mc:AlternateContent xmlns:mc="http://schemas.openxmlformats.org/markup-compatibility/2006">
              <mc:Choice xmlns:v="urn:schemas-microsoft-com:vml" Requires="v">
                <p:oleObj spid="_x0000_s36040" name="Equation" r:id="rId3" imgW="1854200" imgH="508000" progId="Equation.DSMT4">
                  <p:embed/>
                </p:oleObj>
              </mc:Choice>
              <mc:Fallback>
                <p:oleObj name="Equation" r:id="rId3" imgW="1854200" imgH="508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200" y="2857500"/>
                        <a:ext cx="3249613"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3"/>
          <p:cNvGraphicFramePr>
            <a:graphicFrameLocks noChangeAspect="1"/>
          </p:cNvGraphicFramePr>
          <p:nvPr/>
        </p:nvGraphicFramePr>
        <p:xfrm>
          <a:off x="3840163" y="3929063"/>
          <a:ext cx="996950" cy="620712"/>
        </p:xfrm>
        <a:graphic>
          <a:graphicData uri="http://schemas.openxmlformats.org/presentationml/2006/ole">
            <mc:AlternateContent xmlns:mc="http://schemas.openxmlformats.org/markup-compatibility/2006">
              <mc:Choice xmlns:v="urn:schemas-microsoft-com:vml" Requires="v">
                <p:oleObj spid="_x0000_s36041" name="Equation" r:id="rId5" imgW="507780" imgH="393529" progId="Equation.DSMT4">
                  <p:embed/>
                </p:oleObj>
              </mc:Choice>
              <mc:Fallback>
                <p:oleObj name="Equation" r:id="rId5" imgW="507780" imgH="39352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0163" y="3929063"/>
                        <a:ext cx="99695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 name="Object 4"/>
          <p:cNvGraphicFramePr>
            <a:graphicFrameLocks noChangeAspect="1"/>
          </p:cNvGraphicFramePr>
          <p:nvPr/>
        </p:nvGraphicFramePr>
        <p:xfrm>
          <a:off x="8929688" y="3071813"/>
          <a:ext cx="2198687" cy="361950"/>
        </p:xfrm>
        <a:graphic>
          <a:graphicData uri="http://schemas.openxmlformats.org/presentationml/2006/ole">
            <mc:AlternateContent xmlns:mc="http://schemas.openxmlformats.org/markup-compatibility/2006">
              <mc:Choice xmlns:v="urn:schemas-microsoft-com:vml" Requires="v">
                <p:oleObj spid="_x0000_s36042" name="Equation" r:id="rId7" imgW="1117600" imgH="228600" progId="Equation.DSMT4">
                  <p:embed/>
                </p:oleObj>
              </mc:Choice>
              <mc:Fallback>
                <p:oleObj name="Equation" r:id="rId7" imgW="1117600" imgH="2286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29688" y="3071813"/>
                        <a:ext cx="2198687" cy="361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nvGraphicFramePr>
        <p:xfrm>
          <a:off x="4911725" y="3929063"/>
          <a:ext cx="1573213" cy="681037"/>
        </p:xfrm>
        <a:graphic>
          <a:graphicData uri="http://schemas.openxmlformats.org/presentationml/2006/ole">
            <mc:AlternateContent xmlns:mc="http://schemas.openxmlformats.org/markup-compatibility/2006">
              <mc:Choice xmlns:v="urn:schemas-microsoft-com:vml" Requires="v">
                <p:oleObj spid="_x0000_s36043" name="Equation" r:id="rId9" imgW="799753" imgH="431613" progId="Equation.DSMT4">
                  <p:embed/>
                </p:oleObj>
              </mc:Choice>
              <mc:Fallback>
                <p:oleObj name="Equation" r:id="rId9" imgW="799753" imgH="431613"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11725" y="3929063"/>
                        <a:ext cx="1573213"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6"/>
          <p:cNvGraphicFramePr>
            <a:graphicFrameLocks noChangeAspect="1"/>
          </p:cNvGraphicFramePr>
          <p:nvPr/>
        </p:nvGraphicFramePr>
        <p:xfrm>
          <a:off x="6661150" y="4052888"/>
          <a:ext cx="1376363" cy="360362"/>
        </p:xfrm>
        <a:graphic>
          <a:graphicData uri="http://schemas.openxmlformats.org/presentationml/2006/ole">
            <mc:AlternateContent xmlns:mc="http://schemas.openxmlformats.org/markup-compatibility/2006">
              <mc:Choice xmlns:v="urn:schemas-microsoft-com:vml" Requires="v">
                <p:oleObj spid="_x0000_s36044" name="Equation" r:id="rId11" imgW="698500" imgH="228600" progId="Equation.DSMT4">
                  <p:embed/>
                </p:oleObj>
              </mc:Choice>
              <mc:Fallback>
                <p:oleObj name="Equation" r:id="rId11" imgW="698500" imgH="2286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61150" y="4052888"/>
                        <a:ext cx="1376363"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5" name="文字方塊 11"/>
          <p:cNvSpPr txBox="1">
            <a:spLocks noChangeArrowheads="1"/>
          </p:cNvSpPr>
          <p:nvPr/>
        </p:nvSpPr>
        <p:spPr bwMode="auto">
          <a:xfrm>
            <a:off x="2946400" y="3071813"/>
            <a:ext cx="625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spcBef>
                <a:spcPct val="0"/>
              </a:spcBef>
            </a:pPr>
            <a:r>
              <a:rPr kumimoji="1" lang="en-US" altLang="zh-TW">
                <a:ea typeface="PMingLiU" pitchFamily="18" charset="-120"/>
                <a:sym typeface="Wingdings" pitchFamily="2" charset="2"/>
              </a:rPr>
              <a:t></a:t>
            </a:r>
            <a:endParaRPr kumimoji="1" lang="zh-TW" altLang="en-US">
              <a:ea typeface="PMingLiU" pitchFamily="18" charset="-120"/>
            </a:endParaRPr>
          </a:p>
        </p:txBody>
      </p:sp>
      <p:graphicFrame>
        <p:nvGraphicFramePr>
          <p:cNvPr id="7175" name="Object 8"/>
          <p:cNvGraphicFramePr>
            <a:graphicFrameLocks noChangeAspect="1"/>
          </p:cNvGraphicFramePr>
          <p:nvPr/>
        </p:nvGraphicFramePr>
        <p:xfrm>
          <a:off x="3751263" y="2857500"/>
          <a:ext cx="1624012" cy="741363"/>
        </p:xfrm>
        <a:graphic>
          <a:graphicData uri="http://schemas.openxmlformats.org/presentationml/2006/ole">
            <mc:AlternateContent xmlns:mc="http://schemas.openxmlformats.org/markup-compatibility/2006">
              <mc:Choice xmlns:v="urn:schemas-microsoft-com:vml" Requires="v">
                <p:oleObj spid="_x0000_s36045" name="Equation" r:id="rId13" imgW="825500" imgH="469900" progId="Equation.DSMT4">
                  <p:embed/>
                </p:oleObj>
              </mc:Choice>
              <mc:Fallback>
                <p:oleObj name="Equation" r:id="rId13" imgW="825500" imgH="4699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1263" y="2857500"/>
                        <a:ext cx="1624012" cy="74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6" name="Object 9"/>
          <p:cNvGraphicFramePr>
            <a:graphicFrameLocks noChangeAspect="1"/>
          </p:cNvGraphicFramePr>
          <p:nvPr/>
        </p:nvGraphicFramePr>
        <p:xfrm>
          <a:off x="1071563" y="2857500"/>
          <a:ext cx="1576387" cy="701675"/>
        </p:xfrm>
        <a:graphic>
          <a:graphicData uri="http://schemas.openxmlformats.org/presentationml/2006/ole">
            <mc:AlternateContent xmlns:mc="http://schemas.openxmlformats.org/markup-compatibility/2006">
              <mc:Choice xmlns:v="urn:schemas-microsoft-com:vml" Requires="v">
                <p:oleObj spid="_x0000_s36046" name="Equation" r:id="rId15" imgW="799753" imgH="444307" progId="Equation.DSMT4">
                  <p:embed/>
                </p:oleObj>
              </mc:Choice>
              <mc:Fallback>
                <p:oleObj name="Equation" r:id="rId15" imgW="799753" imgH="444307"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1563" y="2857500"/>
                        <a:ext cx="157638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7" name="Object 10"/>
          <p:cNvGraphicFramePr>
            <a:graphicFrameLocks noChangeAspect="1"/>
          </p:cNvGraphicFramePr>
          <p:nvPr/>
        </p:nvGraphicFramePr>
        <p:xfrm>
          <a:off x="3768725" y="4845050"/>
          <a:ext cx="1320800" cy="360363"/>
        </p:xfrm>
        <a:graphic>
          <a:graphicData uri="http://schemas.openxmlformats.org/presentationml/2006/ole">
            <mc:AlternateContent xmlns:mc="http://schemas.openxmlformats.org/markup-compatibility/2006">
              <mc:Choice xmlns:v="urn:schemas-microsoft-com:vml" Requires="v">
                <p:oleObj spid="_x0000_s36047" name="Equation" r:id="rId17" imgW="672808" imgH="228501" progId="Equation.DSMT4">
                  <p:embed/>
                </p:oleObj>
              </mc:Choice>
              <mc:Fallback>
                <p:oleObj name="Equation" r:id="rId17" imgW="672808" imgH="228501"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68725" y="4845050"/>
                        <a:ext cx="132080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8" name="Object 11"/>
          <p:cNvGraphicFramePr>
            <a:graphicFrameLocks noChangeAspect="1"/>
          </p:cNvGraphicFramePr>
          <p:nvPr/>
        </p:nvGraphicFramePr>
        <p:xfrm>
          <a:off x="5292725" y="4786313"/>
          <a:ext cx="2670175" cy="439737"/>
        </p:xfrm>
        <a:graphic>
          <a:graphicData uri="http://schemas.openxmlformats.org/presentationml/2006/ole">
            <mc:AlternateContent xmlns:mc="http://schemas.openxmlformats.org/markup-compatibility/2006">
              <mc:Choice xmlns:v="urn:schemas-microsoft-com:vml" Requires="v">
                <p:oleObj spid="_x0000_s36048" name="Equation" r:id="rId19" imgW="1358900" imgH="279400" progId="Equation.DSMT4">
                  <p:embed/>
                </p:oleObj>
              </mc:Choice>
              <mc:Fallback>
                <p:oleObj name="Equation" r:id="rId19" imgW="1358900" imgH="2794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92725" y="4786313"/>
                        <a:ext cx="2670175"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9" name="Object 12"/>
          <p:cNvGraphicFramePr>
            <a:graphicFrameLocks noChangeAspect="1"/>
          </p:cNvGraphicFramePr>
          <p:nvPr/>
        </p:nvGraphicFramePr>
        <p:xfrm>
          <a:off x="8126413" y="4857750"/>
          <a:ext cx="1422400" cy="319088"/>
        </p:xfrm>
        <a:graphic>
          <a:graphicData uri="http://schemas.openxmlformats.org/presentationml/2006/ole">
            <mc:AlternateContent xmlns:mc="http://schemas.openxmlformats.org/markup-compatibility/2006">
              <mc:Choice xmlns:v="urn:schemas-microsoft-com:vml" Requires="v">
                <p:oleObj spid="_x0000_s36049" name="Equation" r:id="rId21" imgW="723586" imgH="203112" progId="Equation.DSMT4">
                  <p:embed/>
                </p:oleObj>
              </mc:Choice>
              <mc:Fallback>
                <p:oleObj name="Equation" r:id="rId21" imgW="723586" imgH="203112"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126413" y="4857750"/>
                        <a:ext cx="14224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0" name="Object 13"/>
          <p:cNvGraphicFramePr>
            <a:graphicFrameLocks noChangeAspect="1"/>
          </p:cNvGraphicFramePr>
          <p:nvPr/>
        </p:nvGraphicFramePr>
        <p:xfrm>
          <a:off x="3676650" y="5419725"/>
          <a:ext cx="1471613" cy="381000"/>
        </p:xfrm>
        <a:graphic>
          <a:graphicData uri="http://schemas.openxmlformats.org/presentationml/2006/ole">
            <mc:AlternateContent xmlns:mc="http://schemas.openxmlformats.org/markup-compatibility/2006">
              <mc:Choice xmlns:v="urn:schemas-microsoft-com:vml" Requires="v">
                <p:oleObj spid="_x0000_s36050" name="Equation" r:id="rId23" imgW="748975" imgH="241195" progId="Equation.DSMT4">
                  <p:embed/>
                </p:oleObj>
              </mc:Choice>
              <mc:Fallback>
                <p:oleObj name="Equation" r:id="rId23" imgW="748975" imgH="241195"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676650" y="5419725"/>
                        <a:ext cx="1471613"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1" name="Object 14"/>
          <p:cNvGraphicFramePr>
            <a:graphicFrameLocks noChangeAspect="1"/>
          </p:cNvGraphicFramePr>
          <p:nvPr/>
        </p:nvGraphicFramePr>
        <p:xfrm>
          <a:off x="5295900" y="5410200"/>
          <a:ext cx="2797175" cy="479425"/>
        </p:xfrm>
        <a:graphic>
          <a:graphicData uri="http://schemas.openxmlformats.org/presentationml/2006/ole">
            <mc:AlternateContent xmlns:mc="http://schemas.openxmlformats.org/markup-compatibility/2006">
              <mc:Choice xmlns:v="urn:schemas-microsoft-com:vml" Requires="v">
                <p:oleObj spid="_x0000_s36051" name="Equation" r:id="rId25" imgW="1422400" imgH="304800" progId="Equation.DSMT4">
                  <p:embed/>
                </p:oleObj>
              </mc:Choice>
              <mc:Fallback>
                <p:oleObj name="Equation" r:id="rId25" imgW="1422400" imgH="304800" progId="Equation.DSMT4">
                  <p:embed/>
                  <p:pic>
                    <p:nvPicPr>
                      <p:cNvPr id="0" name="Object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95900" y="5410200"/>
                        <a:ext cx="27971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2" name="Object 15"/>
          <p:cNvGraphicFramePr>
            <a:graphicFrameLocks noChangeAspect="1"/>
          </p:cNvGraphicFramePr>
          <p:nvPr/>
        </p:nvGraphicFramePr>
        <p:xfrm>
          <a:off x="8126413" y="5481638"/>
          <a:ext cx="1695450" cy="358775"/>
        </p:xfrm>
        <a:graphic>
          <a:graphicData uri="http://schemas.openxmlformats.org/presentationml/2006/ole">
            <mc:AlternateContent xmlns:mc="http://schemas.openxmlformats.org/markup-compatibility/2006">
              <mc:Choice xmlns:v="urn:schemas-microsoft-com:vml" Requires="v">
                <p:oleObj spid="_x0000_s36052" name="Equation" r:id="rId27" imgW="863225" imgH="228501" progId="Equation.DSMT4">
                  <p:embed/>
                </p:oleObj>
              </mc:Choice>
              <mc:Fallback>
                <p:oleObj name="Equation" r:id="rId27" imgW="863225" imgH="228501" progId="Equation.DSMT4">
                  <p:embed/>
                  <p:pic>
                    <p:nvPicPr>
                      <p:cNvPr id="0" name="Object 1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126413" y="5481638"/>
                        <a:ext cx="169545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184">
                                            <p:txEl>
                                              <p:pRg st="0" end="0"/>
                                            </p:txEl>
                                          </p:spTgt>
                                        </p:tgtEl>
                                        <p:attrNameLst>
                                          <p:attrName>style.visibility</p:attrName>
                                        </p:attrNameLst>
                                      </p:cBhvr>
                                      <p:to>
                                        <p:strVal val="visible"/>
                                      </p:to>
                                    </p:set>
                                    <p:animEffect transition="in" filter="box(in)">
                                      <p:cBhvr>
                                        <p:cTn id="7" dur="500"/>
                                        <p:tgtEl>
                                          <p:spTgt spid="718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176"/>
                                        </p:tgtEl>
                                        <p:attrNameLst>
                                          <p:attrName>style.visibility</p:attrName>
                                        </p:attrNameLst>
                                      </p:cBhvr>
                                      <p:to>
                                        <p:strVal val="visible"/>
                                      </p:to>
                                    </p:set>
                                    <p:animEffect transition="in" filter="box(in)">
                                      <p:cBhvr>
                                        <p:cTn id="12" dur="500"/>
                                        <p:tgtEl>
                                          <p:spTgt spid="71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185"/>
                                        </p:tgtEl>
                                        <p:attrNameLst>
                                          <p:attrName>style.visibility</p:attrName>
                                        </p:attrNameLst>
                                      </p:cBhvr>
                                      <p:to>
                                        <p:strVal val="visible"/>
                                      </p:to>
                                    </p:set>
                                    <p:animEffect transition="in" filter="box(in)">
                                      <p:cBhvr>
                                        <p:cTn id="17" dur="500"/>
                                        <p:tgtEl>
                                          <p:spTgt spid="7185"/>
                                        </p:tgtEl>
                                      </p:cBhvr>
                                    </p:animEffect>
                                  </p:childTnLst>
                                </p:cTn>
                              </p:par>
                              <p:par>
                                <p:cTn id="18" presetID="4" presetClass="entr" presetSubtype="16" fill="hold" nodeType="withEffect">
                                  <p:stCondLst>
                                    <p:cond delay="0"/>
                                  </p:stCondLst>
                                  <p:childTnLst>
                                    <p:set>
                                      <p:cBhvr>
                                        <p:cTn id="19" dur="1" fill="hold">
                                          <p:stCondLst>
                                            <p:cond delay="0"/>
                                          </p:stCondLst>
                                        </p:cTn>
                                        <p:tgtEl>
                                          <p:spTgt spid="7175"/>
                                        </p:tgtEl>
                                        <p:attrNameLst>
                                          <p:attrName>style.visibility</p:attrName>
                                        </p:attrNameLst>
                                      </p:cBhvr>
                                      <p:to>
                                        <p:strVal val="visible"/>
                                      </p:to>
                                    </p:set>
                                    <p:animEffect transition="in" filter="box(in)">
                                      <p:cBhvr>
                                        <p:cTn id="20" dur="500"/>
                                        <p:tgtEl>
                                          <p:spTgt spid="717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7170"/>
                                        </p:tgtEl>
                                        <p:attrNameLst>
                                          <p:attrName>style.visibility</p:attrName>
                                        </p:attrNameLst>
                                      </p:cBhvr>
                                      <p:to>
                                        <p:strVal val="visible"/>
                                      </p:to>
                                    </p:set>
                                    <p:animEffect transition="in" filter="box(in)">
                                      <p:cBhvr>
                                        <p:cTn id="25" dur="500"/>
                                        <p:tgtEl>
                                          <p:spTgt spid="717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7172"/>
                                        </p:tgtEl>
                                        <p:attrNameLst>
                                          <p:attrName>style.visibility</p:attrName>
                                        </p:attrNameLst>
                                      </p:cBhvr>
                                      <p:to>
                                        <p:strVal val="visible"/>
                                      </p:to>
                                    </p:set>
                                    <p:animEffect transition="in" filter="box(in)">
                                      <p:cBhvr>
                                        <p:cTn id="30" dur="500"/>
                                        <p:tgtEl>
                                          <p:spTgt spid="717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7171"/>
                                        </p:tgtEl>
                                        <p:attrNameLst>
                                          <p:attrName>style.visibility</p:attrName>
                                        </p:attrNameLst>
                                      </p:cBhvr>
                                      <p:to>
                                        <p:strVal val="visible"/>
                                      </p:to>
                                    </p:set>
                                    <p:animEffect transition="in" filter="box(in)">
                                      <p:cBhvr>
                                        <p:cTn id="35" dur="500"/>
                                        <p:tgtEl>
                                          <p:spTgt spid="717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7173"/>
                                        </p:tgtEl>
                                        <p:attrNameLst>
                                          <p:attrName>style.visibility</p:attrName>
                                        </p:attrNameLst>
                                      </p:cBhvr>
                                      <p:to>
                                        <p:strVal val="visible"/>
                                      </p:to>
                                    </p:set>
                                    <p:animEffect transition="in" filter="box(in)">
                                      <p:cBhvr>
                                        <p:cTn id="40" dur="500"/>
                                        <p:tgtEl>
                                          <p:spTgt spid="71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7174"/>
                                        </p:tgtEl>
                                        <p:attrNameLst>
                                          <p:attrName>style.visibility</p:attrName>
                                        </p:attrNameLst>
                                      </p:cBhvr>
                                      <p:to>
                                        <p:strVal val="visible"/>
                                      </p:to>
                                    </p:set>
                                    <p:animEffect transition="in" filter="box(in)">
                                      <p:cBhvr>
                                        <p:cTn id="45" dur="500"/>
                                        <p:tgtEl>
                                          <p:spTgt spid="717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7177"/>
                                        </p:tgtEl>
                                        <p:attrNameLst>
                                          <p:attrName>style.visibility</p:attrName>
                                        </p:attrNameLst>
                                      </p:cBhvr>
                                      <p:to>
                                        <p:strVal val="visible"/>
                                      </p:to>
                                    </p:set>
                                    <p:animEffect transition="in" filter="box(in)">
                                      <p:cBhvr>
                                        <p:cTn id="50" dur="500"/>
                                        <p:tgtEl>
                                          <p:spTgt spid="717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7178"/>
                                        </p:tgtEl>
                                        <p:attrNameLst>
                                          <p:attrName>style.visibility</p:attrName>
                                        </p:attrNameLst>
                                      </p:cBhvr>
                                      <p:to>
                                        <p:strVal val="visible"/>
                                      </p:to>
                                    </p:set>
                                    <p:animEffect transition="in" filter="box(in)">
                                      <p:cBhvr>
                                        <p:cTn id="55" dur="500"/>
                                        <p:tgtEl>
                                          <p:spTgt spid="717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nodeType="clickEffect">
                                  <p:stCondLst>
                                    <p:cond delay="0"/>
                                  </p:stCondLst>
                                  <p:childTnLst>
                                    <p:set>
                                      <p:cBhvr>
                                        <p:cTn id="59" dur="1" fill="hold">
                                          <p:stCondLst>
                                            <p:cond delay="0"/>
                                          </p:stCondLst>
                                        </p:cTn>
                                        <p:tgtEl>
                                          <p:spTgt spid="7179"/>
                                        </p:tgtEl>
                                        <p:attrNameLst>
                                          <p:attrName>style.visibility</p:attrName>
                                        </p:attrNameLst>
                                      </p:cBhvr>
                                      <p:to>
                                        <p:strVal val="visible"/>
                                      </p:to>
                                    </p:set>
                                    <p:animEffect transition="in" filter="box(in)">
                                      <p:cBhvr>
                                        <p:cTn id="60" dur="500"/>
                                        <p:tgtEl>
                                          <p:spTgt spid="717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nodeType="clickEffect">
                                  <p:stCondLst>
                                    <p:cond delay="0"/>
                                  </p:stCondLst>
                                  <p:childTnLst>
                                    <p:set>
                                      <p:cBhvr>
                                        <p:cTn id="64" dur="1" fill="hold">
                                          <p:stCondLst>
                                            <p:cond delay="0"/>
                                          </p:stCondLst>
                                        </p:cTn>
                                        <p:tgtEl>
                                          <p:spTgt spid="7180"/>
                                        </p:tgtEl>
                                        <p:attrNameLst>
                                          <p:attrName>style.visibility</p:attrName>
                                        </p:attrNameLst>
                                      </p:cBhvr>
                                      <p:to>
                                        <p:strVal val="visible"/>
                                      </p:to>
                                    </p:set>
                                    <p:animEffect transition="in" filter="box(in)">
                                      <p:cBhvr>
                                        <p:cTn id="65" dur="500"/>
                                        <p:tgtEl>
                                          <p:spTgt spid="718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16" fill="hold" nodeType="clickEffect">
                                  <p:stCondLst>
                                    <p:cond delay="0"/>
                                  </p:stCondLst>
                                  <p:childTnLst>
                                    <p:set>
                                      <p:cBhvr>
                                        <p:cTn id="69" dur="1" fill="hold">
                                          <p:stCondLst>
                                            <p:cond delay="0"/>
                                          </p:stCondLst>
                                        </p:cTn>
                                        <p:tgtEl>
                                          <p:spTgt spid="7181"/>
                                        </p:tgtEl>
                                        <p:attrNameLst>
                                          <p:attrName>style.visibility</p:attrName>
                                        </p:attrNameLst>
                                      </p:cBhvr>
                                      <p:to>
                                        <p:strVal val="visible"/>
                                      </p:to>
                                    </p:set>
                                    <p:animEffect transition="in" filter="box(in)">
                                      <p:cBhvr>
                                        <p:cTn id="70" dur="500"/>
                                        <p:tgtEl>
                                          <p:spTgt spid="7181"/>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nodeType="clickEffect">
                                  <p:stCondLst>
                                    <p:cond delay="0"/>
                                  </p:stCondLst>
                                  <p:childTnLst>
                                    <p:set>
                                      <p:cBhvr>
                                        <p:cTn id="74" dur="1" fill="hold">
                                          <p:stCondLst>
                                            <p:cond delay="0"/>
                                          </p:stCondLst>
                                        </p:cTn>
                                        <p:tgtEl>
                                          <p:spTgt spid="7182"/>
                                        </p:tgtEl>
                                        <p:attrNameLst>
                                          <p:attrName>style.visibility</p:attrName>
                                        </p:attrNameLst>
                                      </p:cBhvr>
                                      <p:to>
                                        <p:strVal val="visible"/>
                                      </p:to>
                                    </p:set>
                                    <p:animEffect transition="in" filter="box(in)">
                                      <p:cBhvr>
                                        <p:cTn id="75" dur="500"/>
                                        <p:tgtEl>
                                          <p:spTgt spid="7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z="2400" b="1" smtClean="0"/>
              <a:t>Energy of the SHM Oscillator</a:t>
            </a:r>
          </a:p>
        </p:txBody>
      </p:sp>
      <p:sp>
        <p:nvSpPr>
          <p:cNvPr id="36867" name="Rectangle 3"/>
          <p:cNvSpPr>
            <a:spLocks noGrp="1" noChangeArrowheads="1"/>
          </p:cNvSpPr>
          <p:nvPr>
            <p:ph idx="1"/>
          </p:nvPr>
        </p:nvSpPr>
        <p:spPr>
          <a:xfrm>
            <a:off x="304800" y="1600200"/>
            <a:ext cx="10820400" cy="4724400"/>
          </a:xfrm>
        </p:spPr>
        <p:txBody>
          <a:bodyPr/>
          <a:lstStyle/>
          <a:p>
            <a:pPr marL="0" indent="0" eaLnBrk="1" hangingPunct="1"/>
            <a:r>
              <a:rPr lang="en-US" altLang="en-US" sz="2000" smtClean="0"/>
              <a:t>Mechanical energy is associated with a system in which a particle undergoes simple harmonic motion. </a:t>
            </a:r>
          </a:p>
          <a:p>
            <a:pPr lvl="1" eaLnBrk="1" hangingPunct="1"/>
            <a:r>
              <a:rPr lang="en-US" altLang="en-US" sz="2000" smtClean="0"/>
              <a:t>For example, assume a spring-mass system is moving on a frictionless surface.</a:t>
            </a:r>
          </a:p>
          <a:p>
            <a:pPr marL="0" indent="0" eaLnBrk="1" hangingPunct="1"/>
            <a:r>
              <a:rPr lang="en-US" altLang="en-US" sz="2000" smtClean="0"/>
              <a:t>Because the surface is frictionless, the system is isolated.</a:t>
            </a:r>
          </a:p>
          <a:p>
            <a:pPr lvl="1" eaLnBrk="1" hangingPunct="1"/>
            <a:r>
              <a:rPr lang="en-US" altLang="en-US" sz="2000" smtClean="0"/>
              <a:t>This tells us the total energy is constant.</a:t>
            </a:r>
          </a:p>
          <a:p>
            <a:pPr marL="0" indent="0" eaLnBrk="1" hangingPunct="1"/>
            <a:r>
              <a:rPr lang="en-US" altLang="en-US" sz="2000" smtClean="0"/>
              <a:t>The kinetic energy can be found by</a:t>
            </a:r>
          </a:p>
          <a:p>
            <a:pPr lvl="1" eaLnBrk="1" hangingPunct="1"/>
            <a:r>
              <a:rPr lang="en-US" altLang="en-US" sz="2000" i="1" smtClean="0"/>
              <a:t>K</a:t>
            </a:r>
            <a:r>
              <a:rPr lang="en-US" altLang="en-US" sz="2000" smtClean="0"/>
              <a:t> = ½ </a:t>
            </a:r>
            <a:r>
              <a:rPr lang="en-US" altLang="en-US" sz="2000" i="1" smtClean="0"/>
              <a:t>mv </a:t>
            </a:r>
            <a:r>
              <a:rPr lang="en-US" altLang="en-US" sz="2000" baseline="30000" smtClean="0"/>
              <a:t>2</a:t>
            </a:r>
            <a:r>
              <a:rPr lang="en-US" altLang="en-US" sz="2000" smtClean="0"/>
              <a:t> = ½ </a:t>
            </a:r>
            <a:r>
              <a:rPr lang="en-US" altLang="en-US" sz="2000" i="1" smtClean="0"/>
              <a:t>m</a:t>
            </a:r>
            <a:r>
              <a:rPr lang="en-US" altLang="en-US" sz="2000" i="1" smtClean="0">
                <a:latin typeface="Symbol" pitchFamily="18" charset="2"/>
              </a:rPr>
              <a:t>w</a:t>
            </a:r>
            <a:r>
              <a:rPr lang="en-US" altLang="en-US" sz="2000" baseline="30000" smtClean="0"/>
              <a:t>2</a:t>
            </a:r>
            <a:r>
              <a:rPr lang="en-US" altLang="en-US" sz="2000" smtClean="0"/>
              <a:t> </a:t>
            </a:r>
            <a:r>
              <a:rPr lang="en-US" altLang="en-US" sz="2000" i="1" smtClean="0"/>
              <a:t>A</a:t>
            </a:r>
            <a:r>
              <a:rPr lang="en-US" altLang="en-US" sz="2000" baseline="30000" smtClean="0"/>
              <a:t>2</a:t>
            </a:r>
            <a:r>
              <a:rPr lang="en-US" altLang="en-US" sz="2000" smtClean="0"/>
              <a:t> sin</a:t>
            </a:r>
            <a:r>
              <a:rPr lang="en-US" altLang="en-US" sz="2000" baseline="30000" smtClean="0"/>
              <a:t>2</a:t>
            </a:r>
            <a:r>
              <a:rPr lang="en-US" altLang="en-US" sz="2000" smtClean="0"/>
              <a:t> (</a:t>
            </a:r>
            <a:r>
              <a:rPr lang="en-US" altLang="en-US" sz="2000" i="1" smtClean="0">
                <a:latin typeface="Symbol" pitchFamily="18" charset="2"/>
              </a:rPr>
              <a:t>w</a:t>
            </a:r>
            <a:r>
              <a:rPr lang="en-US" altLang="en-US" sz="2000" i="1" smtClean="0"/>
              <a:t>t</a:t>
            </a:r>
            <a:r>
              <a:rPr lang="en-US" altLang="en-US" sz="2000" smtClean="0"/>
              <a:t> + </a:t>
            </a:r>
            <a:r>
              <a:rPr lang="en-US" altLang="en-US" sz="2000" i="1" smtClean="0">
                <a:latin typeface="Symbol" pitchFamily="18" charset="2"/>
              </a:rPr>
              <a:t>f</a:t>
            </a:r>
            <a:r>
              <a:rPr lang="en-US" altLang="en-US" sz="2000" smtClean="0"/>
              <a:t>)</a:t>
            </a:r>
          </a:p>
          <a:p>
            <a:pPr lvl="2" eaLnBrk="1" hangingPunct="1"/>
            <a:r>
              <a:rPr lang="en-US" altLang="en-US" sz="1800" smtClean="0"/>
              <a:t>Assume a massless spring, so the mass is the mass of the block only.</a:t>
            </a:r>
          </a:p>
          <a:p>
            <a:pPr marL="0" indent="0" eaLnBrk="1" hangingPunct="1"/>
            <a:r>
              <a:rPr lang="en-US" altLang="en-US" sz="2000" smtClean="0"/>
              <a:t>The elastic potential energy can be found by</a:t>
            </a:r>
          </a:p>
          <a:p>
            <a:pPr lvl="1" eaLnBrk="1" hangingPunct="1"/>
            <a:r>
              <a:rPr lang="en-US" altLang="en-US" sz="2000" i="1" smtClean="0"/>
              <a:t>U</a:t>
            </a:r>
            <a:r>
              <a:rPr lang="en-US" altLang="en-US" sz="2000" smtClean="0"/>
              <a:t> = ½ </a:t>
            </a:r>
            <a:r>
              <a:rPr lang="en-US" altLang="en-US" sz="2000" i="1" smtClean="0"/>
              <a:t>kx </a:t>
            </a:r>
            <a:r>
              <a:rPr lang="en-US" altLang="en-US" sz="2000" baseline="30000" smtClean="0"/>
              <a:t>2</a:t>
            </a:r>
            <a:r>
              <a:rPr lang="en-US" altLang="en-US" sz="2000" smtClean="0"/>
              <a:t> = ½ </a:t>
            </a:r>
            <a:r>
              <a:rPr lang="en-US" altLang="en-US" sz="2000" i="1" smtClean="0"/>
              <a:t>kA</a:t>
            </a:r>
            <a:r>
              <a:rPr lang="en-US" altLang="en-US" sz="2000" baseline="30000" smtClean="0"/>
              <a:t>2</a:t>
            </a:r>
            <a:r>
              <a:rPr lang="en-US" altLang="en-US" sz="2000" smtClean="0"/>
              <a:t> cos</a:t>
            </a:r>
            <a:r>
              <a:rPr lang="en-US" altLang="en-US" sz="2000" baseline="30000" smtClean="0"/>
              <a:t>2</a:t>
            </a:r>
            <a:r>
              <a:rPr lang="en-US" altLang="en-US" sz="2000" smtClean="0"/>
              <a:t> (</a:t>
            </a:r>
            <a:r>
              <a:rPr lang="en-US" altLang="en-US" sz="2000" i="1" smtClean="0">
                <a:latin typeface="Symbol" pitchFamily="18" charset="2"/>
              </a:rPr>
              <a:t>w</a:t>
            </a:r>
            <a:r>
              <a:rPr lang="en-US" altLang="en-US" sz="2000" i="1" smtClean="0"/>
              <a:t>t</a:t>
            </a:r>
            <a:r>
              <a:rPr lang="en-US" altLang="en-US" sz="2000" smtClean="0"/>
              <a:t> + </a:t>
            </a:r>
            <a:r>
              <a:rPr lang="en-US" altLang="en-US" sz="2000" i="1" smtClean="0">
                <a:latin typeface="Symbol" pitchFamily="18" charset="2"/>
              </a:rPr>
              <a:t>f</a:t>
            </a:r>
            <a:r>
              <a:rPr lang="en-US" altLang="en-US" sz="2000" smtClean="0"/>
              <a:t>)</a:t>
            </a:r>
          </a:p>
        </p:txBody>
      </p:sp>
      <p:sp>
        <p:nvSpPr>
          <p:cNvPr id="36868"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15.3</a:t>
            </a:r>
          </a:p>
        </p:txBody>
      </p:sp>
      <p:pic>
        <p:nvPicPr>
          <p:cNvPr id="36869"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4953000"/>
            <a:ext cx="41433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1"/>
          <p:cNvGraphicFramePr>
            <a:graphicFrameLocks noChangeAspect="1"/>
          </p:cNvGraphicFramePr>
          <p:nvPr/>
        </p:nvGraphicFramePr>
        <p:xfrm>
          <a:off x="5995988" y="3810000"/>
          <a:ext cx="2992437" cy="630238"/>
        </p:xfrm>
        <a:graphic>
          <a:graphicData uri="http://schemas.openxmlformats.org/presentationml/2006/ole">
            <mc:AlternateContent xmlns:mc="http://schemas.openxmlformats.org/markup-compatibility/2006">
              <mc:Choice xmlns:v="urn:schemas-microsoft-com:vml" Requires="v">
                <p:oleObj spid="_x0000_s36900" name="Equation" r:id="rId5" imgW="1714500" imgH="393700" progId="Equation.3">
                  <p:embed/>
                </p:oleObj>
              </mc:Choice>
              <mc:Fallback>
                <p:oleObj name="Equation" r:id="rId5" imgW="1714500" imgH="3937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5988" y="3810000"/>
                        <a:ext cx="2992437"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4724400" y="5334000"/>
          <a:ext cx="2738438" cy="381000"/>
        </p:xfrm>
        <a:graphic>
          <a:graphicData uri="http://schemas.openxmlformats.org/presentationml/2006/ole">
            <mc:AlternateContent xmlns:mc="http://schemas.openxmlformats.org/markup-compatibility/2006">
              <mc:Choice xmlns:v="urn:schemas-microsoft-com:vml" Requires="v">
                <p:oleObj spid="_x0000_s36901" name="Equation" r:id="rId7" imgW="1459866" imgH="203112" progId="Equation.3">
                  <p:embed/>
                </p:oleObj>
              </mc:Choice>
              <mc:Fallback>
                <p:oleObj name="Equation" r:id="rId7" imgW="1459866" imgH="203112"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4400" y="5334000"/>
                        <a:ext cx="2738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86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867">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867">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867">
                                            <p:txEl>
                                              <p:pRg st="8" end="8"/>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z="2000" b="1" smtClean="0"/>
              <a:t>Energy of the SHM Oscillator</a:t>
            </a:r>
            <a:endParaRPr lang="en-US" altLang="en-US" smtClean="0"/>
          </a:p>
        </p:txBody>
      </p:sp>
      <p:sp>
        <p:nvSpPr>
          <p:cNvPr id="37891" name="Content Placeholder 2"/>
          <p:cNvSpPr>
            <a:spLocks noGrp="1"/>
          </p:cNvSpPr>
          <p:nvPr>
            <p:ph idx="1"/>
          </p:nvPr>
        </p:nvSpPr>
        <p:spPr/>
        <p:txBody>
          <a:bodyPr/>
          <a:lstStyle/>
          <a:p>
            <a:r>
              <a:rPr lang="en-US" altLang="en-US" sz="2400" b="1" smtClean="0"/>
              <a:t>The kinetic energy</a:t>
            </a:r>
          </a:p>
          <a:p>
            <a:endParaRPr lang="en-US" altLang="en-US" smtClean="0"/>
          </a:p>
          <a:p>
            <a:endParaRPr lang="en-US" altLang="en-US" smtClean="0"/>
          </a:p>
          <a:p>
            <a:endParaRPr lang="en-US" altLang="en-US" smtClean="0"/>
          </a:p>
          <a:p>
            <a:r>
              <a:rPr lang="en-US" altLang="en-US" sz="2400" b="1" smtClean="0"/>
              <a:t>And Potential energy</a:t>
            </a:r>
            <a:r>
              <a:rPr lang="en-US" altLang="en-US" smtClean="0"/>
              <a:t> </a:t>
            </a:r>
          </a:p>
          <a:p>
            <a:endParaRPr lang="en-US" altLang="en-US" smtClean="0"/>
          </a:p>
          <a:p>
            <a:r>
              <a:rPr lang="en-US" altLang="en-US" smtClean="0"/>
              <a:t> </a:t>
            </a:r>
          </a:p>
          <a:p>
            <a:endParaRPr lang="en-US" altLang="en-US" smtClean="0"/>
          </a:p>
          <a:p>
            <a:r>
              <a:rPr lang="en-US" altLang="en-US" sz="2400" b="1" smtClean="0"/>
              <a:t>The total energy</a:t>
            </a:r>
            <a:r>
              <a:rPr lang="en-US" altLang="en-US" smtClean="0"/>
              <a:t>  </a:t>
            </a:r>
          </a:p>
          <a:p>
            <a:endParaRPr lang="en-US" altLang="en-US" smtClean="0"/>
          </a:p>
        </p:txBody>
      </p:sp>
      <p:graphicFrame>
        <p:nvGraphicFramePr>
          <p:cNvPr id="37892" name="Object 3"/>
          <p:cNvGraphicFramePr>
            <a:graphicFrameLocks noChangeAspect="1"/>
          </p:cNvGraphicFramePr>
          <p:nvPr/>
        </p:nvGraphicFramePr>
        <p:xfrm>
          <a:off x="533400" y="2209800"/>
          <a:ext cx="3352800" cy="806450"/>
        </p:xfrm>
        <a:graphic>
          <a:graphicData uri="http://schemas.openxmlformats.org/presentationml/2006/ole">
            <mc:AlternateContent xmlns:mc="http://schemas.openxmlformats.org/markup-compatibility/2006">
              <mc:Choice xmlns:v="urn:schemas-microsoft-com:vml" Requires="v">
                <p:oleObj spid="_x0000_s37967" name="Equation" r:id="rId3" imgW="1637589" imgH="393529" progId="Equation.3">
                  <p:embed/>
                </p:oleObj>
              </mc:Choice>
              <mc:Fallback>
                <p:oleObj name="Equation" r:id="rId3" imgW="1637589" imgH="39352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209800"/>
                        <a:ext cx="335280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Object 4"/>
          <p:cNvGraphicFramePr>
            <a:graphicFrameLocks noChangeAspect="1"/>
          </p:cNvGraphicFramePr>
          <p:nvPr/>
        </p:nvGraphicFramePr>
        <p:xfrm>
          <a:off x="609600" y="4114800"/>
          <a:ext cx="2989263" cy="806450"/>
        </p:xfrm>
        <a:graphic>
          <a:graphicData uri="http://schemas.openxmlformats.org/presentationml/2006/ole">
            <mc:AlternateContent xmlns:mc="http://schemas.openxmlformats.org/markup-compatibility/2006">
              <mc:Choice xmlns:v="urn:schemas-microsoft-com:vml" Requires="v">
                <p:oleObj spid="_x0000_s37968" name="Equation" r:id="rId5" imgW="1459866" imgH="393529" progId="Equation.3">
                  <p:embed/>
                </p:oleObj>
              </mc:Choice>
              <mc:Fallback>
                <p:oleObj name="Equation" r:id="rId5" imgW="1459866" imgH="39352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114800"/>
                        <a:ext cx="2989263"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4" name="Object 5"/>
          <p:cNvGraphicFramePr>
            <a:graphicFrameLocks noChangeAspect="1"/>
          </p:cNvGraphicFramePr>
          <p:nvPr/>
        </p:nvGraphicFramePr>
        <p:xfrm>
          <a:off x="4271963" y="2286000"/>
          <a:ext cx="3249612" cy="806450"/>
        </p:xfrm>
        <a:graphic>
          <a:graphicData uri="http://schemas.openxmlformats.org/presentationml/2006/ole">
            <mc:AlternateContent xmlns:mc="http://schemas.openxmlformats.org/markup-compatibility/2006">
              <mc:Choice xmlns:v="urn:schemas-microsoft-com:vml" Requires="v">
                <p:oleObj spid="_x0000_s37969" name="Equation" r:id="rId7" imgW="1586811" imgH="393529" progId="Equation.3">
                  <p:embed/>
                </p:oleObj>
              </mc:Choice>
              <mc:Fallback>
                <p:oleObj name="Equation" r:id="rId7" imgW="1586811" imgH="393529"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1963" y="2286000"/>
                        <a:ext cx="3249612"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5" name="Object 6"/>
          <p:cNvGraphicFramePr>
            <a:graphicFrameLocks noChangeAspect="1"/>
          </p:cNvGraphicFramePr>
          <p:nvPr/>
        </p:nvGraphicFramePr>
        <p:xfrm>
          <a:off x="8582025" y="2481263"/>
          <a:ext cx="1428750" cy="415925"/>
        </p:xfrm>
        <a:graphic>
          <a:graphicData uri="http://schemas.openxmlformats.org/presentationml/2006/ole">
            <mc:AlternateContent xmlns:mc="http://schemas.openxmlformats.org/markup-compatibility/2006">
              <mc:Choice xmlns:v="urn:schemas-microsoft-com:vml" Requires="v">
                <p:oleObj spid="_x0000_s37970" name="Equation" r:id="rId9" imgW="698197" imgH="203112" progId="Equation.3">
                  <p:embed/>
                </p:oleObj>
              </mc:Choice>
              <mc:Fallback>
                <p:oleObj name="Equation" r:id="rId9" imgW="698197" imgH="203112"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82025" y="2481263"/>
                        <a:ext cx="142875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6" name="Object 7"/>
          <p:cNvGraphicFramePr>
            <a:graphicFrameLocks noChangeAspect="1"/>
          </p:cNvGraphicFramePr>
          <p:nvPr/>
        </p:nvGraphicFramePr>
        <p:xfrm>
          <a:off x="533400" y="5441950"/>
          <a:ext cx="7618413" cy="806450"/>
        </p:xfrm>
        <a:graphic>
          <a:graphicData uri="http://schemas.openxmlformats.org/presentationml/2006/ole">
            <mc:AlternateContent xmlns:mc="http://schemas.openxmlformats.org/markup-compatibility/2006">
              <mc:Choice xmlns:v="urn:schemas-microsoft-com:vml" Requires="v">
                <p:oleObj spid="_x0000_s37971" name="Equation" r:id="rId11" imgW="3721100" imgH="393700" progId="Equation.3">
                  <p:embed/>
                </p:oleObj>
              </mc:Choice>
              <mc:Fallback>
                <p:oleObj name="Equation" r:id="rId11" imgW="3721100" imgH="3937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5441950"/>
                        <a:ext cx="7618413"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p:cNvSpPr>
            <a:spLocks noGrp="1" noChangeArrowheads="1"/>
          </p:cNvSpPr>
          <p:nvPr>
            <p:ph type="title"/>
          </p:nvPr>
        </p:nvSpPr>
        <p:spPr>
          <a:xfrm>
            <a:off x="304800" y="76200"/>
            <a:ext cx="10287000" cy="609600"/>
          </a:xfrm>
        </p:spPr>
        <p:txBody>
          <a:bodyPr/>
          <a:lstStyle/>
          <a:p>
            <a:pPr eaLnBrk="1" hangingPunct="1"/>
            <a:r>
              <a:rPr lang="en-US" altLang="en-US" smtClean="0"/>
              <a:t>Energy of the SHM Oscillator, cont.</a:t>
            </a:r>
          </a:p>
        </p:txBody>
      </p:sp>
      <p:sp>
        <p:nvSpPr>
          <p:cNvPr id="37891" name="Rectangle 3"/>
          <p:cNvSpPr>
            <a:spLocks noGrp="1" noChangeArrowheads="1"/>
          </p:cNvSpPr>
          <p:nvPr>
            <p:ph sz="half" idx="1"/>
          </p:nvPr>
        </p:nvSpPr>
        <p:spPr>
          <a:xfrm>
            <a:off x="152400" y="944563"/>
            <a:ext cx="5864225" cy="5518150"/>
          </a:xfrm>
        </p:spPr>
        <p:txBody>
          <a:bodyPr/>
          <a:lstStyle/>
          <a:p>
            <a:pPr marL="0" indent="0" eaLnBrk="1" hangingPunct="1"/>
            <a:r>
              <a:rPr lang="en-US" altLang="en-US" sz="2400" smtClean="0"/>
              <a:t>The total mechanical energy is constant.</a:t>
            </a:r>
          </a:p>
          <a:p>
            <a:pPr lvl="1" eaLnBrk="1" hangingPunct="1"/>
            <a:r>
              <a:rPr lang="en-US" altLang="en-US" smtClean="0"/>
              <a:t>At all times, the total energy is </a:t>
            </a:r>
          </a:p>
          <a:p>
            <a:pPr lvl="1" eaLnBrk="1" hangingPunct="1">
              <a:buFont typeface="Wingdings" pitchFamily="2" charset="2"/>
              <a:buNone/>
            </a:pPr>
            <a:r>
              <a:rPr lang="en-US" altLang="en-US" smtClean="0"/>
              <a:t>½ k A</a:t>
            </a:r>
            <a:r>
              <a:rPr lang="en-US" altLang="en-US" baseline="30000" smtClean="0"/>
              <a:t>2</a:t>
            </a:r>
            <a:r>
              <a:rPr lang="en-US" altLang="en-US" smtClean="0"/>
              <a:t> </a:t>
            </a:r>
          </a:p>
          <a:p>
            <a:pPr marL="0" indent="0" eaLnBrk="1" hangingPunct="1">
              <a:lnSpc>
                <a:spcPct val="90000"/>
              </a:lnSpc>
            </a:pPr>
            <a:r>
              <a:rPr lang="en-US" altLang="en-US" sz="2400" smtClean="0"/>
              <a:t>The total mechanical energy is proportional to the square of the amplitude.</a:t>
            </a:r>
          </a:p>
          <a:p>
            <a:pPr marL="0" indent="0" eaLnBrk="1" hangingPunct="1">
              <a:lnSpc>
                <a:spcPct val="90000"/>
              </a:lnSpc>
            </a:pPr>
            <a:r>
              <a:rPr lang="en-US" altLang="en-US" sz="2400" smtClean="0"/>
              <a:t>Energy is continuously being transferred between potential energy stored in the spring and the kinetic energy of the block.</a:t>
            </a:r>
          </a:p>
          <a:p>
            <a:pPr marL="0" indent="0" eaLnBrk="1" hangingPunct="1">
              <a:lnSpc>
                <a:spcPct val="90000"/>
              </a:lnSpc>
            </a:pPr>
            <a:r>
              <a:rPr lang="en-US" altLang="en-US" sz="2400" smtClean="0"/>
              <a:t>In the diagram, </a:t>
            </a:r>
            <a:r>
              <a:rPr lang="el-GR" altLang="en-US" sz="2400" i="1" smtClean="0">
                <a:latin typeface="Lucida Grande" pitchFamily="80" charset="0"/>
                <a:cs typeface="Arial" charset="0"/>
              </a:rPr>
              <a:t>Φ</a:t>
            </a:r>
            <a:r>
              <a:rPr lang="en-US" altLang="en-US" sz="2400" smtClean="0">
                <a:cs typeface="Arial" charset="0"/>
              </a:rPr>
              <a:t> = 0</a:t>
            </a:r>
            <a:endParaRPr lang="en-US" altLang="en-US" sz="2400" smtClean="0"/>
          </a:p>
          <a:p>
            <a:pPr marL="0" indent="0" eaLnBrk="1" hangingPunct="1"/>
            <a:endParaRPr lang="en-US" altLang="en-US" sz="2600" smtClean="0"/>
          </a:p>
          <a:p>
            <a:pPr marL="0" indent="0" eaLnBrk="1" hangingPunct="1"/>
            <a:endParaRPr lang="en-US" altLang="en-US" sz="2600" smtClean="0"/>
          </a:p>
          <a:p>
            <a:pPr marL="0" indent="0" eaLnBrk="1" hangingPunct="1"/>
            <a:r>
              <a:rPr lang="en-US" altLang="en-US" sz="2600" smtClean="0"/>
              <a:t>.</a:t>
            </a:r>
          </a:p>
        </p:txBody>
      </p:sp>
      <p:sp>
        <p:nvSpPr>
          <p:cNvPr id="3891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15.3</a:t>
            </a:r>
          </a:p>
        </p:txBody>
      </p:sp>
      <p:pic>
        <p:nvPicPr>
          <p:cNvPr id="38917" name="Picture 6" descr="15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625" y="1951038"/>
            <a:ext cx="5413375" cy="295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8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1">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89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71500" y="76200"/>
            <a:ext cx="10287000" cy="609600"/>
          </a:xfrm>
        </p:spPr>
        <p:txBody>
          <a:bodyPr/>
          <a:lstStyle/>
          <a:p>
            <a:pPr eaLnBrk="1" hangingPunct="1"/>
            <a:r>
              <a:rPr lang="en-US" altLang="en-US" smtClean="0">
                <a:solidFill>
                  <a:srgbClr val="000000"/>
                </a:solidFill>
              </a:rPr>
              <a:t>Energy of the SHM Oscillator, final</a:t>
            </a:r>
          </a:p>
        </p:txBody>
      </p:sp>
      <p:sp>
        <p:nvSpPr>
          <p:cNvPr id="39939" name="Rectangle 3"/>
          <p:cNvSpPr>
            <a:spLocks noGrp="1" noChangeArrowheads="1"/>
          </p:cNvSpPr>
          <p:nvPr>
            <p:ph sz="half" idx="1"/>
          </p:nvPr>
        </p:nvSpPr>
        <p:spPr>
          <a:xfrm>
            <a:off x="457200" y="1143000"/>
            <a:ext cx="5162550" cy="4972050"/>
          </a:xfrm>
        </p:spPr>
        <p:txBody>
          <a:bodyPr/>
          <a:lstStyle/>
          <a:p>
            <a:pPr marL="0" indent="0" eaLnBrk="1" hangingPunct="1">
              <a:lnSpc>
                <a:spcPct val="90000"/>
              </a:lnSpc>
            </a:pPr>
            <a:r>
              <a:rPr lang="en-US" altLang="en-US" sz="2400" smtClean="0"/>
              <a:t>Variations of K and U can also be observed with respect to position.</a:t>
            </a:r>
          </a:p>
          <a:p>
            <a:pPr marL="0" indent="0" eaLnBrk="1" hangingPunct="1">
              <a:lnSpc>
                <a:spcPct val="90000"/>
              </a:lnSpc>
            </a:pPr>
            <a:r>
              <a:rPr lang="en-US" altLang="en-US" sz="2400" smtClean="0"/>
              <a:t>The energy is continually being transformed between potential energy stored in the spring and the kinetic energy of the block.</a:t>
            </a:r>
          </a:p>
          <a:p>
            <a:pPr marL="0" indent="0" eaLnBrk="1" hangingPunct="1">
              <a:lnSpc>
                <a:spcPct val="90000"/>
              </a:lnSpc>
            </a:pPr>
            <a:r>
              <a:rPr lang="en-US" altLang="en-US" sz="2400" smtClean="0"/>
              <a:t>The total energy remains the same</a:t>
            </a:r>
          </a:p>
        </p:txBody>
      </p:sp>
      <p:sp>
        <p:nvSpPr>
          <p:cNvPr id="3994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15.3</a:t>
            </a:r>
          </a:p>
        </p:txBody>
      </p:sp>
      <p:pic>
        <p:nvPicPr>
          <p:cNvPr id="39941" name="Picture 6" descr="15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0" y="1951038"/>
            <a:ext cx="5413375" cy="295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71500" y="76200"/>
            <a:ext cx="10287000" cy="609600"/>
          </a:xfrm>
        </p:spPr>
        <p:txBody>
          <a:bodyPr/>
          <a:lstStyle/>
          <a:p>
            <a:pPr eaLnBrk="1" hangingPunct="1"/>
            <a:r>
              <a:rPr lang="en-US" altLang="en-US" sz="2800" smtClean="0">
                <a:solidFill>
                  <a:srgbClr val="000000"/>
                </a:solidFill>
              </a:rPr>
              <a:t>Energy in SHM, summary</a:t>
            </a:r>
            <a:endParaRPr lang="en-US" altLang="en-US" smtClean="0">
              <a:solidFill>
                <a:srgbClr val="000000"/>
              </a:solidFill>
            </a:endParaRPr>
          </a:p>
        </p:txBody>
      </p:sp>
      <p:sp>
        <p:nvSpPr>
          <p:cNvPr id="40963"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15.3</a:t>
            </a:r>
          </a:p>
        </p:txBody>
      </p:sp>
      <p:pic>
        <p:nvPicPr>
          <p:cNvPr id="40964" name="Picture 5" descr="15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813" y="1828800"/>
            <a:ext cx="9604375"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571500" y="76200"/>
            <a:ext cx="10287000" cy="609600"/>
          </a:xfrm>
        </p:spPr>
        <p:txBody>
          <a:bodyPr/>
          <a:lstStyle/>
          <a:p>
            <a:pPr eaLnBrk="1" hangingPunct="1"/>
            <a:r>
              <a:rPr lang="en-US" altLang="en-US" sz="2800" smtClean="0">
                <a:solidFill>
                  <a:srgbClr val="000000"/>
                </a:solidFill>
              </a:rPr>
              <a:t>Velocity at a Given Position</a:t>
            </a:r>
            <a:endParaRPr lang="en-US" altLang="en-US" smtClean="0">
              <a:solidFill>
                <a:srgbClr val="000000"/>
              </a:solidFill>
            </a:endParaRPr>
          </a:p>
        </p:txBody>
      </p:sp>
      <p:sp>
        <p:nvSpPr>
          <p:cNvPr id="41987" name="Content Placeholder 2"/>
          <p:cNvSpPr>
            <a:spLocks noGrp="1"/>
          </p:cNvSpPr>
          <p:nvPr>
            <p:ph idx="1"/>
          </p:nvPr>
        </p:nvSpPr>
        <p:spPr>
          <a:xfrm>
            <a:off x="571500" y="1352550"/>
            <a:ext cx="10287000" cy="4438650"/>
          </a:xfrm>
        </p:spPr>
        <p:txBody>
          <a:bodyPr/>
          <a:lstStyle/>
          <a:p>
            <a:pPr marL="0" indent="0" eaLnBrk="1" hangingPunct="1"/>
            <a:r>
              <a:rPr lang="en-US" altLang="en-US" sz="2400" b="1" smtClean="0"/>
              <a:t>Energy can be used to find the velocity:</a:t>
            </a:r>
            <a:endParaRPr lang="en-US" altLang="en-US" b="1" smtClean="0"/>
          </a:p>
          <a:p>
            <a:pPr marL="0" indent="0" eaLnBrk="1" hangingPunct="1"/>
            <a:endParaRPr lang="en-US" altLang="en-US" smtClean="0"/>
          </a:p>
        </p:txBody>
      </p:sp>
      <p:graphicFrame>
        <p:nvGraphicFramePr>
          <p:cNvPr id="41988" name="Object 8"/>
          <p:cNvGraphicFramePr>
            <a:graphicFrameLocks noChangeAspect="1"/>
          </p:cNvGraphicFramePr>
          <p:nvPr/>
        </p:nvGraphicFramePr>
        <p:xfrm>
          <a:off x="1143000" y="2209800"/>
          <a:ext cx="7239000" cy="2878138"/>
        </p:xfrm>
        <a:graphic>
          <a:graphicData uri="http://schemas.openxmlformats.org/presentationml/2006/ole">
            <mc:AlternateContent xmlns:mc="http://schemas.openxmlformats.org/markup-compatibility/2006">
              <mc:Choice xmlns:v="urn:schemas-microsoft-com:vml" Requires="v">
                <p:oleObj spid="_x0000_s42004" name="Equation" r:id="rId3" imgW="2273300" imgH="1130300" progId="Equation.DSMT4">
                  <p:embed/>
                </p:oleObj>
              </mc:Choice>
              <mc:Fallback>
                <p:oleObj name="Equation" r:id="rId3" imgW="2273300" imgH="11303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09800"/>
                        <a:ext cx="7239000" cy="287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9"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15.3</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71500" y="76200"/>
            <a:ext cx="10287000" cy="609600"/>
          </a:xfrm>
        </p:spPr>
        <p:txBody>
          <a:bodyPr/>
          <a:lstStyle/>
          <a:p>
            <a:r>
              <a:rPr lang="en-US" altLang="en-US" sz="2800" smtClean="0">
                <a:solidFill>
                  <a:srgbClr val="000000"/>
                </a:solidFill>
              </a:rPr>
              <a:t>Problem 15.4:</a:t>
            </a:r>
            <a:r>
              <a:rPr lang="en-US" altLang="en-US" smtClean="0"/>
              <a:t> </a:t>
            </a:r>
          </a:p>
        </p:txBody>
      </p:sp>
      <p:sp>
        <p:nvSpPr>
          <p:cNvPr id="43011" name="Content Placeholder 2"/>
          <p:cNvSpPr>
            <a:spLocks noGrp="1"/>
          </p:cNvSpPr>
          <p:nvPr>
            <p:ph idx="1"/>
          </p:nvPr>
        </p:nvSpPr>
        <p:spPr>
          <a:xfrm>
            <a:off x="152400" y="1066800"/>
            <a:ext cx="11277600" cy="4495800"/>
          </a:xfrm>
        </p:spPr>
        <p:txBody>
          <a:bodyPr/>
          <a:lstStyle/>
          <a:p>
            <a:pPr marL="0"/>
            <a:r>
              <a:rPr lang="en-US" altLang="en-US" sz="2400" smtClean="0">
                <a:latin typeface="Times New Roman" pitchFamily="18" charset="0"/>
                <a:cs typeface="Times New Roman" pitchFamily="18" charset="0"/>
              </a:rPr>
              <a:t>A 0.500-kg cart connected to a light spring for which the force constant is 20.0 N/m oscillates on a horizontal, frictionless air track.</a:t>
            </a:r>
            <a:br>
              <a:rPr lang="en-US" altLang="en-US" sz="2400" smtClean="0">
                <a:latin typeface="Times New Roman" pitchFamily="18" charset="0"/>
                <a:cs typeface="Times New Roman" pitchFamily="18" charset="0"/>
              </a:rPr>
            </a:br>
            <a:r>
              <a:rPr lang="en-US" altLang="en-US" sz="2400" b="1" smtClean="0">
                <a:latin typeface="Times New Roman" pitchFamily="18" charset="0"/>
                <a:cs typeface="Times New Roman" pitchFamily="18" charset="0"/>
              </a:rPr>
              <a:t>(A) </a:t>
            </a:r>
            <a:r>
              <a:rPr lang="en-US" altLang="en-US" sz="2400" smtClean="0">
                <a:latin typeface="Times New Roman" pitchFamily="18" charset="0"/>
                <a:cs typeface="Times New Roman" pitchFamily="18" charset="0"/>
              </a:rPr>
              <a:t>Calculate the total energy of the system and the maximum speed of the cart if the amplitude of the motion is </a:t>
            </a:r>
          </a:p>
          <a:p>
            <a:pPr marL="0"/>
            <a:r>
              <a:rPr lang="en-US" altLang="en-US" sz="2400" b="1" smtClean="0">
                <a:latin typeface="Times New Roman" pitchFamily="18" charset="0"/>
                <a:cs typeface="Times New Roman" pitchFamily="18" charset="0"/>
              </a:rPr>
              <a:t>(B) </a:t>
            </a:r>
            <a:r>
              <a:rPr lang="en-US" altLang="en-US" sz="2400" smtClean="0">
                <a:latin typeface="Times New Roman" pitchFamily="18" charset="0"/>
                <a:cs typeface="Times New Roman" pitchFamily="18" charset="0"/>
              </a:rPr>
              <a:t>What is the velocity of the cart when the position is 2.00 cm? </a:t>
            </a:r>
          </a:p>
          <a:p>
            <a:pPr marL="0"/>
            <a:r>
              <a:rPr lang="en-US" altLang="en-US" sz="2400" b="1" smtClean="0">
                <a:latin typeface="Times New Roman" pitchFamily="18" charset="0"/>
                <a:cs typeface="Times New Roman" pitchFamily="18" charset="0"/>
              </a:rPr>
              <a:t>(C) </a:t>
            </a:r>
            <a:r>
              <a:rPr lang="en-US" altLang="en-US" sz="2400" smtClean="0">
                <a:latin typeface="Times New Roman" pitchFamily="18" charset="0"/>
                <a:cs typeface="Times New Roman" pitchFamily="18" charset="0"/>
              </a:rPr>
              <a:t>Compute the kinetic and potential energies of the system when the position is 2.00 cm.</a:t>
            </a:r>
            <a:r>
              <a:rPr lang="en-US" altLang="en-US" sz="2400" smtClean="0"/>
              <a:t> </a:t>
            </a:r>
            <a:br>
              <a:rPr lang="en-US" altLang="en-US" sz="2400" smtClean="0"/>
            </a:br>
            <a:r>
              <a:rPr lang="en-US" altLang="en-US" sz="2000" smtClean="0"/>
              <a:t/>
            </a:r>
            <a:br>
              <a:rPr lang="en-US" altLang="en-US" sz="2000" smtClean="0"/>
            </a:br>
            <a:r>
              <a:rPr lang="en-US" altLang="en-US" sz="2800" smtClean="0"/>
              <a:t>Solution:</a:t>
            </a:r>
            <a:r>
              <a:rPr lang="en-US" altLang="en-US" sz="2000" smtClean="0"/>
              <a:t> </a:t>
            </a:r>
          </a:p>
          <a:p>
            <a:pPr marL="0"/>
            <a:r>
              <a:rPr lang="en-US" altLang="en-US" sz="2000" smtClean="0">
                <a:latin typeface="Times New Roman" pitchFamily="18" charset="0"/>
                <a:cs typeface="Times New Roman" pitchFamily="18" charset="0"/>
              </a:rPr>
              <a:t/>
            </a:r>
            <a:br>
              <a:rPr lang="en-US" altLang="en-US" sz="2000" smtClean="0">
                <a:latin typeface="Times New Roman" pitchFamily="18" charset="0"/>
                <a:cs typeface="Times New Roman" pitchFamily="18" charset="0"/>
              </a:rPr>
            </a:br>
            <a:endParaRPr lang="en-US" altLang="en-US" smtClean="0">
              <a:latin typeface="Times New Roman" pitchFamily="18" charset="0"/>
              <a:cs typeface="Times New Roman" pitchFamily="18" charset="0"/>
            </a:endParaRPr>
          </a:p>
        </p:txBody>
      </p:sp>
      <p:pic>
        <p:nvPicPr>
          <p:cNvPr id="430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38" y="4081463"/>
            <a:ext cx="6472237" cy="69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0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7700" y="4792663"/>
            <a:ext cx="2743200" cy="720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571500" y="76200"/>
            <a:ext cx="10287000" cy="609600"/>
          </a:xfrm>
        </p:spPr>
        <p:txBody>
          <a:bodyPr/>
          <a:lstStyle/>
          <a:p>
            <a:r>
              <a:rPr lang="en-US" altLang="en-US" sz="3200" smtClean="0">
                <a:solidFill>
                  <a:srgbClr val="000000"/>
                </a:solidFill>
              </a:rPr>
              <a:t>Problem 15.4:</a:t>
            </a:r>
            <a:r>
              <a:rPr lang="en-US" altLang="en-US" smtClean="0"/>
              <a:t> </a:t>
            </a:r>
          </a:p>
        </p:txBody>
      </p:sp>
      <p:sp>
        <p:nvSpPr>
          <p:cNvPr id="44035" name="Content Placeholder 2"/>
          <p:cNvSpPr>
            <a:spLocks noGrp="1"/>
          </p:cNvSpPr>
          <p:nvPr>
            <p:ph idx="1"/>
          </p:nvPr>
        </p:nvSpPr>
        <p:spPr>
          <a:xfrm>
            <a:off x="228600" y="1143000"/>
            <a:ext cx="11049000" cy="4419600"/>
          </a:xfrm>
        </p:spPr>
        <p:txBody>
          <a:bodyPr/>
          <a:lstStyle/>
          <a:p>
            <a:pPr marL="0"/>
            <a:r>
              <a:rPr lang="en-US" altLang="en-US" sz="2400" smtClean="0">
                <a:latin typeface="Times New Roman" pitchFamily="18" charset="0"/>
                <a:cs typeface="Times New Roman" pitchFamily="18" charset="0"/>
              </a:rPr>
              <a:t>A 0.500-kg cart connected to a light spring for which the force constant is 20.0 N/m oscillates on a horizontal, frictionless air track.</a:t>
            </a:r>
            <a:br>
              <a:rPr lang="en-US" altLang="en-US" sz="2400" smtClean="0">
                <a:latin typeface="Times New Roman" pitchFamily="18" charset="0"/>
                <a:cs typeface="Times New Roman" pitchFamily="18" charset="0"/>
              </a:rPr>
            </a:br>
            <a:r>
              <a:rPr lang="en-US" altLang="en-US" sz="2400" b="1" smtClean="0">
                <a:latin typeface="Times New Roman" pitchFamily="18" charset="0"/>
                <a:cs typeface="Times New Roman" pitchFamily="18" charset="0"/>
              </a:rPr>
              <a:t>(B) </a:t>
            </a:r>
            <a:r>
              <a:rPr lang="en-US" altLang="en-US" sz="2400" smtClean="0">
                <a:latin typeface="Times New Roman" pitchFamily="18" charset="0"/>
                <a:cs typeface="Times New Roman" pitchFamily="18" charset="0"/>
              </a:rPr>
              <a:t>What is the velocity of the cart when the position is 2.00 cm? </a:t>
            </a:r>
          </a:p>
          <a:p>
            <a:pPr marL="0"/>
            <a:r>
              <a:rPr lang="en-US" altLang="en-US" sz="2400" b="1" smtClean="0">
                <a:latin typeface="Times New Roman" pitchFamily="18" charset="0"/>
                <a:cs typeface="Times New Roman" pitchFamily="18" charset="0"/>
              </a:rPr>
              <a:t>(C) </a:t>
            </a:r>
            <a:r>
              <a:rPr lang="en-US" altLang="en-US" sz="2400" smtClean="0">
                <a:latin typeface="Times New Roman" pitchFamily="18" charset="0"/>
                <a:cs typeface="Times New Roman" pitchFamily="18" charset="0"/>
              </a:rPr>
              <a:t>Compute the kinetic and potential energies of the system when the position is 2.00 cm.</a:t>
            </a:r>
            <a:r>
              <a:rPr lang="en-US" altLang="en-US" sz="2400" smtClean="0"/>
              <a:t> </a:t>
            </a:r>
            <a:br>
              <a:rPr lang="en-US" altLang="en-US" sz="2400" smtClean="0"/>
            </a:br>
            <a:r>
              <a:rPr lang="en-US" altLang="en-US" sz="2400" smtClean="0"/>
              <a:t/>
            </a:r>
            <a:br>
              <a:rPr lang="en-US" altLang="en-US" sz="2400" smtClean="0"/>
            </a:br>
            <a:r>
              <a:rPr lang="en-US" altLang="en-US" sz="2400" smtClean="0"/>
              <a:t>Solution: </a:t>
            </a:r>
          </a:p>
          <a:p>
            <a:pPr marL="0"/>
            <a:r>
              <a:rPr lang="en-US" altLang="en-US" sz="2000" smtClean="0">
                <a:latin typeface="Times New Roman" pitchFamily="18" charset="0"/>
                <a:cs typeface="Times New Roman" pitchFamily="18" charset="0"/>
              </a:rPr>
              <a:t/>
            </a:r>
            <a:br>
              <a:rPr lang="en-US" altLang="en-US" sz="2000" smtClean="0">
                <a:latin typeface="Times New Roman" pitchFamily="18" charset="0"/>
                <a:cs typeface="Times New Roman" pitchFamily="18" charset="0"/>
              </a:rPr>
            </a:br>
            <a:endParaRPr lang="en-US" altLang="en-US" smtClean="0">
              <a:latin typeface="Times New Roman" pitchFamily="18" charset="0"/>
              <a:cs typeface="Times New Roman" pitchFamily="18" charset="0"/>
            </a:endParaRPr>
          </a:p>
        </p:txBody>
      </p:sp>
      <p:pic>
        <p:nvPicPr>
          <p:cNvPr id="440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7600"/>
            <a:ext cx="6334125" cy="227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571500" y="76200"/>
            <a:ext cx="10287000" cy="609600"/>
          </a:xfrm>
        </p:spPr>
        <p:txBody>
          <a:bodyPr/>
          <a:lstStyle/>
          <a:p>
            <a:r>
              <a:rPr lang="en-US" altLang="en-US" sz="3200" smtClean="0">
                <a:solidFill>
                  <a:srgbClr val="000000"/>
                </a:solidFill>
              </a:rPr>
              <a:t>Problem 15.4:</a:t>
            </a:r>
            <a:r>
              <a:rPr lang="en-US" altLang="en-US" smtClean="0"/>
              <a:t> </a:t>
            </a:r>
          </a:p>
        </p:txBody>
      </p:sp>
      <p:sp>
        <p:nvSpPr>
          <p:cNvPr id="45059" name="Content Placeholder 2"/>
          <p:cNvSpPr>
            <a:spLocks noGrp="1"/>
          </p:cNvSpPr>
          <p:nvPr>
            <p:ph idx="1"/>
          </p:nvPr>
        </p:nvSpPr>
        <p:spPr>
          <a:xfrm>
            <a:off x="76200" y="1143000"/>
            <a:ext cx="11277600" cy="4419600"/>
          </a:xfrm>
        </p:spPr>
        <p:txBody>
          <a:bodyPr/>
          <a:lstStyle/>
          <a:p>
            <a:pPr marL="0"/>
            <a:r>
              <a:rPr lang="en-US" altLang="en-US" sz="2400" smtClean="0">
                <a:latin typeface="Times New Roman" pitchFamily="18" charset="0"/>
                <a:cs typeface="Times New Roman" pitchFamily="18" charset="0"/>
              </a:rPr>
              <a:t>A 0.500-kg cart connected to a light spring for which the force constant is 20.0 N/m oscillates on a horizontal, frictionless air track.</a:t>
            </a:r>
            <a:br>
              <a:rPr lang="en-US" altLang="en-US" sz="2400" smtClean="0">
                <a:latin typeface="Times New Roman" pitchFamily="18" charset="0"/>
                <a:cs typeface="Times New Roman" pitchFamily="18" charset="0"/>
              </a:rPr>
            </a:br>
            <a:r>
              <a:rPr lang="en-US" altLang="en-US" sz="2400" b="1" smtClean="0">
                <a:latin typeface="Times New Roman" pitchFamily="18" charset="0"/>
                <a:cs typeface="Times New Roman" pitchFamily="18" charset="0"/>
              </a:rPr>
              <a:t>(C) </a:t>
            </a:r>
            <a:r>
              <a:rPr lang="en-US" altLang="en-US" sz="2400" smtClean="0">
                <a:latin typeface="Times New Roman" pitchFamily="18" charset="0"/>
                <a:cs typeface="Times New Roman" pitchFamily="18" charset="0"/>
              </a:rPr>
              <a:t>Compute the kinetic and potential energies of the system when the position is 2.00 cm.</a:t>
            </a:r>
            <a:r>
              <a:rPr lang="en-US" altLang="en-US" sz="2400" smtClean="0"/>
              <a:t> </a:t>
            </a:r>
            <a:br>
              <a:rPr lang="en-US" altLang="en-US" sz="2400" smtClean="0"/>
            </a:br>
            <a:r>
              <a:rPr lang="en-US" altLang="en-US" sz="2000" smtClean="0"/>
              <a:t/>
            </a:r>
            <a:br>
              <a:rPr lang="en-US" altLang="en-US" sz="2000" smtClean="0"/>
            </a:br>
            <a:r>
              <a:rPr lang="en-US" altLang="en-US" sz="2800" smtClean="0"/>
              <a:t>Solution:</a:t>
            </a:r>
            <a:r>
              <a:rPr lang="en-US" altLang="en-US" sz="2000" smtClean="0"/>
              <a:t> </a:t>
            </a:r>
          </a:p>
          <a:p>
            <a:pPr marL="0"/>
            <a:r>
              <a:rPr lang="en-US" altLang="en-US" sz="2000" smtClean="0">
                <a:latin typeface="Times New Roman" pitchFamily="18" charset="0"/>
                <a:cs typeface="Times New Roman" pitchFamily="18" charset="0"/>
              </a:rPr>
              <a:t/>
            </a:r>
            <a:br>
              <a:rPr lang="en-US" altLang="en-US" sz="2000" smtClean="0">
                <a:latin typeface="Times New Roman" pitchFamily="18" charset="0"/>
                <a:cs typeface="Times New Roman" pitchFamily="18" charset="0"/>
              </a:rPr>
            </a:br>
            <a:endParaRPr lang="en-US" altLang="en-US" smtClean="0">
              <a:latin typeface="Times New Roman" pitchFamily="18" charset="0"/>
              <a:cs typeface="Times New Roman" pitchFamily="18" charset="0"/>
            </a:endParaRPr>
          </a:p>
        </p:txBody>
      </p:sp>
      <p:pic>
        <p:nvPicPr>
          <p:cNvPr id="450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048000"/>
            <a:ext cx="8659813" cy="112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06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479925"/>
            <a:ext cx="8763000"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571500" y="0"/>
            <a:ext cx="10287000" cy="609600"/>
          </a:xfrm>
        </p:spPr>
        <p:txBody>
          <a:bodyPr/>
          <a:lstStyle/>
          <a:p>
            <a:pPr eaLnBrk="1" hangingPunct="1"/>
            <a:r>
              <a:rPr lang="en-US" altLang="en-US" sz="2800" smtClean="0">
                <a:solidFill>
                  <a:srgbClr val="000000"/>
                </a:solidFill>
              </a:rPr>
              <a:t>SHM and Circular Motion</a:t>
            </a:r>
          </a:p>
        </p:txBody>
      </p:sp>
      <p:sp>
        <p:nvSpPr>
          <p:cNvPr id="43011" name="Rectangle 3"/>
          <p:cNvSpPr>
            <a:spLocks noGrp="1" noChangeArrowheads="1"/>
          </p:cNvSpPr>
          <p:nvPr>
            <p:ph sz="half" idx="1"/>
          </p:nvPr>
        </p:nvSpPr>
        <p:spPr>
          <a:xfrm>
            <a:off x="228600" y="990600"/>
            <a:ext cx="7620000" cy="4648200"/>
          </a:xfrm>
        </p:spPr>
        <p:txBody>
          <a:bodyPr/>
          <a:lstStyle/>
          <a:p>
            <a:pPr marL="0" indent="0" eaLnBrk="1" hangingPunct="1"/>
            <a:r>
              <a:rPr lang="en-US" altLang="en-US" sz="2400" smtClean="0"/>
              <a:t>This is an overhead view of an experimental arrangement that shows the relationship between SHM and circular motion.</a:t>
            </a:r>
          </a:p>
          <a:p>
            <a:pPr marL="0" indent="0" eaLnBrk="1" hangingPunct="1"/>
            <a:r>
              <a:rPr lang="en-US" altLang="en-US" sz="2400" smtClean="0"/>
              <a:t>As the turntable rotates with constant angular speed, the ball’s shadow moves back and forth in simple harmonic motion.</a:t>
            </a:r>
          </a:p>
        </p:txBody>
      </p:sp>
      <p:sp>
        <p:nvSpPr>
          <p:cNvPr id="4608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15.4</a:t>
            </a:r>
          </a:p>
        </p:txBody>
      </p:sp>
      <p:pic>
        <p:nvPicPr>
          <p:cNvPr id="46085" name="Picture 6" descr="15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0" y="762000"/>
            <a:ext cx="2819400" cy="529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38125" y="6350"/>
            <a:ext cx="10287000" cy="609600"/>
          </a:xfrm>
        </p:spPr>
        <p:txBody>
          <a:bodyPr/>
          <a:lstStyle/>
          <a:p>
            <a:pPr eaLnBrk="1" hangingPunct="1"/>
            <a:r>
              <a:rPr lang="en-US" altLang="en-US" sz="2800" smtClean="0">
                <a:solidFill>
                  <a:srgbClr val="000000"/>
                </a:solidFill>
              </a:rPr>
              <a:t>SHM and Circular Motion, 2</a:t>
            </a:r>
            <a:endParaRPr lang="en-US" altLang="en-US" smtClean="0">
              <a:solidFill>
                <a:srgbClr val="000000"/>
              </a:solidFill>
            </a:endParaRPr>
          </a:p>
        </p:txBody>
      </p:sp>
      <p:sp>
        <p:nvSpPr>
          <p:cNvPr id="44035" name="Rectangle 3"/>
          <p:cNvSpPr>
            <a:spLocks noGrp="1" noChangeArrowheads="1"/>
          </p:cNvSpPr>
          <p:nvPr>
            <p:ph sz="half" idx="1"/>
          </p:nvPr>
        </p:nvSpPr>
        <p:spPr>
          <a:xfrm>
            <a:off x="304800" y="1066800"/>
            <a:ext cx="7162800" cy="4724400"/>
          </a:xfrm>
        </p:spPr>
        <p:txBody>
          <a:bodyPr/>
          <a:lstStyle/>
          <a:p>
            <a:pPr marL="0" indent="0" eaLnBrk="1" hangingPunct="1"/>
            <a:r>
              <a:rPr lang="en-US" altLang="en-US" sz="2400" smtClean="0"/>
              <a:t>The circle is called a </a:t>
            </a:r>
            <a:r>
              <a:rPr lang="en-US" altLang="en-US" sz="2400" b="1" i="1" smtClean="0"/>
              <a:t>reference circle. </a:t>
            </a:r>
            <a:endParaRPr lang="en-US" altLang="en-US" sz="2400" smtClean="0"/>
          </a:p>
          <a:p>
            <a:pPr lvl="1" eaLnBrk="1" hangingPunct="1"/>
            <a:r>
              <a:rPr lang="en-US" altLang="en-US" smtClean="0"/>
              <a:t>For comparing simple harmonic motion and uniform circular motion.</a:t>
            </a:r>
          </a:p>
          <a:p>
            <a:pPr marL="0" indent="0" eaLnBrk="1" hangingPunct="1"/>
            <a:r>
              <a:rPr lang="en-US" altLang="en-US" sz="2400" smtClean="0"/>
              <a:t>Take </a:t>
            </a:r>
            <a:r>
              <a:rPr lang="en-US" altLang="en-US" sz="2400" i="1" smtClean="0"/>
              <a:t>P</a:t>
            </a:r>
            <a:r>
              <a:rPr lang="en-US" altLang="en-US" sz="2400" smtClean="0"/>
              <a:t> at </a:t>
            </a:r>
            <a:r>
              <a:rPr lang="en-US" altLang="en-US" sz="2400" i="1" smtClean="0"/>
              <a:t>t</a:t>
            </a:r>
            <a:r>
              <a:rPr lang="en-US" altLang="en-US" sz="2400" smtClean="0"/>
              <a:t> = 0 as the reference position.</a:t>
            </a:r>
          </a:p>
          <a:p>
            <a:pPr marL="0" indent="0" eaLnBrk="1" hangingPunct="1"/>
            <a:r>
              <a:rPr lang="en-US" altLang="en-US" sz="2400" smtClean="0"/>
              <a:t>Line </a:t>
            </a:r>
            <a:r>
              <a:rPr lang="en-US" altLang="en-US" sz="2400" i="1" smtClean="0"/>
              <a:t>OP</a:t>
            </a:r>
            <a:r>
              <a:rPr lang="en-US" altLang="en-US" sz="2400" smtClean="0"/>
              <a:t> makes an angle </a:t>
            </a:r>
            <a:r>
              <a:rPr lang="en-US" altLang="en-US" sz="2400" i="1" smtClean="0">
                <a:latin typeface="Symbol" pitchFamily="18" charset="2"/>
              </a:rPr>
              <a:t>f</a:t>
            </a:r>
            <a:r>
              <a:rPr lang="en-US" altLang="en-US" sz="2400" smtClean="0"/>
              <a:t> with the </a:t>
            </a:r>
            <a:r>
              <a:rPr lang="en-US" altLang="en-US" sz="2400" i="1" smtClean="0"/>
              <a:t>x </a:t>
            </a:r>
            <a:r>
              <a:rPr lang="en-US" altLang="en-US" sz="2400" smtClean="0"/>
              <a:t>axis at </a:t>
            </a:r>
            <a:r>
              <a:rPr lang="en-US" altLang="en-US" sz="2400" i="1" smtClean="0"/>
              <a:t>t</a:t>
            </a:r>
            <a:r>
              <a:rPr lang="en-US" altLang="en-US" sz="2400" smtClean="0"/>
              <a:t> = 0.</a:t>
            </a:r>
          </a:p>
          <a:p>
            <a:pPr marL="0" indent="0" eaLnBrk="1" hangingPunct="1"/>
            <a:endParaRPr lang="en-US" altLang="en-US" sz="2600" smtClean="0"/>
          </a:p>
        </p:txBody>
      </p:sp>
      <p:sp>
        <p:nvSpPr>
          <p:cNvPr id="47108"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15.4</a:t>
            </a:r>
          </a:p>
        </p:txBody>
      </p:sp>
      <p:pic>
        <p:nvPicPr>
          <p:cNvPr id="47109" name="Picture 6" descr="1514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5725" y="990600"/>
            <a:ext cx="3314700"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38125" y="0"/>
            <a:ext cx="10287000" cy="609600"/>
          </a:xfrm>
        </p:spPr>
        <p:txBody>
          <a:bodyPr/>
          <a:lstStyle/>
          <a:p>
            <a:pPr eaLnBrk="1" hangingPunct="1"/>
            <a:r>
              <a:rPr lang="en-US" altLang="en-US" sz="2800" smtClean="0"/>
              <a:t>SHM and Circular Motion, 3</a:t>
            </a:r>
            <a:endParaRPr lang="en-US" altLang="en-US" smtClean="0"/>
          </a:p>
        </p:txBody>
      </p:sp>
      <p:sp>
        <p:nvSpPr>
          <p:cNvPr id="45059" name="Rectangle 3"/>
          <p:cNvSpPr>
            <a:spLocks noGrp="1" noChangeArrowheads="1"/>
          </p:cNvSpPr>
          <p:nvPr>
            <p:ph sz="half" idx="1"/>
          </p:nvPr>
        </p:nvSpPr>
        <p:spPr>
          <a:xfrm>
            <a:off x="419100" y="990600"/>
            <a:ext cx="6819900" cy="5105400"/>
          </a:xfrm>
        </p:spPr>
        <p:txBody>
          <a:bodyPr/>
          <a:lstStyle/>
          <a:p>
            <a:pPr marL="0" indent="0" eaLnBrk="1" hangingPunct="1">
              <a:lnSpc>
                <a:spcPct val="90000"/>
              </a:lnSpc>
            </a:pPr>
            <a:r>
              <a:rPr lang="en-US" altLang="en-US" sz="2400" smtClean="0"/>
              <a:t>The particle moves along the circle with constant angular velocity </a:t>
            </a:r>
            <a:r>
              <a:rPr lang="en-US" altLang="en-US" sz="2400" i="1" smtClean="0">
                <a:latin typeface="Symbol" pitchFamily="18" charset="2"/>
              </a:rPr>
              <a:t>w</a:t>
            </a:r>
            <a:endParaRPr lang="en-US" altLang="en-US" sz="2400" i="1" smtClean="0"/>
          </a:p>
          <a:p>
            <a:pPr marL="0" indent="0" eaLnBrk="1" hangingPunct="1">
              <a:lnSpc>
                <a:spcPct val="90000"/>
              </a:lnSpc>
            </a:pPr>
            <a:r>
              <a:rPr lang="en-US" altLang="en-US" sz="2400" i="1" smtClean="0"/>
              <a:t>OP</a:t>
            </a:r>
            <a:r>
              <a:rPr lang="en-US" altLang="en-US" sz="2400" smtClean="0"/>
              <a:t> makes an angle </a:t>
            </a:r>
            <a:r>
              <a:rPr lang="en-US" altLang="en-US" sz="2400" i="1" smtClean="0">
                <a:latin typeface="Symbol" pitchFamily="18" charset="2"/>
              </a:rPr>
              <a:t>q</a:t>
            </a:r>
            <a:r>
              <a:rPr lang="en-US" altLang="en-US" sz="2400" smtClean="0"/>
              <a:t>  with the </a:t>
            </a:r>
            <a:r>
              <a:rPr lang="en-US" altLang="en-US" sz="2400" i="1" smtClean="0"/>
              <a:t>x </a:t>
            </a:r>
            <a:r>
              <a:rPr lang="en-US" altLang="en-US" sz="2400" smtClean="0"/>
              <a:t>axis.</a:t>
            </a:r>
          </a:p>
          <a:p>
            <a:pPr marL="0" indent="0" eaLnBrk="1" hangingPunct="1">
              <a:lnSpc>
                <a:spcPct val="90000"/>
              </a:lnSpc>
            </a:pPr>
            <a:r>
              <a:rPr lang="en-US" altLang="en-US" sz="2400" smtClean="0"/>
              <a:t>At some time, the angle between </a:t>
            </a:r>
            <a:r>
              <a:rPr lang="en-US" altLang="en-US" sz="2400" i="1" smtClean="0"/>
              <a:t>OP</a:t>
            </a:r>
            <a:r>
              <a:rPr lang="en-US" altLang="en-US" sz="2400" smtClean="0"/>
              <a:t> and the </a:t>
            </a:r>
            <a:r>
              <a:rPr lang="en-US" altLang="en-US" sz="2400" i="1" smtClean="0"/>
              <a:t>x </a:t>
            </a:r>
            <a:r>
              <a:rPr lang="en-US" altLang="en-US" sz="2400" smtClean="0"/>
              <a:t>axis will be </a:t>
            </a:r>
            <a:r>
              <a:rPr lang="en-US" altLang="en-US" sz="2400" i="1" smtClean="0">
                <a:latin typeface="Symbol" pitchFamily="18" charset="2"/>
              </a:rPr>
              <a:t>q</a:t>
            </a:r>
            <a:r>
              <a:rPr lang="en-US" altLang="en-US" sz="2400" smtClean="0">
                <a:latin typeface="Symbol" pitchFamily="18" charset="2"/>
              </a:rPr>
              <a:t> = </a:t>
            </a:r>
            <a:r>
              <a:rPr lang="en-US" altLang="en-US" sz="2400" i="1" smtClean="0">
                <a:latin typeface="Symbol" pitchFamily="18" charset="2"/>
              </a:rPr>
              <a:t>w</a:t>
            </a:r>
            <a:r>
              <a:rPr lang="en-US" altLang="en-US" sz="2400" i="1" smtClean="0"/>
              <a:t>t</a:t>
            </a:r>
            <a:r>
              <a:rPr lang="en-US" altLang="en-US" sz="2400" smtClean="0"/>
              <a:t> + </a:t>
            </a:r>
            <a:r>
              <a:rPr lang="en-US" altLang="en-US" sz="2400" i="1" smtClean="0">
                <a:latin typeface="Symbol" pitchFamily="18" charset="2"/>
              </a:rPr>
              <a:t>f</a:t>
            </a:r>
          </a:p>
          <a:p>
            <a:pPr marL="0" indent="0" eaLnBrk="1" hangingPunct="1"/>
            <a:r>
              <a:rPr lang="en-US" altLang="en-US" sz="2400" smtClean="0"/>
              <a:t>The points </a:t>
            </a:r>
            <a:r>
              <a:rPr lang="en-US" altLang="en-US" sz="2400" i="1" smtClean="0"/>
              <a:t>P</a:t>
            </a:r>
            <a:r>
              <a:rPr lang="en-US" altLang="en-US" sz="2400" smtClean="0"/>
              <a:t> and </a:t>
            </a:r>
            <a:r>
              <a:rPr lang="en-US" altLang="en-US" sz="2400" i="1" smtClean="0"/>
              <a:t>Q</a:t>
            </a:r>
            <a:r>
              <a:rPr lang="en-US" altLang="en-US" sz="2400" smtClean="0"/>
              <a:t> always have the same </a:t>
            </a:r>
            <a:r>
              <a:rPr lang="en-US" altLang="en-US" sz="2400" i="1" smtClean="0"/>
              <a:t>x</a:t>
            </a:r>
            <a:r>
              <a:rPr lang="en-US" altLang="en-US" sz="2400" smtClean="0"/>
              <a:t> coordinate.</a:t>
            </a:r>
          </a:p>
          <a:p>
            <a:pPr marL="0" indent="0" eaLnBrk="1" hangingPunct="1"/>
            <a:r>
              <a:rPr lang="en-US" altLang="en-US" sz="2400" i="1" smtClean="0"/>
              <a:t>x </a:t>
            </a:r>
            <a:r>
              <a:rPr lang="en-US" altLang="en-US" sz="2400" smtClean="0"/>
              <a:t>(</a:t>
            </a:r>
            <a:r>
              <a:rPr lang="en-US" altLang="en-US" sz="2400" i="1" smtClean="0"/>
              <a:t>t</a:t>
            </a:r>
            <a:r>
              <a:rPr lang="en-US" altLang="en-US" sz="2400" smtClean="0"/>
              <a:t>) = </a:t>
            </a:r>
            <a:r>
              <a:rPr lang="en-US" altLang="en-US" sz="2400" i="1" smtClean="0"/>
              <a:t>A</a:t>
            </a:r>
            <a:r>
              <a:rPr lang="en-US" altLang="en-US" sz="2400" smtClean="0"/>
              <a:t> cos (</a:t>
            </a:r>
            <a:r>
              <a:rPr lang="en-US" altLang="en-US" sz="2400" i="1" smtClean="0">
                <a:latin typeface="Symbol" pitchFamily="18" charset="2"/>
              </a:rPr>
              <a:t>w</a:t>
            </a:r>
            <a:r>
              <a:rPr lang="en-US" altLang="en-US" sz="2400" i="1" smtClean="0"/>
              <a:t>t</a:t>
            </a:r>
            <a:r>
              <a:rPr lang="en-US" altLang="en-US" sz="2400" smtClean="0"/>
              <a:t> + </a:t>
            </a:r>
            <a:r>
              <a:rPr lang="en-US" altLang="en-US" sz="2400" i="1" smtClean="0">
                <a:latin typeface="Symbol" pitchFamily="18" charset="2"/>
              </a:rPr>
              <a:t>f</a:t>
            </a:r>
            <a:r>
              <a:rPr lang="en-US" altLang="en-US" sz="2400" smtClean="0"/>
              <a:t>)</a:t>
            </a:r>
          </a:p>
          <a:p>
            <a:pPr marL="0" indent="0" eaLnBrk="1" hangingPunct="1"/>
            <a:r>
              <a:rPr lang="en-US" altLang="en-US" sz="2400" smtClean="0"/>
              <a:t>This shows that point </a:t>
            </a:r>
            <a:r>
              <a:rPr lang="en-US" altLang="en-US" sz="2400" i="1" smtClean="0"/>
              <a:t>Q</a:t>
            </a:r>
            <a:r>
              <a:rPr lang="en-US" altLang="en-US" sz="2400" smtClean="0"/>
              <a:t> moves with simple harmonic motion along the </a:t>
            </a:r>
            <a:r>
              <a:rPr lang="en-US" altLang="en-US" sz="2400" i="1" smtClean="0"/>
              <a:t>x </a:t>
            </a:r>
            <a:r>
              <a:rPr lang="en-US" altLang="en-US" sz="2400" smtClean="0"/>
              <a:t>axis.</a:t>
            </a:r>
          </a:p>
          <a:p>
            <a:pPr marL="0" indent="0" eaLnBrk="1" hangingPunct="1">
              <a:lnSpc>
                <a:spcPct val="90000"/>
              </a:lnSpc>
            </a:pPr>
            <a:endParaRPr lang="en-US" altLang="en-US" sz="1800" smtClean="0">
              <a:latin typeface="Symbol" pitchFamily="18" charset="2"/>
            </a:endParaRPr>
          </a:p>
          <a:p>
            <a:pPr marL="0" indent="0" eaLnBrk="1" hangingPunct="1">
              <a:lnSpc>
                <a:spcPct val="90000"/>
              </a:lnSpc>
            </a:pPr>
            <a:endParaRPr lang="en-US" altLang="en-US" sz="1800" i="1" smtClean="0"/>
          </a:p>
        </p:txBody>
      </p:sp>
      <p:sp>
        <p:nvSpPr>
          <p:cNvPr id="4813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15.4</a:t>
            </a:r>
          </a:p>
        </p:txBody>
      </p:sp>
      <p:pic>
        <p:nvPicPr>
          <p:cNvPr id="48133" name="Picture 6" descr="1514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7138" y="1219200"/>
            <a:ext cx="339566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571500" y="76200"/>
            <a:ext cx="10287000" cy="609600"/>
          </a:xfrm>
        </p:spPr>
        <p:txBody>
          <a:bodyPr/>
          <a:lstStyle/>
          <a:p>
            <a:pPr eaLnBrk="1" hangingPunct="1"/>
            <a:r>
              <a:rPr lang="en-US" altLang="en-US" sz="2800" smtClean="0"/>
              <a:t>SHM and Circular Motion, 4</a:t>
            </a:r>
          </a:p>
        </p:txBody>
      </p:sp>
      <p:sp>
        <p:nvSpPr>
          <p:cNvPr id="46083" name="Rectangle 3"/>
          <p:cNvSpPr>
            <a:spLocks noGrp="1" noChangeArrowheads="1"/>
          </p:cNvSpPr>
          <p:nvPr>
            <p:ph sz="half" idx="1"/>
          </p:nvPr>
        </p:nvSpPr>
        <p:spPr>
          <a:xfrm>
            <a:off x="533400" y="990600"/>
            <a:ext cx="5943600" cy="5334000"/>
          </a:xfrm>
        </p:spPr>
        <p:txBody>
          <a:bodyPr/>
          <a:lstStyle/>
          <a:p>
            <a:pPr marL="0" indent="0" eaLnBrk="1" hangingPunct="1"/>
            <a:r>
              <a:rPr lang="en-US" altLang="en-US" sz="2400" smtClean="0"/>
              <a:t>The angular speed of P is the same as the angular frequency of simple harmonic motion along the x axis.</a:t>
            </a:r>
          </a:p>
          <a:p>
            <a:pPr marL="0" indent="0" eaLnBrk="1" hangingPunct="1"/>
            <a:r>
              <a:rPr lang="en-US" altLang="en-US" sz="2400" smtClean="0"/>
              <a:t>Point Q has the same velocity as the x component of point P.</a:t>
            </a:r>
          </a:p>
          <a:p>
            <a:pPr marL="0" indent="0" eaLnBrk="1" hangingPunct="1"/>
            <a:r>
              <a:rPr lang="en-US" altLang="en-US" sz="2400" smtClean="0"/>
              <a:t>The x-component of the velocity is </a:t>
            </a:r>
          </a:p>
          <a:p>
            <a:pPr marL="0" indent="0" eaLnBrk="1" hangingPunct="1"/>
            <a:r>
              <a:rPr lang="en-US" altLang="en-US" sz="2400" i="1" smtClean="0"/>
              <a:t>     v</a:t>
            </a:r>
            <a:r>
              <a:rPr lang="en-US" altLang="en-US" sz="2400" smtClean="0"/>
              <a:t> = -</a:t>
            </a:r>
            <a:r>
              <a:rPr lang="en-US" altLang="en-US" sz="2400" i="1" smtClean="0">
                <a:latin typeface="Symbol" pitchFamily="18" charset="2"/>
              </a:rPr>
              <a:t>w </a:t>
            </a:r>
            <a:r>
              <a:rPr lang="en-US" altLang="en-US" sz="2400" i="1" smtClean="0"/>
              <a:t>A</a:t>
            </a:r>
            <a:r>
              <a:rPr lang="en-US" altLang="en-US" sz="2400" smtClean="0"/>
              <a:t> sin (</a:t>
            </a:r>
            <a:r>
              <a:rPr lang="en-US" altLang="en-US" sz="2400" i="1" smtClean="0">
                <a:latin typeface="Symbol" pitchFamily="18" charset="2"/>
              </a:rPr>
              <a:t>w </a:t>
            </a:r>
            <a:r>
              <a:rPr lang="en-US" altLang="en-US" sz="2400" i="1" smtClean="0"/>
              <a:t>t</a:t>
            </a:r>
            <a:r>
              <a:rPr lang="en-US" altLang="en-US" sz="2400" smtClean="0"/>
              <a:t> + </a:t>
            </a:r>
            <a:r>
              <a:rPr lang="en-US" altLang="en-US" sz="2400" i="1" smtClean="0">
                <a:latin typeface="Symbol" pitchFamily="18" charset="2"/>
              </a:rPr>
              <a:t>f</a:t>
            </a:r>
            <a:r>
              <a:rPr lang="en-US" altLang="en-US" sz="2400" smtClean="0"/>
              <a:t>)</a:t>
            </a:r>
          </a:p>
          <a:p>
            <a:pPr marL="0" indent="0" eaLnBrk="1" hangingPunct="1"/>
            <a:endParaRPr lang="en-US" altLang="en-US" sz="2600" smtClean="0"/>
          </a:p>
        </p:txBody>
      </p:sp>
      <p:sp>
        <p:nvSpPr>
          <p:cNvPr id="4915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15.4</a:t>
            </a:r>
          </a:p>
        </p:txBody>
      </p:sp>
      <p:pic>
        <p:nvPicPr>
          <p:cNvPr id="49157" name="Picture 6" descr="1514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6763" y="838200"/>
            <a:ext cx="347503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571500" y="76200"/>
            <a:ext cx="10287000" cy="609600"/>
          </a:xfrm>
        </p:spPr>
        <p:txBody>
          <a:bodyPr/>
          <a:lstStyle/>
          <a:p>
            <a:pPr eaLnBrk="1" hangingPunct="1"/>
            <a:r>
              <a:rPr lang="en-US" altLang="en-US" sz="3200" smtClean="0"/>
              <a:t>SHM and Circular Motion, 5</a:t>
            </a:r>
            <a:endParaRPr lang="en-US" altLang="en-US" sz="2800" smtClean="0"/>
          </a:p>
        </p:txBody>
      </p:sp>
      <p:sp>
        <p:nvSpPr>
          <p:cNvPr id="50179" name="Rectangle 3"/>
          <p:cNvSpPr>
            <a:spLocks noGrp="1" noChangeArrowheads="1"/>
          </p:cNvSpPr>
          <p:nvPr>
            <p:ph sz="half" idx="1"/>
          </p:nvPr>
        </p:nvSpPr>
        <p:spPr>
          <a:xfrm>
            <a:off x="304800" y="914400"/>
            <a:ext cx="6934200" cy="5181600"/>
          </a:xfrm>
        </p:spPr>
        <p:txBody>
          <a:bodyPr/>
          <a:lstStyle/>
          <a:p>
            <a:pPr marL="0" indent="0" eaLnBrk="1" hangingPunct="1">
              <a:lnSpc>
                <a:spcPct val="90000"/>
              </a:lnSpc>
            </a:pPr>
            <a:r>
              <a:rPr lang="en-US" altLang="en-US" sz="2400" smtClean="0"/>
              <a:t>The acceleration of point </a:t>
            </a:r>
            <a:r>
              <a:rPr lang="en-US" altLang="en-US" sz="2400" i="1" smtClean="0"/>
              <a:t>P</a:t>
            </a:r>
            <a:r>
              <a:rPr lang="en-US" altLang="en-US" sz="2400" smtClean="0"/>
              <a:t> on the reference circle is directed radially inward.</a:t>
            </a:r>
          </a:p>
          <a:p>
            <a:pPr marL="0" indent="0" eaLnBrk="1" hangingPunct="1">
              <a:lnSpc>
                <a:spcPct val="90000"/>
              </a:lnSpc>
            </a:pPr>
            <a:r>
              <a:rPr lang="en-US" altLang="en-US" sz="2400" i="1" smtClean="0"/>
              <a:t>P </a:t>
            </a:r>
            <a:r>
              <a:rPr lang="en-US" altLang="en-US" sz="2400" smtClean="0"/>
              <a:t>’s acceleration is </a:t>
            </a:r>
            <a:r>
              <a:rPr lang="en-US" altLang="en-US" sz="2400" i="1" smtClean="0"/>
              <a:t>a </a:t>
            </a:r>
            <a:r>
              <a:rPr lang="en-US" altLang="en-US" sz="2400" smtClean="0"/>
              <a:t>= </a:t>
            </a:r>
            <a:r>
              <a:rPr lang="en-US" altLang="en-US" sz="2400" i="1" smtClean="0">
                <a:latin typeface="Symbol" pitchFamily="18" charset="2"/>
              </a:rPr>
              <a:t>w</a:t>
            </a:r>
            <a:r>
              <a:rPr lang="en-US" altLang="en-US" sz="2400" baseline="30000" smtClean="0"/>
              <a:t>2</a:t>
            </a:r>
            <a:r>
              <a:rPr lang="en-US" altLang="en-US" sz="2400" i="1" smtClean="0"/>
              <a:t>A</a:t>
            </a:r>
          </a:p>
          <a:p>
            <a:pPr marL="0" indent="0" eaLnBrk="1" hangingPunct="1">
              <a:lnSpc>
                <a:spcPct val="90000"/>
              </a:lnSpc>
            </a:pPr>
            <a:r>
              <a:rPr lang="en-US" altLang="en-US" sz="2400" smtClean="0"/>
              <a:t>The </a:t>
            </a:r>
            <a:r>
              <a:rPr lang="en-US" altLang="en-US" sz="2400" i="1" smtClean="0"/>
              <a:t>x </a:t>
            </a:r>
            <a:r>
              <a:rPr lang="en-US" altLang="en-US" sz="2400" smtClean="0"/>
              <a:t>component is </a:t>
            </a:r>
          </a:p>
          <a:p>
            <a:pPr marL="0" indent="0" eaLnBrk="1" hangingPunct="1">
              <a:lnSpc>
                <a:spcPct val="90000"/>
              </a:lnSpc>
              <a:buFont typeface="Wingdings" pitchFamily="2" charset="2"/>
              <a:buNone/>
            </a:pPr>
            <a:r>
              <a:rPr lang="en-US" altLang="en-US" sz="2400" smtClean="0"/>
              <a:t>   –</a:t>
            </a:r>
            <a:r>
              <a:rPr lang="en-US" altLang="en-US" sz="2400" i="1" smtClean="0">
                <a:latin typeface="Symbol" pitchFamily="18" charset="2"/>
              </a:rPr>
              <a:t>w</a:t>
            </a:r>
            <a:r>
              <a:rPr lang="en-US" altLang="en-US" sz="2400" baseline="30000" smtClean="0"/>
              <a:t>2</a:t>
            </a:r>
            <a:r>
              <a:rPr lang="en-US" altLang="en-US" sz="2400" smtClean="0"/>
              <a:t> </a:t>
            </a:r>
            <a:r>
              <a:rPr lang="en-US" altLang="en-US" sz="2400" i="1" smtClean="0"/>
              <a:t>A</a:t>
            </a:r>
            <a:r>
              <a:rPr lang="en-US" altLang="en-US" sz="2400" smtClean="0"/>
              <a:t> cos (</a:t>
            </a:r>
            <a:r>
              <a:rPr lang="en-US" altLang="en-US" sz="2400" i="1" smtClean="0">
                <a:latin typeface="Symbol" pitchFamily="18" charset="2"/>
              </a:rPr>
              <a:t>w</a:t>
            </a:r>
            <a:r>
              <a:rPr lang="en-US" altLang="en-US" sz="2400" i="1" smtClean="0"/>
              <a:t>t</a:t>
            </a:r>
            <a:r>
              <a:rPr lang="en-US" altLang="en-US" sz="2400" smtClean="0"/>
              <a:t> + </a:t>
            </a:r>
            <a:r>
              <a:rPr lang="en-US" altLang="en-US" sz="2400" i="1" smtClean="0">
                <a:latin typeface="Symbol" pitchFamily="18" charset="2"/>
              </a:rPr>
              <a:t>f</a:t>
            </a:r>
            <a:r>
              <a:rPr lang="en-US" altLang="en-US" sz="2400" smtClean="0"/>
              <a:t>)</a:t>
            </a:r>
          </a:p>
          <a:p>
            <a:pPr marL="0" indent="0" eaLnBrk="1" hangingPunct="1">
              <a:lnSpc>
                <a:spcPct val="90000"/>
              </a:lnSpc>
            </a:pPr>
            <a:r>
              <a:rPr lang="en-US" altLang="en-US" sz="2400" smtClean="0"/>
              <a:t>This is also the acceleration of point </a:t>
            </a:r>
            <a:r>
              <a:rPr lang="en-US" altLang="en-US" sz="2400" i="1" smtClean="0"/>
              <a:t>Q</a:t>
            </a:r>
            <a:r>
              <a:rPr lang="en-US" altLang="en-US" sz="2400" smtClean="0"/>
              <a:t> along the </a:t>
            </a:r>
            <a:r>
              <a:rPr lang="en-US" altLang="en-US" sz="2400" i="1" smtClean="0"/>
              <a:t>x </a:t>
            </a:r>
            <a:r>
              <a:rPr lang="en-US" altLang="en-US" sz="2400" smtClean="0"/>
              <a:t>axis.</a:t>
            </a:r>
          </a:p>
        </p:txBody>
      </p:sp>
      <p:sp>
        <p:nvSpPr>
          <p:cNvPr id="5018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15.4</a:t>
            </a:r>
          </a:p>
        </p:txBody>
      </p:sp>
      <p:pic>
        <p:nvPicPr>
          <p:cNvPr id="50181" name="Picture 6" descr="1514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8550" y="1143000"/>
            <a:ext cx="33718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71500" y="0"/>
            <a:ext cx="10287000" cy="609600"/>
          </a:xfrm>
        </p:spPr>
        <p:txBody>
          <a:bodyPr/>
          <a:lstStyle/>
          <a:p>
            <a:pPr eaLnBrk="1" hangingPunct="1"/>
            <a:r>
              <a:rPr lang="en-US" altLang="en-US" sz="2800" smtClean="0"/>
              <a:t>Problem: 15.4</a:t>
            </a:r>
          </a:p>
        </p:txBody>
      </p:sp>
      <p:sp>
        <p:nvSpPr>
          <p:cNvPr id="41987" name="Rectangle 3"/>
          <p:cNvSpPr>
            <a:spLocks noGrp="1" noChangeArrowheads="1"/>
          </p:cNvSpPr>
          <p:nvPr>
            <p:ph idx="1"/>
          </p:nvPr>
        </p:nvSpPr>
        <p:spPr>
          <a:xfrm>
            <a:off x="228600" y="1066800"/>
            <a:ext cx="11201400" cy="4648200"/>
          </a:xfrm>
        </p:spPr>
        <p:txBody>
          <a:bodyPr/>
          <a:lstStyle/>
          <a:p>
            <a:pPr marL="0" indent="0" eaLnBrk="1" hangingPunct="1"/>
            <a:r>
              <a:rPr lang="en-US" altLang="en-US" sz="2400" smtClean="0">
                <a:latin typeface="Times New Roman" pitchFamily="18" charset="0"/>
                <a:cs typeface="Times New Roman" pitchFamily="18" charset="0"/>
              </a:rPr>
              <a:t>A particle rotates counterclockwise in a circle of </a:t>
            </a:r>
            <a:r>
              <a:rPr lang="en-US" altLang="en-US" sz="2400" b="1" smtClean="0">
                <a:latin typeface="Times New Roman" pitchFamily="18" charset="0"/>
                <a:cs typeface="Times New Roman" pitchFamily="18" charset="0"/>
              </a:rPr>
              <a:t>radius 3.00 m</a:t>
            </a:r>
            <a:r>
              <a:rPr lang="en-US" altLang="en-US" sz="2400" smtClean="0">
                <a:latin typeface="Times New Roman" pitchFamily="18" charset="0"/>
                <a:cs typeface="Times New Roman" pitchFamily="18" charset="0"/>
              </a:rPr>
              <a:t> with a constant angular speed of </a:t>
            </a:r>
            <a:r>
              <a:rPr lang="en-US" altLang="en-US" sz="2400" b="1" smtClean="0">
                <a:latin typeface="Times New Roman" pitchFamily="18" charset="0"/>
                <a:cs typeface="Times New Roman" pitchFamily="18" charset="0"/>
              </a:rPr>
              <a:t>8.00 rad/s</a:t>
            </a:r>
            <a:r>
              <a:rPr lang="en-US" altLang="en-US" sz="2400" smtClean="0">
                <a:latin typeface="Times New Roman" pitchFamily="18" charset="0"/>
                <a:cs typeface="Times New Roman" pitchFamily="18" charset="0"/>
              </a:rPr>
              <a:t>. At </a:t>
            </a:r>
            <a:r>
              <a:rPr lang="en-US" altLang="en-US" sz="2400" b="1" i="1" smtClean="0">
                <a:latin typeface="Times New Roman" pitchFamily="18" charset="0"/>
                <a:cs typeface="Times New Roman" pitchFamily="18" charset="0"/>
              </a:rPr>
              <a:t>t </a:t>
            </a:r>
            <a:r>
              <a:rPr lang="en-US" altLang="en-US" sz="2400" b="1" smtClean="0">
                <a:latin typeface="Times New Roman" pitchFamily="18" charset="0"/>
                <a:cs typeface="Times New Roman" pitchFamily="18" charset="0"/>
              </a:rPr>
              <a:t>= 0</a:t>
            </a:r>
            <a:r>
              <a:rPr lang="en-US" altLang="en-US" sz="2400" smtClean="0">
                <a:latin typeface="Times New Roman" pitchFamily="18" charset="0"/>
                <a:cs typeface="Times New Roman" pitchFamily="18" charset="0"/>
              </a:rPr>
              <a:t>, the particle has an </a:t>
            </a:r>
            <a:r>
              <a:rPr lang="en-US" altLang="en-US" sz="2400" i="1" smtClean="0">
                <a:latin typeface="Times New Roman" pitchFamily="18" charset="0"/>
                <a:cs typeface="Times New Roman" pitchFamily="18" charset="0"/>
              </a:rPr>
              <a:t>x </a:t>
            </a:r>
            <a:r>
              <a:rPr lang="en-US" altLang="en-US" sz="2400" smtClean="0">
                <a:latin typeface="Times New Roman" pitchFamily="18" charset="0"/>
                <a:cs typeface="Times New Roman" pitchFamily="18" charset="0"/>
              </a:rPr>
              <a:t>coordinate of </a:t>
            </a:r>
            <a:r>
              <a:rPr lang="en-US" altLang="en-US" sz="2400" b="1" smtClean="0">
                <a:latin typeface="Times New Roman" pitchFamily="18" charset="0"/>
                <a:cs typeface="Times New Roman" pitchFamily="18" charset="0"/>
              </a:rPr>
              <a:t>2.00 m</a:t>
            </a:r>
            <a:r>
              <a:rPr lang="en-US" altLang="en-US" sz="2400" smtClean="0">
                <a:latin typeface="Times New Roman" pitchFamily="18" charset="0"/>
                <a:cs typeface="Times New Roman" pitchFamily="18" charset="0"/>
              </a:rPr>
              <a:t> and is moving to the right.</a:t>
            </a:r>
            <a:r>
              <a:rPr lang="en-US" altLang="en-US" sz="2400" smtClean="0"/>
              <a:t> </a:t>
            </a:r>
            <a:br>
              <a:rPr lang="en-US" altLang="en-US" sz="2400" smtClean="0"/>
            </a:br>
            <a:endParaRPr lang="en-US" altLang="en-US" sz="2400" smtClean="0"/>
          </a:p>
          <a:p>
            <a:pPr marL="0" indent="0" eaLnBrk="1" hangingPunct="1"/>
            <a:r>
              <a:rPr lang="en-US" altLang="en-US" sz="2400" b="1" smtClean="0"/>
              <a:t>(A) </a:t>
            </a:r>
            <a:r>
              <a:rPr lang="en-US" altLang="en-US" sz="2400" smtClean="0"/>
              <a:t>Determine the </a:t>
            </a:r>
            <a:r>
              <a:rPr lang="en-US" altLang="en-US" sz="2400" i="1" smtClean="0"/>
              <a:t>x </a:t>
            </a:r>
            <a:r>
              <a:rPr lang="en-US" altLang="en-US" sz="2400" smtClean="0"/>
              <a:t>coordinate as a function of time. </a:t>
            </a:r>
            <a:endParaRPr lang="en-US" altLang="en-US" sz="2000" smtClean="0"/>
          </a:p>
          <a:p>
            <a:pPr marL="0" indent="0" eaLnBrk="1" hangingPunct="1"/>
            <a:r>
              <a:rPr lang="en-US" altLang="en-US" smtClean="0"/>
              <a:t/>
            </a:r>
            <a:br>
              <a:rPr lang="en-US" altLang="en-US" smtClean="0"/>
            </a:br>
            <a:endParaRPr lang="en-US" altLang="en-US" b="1" smtClean="0"/>
          </a:p>
        </p:txBody>
      </p:sp>
      <p:sp>
        <p:nvSpPr>
          <p:cNvPr id="5120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pic>
        <p:nvPicPr>
          <p:cNvPr id="481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819400"/>
            <a:ext cx="8458200" cy="147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813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575" y="4343400"/>
            <a:ext cx="7721600" cy="226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1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571500" y="76200"/>
            <a:ext cx="10287000" cy="609600"/>
          </a:xfrm>
        </p:spPr>
        <p:txBody>
          <a:bodyPr/>
          <a:lstStyle/>
          <a:p>
            <a:pPr eaLnBrk="1" hangingPunct="1"/>
            <a:r>
              <a:rPr lang="en-US" altLang="en-US" sz="2800" smtClean="0"/>
              <a:t>Problem: 15.4</a:t>
            </a:r>
            <a:endParaRPr lang="en-US" altLang="en-US" smtClean="0"/>
          </a:p>
        </p:txBody>
      </p:sp>
      <p:sp>
        <p:nvSpPr>
          <p:cNvPr id="41987" name="Rectangle 3"/>
          <p:cNvSpPr>
            <a:spLocks noGrp="1" noChangeArrowheads="1"/>
          </p:cNvSpPr>
          <p:nvPr>
            <p:ph idx="1"/>
          </p:nvPr>
        </p:nvSpPr>
        <p:spPr>
          <a:xfrm>
            <a:off x="419100" y="990600"/>
            <a:ext cx="10553700" cy="4419600"/>
          </a:xfrm>
        </p:spPr>
        <p:txBody>
          <a:bodyPr/>
          <a:lstStyle/>
          <a:p>
            <a:pPr marL="0" indent="0" eaLnBrk="1" hangingPunct="1"/>
            <a:r>
              <a:rPr lang="en-US" altLang="en-US" sz="2400" smtClean="0"/>
              <a:t>A particle rotates counterclockwise in a circle of radius 3.00 m with a constant angular speed of 8.00 rad/s. At </a:t>
            </a:r>
            <a:r>
              <a:rPr lang="en-US" altLang="en-US" sz="2400" i="1" smtClean="0"/>
              <a:t>t </a:t>
            </a:r>
            <a:r>
              <a:rPr lang="en-US" altLang="en-US" sz="2400" smtClean="0"/>
              <a:t>= 0, the particle has an </a:t>
            </a:r>
            <a:r>
              <a:rPr lang="en-US" altLang="en-US" sz="2400" i="1" smtClean="0"/>
              <a:t>x </a:t>
            </a:r>
            <a:r>
              <a:rPr lang="en-US" altLang="en-US" sz="2400" smtClean="0"/>
              <a:t>coordinate of 2.00 m and is moving to the right. </a:t>
            </a:r>
            <a:br>
              <a:rPr lang="en-US" altLang="en-US" sz="2400" smtClean="0"/>
            </a:br>
            <a:endParaRPr lang="en-US" altLang="en-US" sz="2400" smtClean="0"/>
          </a:p>
          <a:p>
            <a:pPr marL="0" indent="0" eaLnBrk="1" hangingPunct="1"/>
            <a:r>
              <a:rPr lang="en-US" altLang="en-US" sz="2400" b="1" smtClean="0"/>
              <a:t>(A) </a:t>
            </a:r>
            <a:r>
              <a:rPr lang="en-US" altLang="en-US" sz="2400" smtClean="0"/>
              <a:t>Determine the </a:t>
            </a:r>
            <a:r>
              <a:rPr lang="en-US" altLang="en-US" sz="2400" i="1" smtClean="0"/>
              <a:t>x </a:t>
            </a:r>
            <a:r>
              <a:rPr lang="en-US" altLang="en-US" sz="2400" smtClean="0"/>
              <a:t>coordinate as a function of time.</a:t>
            </a:r>
            <a:r>
              <a:rPr lang="en-US" altLang="en-US" sz="2000" smtClean="0"/>
              <a:t> </a:t>
            </a:r>
            <a:endParaRPr lang="en-US" altLang="en-US" smtClean="0"/>
          </a:p>
          <a:p>
            <a:pPr marL="0" indent="0" eaLnBrk="1" hangingPunct="1"/>
            <a:r>
              <a:rPr lang="en-US" altLang="en-US" smtClean="0"/>
              <a:t/>
            </a:r>
            <a:br>
              <a:rPr lang="en-US" altLang="en-US" smtClean="0"/>
            </a:br>
            <a:endParaRPr lang="en-US" altLang="en-US" b="1" smtClean="0"/>
          </a:p>
        </p:txBody>
      </p:sp>
      <p:graphicFrame>
        <p:nvGraphicFramePr>
          <p:cNvPr id="52228" name="Object 1"/>
          <p:cNvGraphicFramePr>
            <a:graphicFrameLocks noChangeAspect="1"/>
          </p:cNvGraphicFramePr>
          <p:nvPr/>
        </p:nvGraphicFramePr>
        <p:xfrm>
          <a:off x="5172075" y="5562600"/>
          <a:ext cx="3590925" cy="609600"/>
        </p:xfrm>
        <a:graphic>
          <a:graphicData uri="http://schemas.openxmlformats.org/presentationml/2006/ole">
            <mc:AlternateContent xmlns:mc="http://schemas.openxmlformats.org/markup-compatibility/2006">
              <mc:Choice xmlns:v="urn:schemas-microsoft-com:vml" Requires="v">
                <p:oleObj spid="_x0000_s52245" name="Equation" r:id="rId3" imgW="1346200" imgH="228600" progId="Equation.3">
                  <p:embed/>
                </p:oleObj>
              </mc:Choice>
              <mc:Fallback>
                <p:oleObj name="Equation" r:id="rId3" imgW="1346200" imgH="22860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2075" y="5562600"/>
                        <a:ext cx="35909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222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819400"/>
            <a:ext cx="8915400" cy="2427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223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486400"/>
            <a:ext cx="4357688"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222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23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2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71500" y="76200"/>
            <a:ext cx="10287000" cy="609600"/>
          </a:xfrm>
        </p:spPr>
        <p:txBody>
          <a:bodyPr/>
          <a:lstStyle/>
          <a:p>
            <a:pPr eaLnBrk="1" hangingPunct="1"/>
            <a:r>
              <a:rPr lang="en-US" altLang="en-US" sz="2800" smtClean="0"/>
              <a:t>Problem: 15.4</a:t>
            </a:r>
            <a:endParaRPr lang="en-US" altLang="en-US" smtClean="0"/>
          </a:p>
        </p:txBody>
      </p:sp>
      <p:sp>
        <p:nvSpPr>
          <p:cNvPr id="41987" name="Rectangle 3"/>
          <p:cNvSpPr>
            <a:spLocks noGrp="1" noChangeArrowheads="1"/>
          </p:cNvSpPr>
          <p:nvPr>
            <p:ph idx="1"/>
          </p:nvPr>
        </p:nvSpPr>
        <p:spPr>
          <a:xfrm>
            <a:off x="571500" y="990600"/>
            <a:ext cx="10553700" cy="4419600"/>
          </a:xfrm>
        </p:spPr>
        <p:txBody>
          <a:bodyPr/>
          <a:lstStyle/>
          <a:p>
            <a:pPr marL="0" indent="0" eaLnBrk="1" hangingPunct="1"/>
            <a:r>
              <a:rPr lang="en-US" altLang="en-US" sz="2400" smtClean="0"/>
              <a:t>A particle rotates counterclockwise in a circle of radius 3.00 m with a constant angular speed of 8.00 rad/s. At </a:t>
            </a:r>
            <a:r>
              <a:rPr lang="en-US" altLang="en-US" sz="2400" i="1" smtClean="0"/>
              <a:t>t </a:t>
            </a:r>
            <a:r>
              <a:rPr lang="en-US" altLang="en-US" sz="2400" smtClean="0"/>
              <a:t>= 0, the particle has an </a:t>
            </a:r>
            <a:r>
              <a:rPr lang="en-US" altLang="en-US" sz="2400" i="1" smtClean="0"/>
              <a:t>x </a:t>
            </a:r>
            <a:r>
              <a:rPr lang="en-US" altLang="en-US" sz="2400" smtClean="0"/>
              <a:t>coordinate of 2.00 m and is moving to the right. </a:t>
            </a:r>
            <a:br>
              <a:rPr lang="en-US" altLang="en-US" sz="2400" smtClean="0"/>
            </a:br>
            <a:endParaRPr lang="en-US" altLang="en-US" sz="2000" smtClean="0"/>
          </a:p>
          <a:p>
            <a:pPr marL="0" indent="0" eaLnBrk="1" hangingPunct="1"/>
            <a:r>
              <a:rPr lang="en-US" altLang="en-US" sz="2400" b="1" smtClean="0"/>
              <a:t>(B) </a:t>
            </a:r>
            <a:r>
              <a:rPr lang="en-US" altLang="en-US" sz="2400" smtClean="0"/>
              <a:t>Find the </a:t>
            </a:r>
            <a:r>
              <a:rPr lang="en-US" altLang="en-US" sz="2400" i="1" smtClean="0"/>
              <a:t>x </a:t>
            </a:r>
            <a:r>
              <a:rPr lang="en-US" altLang="en-US" sz="2400" smtClean="0"/>
              <a:t>components of the particle’s velocity and acceleration at any time </a:t>
            </a:r>
            <a:r>
              <a:rPr lang="en-US" altLang="en-US" sz="2400" i="1" smtClean="0"/>
              <a:t>t</a:t>
            </a:r>
            <a:r>
              <a:rPr lang="en-US" altLang="en-US" sz="2400" smtClean="0"/>
              <a:t>. </a:t>
            </a:r>
            <a:r>
              <a:rPr lang="en-US" altLang="en-US" sz="2000" smtClean="0"/>
              <a:t/>
            </a:r>
            <a:br>
              <a:rPr lang="en-US" altLang="en-US" sz="2000" smtClean="0"/>
            </a:br>
            <a:r>
              <a:rPr lang="en-US" altLang="en-US" smtClean="0"/>
              <a:t/>
            </a:r>
            <a:br>
              <a:rPr lang="en-US" altLang="en-US" smtClean="0"/>
            </a:br>
            <a:endParaRPr lang="en-US" altLang="en-US" b="1" smtClean="0"/>
          </a:p>
        </p:txBody>
      </p:sp>
      <p:pic>
        <p:nvPicPr>
          <p:cNvPr id="1075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887663"/>
            <a:ext cx="6705600" cy="1531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75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475" y="4286250"/>
            <a:ext cx="6234113" cy="1428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75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5854700"/>
            <a:ext cx="6405562" cy="698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75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75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7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533400" y="76200"/>
            <a:ext cx="10287000" cy="609600"/>
          </a:xfrm>
        </p:spPr>
        <p:txBody>
          <a:bodyPr/>
          <a:lstStyle/>
          <a:p>
            <a:pPr eaLnBrk="1" hangingPunct="1"/>
            <a:r>
              <a:rPr lang="en-US" altLang="en-US" sz="3600" smtClean="0"/>
              <a:t>Simple Pendulum</a:t>
            </a:r>
            <a:endParaRPr lang="en-US" altLang="en-US" smtClean="0"/>
          </a:p>
        </p:txBody>
      </p:sp>
      <p:sp>
        <p:nvSpPr>
          <p:cNvPr id="54275" name="Rectangle 3"/>
          <p:cNvSpPr>
            <a:spLocks noGrp="1" noChangeArrowheads="1"/>
          </p:cNvSpPr>
          <p:nvPr>
            <p:ph idx="1"/>
          </p:nvPr>
        </p:nvSpPr>
        <p:spPr>
          <a:xfrm>
            <a:off x="381000" y="914400"/>
            <a:ext cx="6324600" cy="5684838"/>
          </a:xfrm>
        </p:spPr>
        <p:txBody>
          <a:bodyPr/>
          <a:lstStyle/>
          <a:p>
            <a:pPr marL="0" indent="0" algn="just" eaLnBrk="1" hangingPunct="1">
              <a:lnSpc>
                <a:spcPct val="150000"/>
              </a:lnSpc>
            </a:pPr>
            <a:r>
              <a:rPr lang="en-US" altLang="en-US" sz="2400" smtClean="0">
                <a:latin typeface="Times New Roman" pitchFamily="18" charset="0"/>
                <a:ea typeface="Malgun Gothic" pitchFamily="34" charset="-127"/>
                <a:cs typeface="Times New Roman" pitchFamily="18" charset="0"/>
              </a:rPr>
              <a:t>The </a:t>
            </a:r>
            <a:r>
              <a:rPr lang="en-US" altLang="en-US" sz="2400" b="1" smtClean="0">
                <a:latin typeface="Times New Roman" pitchFamily="18" charset="0"/>
                <a:ea typeface="Malgun Gothic" pitchFamily="34" charset="-127"/>
                <a:cs typeface="Times New Roman" pitchFamily="18" charset="0"/>
              </a:rPr>
              <a:t>simple pendulum</a:t>
            </a:r>
            <a:r>
              <a:rPr lang="en-US" altLang="en-US" sz="2400" smtClean="0">
                <a:latin typeface="Times New Roman" pitchFamily="18" charset="0"/>
                <a:ea typeface="Malgun Gothic" pitchFamily="34" charset="-127"/>
                <a:cs typeface="Times New Roman" pitchFamily="18" charset="0"/>
              </a:rPr>
              <a:t> is  another mechanical  system  that  exhibits  periodic  motion.  It consists of a particle-like bob of mass </a:t>
            </a:r>
            <a:r>
              <a:rPr lang="en-US" altLang="en-US" sz="2400" i="1" smtClean="0">
                <a:latin typeface="Times New Roman" pitchFamily="18" charset="0"/>
                <a:ea typeface="Malgun Gothic" pitchFamily="34" charset="-127"/>
                <a:cs typeface="Times New Roman" pitchFamily="18" charset="0"/>
              </a:rPr>
              <a:t>m</a:t>
            </a:r>
            <a:r>
              <a:rPr lang="en-US" altLang="en-US" sz="2400" smtClean="0">
                <a:latin typeface="Times New Roman" pitchFamily="18" charset="0"/>
                <a:ea typeface="Malgun Gothic" pitchFamily="34" charset="-127"/>
                <a:cs typeface="Times New Roman" pitchFamily="18" charset="0"/>
              </a:rPr>
              <a:t> suspended by a light string of length </a:t>
            </a:r>
            <a:r>
              <a:rPr lang="en-US" altLang="en-US" sz="2400" i="1" smtClean="0">
                <a:latin typeface="Times New Roman" pitchFamily="18" charset="0"/>
                <a:ea typeface="Malgun Gothic" pitchFamily="34" charset="-127"/>
                <a:cs typeface="Times New Roman" pitchFamily="18" charset="0"/>
              </a:rPr>
              <a:t>L.</a:t>
            </a:r>
            <a:r>
              <a:rPr lang="en-US" altLang="en-US" sz="2400" smtClean="0">
                <a:latin typeface="Times New Roman" pitchFamily="18" charset="0"/>
                <a:ea typeface="Malgun Gothic" pitchFamily="34" charset="-127"/>
                <a:cs typeface="Times New Roman" pitchFamily="18" charset="0"/>
              </a:rPr>
              <a:t> The motion occurs in the vertical plane and is driven by gravitational force. The motion is very close to that of the SHM oscillator.</a:t>
            </a:r>
          </a:p>
          <a:p>
            <a:pPr lvl="1" algn="just" eaLnBrk="1" hangingPunct="1">
              <a:lnSpc>
                <a:spcPct val="150000"/>
              </a:lnSpc>
            </a:pPr>
            <a:r>
              <a:rPr lang="en-US" altLang="en-US" sz="2400" smtClean="0">
                <a:latin typeface="Times New Roman" pitchFamily="18" charset="0"/>
                <a:ea typeface="Malgun Gothic" pitchFamily="34" charset="-127"/>
                <a:cs typeface="Times New Roman" pitchFamily="18" charset="0"/>
              </a:rPr>
              <a:t>If the angle is &lt;10</a:t>
            </a:r>
            <a:r>
              <a:rPr lang="en-US" altLang="en-US" sz="2400" baseline="30000" smtClean="0">
                <a:latin typeface="Times New Roman" pitchFamily="18" charset="0"/>
                <a:ea typeface="Malgun Gothic" pitchFamily="34" charset="-127"/>
                <a:cs typeface="Times New Roman" pitchFamily="18" charset="0"/>
              </a:rPr>
              <a:t>o</a:t>
            </a:r>
            <a:r>
              <a:rPr lang="en-US" altLang="en-US" sz="2400" smtClean="0">
                <a:latin typeface="Times New Roman" pitchFamily="18" charset="0"/>
                <a:ea typeface="Malgun Gothic" pitchFamily="34" charset="-127"/>
                <a:cs typeface="Times New Roman" pitchFamily="18" charset="0"/>
              </a:rPr>
              <a:t> </a:t>
            </a:r>
          </a:p>
        </p:txBody>
      </p:sp>
      <p:sp>
        <p:nvSpPr>
          <p:cNvPr id="5427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pic>
        <p:nvPicPr>
          <p:cNvPr id="54277" name="Picture 8" descr="15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838200"/>
            <a:ext cx="394017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Rot="1" noChangeAspect="1" noMove="1" noResize="1" noEditPoints="1" noAdjustHandles="1" noChangeArrowheads="1" noChangeShapeType="1" noTextEdit="1"/>
          </p:cNvSpPr>
          <p:nvPr>
            <p:ph type="body" sz="half" idx="1"/>
          </p:nvPr>
        </p:nvSpPr>
        <p:spPr>
          <a:xfrm>
            <a:off x="228600" y="990600"/>
            <a:ext cx="7353733" cy="5611000"/>
          </a:xfrm>
          <a:blipFill rotWithShape="1">
            <a:blip r:embed="rId3"/>
            <a:stretch>
              <a:fillRect l="-2570" t="-3261" r="-2902" b="-5761"/>
            </a:stretch>
          </a:blipFill>
          <a:extLst/>
        </p:spPr>
        <p:txBody>
          <a:bodyPr/>
          <a:lstStyle/>
          <a:p>
            <a:pPr>
              <a:defRPr/>
            </a:pPr>
            <a:r>
              <a:rPr lang="en-US">
                <a:noFill/>
              </a:rPr>
              <a:t> </a:t>
            </a:r>
          </a:p>
        </p:txBody>
      </p:sp>
      <p:pic>
        <p:nvPicPr>
          <p:cNvPr id="2" name="Picture 8" descr="15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1900" y="835025"/>
            <a:ext cx="38195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2"/>
          <p:cNvSpPr>
            <a:spLocks noGrp="1" noChangeArrowheads="1"/>
          </p:cNvSpPr>
          <p:nvPr>
            <p:ph type="title"/>
          </p:nvPr>
        </p:nvSpPr>
        <p:spPr>
          <a:xfrm>
            <a:off x="533400" y="76200"/>
            <a:ext cx="10287000" cy="609600"/>
          </a:xfrm>
        </p:spPr>
        <p:txBody>
          <a:bodyPr/>
          <a:lstStyle/>
          <a:p>
            <a:pPr eaLnBrk="1" hangingPunct="1"/>
            <a:r>
              <a:rPr lang="en-US" altLang="en-US" sz="3600" smtClean="0"/>
              <a:t>Simple Pendulum</a:t>
            </a:r>
            <a:endParaRPr lang="en-US" altLang="en-US" smtClean="0"/>
          </a:p>
        </p:txBody>
      </p:sp>
      <p:graphicFrame>
        <p:nvGraphicFramePr>
          <p:cNvPr id="3" name="Object 2"/>
          <p:cNvGraphicFramePr>
            <a:graphicFrameLocks noChangeAspect="1"/>
          </p:cNvGraphicFramePr>
          <p:nvPr/>
        </p:nvGraphicFramePr>
        <p:xfrm>
          <a:off x="620713" y="2819400"/>
          <a:ext cx="5018087" cy="838200"/>
        </p:xfrm>
        <a:graphic>
          <a:graphicData uri="http://schemas.openxmlformats.org/presentationml/2006/ole">
            <mc:AlternateContent xmlns:mc="http://schemas.openxmlformats.org/markup-compatibility/2006">
              <mc:Choice xmlns:v="urn:schemas-microsoft-com:vml" Requires="v">
                <p:oleObj spid="_x0000_s55332" name="Equation" r:id="rId5" imgW="2006600" imgH="419100" progId="Equation.DSMT4">
                  <p:embed/>
                </p:oleObj>
              </mc:Choice>
              <mc:Fallback>
                <p:oleObj name="Equation" r:id="rId5" imgW="2006600" imgH="4191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713" y="2819400"/>
                        <a:ext cx="5018087"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628650" y="4876800"/>
          <a:ext cx="4095750" cy="908050"/>
        </p:xfrm>
        <a:graphic>
          <a:graphicData uri="http://schemas.openxmlformats.org/presentationml/2006/ole">
            <mc:AlternateContent xmlns:mc="http://schemas.openxmlformats.org/markup-compatibility/2006">
              <mc:Choice xmlns:v="urn:schemas-microsoft-com:vml" Requires="v">
                <p:oleObj spid="_x0000_s55333" name="Equation" r:id="rId7" imgW="1511300" imgH="419100" progId="Equation.DSMT4">
                  <p:embed/>
                </p:oleObj>
              </mc:Choice>
              <mc:Fallback>
                <p:oleObj name="Equation" r:id="rId7" imgW="1511300" imgH="4191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8650" y="4876800"/>
                        <a:ext cx="4095750" cy="908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a:spLocks noRot="1" noChangeAspect="1" noMove="1" noResize="1" noEditPoints="1" noAdjustHandles="1" noChangeArrowheads="1" noChangeShapeType="1" noTextEdit="1"/>
          </p:cNvSpPr>
          <p:nvPr/>
        </p:nvSpPr>
        <p:spPr>
          <a:xfrm>
            <a:off x="5943600" y="4724400"/>
            <a:ext cx="2590800" cy="830997"/>
          </a:xfrm>
          <a:prstGeom prst="rect">
            <a:avLst/>
          </a:prstGeom>
          <a:blipFill rotWithShape="1">
            <a:blip r:embed="rId9"/>
            <a:stretch>
              <a:fillRect/>
            </a:stretch>
          </a:blipFill>
        </p:spPr>
        <p:txBody>
          <a:bodyPr/>
          <a:lstStyle/>
          <a:p>
            <a:pPr>
              <a:defRPr/>
            </a:pPr>
            <a:r>
              <a:rPr 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533400" y="1295400"/>
            <a:ext cx="10287000" cy="4438650"/>
          </a:xfrm>
        </p:spPr>
        <p:txBody>
          <a:bodyPr/>
          <a:lstStyle/>
          <a:p>
            <a:pPr marL="0" indent="0" eaLnBrk="1" hangingPunct="1"/>
            <a:r>
              <a:rPr lang="en-US" altLang="en-US" sz="2800" smtClean="0"/>
              <a:t>The function </a:t>
            </a:r>
            <a:r>
              <a:rPr lang="en-US" altLang="en-US" sz="2800" i="1" smtClean="0">
                <a:latin typeface="Symbol" pitchFamily="18" charset="2"/>
              </a:rPr>
              <a:t>q</a:t>
            </a:r>
            <a:r>
              <a:rPr lang="en-US" altLang="en-US" sz="2800" smtClean="0"/>
              <a:t>  can be written as </a:t>
            </a:r>
            <a:r>
              <a:rPr lang="en-US" altLang="en-US" sz="2800" i="1" smtClean="0">
                <a:latin typeface="Symbol" pitchFamily="18" charset="2"/>
              </a:rPr>
              <a:t>q</a:t>
            </a:r>
            <a:r>
              <a:rPr lang="en-US" altLang="en-US" sz="2800" smtClean="0"/>
              <a:t> = </a:t>
            </a:r>
            <a:r>
              <a:rPr lang="en-US" altLang="en-US" sz="2800" i="1" smtClean="0">
                <a:latin typeface="Symbol" pitchFamily="18" charset="2"/>
              </a:rPr>
              <a:t>q</a:t>
            </a:r>
            <a:r>
              <a:rPr lang="en-US" altLang="en-US" sz="2800" baseline="-25000" smtClean="0"/>
              <a:t>max</a:t>
            </a:r>
            <a:r>
              <a:rPr lang="en-US" altLang="en-US" sz="2800" smtClean="0"/>
              <a:t> cos (</a:t>
            </a:r>
            <a:r>
              <a:rPr lang="en-US" altLang="en-US" sz="2800" i="1" smtClean="0">
                <a:latin typeface="Symbol" pitchFamily="18" charset="2"/>
              </a:rPr>
              <a:t>w</a:t>
            </a:r>
            <a:r>
              <a:rPr lang="en-US" altLang="en-US" sz="2800" i="1" smtClean="0"/>
              <a:t>t</a:t>
            </a:r>
            <a:r>
              <a:rPr lang="en-US" altLang="en-US" sz="2800" smtClean="0"/>
              <a:t> + </a:t>
            </a:r>
            <a:r>
              <a:rPr lang="en-US" altLang="en-US" sz="2800" i="1" smtClean="0">
                <a:latin typeface="Symbol" pitchFamily="18" charset="2"/>
              </a:rPr>
              <a:t>f</a:t>
            </a:r>
            <a:r>
              <a:rPr lang="en-US" altLang="en-US" sz="2800" smtClean="0"/>
              <a:t>).</a:t>
            </a:r>
          </a:p>
          <a:p>
            <a:pPr marL="0" indent="0" eaLnBrk="1" hangingPunct="1"/>
            <a:r>
              <a:rPr lang="en-US" altLang="en-US" sz="2800" smtClean="0"/>
              <a:t>The angular frequency is</a:t>
            </a:r>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r>
              <a:rPr lang="en-US" altLang="en-US" sz="2400" smtClean="0"/>
              <a:t>The period is</a:t>
            </a:r>
          </a:p>
          <a:p>
            <a:pPr marL="0" indent="0" eaLnBrk="1" hangingPunct="1">
              <a:buFont typeface="Wingdings" pitchFamily="2" charset="2"/>
              <a:buNone/>
            </a:pPr>
            <a:endParaRPr lang="en-US" altLang="en-US" smtClean="0"/>
          </a:p>
          <a:p>
            <a:pPr marL="0" indent="0" eaLnBrk="1" hangingPunct="1"/>
            <a:endParaRPr lang="en-US" altLang="en-US" smtClean="0"/>
          </a:p>
        </p:txBody>
      </p:sp>
      <p:graphicFrame>
        <p:nvGraphicFramePr>
          <p:cNvPr id="57348" name="Object 4"/>
          <p:cNvGraphicFramePr>
            <a:graphicFrameLocks noChangeAspect="1"/>
          </p:cNvGraphicFramePr>
          <p:nvPr/>
        </p:nvGraphicFramePr>
        <p:xfrm>
          <a:off x="1219200" y="2209800"/>
          <a:ext cx="1847850" cy="1201738"/>
        </p:xfrm>
        <a:graphic>
          <a:graphicData uri="http://schemas.openxmlformats.org/presentationml/2006/ole">
            <mc:AlternateContent xmlns:mc="http://schemas.openxmlformats.org/markup-compatibility/2006">
              <mc:Choice xmlns:v="urn:schemas-microsoft-com:vml" Requires="v">
                <p:oleObj spid="_x0000_s56400" name="Equation" r:id="rId3" imgW="545863" imgH="444307" progId="Equation.DSMT4">
                  <p:embed/>
                </p:oleObj>
              </mc:Choice>
              <mc:Fallback>
                <p:oleObj name="Equation" r:id="rId3" imgW="545863" imgH="44430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209800"/>
                        <a:ext cx="184785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49" name="Object 5"/>
          <p:cNvGraphicFramePr>
            <a:graphicFrameLocks noChangeAspect="1"/>
          </p:cNvGraphicFramePr>
          <p:nvPr/>
        </p:nvGraphicFramePr>
        <p:xfrm>
          <a:off x="685800" y="4572000"/>
          <a:ext cx="3790950" cy="1303338"/>
        </p:xfrm>
        <a:graphic>
          <a:graphicData uri="http://schemas.openxmlformats.org/presentationml/2006/ole">
            <mc:AlternateContent xmlns:mc="http://schemas.openxmlformats.org/markup-compatibility/2006">
              <mc:Choice xmlns:v="urn:schemas-microsoft-com:vml" Requires="v">
                <p:oleObj spid="_x0000_s56401" name="Equation" r:id="rId5" imgW="1091726" imgH="469696" progId="Equation.DSMT4">
                  <p:embed/>
                </p:oleObj>
              </mc:Choice>
              <mc:Fallback>
                <p:oleObj name="Equation" r:id="rId5" imgW="1091726" imgH="469696"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4572000"/>
                        <a:ext cx="3790950"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5"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sp>
        <p:nvSpPr>
          <p:cNvPr id="7" name="Rectangle 2"/>
          <p:cNvSpPr txBox="1">
            <a:spLocks noChangeArrowheads="1"/>
          </p:cNvSpPr>
          <p:nvPr/>
        </p:nvSpPr>
        <p:spPr bwMode="auto">
          <a:xfrm>
            <a:off x="533400" y="76200"/>
            <a:ext cx="1028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gn="l" rtl="0" eaLnBrk="0" fontAlgn="base" hangingPunct="0">
              <a:spcBef>
                <a:spcPct val="0"/>
              </a:spcBef>
              <a:spcAft>
                <a:spcPct val="0"/>
              </a:spcAft>
              <a:defRPr sz="2200">
                <a:solidFill>
                  <a:schemeClr val="accent1"/>
                </a:solidFill>
                <a:latin typeface="+mj-lt"/>
                <a:ea typeface="MS PGothic" pitchFamily="34" charset="-128"/>
                <a:cs typeface="ＭＳ Ｐゴシック"/>
              </a:defRPr>
            </a:lvl1pPr>
            <a:lvl2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2pPr>
            <a:lvl3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3pPr>
            <a:lvl4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4pPr>
            <a:lvl5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5pPr>
            <a:lvl6pPr marL="457200" algn="l" rtl="0" eaLnBrk="1" fontAlgn="base" hangingPunct="1">
              <a:spcBef>
                <a:spcPct val="0"/>
              </a:spcBef>
              <a:spcAft>
                <a:spcPct val="0"/>
              </a:spcAft>
              <a:defRPr sz="2200">
                <a:solidFill>
                  <a:schemeClr val="accent1"/>
                </a:solidFill>
                <a:latin typeface="Arial" charset="0"/>
                <a:ea typeface="ＭＳ Ｐゴシック" pitchFamily="112" charset="-128"/>
              </a:defRPr>
            </a:lvl6pPr>
            <a:lvl7pPr marL="914400" algn="l" rtl="0" eaLnBrk="1" fontAlgn="base" hangingPunct="1">
              <a:spcBef>
                <a:spcPct val="0"/>
              </a:spcBef>
              <a:spcAft>
                <a:spcPct val="0"/>
              </a:spcAft>
              <a:defRPr sz="2200">
                <a:solidFill>
                  <a:schemeClr val="accent1"/>
                </a:solidFill>
                <a:latin typeface="Arial" charset="0"/>
                <a:ea typeface="ＭＳ Ｐゴシック" pitchFamily="112" charset="-128"/>
              </a:defRPr>
            </a:lvl7pPr>
            <a:lvl8pPr marL="1371600" algn="l" rtl="0" eaLnBrk="1" fontAlgn="base" hangingPunct="1">
              <a:spcBef>
                <a:spcPct val="0"/>
              </a:spcBef>
              <a:spcAft>
                <a:spcPct val="0"/>
              </a:spcAft>
              <a:defRPr sz="2200">
                <a:solidFill>
                  <a:schemeClr val="accent1"/>
                </a:solidFill>
                <a:latin typeface="Arial" charset="0"/>
                <a:ea typeface="ＭＳ Ｐゴシック" pitchFamily="112" charset="-128"/>
              </a:defRPr>
            </a:lvl8pPr>
            <a:lvl9pPr marL="1828800" algn="l" rtl="0" eaLnBrk="1" fontAlgn="base" hangingPunct="1">
              <a:spcBef>
                <a:spcPct val="0"/>
              </a:spcBef>
              <a:spcAft>
                <a:spcPct val="0"/>
              </a:spcAft>
              <a:defRPr sz="2200">
                <a:solidFill>
                  <a:schemeClr val="accent1"/>
                </a:solidFill>
                <a:latin typeface="Arial" charset="0"/>
                <a:ea typeface="ＭＳ Ｐゴシック" pitchFamily="112" charset="-128"/>
              </a:defRPr>
            </a:lvl9pPr>
          </a:lstStyle>
          <a:p>
            <a:pPr eaLnBrk="1" hangingPunct="1">
              <a:defRPr/>
            </a:pPr>
            <a:r>
              <a:rPr lang="en-US" altLang="en-US" sz="3600" kern="0" dirty="0" smtClean="0"/>
              <a:t>Simple Pendulum</a:t>
            </a:r>
            <a:endParaRPr lang="en-US" altLang="en-US" kern="0" dirty="0" smtClean="0"/>
          </a:p>
        </p:txBody>
      </p:sp>
      <p:graphicFrame>
        <p:nvGraphicFramePr>
          <p:cNvPr id="2" name="Object 1"/>
          <p:cNvGraphicFramePr>
            <a:graphicFrameLocks noChangeAspect="1"/>
          </p:cNvGraphicFramePr>
          <p:nvPr/>
        </p:nvGraphicFramePr>
        <p:xfrm>
          <a:off x="5381625" y="2286000"/>
          <a:ext cx="2509838" cy="1060450"/>
        </p:xfrm>
        <a:graphic>
          <a:graphicData uri="http://schemas.openxmlformats.org/presentationml/2006/ole">
            <mc:AlternateContent xmlns:mc="http://schemas.openxmlformats.org/markup-compatibility/2006">
              <mc:Choice xmlns:v="urn:schemas-microsoft-com:vml" Requires="v">
                <p:oleObj spid="_x0000_s56402" name="Equation" r:id="rId7" imgW="990600" imgH="419100" progId="Equation.3">
                  <p:embed/>
                </p:oleObj>
              </mc:Choice>
              <mc:Fallback>
                <p:oleObj name="Equation" r:id="rId7" imgW="990600" imgH="4191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1625" y="2286000"/>
                        <a:ext cx="2509838" cy="106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881711431"/>
              </p:ext>
            </p:extLst>
          </p:nvPr>
        </p:nvGraphicFramePr>
        <p:xfrm>
          <a:off x="8651630" y="1905000"/>
          <a:ext cx="2168770" cy="1295400"/>
        </p:xfrm>
        <a:graphic>
          <a:graphicData uri="http://schemas.openxmlformats.org/presentationml/2006/ole">
            <mc:AlternateContent xmlns:mc="http://schemas.openxmlformats.org/markup-compatibility/2006">
              <mc:Choice xmlns:v="urn:schemas-microsoft-com:vml" Requires="v">
                <p:oleObj spid="_x0000_s56403" name="Equation" r:id="rId9" imgW="596641" imgH="444307" progId="Equation.DSMT4">
                  <p:embed/>
                </p:oleObj>
              </mc:Choice>
              <mc:Fallback>
                <p:oleObj name="Equation" r:id="rId9" imgW="596641" imgH="444307"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51630" y="1905000"/>
                        <a:ext cx="2168770" cy="1295400"/>
                      </a:xfrm>
                      <a:prstGeom prst="rect">
                        <a:avLst/>
                      </a:prstGeom>
                      <a:noFill/>
                      <a:ln w="9525">
                        <a:solidFill>
                          <a:srgbClr val="800000"/>
                        </a:solidFill>
                        <a:miter lim="800000"/>
                        <a:headEnd/>
                        <a:tailEnd/>
                      </a:ln>
                      <a:effectLst/>
                    </p:spPr>
                  </p:pic>
                </p:oleObj>
              </mc:Fallback>
            </mc:AlternateContent>
          </a:graphicData>
        </a:graphic>
      </p:graphicFrame>
      <p:graphicFrame>
        <p:nvGraphicFramePr>
          <p:cNvPr id="4" name="Object 3"/>
          <p:cNvGraphicFramePr>
            <a:graphicFrameLocks noChangeAspect="1"/>
          </p:cNvGraphicFramePr>
          <p:nvPr/>
        </p:nvGraphicFramePr>
        <p:xfrm>
          <a:off x="5257800" y="3810000"/>
          <a:ext cx="4095750" cy="908050"/>
        </p:xfrm>
        <a:graphic>
          <a:graphicData uri="http://schemas.openxmlformats.org/presentationml/2006/ole">
            <mc:AlternateContent xmlns:mc="http://schemas.openxmlformats.org/markup-compatibility/2006">
              <mc:Choice xmlns:v="urn:schemas-microsoft-com:vml" Requires="v">
                <p:oleObj spid="_x0000_s56404" name="Equation" r:id="rId11" imgW="1511300" imgH="419100" progId="Equation.DSMT4">
                  <p:embed/>
                </p:oleObj>
              </mc:Choice>
              <mc:Fallback>
                <p:oleObj name="Equation" r:id="rId11" imgW="1511300" imgH="4191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7800" y="3810000"/>
                        <a:ext cx="4095750" cy="908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3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7347">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734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a:xfrm>
            <a:off x="304800" y="1276350"/>
            <a:ext cx="10668000" cy="4514850"/>
          </a:xfrm>
        </p:spPr>
        <p:txBody>
          <a:bodyPr/>
          <a:lstStyle/>
          <a:p>
            <a:pPr marL="0" indent="0" eaLnBrk="1" hangingPunct="1">
              <a:lnSpc>
                <a:spcPct val="90000"/>
              </a:lnSpc>
            </a:pPr>
            <a:r>
              <a:rPr lang="en-US" altLang="en-US" sz="2400" smtClean="0"/>
              <a:t>The period and frequency of a simple pendulum depend only on the length of the string and the acceleration due to gravity.</a:t>
            </a:r>
          </a:p>
          <a:p>
            <a:pPr marL="0" indent="0" eaLnBrk="1" hangingPunct="1">
              <a:lnSpc>
                <a:spcPct val="90000"/>
              </a:lnSpc>
            </a:pPr>
            <a:r>
              <a:rPr lang="en-US" altLang="en-US" sz="2400" smtClean="0"/>
              <a:t>The period is independent of the mass.</a:t>
            </a:r>
          </a:p>
          <a:p>
            <a:pPr marL="0" indent="0" eaLnBrk="1" hangingPunct="1">
              <a:lnSpc>
                <a:spcPct val="90000"/>
              </a:lnSpc>
            </a:pPr>
            <a:r>
              <a:rPr lang="en-US" altLang="en-US" sz="2400" smtClean="0"/>
              <a:t>All simple pendula that are of equal length and are at the same location oscillate with the same period.</a:t>
            </a:r>
          </a:p>
        </p:txBody>
      </p:sp>
      <p:sp>
        <p:nvSpPr>
          <p:cNvPr id="57347"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sp>
        <p:nvSpPr>
          <p:cNvPr id="5" name="Rectangle 2"/>
          <p:cNvSpPr txBox="1">
            <a:spLocks noChangeArrowheads="1"/>
          </p:cNvSpPr>
          <p:nvPr/>
        </p:nvSpPr>
        <p:spPr bwMode="auto">
          <a:xfrm>
            <a:off x="533400" y="76200"/>
            <a:ext cx="1028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gn="l" rtl="0" eaLnBrk="0" fontAlgn="base" hangingPunct="0">
              <a:spcBef>
                <a:spcPct val="0"/>
              </a:spcBef>
              <a:spcAft>
                <a:spcPct val="0"/>
              </a:spcAft>
              <a:defRPr sz="2200">
                <a:solidFill>
                  <a:schemeClr val="accent1"/>
                </a:solidFill>
                <a:latin typeface="+mj-lt"/>
                <a:ea typeface="MS PGothic" pitchFamily="34" charset="-128"/>
                <a:cs typeface="ＭＳ Ｐゴシック"/>
              </a:defRPr>
            </a:lvl1pPr>
            <a:lvl2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2pPr>
            <a:lvl3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3pPr>
            <a:lvl4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4pPr>
            <a:lvl5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5pPr>
            <a:lvl6pPr marL="457200" algn="l" rtl="0" eaLnBrk="1" fontAlgn="base" hangingPunct="1">
              <a:spcBef>
                <a:spcPct val="0"/>
              </a:spcBef>
              <a:spcAft>
                <a:spcPct val="0"/>
              </a:spcAft>
              <a:defRPr sz="2200">
                <a:solidFill>
                  <a:schemeClr val="accent1"/>
                </a:solidFill>
                <a:latin typeface="Arial" charset="0"/>
                <a:ea typeface="ＭＳ Ｐゴシック" pitchFamily="112" charset="-128"/>
              </a:defRPr>
            </a:lvl6pPr>
            <a:lvl7pPr marL="914400" algn="l" rtl="0" eaLnBrk="1" fontAlgn="base" hangingPunct="1">
              <a:spcBef>
                <a:spcPct val="0"/>
              </a:spcBef>
              <a:spcAft>
                <a:spcPct val="0"/>
              </a:spcAft>
              <a:defRPr sz="2200">
                <a:solidFill>
                  <a:schemeClr val="accent1"/>
                </a:solidFill>
                <a:latin typeface="Arial" charset="0"/>
                <a:ea typeface="ＭＳ Ｐゴシック" pitchFamily="112" charset="-128"/>
              </a:defRPr>
            </a:lvl7pPr>
            <a:lvl8pPr marL="1371600" algn="l" rtl="0" eaLnBrk="1" fontAlgn="base" hangingPunct="1">
              <a:spcBef>
                <a:spcPct val="0"/>
              </a:spcBef>
              <a:spcAft>
                <a:spcPct val="0"/>
              </a:spcAft>
              <a:defRPr sz="2200">
                <a:solidFill>
                  <a:schemeClr val="accent1"/>
                </a:solidFill>
                <a:latin typeface="Arial" charset="0"/>
                <a:ea typeface="ＭＳ Ｐゴシック" pitchFamily="112" charset="-128"/>
              </a:defRPr>
            </a:lvl8pPr>
            <a:lvl9pPr marL="1828800" algn="l" rtl="0" eaLnBrk="1" fontAlgn="base" hangingPunct="1">
              <a:spcBef>
                <a:spcPct val="0"/>
              </a:spcBef>
              <a:spcAft>
                <a:spcPct val="0"/>
              </a:spcAft>
              <a:defRPr sz="2200">
                <a:solidFill>
                  <a:schemeClr val="accent1"/>
                </a:solidFill>
                <a:latin typeface="Arial" charset="0"/>
                <a:ea typeface="ＭＳ Ｐゴシック" pitchFamily="112" charset="-128"/>
              </a:defRPr>
            </a:lvl9pPr>
          </a:lstStyle>
          <a:p>
            <a:pPr eaLnBrk="1" hangingPunct="1">
              <a:defRPr/>
            </a:pPr>
            <a:r>
              <a:rPr lang="en-US" altLang="en-US" sz="3600" kern="0" dirty="0" smtClean="0"/>
              <a:t>Simple Pendulum Summary</a:t>
            </a:r>
            <a:endParaRPr lang="en-US" altLang="en-US" kern="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0" y="0"/>
            <a:ext cx="114300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ctr" eaLnBrk="1" hangingPunct="1">
              <a:lnSpc>
                <a:spcPct val="100000"/>
              </a:lnSpc>
            </a:pPr>
            <a:r>
              <a:rPr lang="en-US" altLang="en-US" sz="3200"/>
              <a:t>The Physical Pendulum</a:t>
            </a:r>
          </a:p>
        </p:txBody>
      </p:sp>
      <p:sp>
        <p:nvSpPr>
          <p:cNvPr id="58371" name="Text Box 3"/>
          <p:cNvSpPr txBox="1">
            <a:spLocks noChangeArrowheads="1"/>
          </p:cNvSpPr>
          <p:nvPr/>
        </p:nvSpPr>
        <p:spPr bwMode="auto">
          <a:xfrm>
            <a:off x="381000" y="1600200"/>
            <a:ext cx="6191250" cy="224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eaLnBrk="1" hangingPunct="1">
              <a:lnSpc>
                <a:spcPct val="100000"/>
              </a:lnSpc>
            </a:pPr>
            <a:r>
              <a:rPr lang="en-US" altLang="en-US" sz="2800"/>
              <a:t>A physical pendulum is a solid mass that oscillates around its center of mass, but cannot be modeled as a point mass suspended by a massless string. Examples:</a:t>
            </a:r>
          </a:p>
        </p:txBody>
      </p:sp>
      <p:pic>
        <p:nvPicPr>
          <p:cNvPr id="58372" name="Picture 4" descr="FG13_16"/>
          <p:cNvPicPr>
            <a:picLocks noChangeAspect="1" noChangeArrowheads="1"/>
          </p:cNvPicPr>
          <p:nvPr/>
        </p:nvPicPr>
        <p:blipFill>
          <a:blip r:embed="rId2">
            <a:extLst>
              <a:ext uri="{28A0092B-C50C-407E-A947-70E740481C1C}">
                <a14:useLocalDpi xmlns:a14="http://schemas.microsoft.com/office/drawing/2010/main" val="0"/>
              </a:ext>
            </a:extLst>
          </a:blip>
          <a:srcRect l="25676" r="25676"/>
          <a:stretch>
            <a:fillRect/>
          </a:stretch>
        </p:blipFill>
        <p:spPr bwMode="auto">
          <a:xfrm>
            <a:off x="6604000" y="914400"/>
            <a:ext cx="454025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71500" y="76200"/>
            <a:ext cx="10287000" cy="609600"/>
          </a:xfrm>
        </p:spPr>
        <p:txBody>
          <a:bodyPr/>
          <a:lstStyle/>
          <a:p>
            <a:pPr eaLnBrk="1" hangingPunct="1"/>
            <a:r>
              <a:rPr lang="en-US" altLang="en-US" sz="3200" smtClean="0"/>
              <a:t>Physical Pendulum</a:t>
            </a:r>
            <a:endParaRPr lang="en-US" altLang="en-US" smtClean="0"/>
          </a:p>
        </p:txBody>
      </p:sp>
      <p:sp>
        <p:nvSpPr>
          <p:cNvPr id="59395" name="Rectangle 3"/>
          <p:cNvSpPr>
            <a:spLocks noGrp="1" noRot="1" noChangeAspect="1" noMove="1" noResize="1" noEditPoints="1" noAdjustHandles="1" noChangeArrowheads="1" noChangeShapeType="1" noTextEdit="1"/>
          </p:cNvSpPr>
          <p:nvPr>
            <p:ph sz="half" idx="1"/>
          </p:nvPr>
        </p:nvSpPr>
        <p:spPr>
          <a:xfrm>
            <a:off x="304800" y="1143000"/>
            <a:ext cx="6934200" cy="5181600"/>
          </a:xfrm>
          <a:blipFill rotWithShape="1">
            <a:blip r:embed="rId2"/>
            <a:stretch>
              <a:fillRect l="-2636" t="-3529" r="-2724"/>
            </a:stretch>
          </a:blipFill>
          <a:extLst/>
        </p:spPr>
        <p:txBody>
          <a:bodyPr/>
          <a:lstStyle/>
          <a:p>
            <a:r>
              <a:rPr lang="en-US">
                <a:noFill/>
              </a:rPr>
              <a:t> </a:t>
            </a:r>
          </a:p>
        </p:txBody>
      </p:sp>
      <p:sp>
        <p:nvSpPr>
          <p:cNvPr id="5939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pic>
        <p:nvPicPr>
          <p:cNvPr id="59397" name="Picture 6" descr="15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990600"/>
            <a:ext cx="42005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4"/>
          <p:cNvSpPr>
            <a:spLocks noGrp="1"/>
          </p:cNvSpPr>
          <p:nvPr>
            <p:ph type="title"/>
          </p:nvPr>
        </p:nvSpPr>
        <p:spPr>
          <a:xfrm>
            <a:off x="571500" y="76200"/>
            <a:ext cx="10287000" cy="609600"/>
          </a:xfrm>
        </p:spPr>
        <p:txBody>
          <a:bodyPr/>
          <a:lstStyle/>
          <a:p>
            <a:r>
              <a:rPr lang="en-US" altLang="en-US" sz="2800" smtClean="0"/>
              <a:t>Torque, Moment of Inertia and Newton’s Law</a:t>
            </a:r>
            <a:endParaRPr lang="en-US" altLang="en-US" smtClean="0"/>
          </a:p>
        </p:txBody>
      </p:sp>
      <p:sp>
        <p:nvSpPr>
          <p:cNvPr id="6" name="Content Placeholder 5"/>
          <p:cNvSpPr>
            <a:spLocks noGrp="1" noRot="1" noChangeAspect="1" noMove="1" noResize="1" noEditPoints="1" noAdjustHandles="1" noChangeArrowheads="1" noChangeShapeType="1" noTextEdit="1"/>
          </p:cNvSpPr>
          <p:nvPr>
            <p:ph idx="1"/>
          </p:nvPr>
        </p:nvSpPr>
        <p:spPr>
          <a:xfrm>
            <a:off x="304800" y="990600"/>
            <a:ext cx="10820400" cy="5562600"/>
          </a:xfrm>
          <a:blipFill rotWithShape="1">
            <a:blip r:embed="rId2"/>
            <a:stretch>
              <a:fillRect l="-1972" t="-4496"/>
            </a:stretch>
          </a:blipFill>
          <a:extLst/>
        </p:spPr>
        <p:txBody>
          <a:bodyPr/>
          <a:lstStyle/>
          <a:p>
            <a:r>
              <a:rPr lang="en-US">
                <a:noFill/>
              </a:rPr>
              <a:t> </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71500" y="0"/>
            <a:ext cx="10287000" cy="609600"/>
          </a:xfrm>
        </p:spPr>
        <p:txBody>
          <a:bodyPr/>
          <a:lstStyle/>
          <a:p>
            <a:pPr eaLnBrk="1" hangingPunct="1"/>
            <a:r>
              <a:rPr lang="en-US" altLang="en-US" sz="3200" smtClean="0"/>
              <a:t>Physical Pendulum</a:t>
            </a:r>
            <a:r>
              <a:rPr lang="en-US" altLang="en-US" smtClean="0"/>
              <a:t> </a:t>
            </a:r>
          </a:p>
        </p:txBody>
      </p:sp>
      <p:sp>
        <p:nvSpPr>
          <p:cNvPr id="61443" name="Rectangle 3"/>
          <p:cNvSpPr>
            <a:spLocks noGrp="1" noChangeArrowheads="1"/>
          </p:cNvSpPr>
          <p:nvPr>
            <p:ph idx="1"/>
          </p:nvPr>
        </p:nvSpPr>
        <p:spPr>
          <a:xfrm>
            <a:off x="457200" y="990600"/>
            <a:ext cx="10515600" cy="4876800"/>
          </a:xfrm>
        </p:spPr>
        <p:txBody>
          <a:bodyPr/>
          <a:lstStyle/>
          <a:p>
            <a:pPr marL="0" indent="0" eaLnBrk="1" hangingPunct="1"/>
            <a:r>
              <a:rPr lang="en-US" altLang="en-US" sz="2800" i="1" smtClean="0"/>
              <a:t>I</a:t>
            </a:r>
            <a:r>
              <a:rPr lang="en-US" altLang="en-US" sz="2800" smtClean="0"/>
              <a:t> is the moment of inertia about the axis through </a:t>
            </a:r>
            <a:r>
              <a:rPr lang="en-US" altLang="en-US" sz="2800" i="1" smtClean="0"/>
              <a:t>O.</a:t>
            </a:r>
          </a:p>
          <a:p>
            <a:pPr marL="0" indent="0" eaLnBrk="1" hangingPunct="1"/>
            <a:r>
              <a:rPr lang="en-US" altLang="en-US" sz="2800" smtClean="0"/>
              <a:t>From Newton’s Second Law, </a:t>
            </a:r>
          </a:p>
          <a:p>
            <a:pPr marL="0" indent="0" eaLnBrk="1" hangingPunct="1"/>
            <a:endParaRPr lang="en-US" altLang="en-US" sz="2800" smtClean="0"/>
          </a:p>
          <a:p>
            <a:pPr marL="0" indent="0" eaLnBrk="1" hangingPunct="1"/>
            <a:endParaRPr lang="en-US" altLang="en-US" sz="2800" smtClean="0"/>
          </a:p>
          <a:p>
            <a:pPr marL="0" indent="0" eaLnBrk="1" hangingPunct="1"/>
            <a:endParaRPr lang="en-US" altLang="en-US" sz="2800" smtClean="0"/>
          </a:p>
          <a:p>
            <a:pPr marL="0" indent="0" eaLnBrk="1" hangingPunct="1"/>
            <a:r>
              <a:rPr lang="en-US" altLang="en-US" sz="2800" smtClean="0"/>
              <a:t>The gravitational force produces a restoring force.</a:t>
            </a:r>
          </a:p>
          <a:p>
            <a:pPr marL="0" indent="0" eaLnBrk="1" hangingPunct="1"/>
            <a:r>
              <a:rPr lang="en-US" altLang="en-US" sz="2800" smtClean="0"/>
              <a:t>Assuming </a:t>
            </a:r>
            <a:r>
              <a:rPr lang="en-US" altLang="en-US" sz="2800" i="1" smtClean="0">
                <a:latin typeface="Symbol" pitchFamily="18" charset="2"/>
              </a:rPr>
              <a:t>q</a:t>
            </a:r>
            <a:r>
              <a:rPr lang="en-US" altLang="en-US" sz="2800" smtClean="0"/>
              <a:t> is small, this becomes</a:t>
            </a:r>
          </a:p>
        </p:txBody>
      </p:sp>
      <p:graphicFrame>
        <p:nvGraphicFramePr>
          <p:cNvPr id="61444" name="Object 4"/>
          <p:cNvGraphicFramePr>
            <a:graphicFrameLocks noChangeAspect="1"/>
          </p:cNvGraphicFramePr>
          <p:nvPr/>
        </p:nvGraphicFramePr>
        <p:xfrm>
          <a:off x="533400" y="1981200"/>
          <a:ext cx="4283075" cy="1143000"/>
        </p:xfrm>
        <a:graphic>
          <a:graphicData uri="http://schemas.openxmlformats.org/presentationml/2006/ole">
            <mc:AlternateContent xmlns:mc="http://schemas.openxmlformats.org/markup-compatibility/2006">
              <mc:Choice xmlns:v="urn:schemas-microsoft-com:vml" Requires="v">
                <p:oleObj spid="_x0000_s61475" name="Equation" r:id="rId3" imgW="1257300" imgH="419100" progId="Equation.DSMT4">
                  <p:embed/>
                </p:oleObj>
              </mc:Choice>
              <mc:Fallback>
                <p:oleObj name="Equation" r:id="rId3" imgW="1257300" imgH="419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981200"/>
                        <a:ext cx="4283075"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5" name="Object 5"/>
          <p:cNvGraphicFramePr>
            <a:graphicFrameLocks noChangeAspect="1"/>
          </p:cNvGraphicFramePr>
          <p:nvPr/>
        </p:nvGraphicFramePr>
        <p:xfrm>
          <a:off x="533400" y="4730750"/>
          <a:ext cx="4959350" cy="1060450"/>
        </p:xfrm>
        <a:graphic>
          <a:graphicData uri="http://schemas.openxmlformats.org/presentationml/2006/ole">
            <mc:AlternateContent xmlns:mc="http://schemas.openxmlformats.org/markup-compatibility/2006">
              <mc:Choice xmlns:v="urn:schemas-microsoft-com:vml" Requires="v">
                <p:oleObj spid="_x0000_s61476" name="Equation" r:id="rId5" imgW="1663700" imgH="444500" progId="Equation.DSMT4">
                  <p:embed/>
                </p:oleObj>
              </mc:Choice>
              <mc:Fallback>
                <p:oleObj name="Equation" r:id="rId5" imgW="1663700" imgH="4445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4730750"/>
                        <a:ext cx="4959350" cy="106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4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571500" y="0"/>
            <a:ext cx="10287000" cy="609600"/>
          </a:xfrm>
        </p:spPr>
        <p:txBody>
          <a:bodyPr/>
          <a:lstStyle/>
          <a:p>
            <a:pPr eaLnBrk="1" hangingPunct="1"/>
            <a:r>
              <a:rPr lang="en-US" altLang="en-US" sz="3200" smtClean="0"/>
              <a:t>Physical Pendulum</a:t>
            </a:r>
            <a:endParaRPr lang="en-US" altLang="en-US" smtClean="0"/>
          </a:p>
        </p:txBody>
      </p:sp>
      <p:sp>
        <p:nvSpPr>
          <p:cNvPr id="62467" name="Rectangle 3"/>
          <p:cNvSpPr>
            <a:spLocks noGrp="1" noChangeArrowheads="1"/>
          </p:cNvSpPr>
          <p:nvPr>
            <p:ph idx="1"/>
          </p:nvPr>
        </p:nvSpPr>
        <p:spPr>
          <a:xfrm>
            <a:off x="304800" y="1116013"/>
            <a:ext cx="11125200" cy="5346700"/>
          </a:xfrm>
        </p:spPr>
        <p:txBody>
          <a:bodyPr/>
          <a:lstStyle/>
          <a:p>
            <a:pPr marL="0" indent="0" eaLnBrk="1" hangingPunct="1"/>
            <a:r>
              <a:rPr lang="en-US" altLang="en-US" sz="2400" smtClean="0"/>
              <a:t>This equation is of the same mathematical form as an object in simple harmonic motion.</a:t>
            </a:r>
          </a:p>
          <a:p>
            <a:pPr marL="0" indent="0" eaLnBrk="1" hangingPunct="1"/>
            <a:r>
              <a:rPr lang="en-US" altLang="en-US" sz="2400" smtClean="0"/>
              <a:t>The solution is that of the simple harmonic oscillator.</a:t>
            </a:r>
          </a:p>
          <a:p>
            <a:pPr marL="0" indent="0" eaLnBrk="1" hangingPunct="1"/>
            <a:r>
              <a:rPr lang="en-US" altLang="en-US" sz="2400" smtClean="0"/>
              <a:t>The angular frequency is</a:t>
            </a:r>
            <a:endParaRPr lang="en-US" altLang="en-US" smtClean="0"/>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r>
              <a:rPr lang="en-US" altLang="en-US" sz="2400" smtClean="0"/>
              <a:t>The period is</a:t>
            </a:r>
          </a:p>
          <a:p>
            <a:pPr marL="0" indent="0" eaLnBrk="1" hangingPunct="1">
              <a:buFont typeface="Wingdings" pitchFamily="2" charset="2"/>
              <a:buNone/>
            </a:pPr>
            <a:endParaRPr lang="en-US" altLang="en-US" smtClean="0"/>
          </a:p>
        </p:txBody>
      </p:sp>
      <p:graphicFrame>
        <p:nvGraphicFramePr>
          <p:cNvPr id="62468" name="Object 4"/>
          <p:cNvGraphicFramePr>
            <a:graphicFrameLocks noChangeAspect="1"/>
          </p:cNvGraphicFramePr>
          <p:nvPr/>
        </p:nvGraphicFramePr>
        <p:xfrm>
          <a:off x="457200" y="2895600"/>
          <a:ext cx="2343150" cy="1093788"/>
        </p:xfrm>
        <a:graphic>
          <a:graphicData uri="http://schemas.openxmlformats.org/presentationml/2006/ole">
            <mc:AlternateContent xmlns:mc="http://schemas.openxmlformats.org/markup-compatibility/2006">
              <mc:Choice xmlns:v="urn:schemas-microsoft-com:vml" Requires="v">
                <p:oleObj spid="_x0000_s62529" name="Equation" r:id="rId3" imgW="761669" imgH="444307" progId="Equation.DSMT4">
                  <p:embed/>
                </p:oleObj>
              </mc:Choice>
              <mc:Fallback>
                <p:oleObj name="Equation" r:id="rId3" imgW="761669" imgH="444307"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895600"/>
                        <a:ext cx="2343150"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9" name="Object 5"/>
          <p:cNvGraphicFramePr>
            <a:graphicFrameLocks noChangeAspect="1"/>
          </p:cNvGraphicFramePr>
          <p:nvPr/>
        </p:nvGraphicFramePr>
        <p:xfrm>
          <a:off x="228600" y="5105400"/>
          <a:ext cx="3448050" cy="990600"/>
        </p:xfrm>
        <a:graphic>
          <a:graphicData uri="http://schemas.openxmlformats.org/presentationml/2006/ole">
            <mc:AlternateContent xmlns:mc="http://schemas.openxmlformats.org/markup-compatibility/2006">
              <mc:Choice xmlns:v="urn:schemas-microsoft-com:vml" Requires="v">
                <p:oleObj spid="_x0000_s62530" name="Equation" r:id="rId5" imgW="1308100" imgH="469900" progId="Equation.DSMT4">
                  <p:embed/>
                </p:oleObj>
              </mc:Choice>
              <mc:Fallback>
                <p:oleObj name="Equation" r:id="rId5" imgW="1308100" imgH="4699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5105400"/>
                        <a:ext cx="34480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graphicFrame>
        <p:nvGraphicFramePr>
          <p:cNvPr id="2" name="Object 1"/>
          <p:cNvGraphicFramePr>
            <a:graphicFrameLocks noChangeAspect="1"/>
          </p:cNvGraphicFramePr>
          <p:nvPr/>
        </p:nvGraphicFramePr>
        <p:xfrm>
          <a:off x="7772400" y="1905000"/>
          <a:ext cx="2509838" cy="1060450"/>
        </p:xfrm>
        <a:graphic>
          <a:graphicData uri="http://schemas.openxmlformats.org/presentationml/2006/ole">
            <mc:AlternateContent xmlns:mc="http://schemas.openxmlformats.org/markup-compatibility/2006">
              <mc:Choice xmlns:v="urn:schemas-microsoft-com:vml" Requires="v">
                <p:oleObj spid="_x0000_s62531" name="Equation" r:id="rId7" imgW="990600" imgH="419100" progId="Equation.3">
                  <p:embed/>
                </p:oleObj>
              </mc:Choice>
              <mc:Fallback>
                <p:oleObj name="Equation" r:id="rId7" imgW="990600" imgH="419100"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2400" y="1905000"/>
                        <a:ext cx="2509838" cy="106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72" name="Object 2"/>
          <p:cNvGraphicFramePr>
            <a:graphicFrameLocks noChangeAspect="1"/>
          </p:cNvGraphicFramePr>
          <p:nvPr/>
        </p:nvGraphicFramePr>
        <p:xfrm>
          <a:off x="5715000" y="3429000"/>
          <a:ext cx="4959350" cy="1060450"/>
        </p:xfrm>
        <a:graphic>
          <a:graphicData uri="http://schemas.openxmlformats.org/presentationml/2006/ole">
            <mc:AlternateContent xmlns:mc="http://schemas.openxmlformats.org/markup-compatibility/2006">
              <mc:Choice xmlns:v="urn:schemas-microsoft-com:vml" Requires="v">
                <p:oleObj spid="_x0000_s62532" name="Equation" r:id="rId9" imgW="1663700" imgH="444500" progId="Equation.DSMT4">
                  <p:embed/>
                </p:oleObj>
              </mc:Choice>
              <mc:Fallback>
                <p:oleObj name="Equation" r:id="rId9" imgW="1663700" imgH="4445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15000" y="3429000"/>
                        <a:ext cx="4959350" cy="106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noChangeArrowheads="1"/>
          </p:cNvSpPr>
          <p:nvPr>
            <p:ph type="title"/>
          </p:nvPr>
        </p:nvSpPr>
        <p:spPr>
          <a:xfrm>
            <a:off x="571500" y="0"/>
            <a:ext cx="10287000" cy="609600"/>
          </a:xfrm>
        </p:spPr>
        <p:txBody>
          <a:bodyPr/>
          <a:lstStyle/>
          <a:p>
            <a:pPr eaLnBrk="1" hangingPunct="1"/>
            <a:r>
              <a:rPr lang="en-US" altLang="en-US" sz="3200" smtClean="0"/>
              <a:t>Physical Pendulum</a:t>
            </a:r>
            <a:endParaRPr lang="en-US" altLang="en-US" smtClean="0"/>
          </a:p>
        </p:txBody>
      </p:sp>
      <p:sp>
        <p:nvSpPr>
          <p:cNvPr id="63491" name="Rectangle 5"/>
          <p:cNvSpPr>
            <a:spLocks noGrp="1" noChangeArrowheads="1"/>
          </p:cNvSpPr>
          <p:nvPr>
            <p:ph idx="1"/>
          </p:nvPr>
        </p:nvSpPr>
        <p:spPr>
          <a:xfrm>
            <a:off x="533400" y="1066800"/>
            <a:ext cx="10287000" cy="4438650"/>
          </a:xfrm>
        </p:spPr>
        <p:txBody>
          <a:bodyPr/>
          <a:lstStyle/>
          <a:p>
            <a:pPr marL="0" indent="0" eaLnBrk="1" hangingPunct="1">
              <a:lnSpc>
                <a:spcPct val="90000"/>
              </a:lnSpc>
            </a:pPr>
            <a:r>
              <a:rPr lang="en-US" altLang="en-US" sz="2800" smtClean="0"/>
              <a:t>A physical pendulum can be used to measure the moment of inertia of a flat rigid object.</a:t>
            </a:r>
          </a:p>
          <a:p>
            <a:pPr lvl="1" eaLnBrk="1" hangingPunct="1">
              <a:lnSpc>
                <a:spcPct val="90000"/>
              </a:lnSpc>
            </a:pPr>
            <a:r>
              <a:rPr lang="en-US" altLang="en-US" sz="2800" smtClean="0"/>
              <a:t>If you know </a:t>
            </a:r>
            <a:r>
              <a:rPr lang="en-US" altLang="en-US" sz="2800" i="1" smtClean="0"/>
              <a:t>d</a:t>
            </a:r>
            <a:r>
              <a:rPr lang="en-US" altLang="en-US" sz="2800" smtClean="0"/>
              <a:t>, you can find </a:t>
            </a:r>
            <a:r>
              <a:rPr lang="en-US" altLang="en-US" sz="2800" i="1" smtClean="0"/>
              <a:t>I</a:t>
            </a:r>
            <a:r>
              <a:rPr lang="en-US" altLang="en-US" sz="2800" smtClean="0"/>
              <a:t> by measuring the period.</a:t>
            </a:r>
          </a:p>
          <a:p>
            <a:pPr marL="0" indent="0" eaLnBrk="1" hangingPunct="1">
              <a:lnSpc>
                <a:spcPct val="90000"/>
              </a:lnSpc>
            </a:pPr>
            <a:r>
              <a:rPr lang="en-US" altLang="en-US" sz="2800" smtClean="0"/>
              <a:t>If </a:t>
            </a:r>
            <a:r>
              <a:rPr lang="en-US" altLang="en-US" sz="2800" i="1" smtClean="0"/>
              <a:t>I</a:t>
            </a:r>
            <a:r>
              <a:rPr lang="en-US" altLang="en-US" sz="2800" smtClean="0"/>
              <a:t> = </a:t>
            </a:r>
            <a:r>
              <a:rPr lang="en-US" altLang="en-US" sz="2800" i="1" smtClean="0"/>
              <a:t>m d</a:t>
            </a:r>
            <a:r>
              <a:rPr lang="en-US" altLang="en-US" sz="2800" i="1" baseline="30000" smtClean="0"/>
              <a:t>2</a:t>
            </a:r>
            <a:r>
              <a:rPr lang="en-US" altLang="en-US" sz="2800" smtClean="0"/>
              <a:t> then the physical pendulum is the same as a simple pendulum.</a:t>
            </a:r>
          </a:p>
          <a:p>
            <a:pPr lvl="1" eaLnBrk="1" hangingPunct="1">
              <a:lnSpc>
                <a:spcPct val="90000"/>
              </a:lnSpc>
            </a:pPr>
            <a:r>
              <a:rPr lang="en-US" altLang="en-US" sz="2800" smtClean="0"/>
              <a:t>The mass is all concentrated at the center of mass.</a:t>
            </a:r>
          </a:p>
        </p:txBody>
      </p:sp>
      <p:sp>
        <p:nvSpPr>
          <p:cNvPr id="6349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571500" y="76200"/>
            <a:ext cx="10287000" cy="609600"/>
          </a:xfrm>
        </p:spPr>
        <p:txBody>
          <a:bodyPr/>
          <a:lstStyle/>
          <a:p>
            <a:r>
              <a:rPr lang="en-US" altLang="en-US" smtClean="0"/>
              <a:t/>
            </a:r>
            <a:br>
              <a:rPr lang="en-US" altLang="en-US" smtClean="0"/>
            </a:br>
            <a:r>
              <a:rPr lang="en-US" altLang="en-US" smtClean="0"/>
              <a:t/>
            </a:r>
            <a:br>
              <a:rPr lang="en-US" altLang="en-US" smtClean="0"/>
            </a:br>
            <a:r>
              <a:rPr lang="en-US" altLang="en-US" sz="3200" smtClean="0"/>
              <a:t>Problem 15.6:</a:t>
            </a:r>
            <a:r>
              <a:rPr lang="en-US" altLang="en-US" smtClean="0"/>
              <a:t> </a:t>
            </a:r>
            <a:br>
              <a:rPr lang="en-US" altLang="en-US" smtClean="0"/>
            </a:br>
            <a:r>
              <a:rPr lang="en-US" altLang="en-US" smtClean="0"/>
              <a:t/>
            </a:r>
            <a:br>
              <a:rPr lang="en-US" altLang="en-US" smtClean="0"/>
            </a:br>
            <a:endParaRPr lang="en-US" altLang="en-US" smtClean="0"/>
          </a:p>
        </p:txBody>
      </p:sp>
      <p:sp>
        <p:nvSpPr>
          <p:cNvPr id="3" name="Content Placeholder 2"/>
          <p:cNvSpPr>
            <a:spLocks noGrp="1" noRot="1" noChangeAspect="1" noMove="1" noResize="1" noEditPoints="1" noAdjustHandles="1" noChangeArrowheads="1" noChangeShapeType="1" noTextEdit="1"/>
          </p:cNvSpPr>
          <p:nvPr>
            <p:ph idx="1"/>
          </p:nvPr>
        </p:nvSpPr>
        <p:spPr>
          <a:xfrm>
            <a:off x="304800" y="990600"/>
            <a:ext cx="10706100" cy="4953000"/>
          </a:xfrm>
          <a:blipFill rotWithShape="1">
            <a:blip r:embed="rId2"/>
            <a:stretch>
              <a:fillRect l="-1708" t="-3695" r="-342"/>
            </a:stretch>
          </a:blipFill>
          <a:extLst/>
        </p:spPr>
        <p:txBody>
          <a:bodyPr/>
          <a:lstStyle/>
          <a:p>
            <a:r>
              <a:rPr lang="en-US">
                <a:noFill/>
              </a:rPr>
              <a:t> </a:t>
            </a:r>
          </a:p>
        </p:txBody>
      </p:sp>
      <p:pic>
        <p:nvPicPr>
          <p:cNvPr id="645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1828800"/>
            <a:ext cx="2324100" cy="319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5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700588"/>
            <a:ext cx="5121275" cy="1624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標題 1"/>
          <p:cNvSpPr>
            <a:spLocks noGrp="1"/>
          </p:cNvSpPr>
          <p:nvPr>
            <p:ph type="title"/>
          </p:nvPr>
        </p:nvSpPr>
        <p:spPr>
          <a:xfrm>
            <a:off x="585788" y="0"/>
            <a:ext cx="10287000" cy="811213"/>
          </a:xfrm>
        </p:spPr>
        <p:txBody>
          <a:bodyPr/>
          <a:lstStyle/>
          <a:p>
            <a:pPr eaLnBrk="1" hangingPunct="1"/>
            <a:r>
              <a:rPr lang="en-US" altLang="zh-TW" sz="3200" smtClean="0">
                <a:solidFill>
                  <a:srgbClr val="0070C0"/>
                </a:solidFill>
                <a:ea typeface="PMingLiU" pitchFamily="18" charset="-120"/>
              </a:rPr>
              <a:t>Problem</a:t>
            </a:r>
            <a:r>
              <a:rPr lang="en-US" altLang="zh-TW" sz="3200" smtClean="0">
                <a:ea typeface="PMingLiU" pitchFamily="18" charset="-120"/>
              </a:rPr>
              <a:t>.  Walking</a:t>
            </a:r>
            <a:endParaRPr lang="zh-TW" altLang="en-US" smtClean="0">
              <a:ea typeface="PMingLiU" pitchFamily="18" charset="-120"/>
            </a:endParaRPr>
          </a:p>
        </p:txBody>
      </p:sp>
      <p:sp>
        <p:nvSpPr>
          <p:cNvPr id="13321" name="文字方塊 3"/>
          <p:cNvSpPr txBox="1">
            <a:spLocks noChangeArrowheads="1"/>
          </p:cNvSpPr>
          <p:nvPr/>
        </p:nvSpPr>
        <p:spPr bwMode="auto">
          <a:xfrm>
            <a:off x="304800" y="1071563"/>
            <a:ext cx="107442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lnSpc>
                <a:spcPct val="150000"/>
              </a:lnSpc>
            </a:pPr>
            <a:r>
              <a:rPr lang="en-US" altLang="zh-TW" sz="2000" dirty="0"/>
              <a:t>When walking, the leg not in contact of the ground swings forward, </a:t>
            </a:r>
          </a:p>
          <a:p>
            <a:pPr eaLnBrk="1" hangingPunct="1">
              <a:lnSpc>
                <a:spcPct val="150000"/>
              </a:lnSpc>
            </a:pPr>
            <a:r>
              <a:rPr lang="en-US" altLang="zh-TW" sz="2000" dirty="0"/>
              <a:t>acting like a physical pendulum.</a:t>
            </a:r>
          </a:p>
          <a:p>
            <a:pPr eaLnBrk="1" hangingPunct="1">
              <a:lnSpc>
                <a:spcPct val="150000"/>
              </a:lnSpc>
            </a:pPr>
            <a:r>
              <a:rPr lang="en-US" altLang="zh-TW" sz="2000" dirty="0"/>
              <a:t>Approximating the leg as a uniform rod, find the period for a leg 90 cm long.</a:t>
            </a:r>
            <a:endParaRPr lang="zh-TW" altLang="en-US" sz="2000" dirty="0"/>
          </a:p>
        </p:txBody>
      </p:sp>
      <p:graphicFrame>
        <p:nvGraphicFramePr>
          <p:cNvPr id="13314" name="Object 2"/>
          <p:cNvGraphicFramePr>
            <a:graphicFrameLocks noChangeAspect="1"/>
          </p:cNvGraphicFramePr>
          <p:nvPr/>
        </p:nvGraphicFramePr>
        <p:xfrm>
          <a:off x="5089525" y="3929063"/>
          <a:ext cx="974725" cy="620712"/>
        </p:xfrm>
        <a:graphic>
          <a:graphicData uri="http://schemas.openxmlformats.org/presentationml/2006/ole">
            <mc:AlternateContent xmlns:mc="http://schemas.openxmlformats.org/markup-compatibility/2006">
              <mc:Choice xmlns:v="urn:schemas-microsoft-com:vml" Requires="v">
                <p:oleObj spid="_x0000_s65633" name="Equation" r:id="rId3" imgW="495085" imgH="393529" progId="Equation.DSMT4">
                  <p:embed/>
                </p:oleObj>
              </mc:Choice>
              <mc:Fallback>
                <p:oleObj name="Equation" r:id="rId3" imgW="495085" imgH="39352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9525" y="3929063"/>
                        <a:ext cx="974725"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5" name="Object 3"/>
          <p:cNvGraphicFramePr>
            <a:graphicFrameLocks noChangeAspect="1"/>
          </p:cNvGraphicFramePr>
          <p:nvPr/>
        </p:nvGraphicFramePr>
        <p:xfrm>
          <a:off x="5357813" y="4714875"/>
          <a:ext cx="3724275" cy="860425"/>
        </p:xfrm>
        <a:graphic>
          <a:graphicData uri="http://schemas.openxmlformats.org/presentationml/2006/ole">
            <mc:AlternateContent xmlns:mc="http://schemas.openxmlformats.org/markup-compatibility/2006">
              <mc:Choice xmlns:v="urn:schemas-microsoft-com:vml" Requires="v">
                <p:oleObj spid="_x0000_s65634" name="Equation" r:id="rId5" imgW="1892300" imgH="546100" progId="Equation.DSMT4">
                  <p:embed/>
                </p:oleObj>
              </mc:Choice>
              <mc:Fallback>
                <p:oleObj name="Equation" r:id="rId5" imgW="1892300" imgH="5461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7813" y="4714875"/>
                        <a:ext cx="3724275"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6" name="Object 4"/>
          <p:cNvGraphicFramePr>
            <a:graphicFrameLocks noChangeAspect="1"/>
          </p:cNvGraphicFramePr>
          <p:nvPr/>
        </p:nvGraphicFramePr>
        <p:xfrm>
          <a:off x="5370513" y="5715000"/>
          <a:ext cx="873125" cy="319088"/>
        </p:xfrm>
        <a:graphic>
          <a:graphicData uri="http://schemas.openxmlformats.org/presentationml/2006/ole">
            <mc:AlternateContent xmlns:mc="http://schemas.openxmlformats.org/markup-compatibility/2006">
              <mc:Choice xmlns:v="urn:schemas-microsoft-com:vml" Requires="v">
                <p:oleObj spid="_x0000_s65635" name="Equation" r:id="rId7" imgW="444307" imgH="203112" progId="Equation.DSMT4">
                  <p:embed/>
                </p:oleObj>
              </mc:Choice>
              <mc:Fallback>
                <p:oleObj name="Equation" r:id="rId7" imgW="444307" imgH="203112"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0513" y="5715000"/>
                        <a:ext cx="87312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5"/>
          <p:cNvGraphicFramePr>
            <a:graphicFrameLocks noChangeAspect="1"/>
          </p:cNvGraphicFramePr>
          <p:nvPr/>
        </p:nvGraphicFramePr>
        <p:xfrm>
          <a:off x="5180013" y="2714625"/>
          <a:ext cx="1773237" cy="701675"/>
        </p:xfrm>
        <a:graphic>
          <a:graphicData uri="http://schemas.openxmlformats.org/presentationml/2006/ole">
            <mc:AlternateContent xmlns:mc="http://schemas.openxmlformats.org/markup-compatibility/2006">
              <mc:Choice xmlns:v="urn:schemas-microsoft-com:vml" Requires="v">
                <p:oleObj spid="_x0000_s65636" name="Equation" r:id="rId9" imgW="901309" imgH="444307" progId="Equation.DSMT4">
                  <p:embed/>
                </p:oleObj>
              </mc:Choice>
              <mc:Fallback>
                <p:oleObj name="Equation" r:id="rId9" imgW="901309" imgH="444307"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0013" y="2714625"/>
                        <a:ext cx="1773237"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8" name="Object 6"/>
          <p:cNvGraphicFramePr>
            <a:graphicFrameLocks noChangeAspect="1"/>
          </p:cNvGraphicFramePr>
          <p:nvPr/>
        </p:nvGraphicFramePr>
        <p:xfrm>
          <a:off x="8086725" y="2786063"/>
          <a:ext cx="1674813" cy="622300"/>
        </p:xfrm>
        <a:graphic>
          <a:graphicData uri="http://schemas.openxmlformats.org/presentationml/2006/ole">
            <mc:AlternateContent xmlns:mc="http://schemas.openxmlformats.org/markup-compatibility/2006">
              <mc:Choice xmlns:v="urn:schemas-microsoft-com:vml" Requires="v">
                <p:oleObj spid="_x0000_s65637" name="Equation" r:id="rId11" imgW="850531" imgH="393529" progId="Equation.DSMT4">
                  <p:embed/>
                </p:oleObj>
              </mc:Choice>
              <mc:Fallback>
                <p:oleObj name="Equation" r:id="rId11" imgW="850531" imgH="393529"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86725" y="2786063"/>
                        <a:ext cx="1674813"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7"/>
          <p:cNvGraphicFramePr>
            <a:graphicFrameLocks noChangeAspect="1"/>
          </p:cNvGraphicFramePr>
          <p:nvPr/>
        </p:nvGraphicFramePr>
        <p:xfrm>
          <a:off x="6161088" y="3857625"/>
          <a:ext cx="1500187" cy="762000"/>
        </p:xfrm>
        <a:graphic>
          <a:graphicData uri="http://schemas.openxmlformats.org/presentationml/2006/ole">
            <mc:AlternateContent xmlns:mc="http://schemas.openxmlformats.org/markup-compatibility/2006">
              <mc:Choice xmlns:v="urn:schemas-microsoft-com:vml" Requires="v">
                <p:oleObj spid="_x0000_s65638" name="Equation" r:id="rId13" imgW="761669" imgH="482391" progId="Equation.DSMT4">
                  <p:embed/>
                </p:oleObj>
              </mc:Choice>
              <mc:Fallback>
                <p:oleObj name="Equation" r:id="rId13" imgW="761669" imgH="482391"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61088" y="3857625"/>
                        <a:ext cx="1500187"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3" name="文字方塊 12"/>
          <p:cNvSpPr txBox="1">
            <a:spLocks noChangeArrowheads="1"/>
          </p:cNvSpPr>
          <p:nvPr/>
        </p:nvSpPr>
        <p:spPr bwMode="auto">
          <a:xfrm>
            <a:off x="8929688" y="2500313"/>
            <a:ext cx="1339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400"/>
              <a:t>Table 10.2</a:t>
            </a:r>
            <a:endParaRPr lang="zh-TW" altLang="en-US" sz="1400"/>
          </a:p>
        </p:txBody>
      </p:sp>
      <p:sp>
        <p:nvSpPr>
          <p:cNvPr id="13324" name="文字方塊 13"/>
          <p:cNvSpPr txBox="1">
            <a:spLocks noChangeArrowheads="1"/>
          </p:cNvSpPr>
          <p:nvPr/>
        </p:nvSpPr>
        <p:spPr bwMode="auto">
          <a:xfrm>
            <a:off x="5089525" y="6357938"/>
            <a:ext cx="3571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600"/>
              <a:t>Forward stride = T/2 = 0.8 s</a:t>
            </a:r>
            <a:endParaRPr lang="zh-TW" altLang="en-US" sz="1600"/>
          </a:p>
        </p:txBody>
      </p:sp>
      <p:pic>
        <p:nvPicPr>
          <p:cNvPr id="13325" name="Picture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08138" y="2714625"/>
            <a:ext cx="13811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321">
                                            <p:txEl>
                                              <p:pRg st="0" end="0"/>
                                            </p:txEl>
                                          </p:spTgt>
                                        </p:tgtEl>
                                        <p:attrNameLst>
                                          <p:attrName>style.visibility</p:attrName>
                                        </p:attrNameLst>
                                      </p:cBhvr>
                                      <p:to>
                                        <p:strVal val="visible"/>
                                      </p:to>
                                    </p:set>
                                    <p:animEffect transition="in" filter="box(in)">
                                      <p:cBhvr>
                                        <p:cTn id="7" dur="500"/>
                                        <p:tgtEl>
                                          <p:spTgt spid="1332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321">
                                            <p:txEl>
                                              <p:pRg st="1" end="1"/>
                                            </p:txEl>
                                          </p:spTgt>
                                        </p:tgtEl>
                                        <p:attrNameLst>
                                          <p:attrName>style.visibility</p:attrName>
                                        </p:attrNameLst>
                                      </p:cBhvr>
                                      <p:to>
                                        <p:strVal val="visible"/>
                                      </p:to>
                                    </p:set>
                                    <p:animEffect transition="in" filter="box(in)">
                                      <p:cBhvr>
                                        <p:cTn id="12" dur="500"/>
                                        <p:tgtEl>
                                          <p:spTgt spid="1332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321">
                                            <p:txEl>
                                              <p:pRg st="2" end="2"/>
                                            </p:txEl>
                                          </p:spTgt>
                                        </p:tgtEl>
                                        <p:attrNameLst>
                                          <p:attrName>style.visibility</p:attrName>
                                        </p:attrNameLst>
                                      </p:cBhvr>
                                      <p:to>
                                        <p:strVal val="visible"/>
                                      </p:to>
                                    </p:set>
                                    <p:animEffect transition="in" filter="box(in)">
                                      <p:cBhvr>
                                        <p:cTn id="17" dur="500"/>
                                        <p:tgtEl>
                                          <p:spTgt spid="1332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3325"/>
                                        </p:tgtEl>
                                        <p:attrNameLst>
                                          <p:attrName>style.visibility</p:attrName>
                                        </p:attrNameLst>
                                      </p:cBhvr>
                                      <p:to>
                                        <p:strVal val="visible"/>
                                      </p:to>
                                    </p:set>
                                    <p:animEffect transition="in" filter="box(in)">
                                      <p:cBhvr>
                                        <p:cTn id="22" dur="500"/>
                                        <p:tgtEl>
                                          <p:spTgt spid="133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3317"/>
                                        </p:tgtEl>
                                        <p:attrNameLst>
                                          <p:attrName>style.visibility</p:attrName>
                                        </p:attrNameLst>
                                      </p:cBhvr>
                                      <p:to>
                                        <p:strVal val="visible"/>
                                      </p:to>
                                    </p:set>
                                    <p:animEffect transition="in" filter="box(in)">
                                      <p:cBhvr>
                                        <p:cTn id="27" dur="500"/>
                                        <p:tgtEl>
                                          <p:spTgt spid="133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3323"/>
                                        </p:tgtEl>
                                        <p:attrNameLst>
                                          <p:attrName>style.visibility</p:attrName>
                                        </p:attrNameLst>
                                      </p:cBhvr>
                                      <p:to>
                                        <p:strVal val="visible"/>
                                      </p:to>
                                    </p:set>
                                    <p:animEffect transition="in" filter="box(in)">
                                      <p:cBhvr>
                                        <p:cTn id="32" dur="500"/>
                                        <p:tgtEl>
                                          <p:spTgt spid="13323"/>
                                        </p:tgtEl>
                                      </p:cBhvr>
                                    </p:animEffect>
                                  </p:childTnLst>
                                </p:cTn>
                              </p:par>
                              <p:par>
                                <p:cTn id="33" presetID="4" presetClass="entr" presetSubtype="16" fill="hold" nodeType="withEffect">
                                  <p:stCondLst>
                                    <p:cond delay="0"/>
                                  </p:stCondLst>
                                  <p:childTnLst>
                                    <p:set>
                                      <p:cBhvr>
                                        <p:cTn id="34" dur="1" fill="hold">
                                          <p:stCondLst>
                                            <p:cond delay="0"/>
                                          </p:stCondLst>
                                        </p:cTn>
                                        <p:tgtEl>
                                          <p:spTgt spid="13318"/>
                                        </p:tgtEl>
                                        <p:attrNameLst>
                                          <p:attrName>style.visibility</p:attrName>
                                        </p:attrNameLst>
                                      </p:cBhvr>
                                      <p:to>
                                        <p:strVal val="visible"/>
                                      </p:to>
                                    </p:set>
                                    <p:animEffect transition="in" filter="box(in)">
                                      <p:cBhvr>
                                        <p:cTn id="35" dur="500"/>
                                        <p:tgtEl>
                                          <p:spTgt spid="133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nodeType="clickEffect">
                                  <p:stCondLst>
                                    <p:cond delay="0"/>
                                  </p:stCondLst>
                                  <p:childTnLst>
                                    <p:set>
                                      <p:cBhvr>
                                        <p:cTn id="39" dur="1" fill="hold">
                                          <p:stCondLst>
                                            <p:cond delay="0"/>
                                          </p:stCondLst>
                                        </p:cTn>
                                        <p:tgtEl>
                                          <p:spTgt spid="13314"/>
                                        </p:tgtEl>
                                        <p:attrNameLst>
                                          <p:attrName>style.visibility</p:attrName>
                                        </p:attrNameLst>
                                      </p:cBhvr>
                                      <p:to>
                                        <p:strVal val="visible"/>
                                      </p:to>
                                    </p:set>
                                    <p:animEffect transition="in" filter="box(in)">
                                      <p:cBhvr>
                                        <p:cTn id="40" dur="500"/>
                                        <p:tgtEl>
                                          <p:spTgt spid="1331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13319"/>
                                        </p:tgtEl>
                                        <p:attrNameLst>
                                          <p:attrName>style.visibility</p:attrName>
                                        </p:attrNameLst>
                                      </p:cBhvr>
                                      <p:to>
                                        <p:strVal val="visible"/>
                                      </p:to>
                                    </p:set>
                                    <p:animEffect transition="in" filter="box(in)">
                                      <p:cBhvr>
                                        <p:cTn id="45" dur="500"/>
                                        <p:tgtEl>
                                          <p:spTgt spid="133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13315"/>
                                        </p:tgtEl>
                                        <p:attrNameLst>
                                          <p:attrName>style.visibility</p:attrName>
                                        </p:attrNameLst>
                                      </p:cBhvr>
                                      <p:to>
                                        <p:strVal val="visible"/>
                                      </p:to>
                                    </p:set>
                                    <p:animEffect transition="in" filter="box(in)">
                                      <p:cBhvr>
                                        <p:cTn id="50" dur="500"/>
                                        <p:tgtEl>
                                          <p:spTgt spid="1331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nodeType="clickEffect">
                                  <p:stCondLst>
                                    <p:cond delay="0"/>
                                  </p:stCondLst>
                                  <p:childTnLst>
                                    <p:set>
                                      <p:cBhvr>
                                        <p:cTn id="54" dur="1" fill="hold">
                                          <p:stCondLst>
                                            <p:cond delay="0"/>
                                          </p:stCondLst>
                                        </p:cTn>
                                        <p:tgtEl>
                                          <p:spTgt spid="13316"/>
                                        </p:tgtEl>
                                        <p:attrNameLst>
                                          <p:attrName>style.visibility</p:attrName>
                                        </p:attrNameLst>
                                      </p:cBhvr>
                                      <p:to>
                                        <p:strVal val="visible"/>
                                      </p:to>
                                    </p:set>
                                    <p:animEffect transition="in" filter="box(in)">
                                      <p:cBhvr>
                                        <p:cTn id="55" dur="500"/>
                                        <p:tgtEl>
                                          <p:spTgt spid="13316"/>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13324"/>
                                        </p:tgtEl>
                                        <p:attrNameLst>
                                          <p:attrName>style.visibility</p:attrName>
                                        </p:attrNameLst>
                                      </p:cBhvr>
                                      <p:to>
                                        <p:strVal val="visible"/>
                                      </p:to>
                                    </p:set>
                                    <p:animEffect transition="in" filter="box(in)">
                                      <p:cBhvr>
                                        <p:cTn id="60" dur="500"/>
                                        <p:tgtEl>
                                          <p:spTgt spid="1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3" grpId="0"/>
      <p:bldP spid="1332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571500" y="76200"/>
            <a:ext cx="10287000" cy="609600"/>
          </a:xfrm>
        </p:spPr>
        <p:txBody>
          <a:bodyPr/>
          <a:lstStyle/>
          <a:p>
            <a:pPr eaLnBrk="1" hangingPunct="1"/>
            <a:r>
              <a:rPr lang="en-US" altLang="en-US" sz="3200" smtClean="0"/>
              <a:t>Torsional Pendulum</a:t>
            </a:r>
          </a:p>
        </p:txBody>
      </p:sp>
      <mc:AlternateContent xmlns:mc="http://schemas.openxmlformats.org/markup-compatibility/2006">
        <mc:Choice xmlns:a14="http://schemas.microsoft.com/office/drawing/2010/main" Requires="a14">
          <p:sp>
            <p:nvSpPr>
              <p:cNvPr id="64515" name="Rectangle 3"/>
              <p:cNvSpPr>
                <a:spLocks noGrp="1" noChangeArrowheads="1"/>
              </p:cNvSpPr>
              <p:nvPr>
                <p:ph sz="half" idx="1"/>
              </p:nvPr>
            </p:nvSpPr>
            <p:spPr>
              <a:xfrm>
                <a:off x="228600" y="990601"/>
                <a:ext cx="6629400" cy="5472112"/>
              </a:xfrm>
            </p:spPr>
            <p:txBody>
              <a:bodyPr/>
              <a:lstStyle/>
              <a:p>
                <a:pPr marL="0" indent="0" eaLnBrk="1" hangingPunct="1"/>
                <a:r>
                  <a:rPr lang="en-US" altLang="en-US" dirty="0" smtClean="0"/>
                  <a:t>Assume a rigid object is suspended from a wire attached at its top to a fixed support.</a:t>
                </a:r>
              </a:p>
              <a:p>
                <a:pPr marL="0" indent="0" eaLnBrk="1" hangingPunct="1"/>
                <a:r>
                  <a:rPr lang="en-US" altLang="en-US" dirty="0" smtClean="0"/>
                  <a:t>The twisted wire exerts a restoring torque on the object that is proportional to its angular position.</a:t>
                </a:r>
              </a:p>
              <a:p>
                <a:pPr marL="0" indent="0" eaLnBrk="1" hangingPunct="1"/>
                <a:r>
                  <a:rPr lang="en-US" altLang="en-US" dirty="0" smtClean="0"/>
                  <a:t>The restoring torque is </a:t>
                </a:r>
                <a:r>
                  <a:rPr lang="en-US" altLang="en-US" dirty="0" smtClean="0">
                    <a:latin typeface="Symbol" pitchFamily="18" charset="2"/>
                  </a:rPr>
                  <a:t>t = -</a:t>
                </a:r>
                <a:r>
                  <a:rPr lang="en-US" altLang="en-US" i="1" dirty="0" smtClean="0">
                    <a:latin typeface="Symbol" pitchFamily="18" charset="2"/>
                  </a:rPr>
                  <a:t>k q</a:t>
                </a:r>
                <a:endParaRPr lang="en-US" altLang="en-US" i="1" dirty="0" smtClean="0"/>
              </a:p>
              <a:p>
                <a:pPr lvl="1" eaLnBrk="1" hangingPunct="1"/>
                <a:r>
                  <a:rPr lang="en-US" altLang="en-US" sz="2800" i="1" dirty="0" smtClean="0">
                    <a:latin typeface="Symbol" pitchFamily="18" charset="2"/>
                  </a:rPr>
                  <a:t>k</a:t>
                </a:r>
                <a:r>
                  <a:rPr lang="en-US" altLang="en-US" sz="2800" dirty="0" smtClean="0"/>
                  <a:t> is the </a:t>
                </a:r>
                <a:r>
                  <a:rPr lang="en-US" altLang="en-US" sz="2800" i="1" dirty="0" smtClean="0"/>
                  <a:t>torsion constant</a:t>
                </a:r>
                <a:r>
                  <a:rPr lang="en-US" altLang="en-US" sz="2800" dirty="0" smtClean="0"/>
                  <a:t> of the support wire</a:t>
                </a:r>
                <a:r>
                  <a:rPr lang="en-US" altLang="en-US" sz="2800" dirty="0" smtClean="0"/>
                  <a:t>.</a:t>
                </a:r>
              </a:p>
              <a:p>
                <a:pPr lvl="1" eaLnBrk="1" hangingPunct="1"/>
                <a14:m>
                  <m:oMath xmlns:m="http://schemas.openxmlformats.org/officeDocument/2006/math">
                    <m:r>
                      <a:rPr lang="en-US" altLang="en-US" sz="2800" i="1" smtClean="0">
                        <a:latin typeface="Cambria Math"/>
                        <a:ea typeface="Cambria Math"/>
                      </a:rPr>
                      <m:t>𝜏</m:t>
                    </m:r>
                    <m:r>
                      <a:rPr lang="en-US" altLang="en-US" sz="2800" b="0" i="1" smtClean="0">
                        <a:latin typeface="Cambria Math"/>
                        <a:ea typeface="Cambria Math"/>
                      </a:rPr>
                      <m:t>=−</m:t>
                    </m:r>
                    <m:r>
                      <a:rPr lang="en-US" altLang="en-US" sz="2800" b="0" i="1" smtClean="0">
                        <a:latin typeface="Cambria Math"/>
                        <a:ea typeface="Cambria Math"/>
                      </a:rPr>
                      <m:t>𝜅𝜃</m:t>
                    </m:r>
                  </m:oMath>
                </a14:m>
                <a:r>
                  <a:rPr lang="en-US" altLang="en-US" sz="2800" dirty="0" smtClean="0"/>
                  <a:t> is angular form of Hook’s law</a:t>
                </a:r>
                <a:endParaRPr lang="en-US" altLang="en-US" sz="2800" dirty="0" smtClean="0"/>
              </a:p>
            </p:txBody>
          </p:sp>
        </mc:Choice>
        <mc:Fallback>
          <p:sp>
            <p:nvSpPr>
              <p:cNvPr id="64515" name="Rectangle 3"/>
              <p:cNvSpPr>
                <a:spLocks noGrp="1" noRot="1" noChangeAspect="1" noMove="1" noResize="1" noEditPoints="1" noAdjustHandles="1" noChangeArrowheads="1" noChangeShapeType="1" noTextEdit="1"/>
              </p:cNvSpPr>
              <p:nvPr>
                <p:ph sz="half" idx="1"/>
              </p:nvPr>
            </p:nvSpPr>
            <p:spPr>
              <a:xfrm>
                <a:off x="228600" y="990601"/>
                <a:ext cx="6629400" cy="5472112"/>
              </a:xfrm>
              <a:blipFill rotWithShape="1">
                <a:blip r:embed="rId2"/>
                <a:stretch>
                  <a:fillRect l="-3312" t="-4571" r="-3312"/>
                </a:stretch>
              </a:blipFill>
            </p:spPr>
            <p:txBody>
              <a:bodyPr/>
              <a:lstStyle/>
              <a:p>
                <a:r>
                  <a:rPr lang="en-US">
                    <a:noFill/>
                  </a:rPr>
                  <a:t> </a:t>
                </a:r>
              </a:p>
            </p:txBody>
          </p:sp>
        </mc:Fallback>
      </mc:AlternateContent>
      <p:sp>
        <p:nvSpPr>
          <p:cNvPr id="6656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15.5</a:t>
            </a:r>
          </a:p>
        </p:txBody>
      </p:sp>
      <p:pic>
        <p:nvPicPr>
          <p:cNvPr id="66565" name="Picture 7" descr="15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2138" y="990600"/>
            <a:ext cx="4335462"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571500" y="76200"/>
            <a:ext cx="10287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lgn="l" rtl="0" eaLnBrk="0" fontAlgn="base" hangingPunct="0">
              <a:spcBef>
                <a:spcPct val="0"/>
              </a:spcBef>
              <a:spcAft>
                <a:spcPct val="0"/>
              </a:spcAft>
              <a:defRPr sz="2200">
                <a:solidFill>
                  <a:schemeClr val="accent1"/>
                </a:solidFill>
                <a:latin typeface="+mj-lt"/>
                <a:ea typeface="MS PGothic" pitchFamily="34" charset="-128"/>
                <a:cs typeface="ＭＳ Ｐゴシック"/>
              </a:defRPr>
            </a:lvl1pPr>
            <a:lvl2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2pPr>
            <a:lvl3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3pPr>
            <a:lvl4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4pPr>
            <a:lvl5pPr algn="l" rtl="0" eaLnBrk="0" fontAlgn="base" hangingPunct="0">
              <a:spcBef>
                <a:spcPct val="0"/>
              </a:spcBef>
              <a:spcAft>
                <a:spcPct val="0"/>
              </a:spcAft>
              <a:defRPr sz="2200">
                <a:solidFill>
                  <a:schemeClr val="accent1"/>
                </a:solidFill>
                <a:latin typeface="Arial" charset="0"/>
                <a:ea typeface="MS PGothic" pitchFamily="34" charset="-128"/>
                <a:cs typeface="ＭＳ Ｐゴシック"/>
              </a:defRPr>
            </a:lvl5pPr>
            <a:lvl6pPr marL="457200" algn="l" rtl="0" eaLnBrk="1" fontAlgn="base" hangingPunct="1">
              <a:spcBef>
                <a:spcPct val="0"/>
              </a:spcBef>
              <a:spcAft>
                <a:spcPct val="0"/>
              </a:spcAft>
              <a:defRPr sz="2200">
                <a:solidFill>
                  <a:schemeClr val="accent1"/>
                </a:solidFill>
                <a:latin typeface="Arial" charset="0"/>
                <a:ea typeface="ＭＳ Ｐゴシック" pitchFamily="112" charset="-128"/>
              </a:defRPr>
            </a:lvl6pPr>
            <a:lvl7pPr marL="914400" algn="l" rtl="0" eaLnBrk="1" fontAlgn="base" hangingPunct="1">
              <a:spcBef>
                <a:spcPct val="0"/>
              </a:spcBef>
              <a:spcAft>
                <a:spcPct val="0"/>
              </a:spcAft>
              <a:defRPr sz="2200">
                <a:solidFill>
                  <a:schemeClr val="accent1"/>
                </a:solidFill>
                <a:latin typeface="Arial" charset="0"/>
                <a:ea typeface="ＭＳ Ｐゴシック" pitchFamily="112" charset="-128"/>
              </a:defRPr>
            </a:lvl7pPr>
            <a:lvl8pPr marL="1371600" algn="l" rtl="0" eaLnBrk="1" fontAlgn="base" hangingPunct="1">
              <a:spcBef>
                <a:spcPct val="0"/>
              </a:spcBef>
              <a:spcAft>
                <a:spcPct val="0"/>
              </a:spcAft>
              <a:defRPr sz="2200">
                <a:solidFill>
                  <a:schemeClr val="accent1"/>
                </a:solidFill>
                <a:latin typeface="Arial" charset="0"/>
                <a:ea typeface="ＭＳ Ｐゴシック" pitchFamily="112" charset="-128"/>
              </a:defRPr>
            </a:lvl8pPr>
            <a:lvl9pPr marL="1828800" algn="l" rtl="0" eaLnBrk="1" fontAlgn="base" hangingPunct="1">
              <a:spcBef>
                <a:spcPct val="0"/>
              </a:spcBef>
              <a:spcAft>
                <a:spcPct val="0"/>
              </a:spcAft>
              <a:defRPr sz="2200">
                <a:solidFill>
                  <a:schemeClr val="accent1"/>
                </a:solidFill>
                <a:latin typeface="Arial" charset="0"/>
                <a:ea typeface="ＭＳ Ｐゴシック" pitchFamily="112" charset="-128"/>
              </a:defRPr>
            </a:lvl9pPr>
          </a:lstStyle>
          <a:p>
            <a:pPr eaLnBrk="1" hangingPunct="1">
              <a:defRPr/>
            </a:pPr>
            <a:r>
              <a:rPr lang="en-US" altLang="en-US" sz="3200" kern="0" smtClean="0"/>
              <a:t>Torsional Pendulum</a:t>
            </a:r>
            <a:endParaRPr lang="en-US" altLang="en-US" sz="3200" kern="0" dirty="0" smtClean="0"/>
          </a:p>
        </p:txBody>
      </p:sp>
      <p:graphicFrame>
        <p:nvGraphicFramePr>
          <p:cNvPr id="9" name="Object 8"/>
          <p:cNvGraphicFramePr>
            <a:graphicFrameLocks noChangeAspect="1"/>
          </p:cNvGraphicFramePr>
          <p:nvPr/>
        </p:nvGraphicFramePr>
        <p:xfrm>
          <a:off x="220663" y="1828800"/>
          <a:ext cx="4503737" cy="1143000"/>
        </p:xfrm>
        <a:graphic>
          <a:graphicData uri="http://schemas.openxmlformats.org/presentationml/2006/ole">
            <mc:AlternateContent xmlns:mc="http://schemas.openxmlformats.org/markup-compatibility/2006">
              <mc:Choice xmlns:v="urn:schemas-microsoft-com:vml" Requires="v">
                <p:oleObj spid="_x0000_s67666" name="Equation" r:id="rId3" imgW="1650960" imgH="419040" progId="Equation.3">
                  <p:embed/>
                </p:oleObj>
              </mc:Choice>
              <mc:Fallback>
                <p:oleObj name="Equation" r:id="rId3" imgW="1650960" imgH="41904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663" y="1828800"/>
                        <a:ext cx="45037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525463" y="2971800"/>
          <a:ext cx="2632075" cy="1143000"/>
        </p:xfrm>
        <a:graphic>
          <a:graphicData uri="http://schemas.openxmlformats.org/presentationml/2006/ole">
            <mc:AlternateContent xmlns:mc="http://schemas.openxmlformats.org/markup-compatibility/2006">
              <mc:Choice xmlns:v="urn:schemas-microsoft-com:vml" Requires="v">
                <p:oleObj spid="_x0000_s67667" name="Equation" r:id="rId5" imgW="965160" imgH="419040" progId="Equation.3">
                  <p:embed/>
                </p:oleObj>
              </mc:Choice>
              <mc:Fallback>
                <p:oleObj name="Equation" r:id="rId5" imgW="965160" imgH="41904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463" y="2971800"/>
                        <a:ext cx="26320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8610600" y="4953000"/>
          <a:ext cx="2347913" cy="1060450"/>
        </p:xfrm>
        <a:graphic>
          <a:graphicData uri="http://schemas.openxmlformats.org/presentationml/2006/ole">
            <mc:AlternateContent xmlns:mc="http://schemas.openxmlformats.org/markup-compatibility/2006">
              <mc:Choice xmlns:v="urn:schemas-microsoft-com:vml" Requires="v">
                <p:oleObj spid="_x0000_s67668" name="Equation" r:id="rId7" imgW="927000" imgH="419040" progId="Equation.3">
                  <p:embed/>
                </p:oleObj>
              </mc:Choice>
              <mc:Fallback>
                <p:oleObj name="Equation" r:id="rId7" imgW="927000" imgH="41904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0600" y="4953000"/>
                        <a:ext cx="2347913" cy="106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a:spLocks noChangeArrowheads="1"/>
          </p:cNvSpPr>
          <p:nvPr/>
        </p:nvSpPr>
        <p:spPr bwMode="auto">
          <a:xfrm>
            <a:off x="88900" y="838200"/>
            <a:ext cx="4025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2400"/>
              <a:t>Newton’s Second Law gives</a:t>
            </a:r>
            <a:r>
              <a:rPr lang="en-US" altLang="en-US" sz="1600"/>
              <a:t> </a:t>
            </a:r>
          </a:p>
        </p:txBody>
      </p:sp>
      <p:sp>
        <p:nvSpPr>
          <p:cNvPr id="13" name="Content Placeholder 12"/>
          <p:cNvSpPr>
            <a:spLocks noGrp="1"/>
          </p:cNvSpPr>
          <p:nvPr>
            <p:ph idx="1"/>
          </p:nvPr>
        </p:nvSpPr>
        <p:spPr>
          <a:xfrm>
            <a:off x="304800" y="1330325"/>
            <a:ext cx="10553700" cy="4816475"/>
          </a:xfrm>
        </p:spPr>
        <p:txBody>
          <a:bodyPr/>
          <a:lstStyle/>
          <a:p>
            <a:pPr marL="0" indent="0" eaLnBrk="1" hangingPunct="1">
              <a:lnSpc>
                <a:spcPct val="90000"/>
              </a:lnSpc>
            </a:pPr>
            <a:r>
              <a:rPr lang="en-US" altLang="en-US" sz="2400" smtClean="0"/>
              <a:t>The torque equation produces a motion equation for simple harmonic motion. </a:t>
            </a:r>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endParaRPr lang="en-US" altLang="en-US" smtClean="0"/>
          </a:p>
          <a:p>
            <a:pPr marL="0" indent="0" eaLnBrk="1" hangingPunct="1">
              <a:lnSpc>
                <a:spcPct val="90000"/>
              </a:lnSpc>
            </a:pPr>
            <a:r>
              <a:rPr lang="en-US" altLang="en-US" sz="2800" smtClean="0"/>
              <a:t>The angular frequency is </a:t>
            </a:r>
          </a:p>
        </p:txBody>
      </p:sp>
      <p:graphicFrame>
        <p:nvGraphicFramePr>
          <p:cNvPr id="14" name="Object 13"/>
          <p:cNvGraphicFramePr>
            <a:graphicFrameLocks noChangeAspect="1"/>
          </p:cNvGraphicFramePr>
          <p:nvPr/>
        </p:nvGraphicFramePr>
        <p:xfrm>
          <a:off x="4343400" y="4648200"/>
          <a:ext cx="1676400" cy="1270000"/>
        </p:xfrm>
        <a:graphic>
          <a:graphicData uri="http://schemas.openxmlformats.org/presentationml/2006/ole">
            <mc:AlternateContent xmlns:mc="http://schemas.openxmlformats.org/markup-compatibility/2006">
              <mc:Choice xmlns:v="urn:schemas-microsoft-com:vml" Requires="v">
                <p:oleObj spid="_x0000_s67669" name="Equation" r:id="rId9" imgW="533160" imgH="444240" progId="Equation.3">
                  <p:embed/>
                </p:oleObj>
              </mc:Choice>
              <mc:Fallback>
                <p:oleObj name="Equation" r:id="rId9" imgW="533160" imgH="44424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4648200"/>
                        <a:ext cx="1676400" cy="127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a:spLocks noChangeArrowheads="1"/>
          </p:cNvSpPr>
          <p:nvPr/>
        </p:nvSpPr>
        <p:spPr bwMode="auto">
          <a:xfrm>
            <a:off x="5181600" y="2209800"/>
            <a:ext cx="2362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2800"/>
              <a:t>The period is </a:t>
            </a:r>
          </a:p>
          <a:p>
            <a:pPr eaLnBrk="1" hangingPunct="1"/>
            <a:endParaRPr lang="en-US" altLang="en-US" sz="2800"/>
          </a:p>
        </p:txBody>
      </p:sp>
      <p:graphicFrame>
        <p:nvGraphicFramePr>
          <p:cNvPr id="17" name="Object 16"/>
          <p:cNvGraphicFramePr>
            <a:graphicFrameLocks noChangeAspect="1"/>
          </p:cNvGraphicFramePr>
          <p:nvPr/>
        </p:nvGraphicFramePr>
        <p:xfrm>
          <a:off x="8191500" y="1762125"/>
          <a:ext cx="2235200" cy="1270000"/>
        </p:xfrm>
        <a:graphic>
          <a:graphicData uri="http://schemas.openxmlformats.org/presentationml/2006/ole">
            <mc:AlternateContent xmlns:mc="http://schemas.openxmlformats.org/markup-compatibility/2006">
              <mc:Choice xmlns:v="urn:schemas-microsoft-com:vml" Requires="v">
                <p:oleObj spid="_x0000_s67670" name="Equation" r:id="rId11" imgW="711000" imgH="444240" progId="Equation.3">
                  <p:embed/>
                </p:oleObj>
              </mc:Choice>
              <mc:Fallback>
                <p:oleObj name="Equation" r:id="rId11" imgW="711000" imgH="44424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91500" y="1762125"/>
                        <a:ext cx="2235200" cy="127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Box 17"/>
          <p:cNvSpPr txBox="1">
            <a:spLocks noChangeArrowheads="1"/>
          </p:cNvSpPr>
          <p:nvPr/>
        </p:nvSpPr>
        <p:spPr bwMode="auto">
          <a:xfrm>
            <a:off x="5410200" y="3101975"/>
            <a:ext cx="55626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MS PGothic" pitchFamily="34" charset="-128"/>
              </a:defRPr>
            </a:lvl1pPr>
            <a:lvl2pPr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lvl="1" eaLnBrk="1" hangingPunct="1">
              <a:lnSpc>
                <a:spcPct val="90000"/>
              </a:lnSpc>
            </a:pPr>
            <a:r>
              <a:rPr lang="en-US" altLang="en-US" sz="2400"/>
              <a:t>No small-angle restriction is necessary.</a:t>
            </a:r>
          </a:p>
          <a:p>
            <a:pPr lvl="1" eaLnBrk="1" hangingPunct="1">
              <a:lnSpc>
                <a:spcPct val="90000"/>
              </a:lnSpc>
            </a:pPr>
            <a:r>
              <a:rPr lang="en-US" altLang="en-US" sz="2400"/>
              <a:t>Assumes the elastic limit of the wire is not exceeded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71500" y="76200"/>
            <a:ext cx="10287000" cy="609600"/>
          </a:xfrm>
        </p:spPr>
        <p:txBody>
          <a:bodyPr/>
          <a:lstStyle/>
          <a:p>
            <a:pPr eaLnBrk="1" hangingPunct="1"/>
            <a:r>
              <a:rPr lang="en-US" altLang="en-US" sz="3200" smtClean="0"/>
              <a:t>Damped Oscillations</a:t>
            </a:r>
          </a:p>
        </p:txBody>
      </p:sp>
      <p:sp>
        <p:nvSpPr>
          <p:cNvPr id="66563" name="Rectangle 3"/>
          <p:cNvSpPr>
            <a:spLocks noGrp="1" noChangeArrowheads="1"/>
          </p:cNvSpPr>
          <p:nvPr>
            <p:ph idx="1"/>
          </p:nvPr>
        </p:nvSpPr>
        <p:spPr>
          <a:xfrm>
            <a:off x="304800" y="990600"/>
            <a:ext cx="10287000" cy="4438650"/>
          </a:xfrm>
        </p:spPr>
        <p:txBody>
          <a:bodyPr/>
          <a:lstStyle/>
          <a:p>
            <a:pPr marL="0" indent="0" eaLnBrk="1" hangingPunct="1"/>
            <a:r>
              <a:rPr lang="en-US" altLang="en-US" sz="2800" smtClean="0"/>
              <a:t>In many real systems, non-conservative forces are present.</a:t>
            </a:r>
          </a:p>
          <a:p>
            <a:pPr lvl="1" eaLnBrk="1" hangingPunct="1"/>
            <a:r>
              <a:rPr lang="en-US" altLang="en-US" sz="2800" smtClean="0"/>
              <a:t>This is no longer an ideal system (the type we have dealt with so far).</a:t>
            </a:r>
          </a:p>
          <a:p>
            <a:pPr lvl="1" eaLnBrk="1" hangingPunct="1"/>
            <a:r>
              <a:rPr lang="en-US" altLang="en-US" sz="2800" smtClean="0"/>
              <a:t>Friction and air resistance are common non-conservative forces.</a:t>
            </a:r>
          </a:p>
          <a:p>
            <a:pPr marL="0" indent="0" eaLnBrk="1" hangingPunct="1"/>
            <a:r>
              <a:rPr lang="en-US" altLang="en-US" sz="2800" smtClean="0"/>
              <a:t>In this case, the mechanical energy of the system diminishes in time, the motion is said to be </a:t>
            </a:r>
            <a:r>
              <a:rPr lang="en-US" altLang="en-US" sz="2800" b="1" i="1" smtClean="0"/>
              <a:t>damped.</a:t>
            </a:r>
            <a:endParaRPr lang="en-US" altLang="en-US" sz="2800" smtClean="0"/>
          </a:p>
        </p:txBody>
      </p:sp>
      <p:sp>
        <p:nvSpPr>
          <p:cNvPr id="6861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56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5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5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71500" y="0"/>
            <a:ext cx="10287000" cy="609600"/>
          </a:xfrm>
        </p:spPr>
        <p:txBody>
          <a:bodyPr/>
          <a:lstStyle/>
          <a:p>
            <a:pPr eaLnBrk="1" hangingPunct="1"/>
            <a:r>
              <a:rPr lang="en-US" altLang="en-US" sz="3200" smtClean="0"/>
              <a:t>Damped Oscillation, Example</a:t>
            </a:r>
          </a:p>
        </p:txBody>
      </p:sp>
      <p:sp>
        <p:nvSpPr>
          <p:cNvPr id="67587" name="Rectangle 3"/>
          <p:cNvSpPr>
            <a:spLocks noGrp="1" noChangeArrowheads="1"/>
          </p:cNvSpPr>
          <p:nvPr>
            <p:ph sz="half" idx="1"/>
          </p:nvPr>
        </p:nvSpPr>
        <p:spPr>
          <a:xfrm>
            <a:off x="152400" y="1123950"/>
            <a:ext cx="6858000" cy="5338763"/>
          </a:xfrm>
        </p:spPr>
        <p:txBody>
          <a:bodyPr/>
          <a:lstStyle/>
          <a:p>
            <a:pPr marL="0" indent="0" eaLnBrk="1" hangingPunct="1">
              <a:lnSpc>
                <a:spcPct val="90000"/>
              </a:lnSpc>
            </a:pPr>
            <a:r>
              <a:rPr lang="en-US" altLang="en-US" sz="2400" smtClean="0"/>
              <a:t>One example of damped motion occurs when an object is attached to a spring and submerged in a viscous liquid.</a:t>
            </a:r>
          </a:p>
          <a:p>
            <a:pPr marL="0" indent="0" eaLnBrk="1" hangingPunct="1">
              <a:lnSpc>
                <a:spcPct val="90000"/>
              </a:lnSpc>
            </a:pPr>
            <a:r>
              <a:rPr lang="en-US" altLang="en-US" sz="2400" smtClean="0"/>
              <a:t>The retarding force can be expressed as </a:t>
            </a:r>
            <a:r>
              <a:rPr lang="en-US" altLang="en-US" sz="2400" b="1" smtClean="0"/>
              <a:t>              </a:t>
            </a:r>
            <a:r>
              <a:rPr lang="en-US" altLang="en-US" sz="2400" smtClean="0"/>
              <a:t> </a:t>
            </a:r>
          </a:p>
          <a:p>
            <a:pPr lvl="1" eaLnBrk="1" hangingPunct="1"/>
            <a:endParaRPr lang="en-US" altLang="en-US" i="1" smtClean="0"/>
          </a:p>
          <a:p>
            <a:pPr lvl="1" eaLnBrk="1" hangingPunct="1"/>
            <a:r>
              <a:rPr lang="en-US" altLang="en-US" i="1" smtClean="0"/>
              <a:t>b</a:t>
            </a:r>
            <a:r>
              <a:rPr lang="en-US" altLang="en-US" smtClean="0"/>
              <a:t> is a constant</a:t>
            </a:r>
          </a:p>
          <a:p>
            <a:pPr lvl="1" eaLnBrk="1" hangingPunct="1">
              <a:lnSpc>
                <a:spcPct val="90000"/>
              </a:lnSpc>
            </a:pPr>
            <a:r>
              <a:rPr lang="en-US" altLang="en-US" i="1" smtClean="0"/>
              <a:t>b</a:t>
            </a:r>
            <a:r>
              <a:rPr lang="en-US" altLang="en-US" smtClean="0"/>
              <a:t> is called the </a:t>
            </a:r>
            <a:r>
              <a:rPr lang="en-US" altLang="en-US" b="1" i="1" smtClean="0"/>
              <a:t>damping coefficient</a:t>
            </a:r>
            <a:r>
              <a:rPr lang="en-US" altLang="en-US" smtClean="0"/>
              <a:t> </a:t>
            </a:r>
          </a:p>
          <a:p>
            <a:pPr marL="0" indent="0" eaLnBrk="1" hangingPunct="1">
              <a:lnSpc>
                <a:spcPct val="90000"/>
              </a:lnSpc>
            </a:pPr>
            <a:endParaRPr lang="en-US" altLang="en-US" sz="1800" smtClean="0"/>
          </a:p>
        </p:txBody>
      </p:sp>
      <p:graphicFrame>
        <p:nvGraphicFramePr>
          <p:cNvPr id="67588" name="Object 6"/>
          <p:cNvGraphicFramePr>
            <a:graphicFrameLocks noChangeAspect="1"/>
          </p:cNvGraphicFramePr>
          <p:nvPr/>
        </p:nvGraphicFramePr>
        <p:xfrm>
          <a:off x="685800" y="2743200"/>
          <a:ext cx="1335088" cy="381000"/>
        </p:xfrm>
        <a:graphic>
          <a:graphicData uri="http://schemas.openxmlformats.org/presentationml/2006/ole">
            <mc:AlternateContent xmlns:mc="http://schemas.openxmlformats.org/markup-compatibility/2006">
              <mc:Choice xmlns:v="urn:schemas-microsoft-com:vml" Requires="v">
                <p:oleObj spid="_x0000_s69653" name="Equation" r:id="rId3" imgW="710891" imgH="253890" progId="Equation.DSMT4">
                  <p:embed/>
                </p:oleObj>
              </mc:Choice>
              <mc:Fallback>
                <p:oleObj name="Equation" r:id="rId3" imgW="710891" imgH="25389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743200"/>
                        <a:ext cx="1335088"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7"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pic>
        <p:nvPicPr>
          <p:cNvPr id="69638" name="Picture 7" descr="15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0" y="1143000"/>
            <a:ext cx="390207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758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758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5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標題 1"/>
          <p:cNvSpPr>
            <a:spLocks noGrp="1"/>
          </p:cNvSpPr>
          <p:nvPr>
            <p:ph type="title"/>
          </p:nvPr>
        </p:nvSpPr>
        <p:spPr>
          <a:xfrm>
            <a:off x="338138" y="22225"/>
            <a:ext cx="10287000" cy="739775"/>
          </a:xfrm>
        </p:spPr>
        <p:txBody>
          <a:bodyPr/>
          <a:lstStyle/>
          <a:p>
            <a:pPr eaLnBrk="1" hangingPunct="1"/>
            <a:r>
              <a:rPr lang="en-US" altLang="zh-TW" smtClean="0">
                <a:ea typeface="PMingLiU" pitchFamily="18" charset="-120"/>
              </a:rPr>
              <a:t> Damped Harmonic Motion</a:t>
            </a:r>
            <a:endParaRPr lang="zh-TW" altLang="en-US" smtClean="0">
              <a:ea typeface="PMingLiU" pitchFamily="18" charset="-120"/>
            </a:endParaRPr>
          </a:p>
        </p:txBody>
      </p:sp>
      <p:sp>
        <p:nvSpPr>
          <p:cNvPr id="17423" name="文字方塊 3"/>
          <p:cNvSpPr txBox="1">
            <a:spLocks noChangeArrowheads="1"/>
          </p:cNvSpPr>
          <p:nvPr/>
        </p:nvSpPr>
        <p:spPr bwMode="auto">
          <a:xfrm>
            <a:off x="5803900" y="1428750"/>
            <a:ext cx="3214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600"/>
              <a:t>Damping (frictional) force:</a:t>
            </a:r>
            <a:endParaRPr lang="zh-TW" altLang="en-US" sz="1600"/>
          </a:p>
        </p:txBody>
      </p:sp>
      <p:graphicFrame>
        <p:nvGraphicFramePr>
          <p:cNvPr id="17410" name="Object 2"/>
          <p:cNvGraphicFramePr>
            <a:graphicFrameLocks noChangeAspect="1"/>
          </p:cNvGraphicFramePr>
          <p:nvPr/>
        </p:nvGraphicFramePr>
        <p:xfrm>
          <a:off x="6875463" y="2000250"/>
          <a:ext cx="1225550" cy="360363"/>
        </p:xfrm>
        <a:graphic>
          <a:graphicData uri="http://schemas.openxmlformats.org/presentationml/2006/ole">
            <mc:AlternateContent xmlns:mc="http://schemas.openxmlformats.org/markup-compatibility/2006">
              <mc:Choice xmlns:v="urn:schemas-microsoft-com:vml" Requires="v">
                <p:oleObj spid="_x0000_s70835" name="Equation" r:id="rId3" imgW="622030" imgH="228501" progId="Equation.DSMT4">
                  <p:embed/>
                </p:oleObj>
              </mc:Choice>
              <mc:Fallback>
                <p:oleObj name="Equation" r:id="rId3" imgW="622030" imgH="228501"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5463" y="2000250"/>
                        <a:ext cx="1225550"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1" name="Object 4"/>
          <p:cNvGraphicFramePr>
            <a:graphicFrameLocks noChangeAspect="1"/>
          </p:cNvGraphicFramePr>
          <p:nvPr/>
        </p:nvGraphicFramePr>
        <p:xfrm>
          <a:off x="8215313" y="1839913"/>
          <a:ext cx="1149350" cy="681037"/>
        </p:xfrm>
        <a:graphic>
          <a:graphicData uri="http://schemas.openxmlformats.org/presentationml/2006/ole">
            <mc:AlternateContent xmlns:mc="http://schemas.openxmlformats.org/markup-compatibility/2006">
              <mc:Choice xmlns:v="urn:schemas-microsoft-com:vml" Requires="v">
                <p:oleObj spid="_x0000_s70836" name="Equation" r:id="rId5" imgW="583947" imgH="431613" progId="Equation.DSMT4">
                  <p:embed/>
                </p:oleObj>
              </mc:Choice>
              <mc:Fallback>
                <p:oleObj name="Equation" r:id="rId5" imgW="583947" imgH="431613"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15313" y="1839913"/>
                        <a:ext cx="1149350" cy="68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4" name="文字方塊 6"/>
          <p:cNvSpPr txBox="1">
            <a:spLocks noChangeArrowheads="1"/>
          </p:cNvSpPr>
          <p:nvPr/>
        </p:nvSpPr>
        <p:spPr bwMode="auto">
          <a:xfrm>
            <a:off x="5894388" y="2786063"/>
            <a:ext cx="2857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600"/>
              <a:t>Damped mass-spring:</a:t>
            </a:r>
            <a:endParaRPr lang="zh-TW" altLang="en-US" sz="1600"/>
          </a:p>
        </p:txBody>
      </p:sp>
      <p:graphicFrame>
        <p:nvGraphicFramePr>
          <p:cNvPr id="17412" name="Object 5"/>
          <p:cNvGraphicFramePr>
            <a:graphicFrameLocks noChangeAspect="1"/>
          </p:cNvGraphicFramePr>
          <p:nvPr/>
        </p:nvGraphicFramePr>
        <p:xfrm>
          <a:off x="6429375" y="3357563"/>
          <a:ext cx="2673350" cy="720725"/>
        </p:xfrm>
        <a:graphic>
          <a:graphicData uri="http://schemas.openxmlformats.org/presentationml/2006/ole">
            <mc:AlternateContent xmlns:mc="http://schemas.openxmlformats.org/markup-compatibility/2006">
              <mc:Choice xmlns:v="urn:schemas-microsoft-com:vml" Requires="v">
                <p:oleObj spid="_x0000_s70837" name="Equation" r:id="rId7" imgW="1358900" imgH="457200" progId="Equation.DSMT4">
                  <p:embed/>
                </p:oleObj>
              </mc:Choice>
              <mc:Fallback>
                <p:oleObj name="Equation" r:id="rId7" imgW="1358900" imgH="457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375" y="3357563"/>
                        <a:ext cx="267335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5" name="文字方塊 8"/>
          <p:cNvSpPr txBox="1">
            <a:spLocks noChangeArrowheads="1"/>
          </p:cNvSpPr>
          <p:nvPr/>
        </p:nvSpPr>
        <p:spPr bwMode="auto">
          <a:xfrm>
            <a:off x="446088" y="3929063"/>
            <a:ext cx="1162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600"/>
              <a:t>Ansatz:</a:t>
            </a:r>
            <a:endParaRPr lang="zh-TW" altLang="en-US" sz="1600"/>
          </a:p>
        </p:txBody>
      </p:sp>
      <p:graphicFrame>
        <p:nvGraphicFramePr>
          <p:cNvPr id="17413" name="Object 6"/>
          <p:cNvGraphicFramePr>
            <a:graphicFrameLocks noChangeAspect="1"/>
          </p:cNvGraphicFramePr>
          <p:nvPr/>
        </p:nvGraphicFramePr>
        <p:xfrm>
          <a:off x="268288" y="4357688"/>
          <a:ext cx="3146425" cy="400050"/>
        </p:xfrm>
        <a:graphic>
          <a:graphicData uri="http://schemas.openxmlformats.org/presentationml/2006/ole">
            <mc:AlternateContent xmlns:mc="http://schemas.openxmlformats.org/markup-compatibility/2006">
              <mc:Choice xmlns:v="urn:schemas-microsoft-com:vml" Requires="v">
                <p:oleObj spid="_x0000_s70838" name="Equation" r:id="rId9" imgW="1600200" imgH="254000" progId="Equation.DSMT4">
                  <p:embed/>
                </p:oleObj>
              </mc:Choice>
              <mc:Fallback>
                <p:oleObj name="Equation" r:id="rId9" imgW="1600200" imgH="2540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288" y="4357688"/>
                        <a:ext cx="314642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4" name="Object 7"/>
          <p:cNvGraphicFramePr>
            <a:graphicFrameLocks noChangeAspect="1"/>
          </p:cNvGraphicFramePr>
          <p:nvPr/>
        </p:nvGraphicFramePr>
        <p:xfrm>
          <a:off x="268288" y="4857750"/>
          <a:ext cx="5794375" cy="439738"/>
        </p:xfrm>
        <a:graphic>
          <a:graphicData uri="http://schemas.openxmlformats.org/presentationml/2006/ole">
            <mc:AlternateContent xmlns:mc="http://schemas.openxmlformats.org/markup-compatibility/2006">
              <mc:Choice xmlns:v="urn:schemas-microsoft-com:vml" Requires="v">
                <p:oleObj spid="_x0000_s70839" name="Equation" r:id="rId11" imgW="2946400" imgH="279400" progId="Equation.DSMT4">
                  <p:embed/>
                </p:oleObj>
              </mc:Choice>
              <mc:Fallback>
                <p:oleObj name="Equation" r:id="rId11" imgW="2946400" imgH="2794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8288" y="4857750"/>
                        <a:ext cx="57943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5" name="Object 8"/>
          <p:cNvGraphicFramePr>
            <a:graphicFrameLocks noChangeAspect="1"/>
          </p:cNvGraphicFramePr>
          <p:nvPr/>
        </p:nvGraphicFramePr>
        <p:xfrm>
          <a:off x="268288" y="5429250"/>
          <a:ext cx="7013575" cy="479425"/>
        </p:xfrm>
        <a:graphic>
          <a:graphicData uri="http://schemas.openxmlformats.org/presentationml/2006/ole">
            <mc:AlternateContent xmlns:mc="http://schemas.openxmlformats.org/markup-compatibility/2006">
              <mc:Choice xmlns:v="urn:schemas-microsoft-com:vml" Requires="v">
                <p:oleObj spid="_x0000_s70840" name="Equation" r:id="rId13" imgW="3568700" imgH="304800" progId="Equation.DSMT4">
                  <p:embed/>
                </p:oleObj>
              </mc:Choice>
              <mc:Fallback>
                <p:oleObj name="Equation" r:id="rId13" imgW="3568700" imgH="3048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8288" y="5429250"/>
                        <a:ext cx="70135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6" name="文字方塊 12"/>
          <p:cNvSpPr txBox="1">
            <a:spLocks noChangeArrowheads="1"/>
          </p:cNvSpPr>
          <p:nvPr/>
        </p:nvSpPr>
        <p:spPr bwMode="auto">
          <a:xfrm>
            <a:off x="7412038" y="4786313"/>
            <a:ext cx="625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a:sym typeface="Wingdings" pitchFamily="2" charset="2"/>
              </a:rPr>
              <a:t></a:t>
            </a:r>
            <a:endParaRPr lang="zh-TW" altLang="en-US"/>
          </a:p>
        </p:txBody>
      </p:sp>
      <p:graphicFrame>
        <p:nvGraphicFramePr>
          <p:cNvPr id="17416" name="Object 9"/>
          <p:cNvGraphicFramePr>
            <a:graphicFrameLocks noChangeAspect="1"/>
          </p:cNvGraphicFramePr>
          <p:nvPr/>
        </p:nvGraphicFramePr>
        <p:xfrm>
          <a:off x="8304213" y="4500563"/>
          <a:ext cx="2820987" cy="439737"/>
        </p:xfrm>
        <a:graphic>
          <a:graphicData uri="http://schemas.openxmlformats.org/presentationml/2006/ole">
            <mc:AlternateContent xmlns:mc="http://schemas.openxmlformats.org/markup-compatibility/2006">
              <mc:Choice xmlns:v="urn:schemas-microsoft-com:vml" Requires="v">
                <p:oleObj spid="_x0000_s70841" name="Equation" r:id="rId15" imgW="1435100" imgH="279400" progId="Equation.DSMT4">
                  <p:embed/>
                </p:oleObj>
              </mc:Choice>
              <mc:Fallback>
                <p:oleObj name="Equation" r:id="rId15" imgW="1435100" imgH="2794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04213" y="4500563"/>
                        <a:ext cx="2820987"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7" name="Object 10"/>
          <p:cNvGraphicFramePr>
            <a:graphicFrameLocks noChangeAspect="1"/>
          </p:cNvGraphicFramePr>
          <p:nvPr/>
        </p:nvGraphicFramePr>
        <p:xfrm>
          <a:off x="8393113" y="5214938"/>
          <a:ext cx="1724025" cy="320675"/>
        </p:xfrm>
        <a:graphic>
          <a:graphicData uri="http://schemas.openxmlformats.org/presentationml/2006/ole">
            <mc:AlternateContent xmlns:mc="http://schemas.openxmlformats.org/markup-compatibility/2006">
              <mc:Choice xmlns:v="urn:schemas-microsoft-com:vml" Requires="v">
                <p:oleObj spid="_x0000_s70842" name="Equation" r:id="rId17" imgW="876300" imgH="203200" progId="Equation.DSMT4">
                  <p:embed/>
                </p:oleObj>
              </mc:Choice>
              <mc:Fallback>
                <p:oleObj name="Equation" r:id="rId17" imgW="876300" imgH="2032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393113" y="5214938"/>
                        <a:ext cx="1724025"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7" name="文字方塊 15"/>
          <p:cNvSpPr txBox="1">
            <a:spLocks noChangeArrowheads="1"/>
          </p:cNvSpPr>
          <p:nvPr/>
        </p:nvSpPr>
        <p:spPr bwMode="auto">
          <a:xfrm>
            <a:off x="893763" y="6072188"/>
            <a:ext cx="623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zh-TW" altLang="en-US">
                <a:sym typeface="Symbol" pitchFamily="18" charset="2"/>
              </a:rPr>
              <a:t></a:t>
            </a:r>
            <a:endParaRPr lang="zh-TW" altLang="en-US"/>
          </a:p>
        </p:txBody>
      </p:sp>
      <p:graphicFrame>
        <p:nvGraphicFramePr>
          <p:cNvPr id="17418" name="Object 11"/>
          <p:cNvGraphicFramePr>
            <a:graphicFrameLocks noChangeAspect="1"/>
          </p:cNvGraphicFramePr>
          <p:nvPr/>
        </p:nvGraphicFramePr>
        <p:xfrm>
          <a:off x="2046288" y="5992813"/>
          <a:ext cx="1023937" cy="622300"/>
        </p:xfrm>
        <a:graphic>
          <a:graphicData uri="http://schemas.openxmlformats.org/presentationml/2006/ole">
            <mc:AlternateContent xmlns:mc="http://schemas.openxmlformats.org/markup-compatibility/2006">
              <mc:Choice xmlns:v="urn:schemas-microsoft-com:vml" Requires="v">
                <p:oleObj spid="_x0000_s70843" name="Equation" r:id="rId19" imgW="520474" imgH="393529" progId="Equation.DSMT4">
                  <p:embed/>
                </p:oleObj>
              </mc:Choice>
              <mc:Fallback>
                <p:oleObj name="Equation" r:id="rId19" imgW="520474" imgH="393529"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46288" y="5992813"/>
                        <a:ext cx="1023937"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9" name="Object 12"/>
          <p:cNvGraphicFramePr>
            <a:graphicFrameLocks noChangeAspect="1"/>
          </p:cNvGraphicFramePr>
          <p:nvPr/>
        </p:nvGraphicFramePr>
        <p:xfrm>
          <a:off x="4197350" y="6000750"/>
          <a:ext cx="1773238" cy="701675"/>
        </p:xfrm>
        <a:graphic>
          <a:graphicData uri="http://schemas.openxmlformats.org/presentationml/2006/ole">
            <mc:AlternateContent xmlns:mc="http://schemas.openxmlformats.org/markup-compatibility/2006">
              <mc:Choice xmlns:v="urn:schemas-microsoft-com:vml" Requires="v">
                <p:oleObj spid="_x0000_s70844" name="Equation" r:id="rId21" imgW="901309" imgH="444307" progId="Equation.DSMT4">
                  <p:embed/>
                </p:oleObj>
              </mc:Choice>
              <mc:Fallback>
                <p:oleObj name="Equation" r:id="rId21" imgW="901309" imgH="444307" progId="Equation.DSMT4">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97350" y="6000750"/>
                        <a:ext cx="1773238"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0" name="Object 13"/>
          <p:cNvGraphicFramePr>
            <a:graphicFrameLocks noChangeAspect="1"/>
          </p:cNvGraphicFramePr>
          <p:nvPr/>
        </p:nvGraphicFramePr>
        <p:xfrm>
          <a:off x="6038850" y="5951538"/>
          <a:ext cx="1998663" cy="801687"/>
        </p:xfrm>
        <a:graphic>
          <a:graphicData uri="http://schemas.openxmlformats.org/presentationml/2006/ole">
            <mc:AlternateContent xmlns:mc="http://schemas.openxmlformats.org/markup-compatibility/2006">
              <mc:Choice xmlns:v="urn:schemas-microsoft-com:vml" Requires="v">
                <p:oleObj spid="_x0000_s70845" name="Equation" r:id="rId23" imgW="1016000" imgH="508000" progId="Equation.DSMT4">
                  <p:embed/>
                </p:oleObj>
              </mc:Choice>
              <mc:Fallback>
                <p:oleObj name="Equation" r:id="rId23" imgW="1016000" imgH="508000" progId="Equation.DSMT4">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38850" y="5951538"/>
                        <a:ext cx="1998663" cy="80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428" name="Picture 2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68288" y="1285875"/>
            <a:ext cx="521335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文字方塊 20"/>
          <p:cNvSpPr txBox="1">
            <a:spLocks noChangeArrowheads="1"/>
          </p:cNvSpPr>
          <p:nvPr/>
        </p:nvSpPr>
        <p:spPr bwMode="auto">
          <a:xfrm>
            <a:off x="1339850" y="785813"/>
            <a:ext cx="1339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400"/>
              <a:t>sinusoidal oscillation</a:t>
            </a:r>
            <a:endParaRPr lang="zh-TW" altLang="en-US" sz="1400"/>
          </a:p>
        </p:txBody>
      </p:sp>
      <p:cxnSp>
        <p:nvCxnSpPr>
          <p:cNvPr id="23" name="直線單箭頭接點 22"/>
          <p:cNvCxnSpPr>
            <a:cxnSpLocks noChangeShapeType="1"/>
          </p:cNvCxnSpPr>
          <p:nvPr/>
        </p:nvCxnSpPr>
        <p:spPr bwMode="auto">
          <a:xfrm rot="16200000" flipH="1">
            <a:off x="1508919" y="1562894"/>
            <a:ext cx="1000125" cy="446087"/>
          </a:xfrm>
          <a:prstGeom prst="straightConnector1">
            <a:avLst/>
          </a:prstGeom>
          <a:noFill/>
          <a:ln w="50800" algn="ctr">
            <a:solidFill>
              <a:srgbClr val="00B050">
                <a:alpha val="27058"/>
              </a:srgbClr>
            </a:solidFill>
            <a:round/>
            <a:headEnd/>
            <a:tailEnd type="arrow" w="med" len="med"/>
          </a:ln>
          <a:extLst>
            <a:ext uri="{909E8E84-426E-40DD-AFC4-6F175D3DCCD1}">
              <a14:hiddenFill xmlns:a14="http://schemas.microsoft.com/office/drawing/2010/main">
                <a:noFill/>
              </a14:hiddenFill>
            </a:ext>
          </a:extLst>
        </p:spPr>
      </p:cxnSp>
      <p:sp>
        <p:nvSpPr>
          <p:cNvPr id="24" name="文字方塊 23"/>
          <p:cNvSpPr txBox="1">
            <a:spLocks noChangeArrowheads="1"/>
          </p:cNvSpPr>
          <p:nvPr/>
        </p:nvSpPr>
        <p:spPr bwMode="auto">
          <a:xfrm>
            <a:off x="2768600" y="3286125"/>
            <a:ext cx="2054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zh-TW" sz="1400"/>
              <a:t>Amplitude exponential decay</a:t>
            </a:r>
            <a:endParaRPr lang="zh-TW" altLang="en-US" sz="1400"/>
          </a:p>
        </p:txBody>
      </p:sp>
      <p:cxnSp>
        <p:nvCxnSpPr>
          <p:cNvPr id="25" name="直線單箭頭接點 24"/>
          <p:cNvCxnSpPr>
            <a:cxnSpLocks noChangeShapeType="1"/>
          </p:cNvCxnSpPr>
          <p:nvPr/>
        </p:nvCxnSpPr>
        <p:spPr bwMode="auto">
          <a:xfrm rot="10800000">
            <a:off x="2678113" y="2786063"/>
            <a:ext cx="714375" cy="500062"/>
          </a:xfrm>
          <a:prstGeom prst="straightConnector1">
            <a:avLst/>
          </a:prstGeom>
          <a:noFill/>
          <a:ln w="50800" algn="ctr">
            <a:solidFill>
              <a:srgbClr val="00B050">
                <a:alpha val="27058"/>
              </a:srgbClr>
            </a:solidFill>
            <a:round/>
            <a:headEnd/>
            <a:tailEnd type="arrow" w="med" len="med"/>
          </a:ln>
          <a:extLst>
            <a:ext uri="{909E8E84-426E-40DD-AFC4-6F175D3DCCD1}">
              <a14:hiddenFill xmlns:a14="http://schemas.microsoft.com/office/drawing/2010/main">
                <a:noFill/>
              </a14:hiddenFill>
            </a:ext>
          </a:extLst>
        </p:spPr>
      </p:cxnSp>
      <p:cxnSp>
        <p:nvCxnSpPr>
          <p:cNvPr id="30" name="直線單箭頭接點 29"/>
          <p:cNvCxnSpPr>
            <a:cxnSpLocks noChangeShapeType="1"/>
          </p:cNvCxnSpPr>
          <p:nvPr/>
        </p:nvCxnSpPr>
        <p:spPr bwMode="auto">
          <a:xfrm rot="16200000" flipV="1">
            <a:off x="2786063" y="2500313"/>
            <a:ext cx="1214437" cy="357187"/>
          </a:xfrm>
          <a:prstGeom prst="straightConnector1">
            <a:avLst/>
          </a:prstGeom>
          <a:noFill/>
          <a:ln w="50800" algn="ctr">
            <a:solidFill>
              <a:srgbClr val="00B050">
                <a:alpha val="27058"/>
              </a:srgbClr>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23"/>
                                        </p:tgtEl>
                                        <p:attrNameLst>
                                          <p:attrName>style.visibility</p:attrName>
                                        </p:attrNameLst>
                                      </p:cBhvr>
                                      <p:to>
                                        <p:strVal val="visible"/>
                                      </p:to>
                                    </p:set>
                                    <p:animEffect transition="in" filter="box(in)">
                                      <p:cBhvr>
                                        <p:cTn id="7" dur="500"/>
                                        <p:tgtEl>
                                          <p:spTgt spid="17423"/>
                                        </p:tgtEl>
                                      </p:cBhvr>
                                    </p:animEffect>
                                  </p:childTnLst>
                                </p:cTn>
                              </p:par>
                              <p:par>
                                <p:cTn id="8" presetID="4" presetClass="entr" presetSubtype="16" fill="hold" nodeType="withEffect">
                                  <p:stCondLst>
                                    <p:cond delay="0"/>
                                  </p:stCondLst>
                                  <p:childTnLst>
                                    <p:set>
                                      <p:cBhvr>
                                        <p:cTn id="9" dur="1" fill="hold">
                                          <p:stCondLst>
                                            <p:cond delay="0"/>
                                          </p:stCondLst>
                                        </p:cTn>
                                        <p:tgtEl>
                                          <p:spTgt spid="17410"/>
                                        </p:tgtEl>
                                        <p:attrNameLst>
                                          <p:attrName>style.visibility</p:attrName>
                                        </p:attrNameLst>
                                      </p:cBhvr>
                                      <p:to>
                                        <p:strVal val="visible"/>
                                      </p:to>
                                    </p:set>
                                    <p:animEffect transition="in" filter="box(in)">
                                      <p:cBhvr>
                                        <p:cTn id="10" dur="500"/>
                                        <p:tgtEl>
                                          <p:spTgt spid="1741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17411"/>
                                        </p:tgtEl>
                                        <p:attrNameLst>
                                          <p:attrName>style.visibility</p:attrName>
                                        </p:attrNameLst>
                                      </p:cBhvr>
                                      <p:to>
                                        <p:strVal val="visible"/>
                                      </p:to>
                                    </p:set>
                                    <p:animEffect transition="in" filter="box(in)">
                                      <p:cBhvr>
                                        <p:cTn id="15" dur="500"/>
                                        <p:tgtEl>
                                          <p:spTgt spid="1741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7424"/>
                                        </p:tgtEl>
                                        <p:attrNameLst>
                                          <p:attrName>style.visibility</p:attrName>
                                        </p:attrNameLst>
                                      </p:cBhvr>
                                      <p:to>
                                        <p:strVal val="visible"/>
                                      </p:to>
                                    </p:set>
                                    <p:animEffect transition="in" filter="box(in)">
                                      <p:cBhvr>
                                        <p:cTn id="20" dur="500"/>
                                        <p:tgtEl>
                                          <p:spTgt spid="17424"/>
                                        </p:tgtEl>
                                      </p:cBhvr>
                                    </p:animEffect>
                                  </p:childTnLst>
                                </p:cTn>
                              </p:par>
                              <p:par>
                                <p:cTn id="21" presetID="4" presetClass="entr" presetSubtype="16" fill="hold" nodeType="withEffect">
                                  <p:stCondLst>
                                    <p:cond delay="0"/>
                                  </p:stCondLst>
                                  <p:childTnLst>
                                    <p:set>
                                      <p:cBhvr>
                                        <p:cTn id="22" dur="1" fill="hold">
                                          <p:stCondLst>
                                            <p:cond delay="0"/>
                                          </p:stCondLst>
                                        </p:cTn>
                                        <p:tgtEl>
                                          <p:spTgt spid="17412"/>
                                        </p:tgtEl>
                                        <p:attrNameLst>
                                          <p:attrName>style.visibility</p:attrName>
                                        </p:attrNameLst>
                                      </p:cBhvr>
                                      <p:to>
                                        <p:strVal val="visible"/>
                                      </p:to>
                                    </p:set>
                                    <p:animEffect transition="in" filter="box(in)">
                                      <p:cBhvr>
                                        <p:cTn id="23" dur="500"/>
                                        <p:tgtEl>
                                          <p:spTgt spid="1741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7425"/>
                                        </p:tgtEl>
                                        <p:attrNameLst>
                                          <p:attrName>style.visibility</p:attrName>
                                        </p:attrNameLst>
                                      </p:cBhvr>
                                      <p:to>
                                        <p:strVal val="visible"/>
                                      </p:to>
                                    </p:set>
                                    <p:animEffect transition="in" filter="box(in)">
                                      <p:cBhvr>
                                        <p:cTn id="28" dur="500"/>
                                        <p:tgtEl>
                                          <p:spTgt spid="17425"/>
                                        </p:tgtEl>
                                      </p:cBhvr>
                                    </p:animEffect>
                                  </p:childTnLst>
                                </p:cTn>
                              </p:par>
                              <p:par>
                                <p:cTn id="29" presetID="4" presetClass="entr" presetSubtype="16" fill="hold" nodeType="withEffect">
                                  <p:stCondLst>
                                    <p:cond delay="0"/>
                                  </p:stCondLst>
                                  <p:childTnLst>
                                    <p:set>
                                      <p:cBhvr>
                                        <p:cTn id="30" dur="1" fill="hold">
                                          <p:stCondLst>
                                            <p:cond delay="0"/>
                                          </p:stCondLst>
                                        </p:cTn>
                                        <p:tgtEl>
                                          <p:spTgt spid="17413"/>
                                        </p:tgtEl>
                                        <p:attrNameLst>
                                          <p:attrName>style.visibility</p:attrName>
                                        </p:attrNameLst>
                                      </p:cBhvr>
                                      <p:to>
                                        <p:strVal val="visible"/>
                                      </p:to>
                                    </p:set>
                                    <p:animEffect transition="in" filter="box(in)">
                                      <p:cBhvr>
                                        <p:cTn id="31" dur="500"/>
                                        <p:tgtEl>
                                          <p:spTgt spid="174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17428"/>
                                        </p:tgtEl>
                                        <p:attrNameLst>
                                          <p:attrName>style.visibility</p:attrName>
                                        </p:attrNameLst>
                                      </p:cBhvr>
                                      <p:to>
                                        <p:strVal val="visible"/>
                                      </p:to>
                                    </p:set>
                                    <p:animEffect transition="in" filter="box(in)">
                                      <p:cBhvr>
                                        <p:cTn id="36" dur="500"/>
                                        <p:tgtEl>
                                          <p:spTgt spid="1742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ox(in)">
                                      <p:cBhvr>
                                        <p:cTn id="41" dur="500"/>
                                        <p:tgtEl>
                                          <p:spTgt spid="21"/>
                                        </p:tgtEl>
                                      </p:cBhvr>
                                    </p:animEffect>
                                  </p:childTnLst>
                                </p:cTn>
                              </p:par>
                              <p:par>
                                <p:cTn id="42" presetID="4" presetClass="entr" presetSubtype="16"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ox(in)">
                                      <p:cBhvr>
                                        <p:cTn id="44" dur="500"/>
                                        <p:tgtEl>
                                          <p:spTgt spid="2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ox(in)">
                                      <p:cBhvr>
                                        <p:cTn id="49" dur="500"/>
                                        <p:tgtEl>
                                          <p:spTgt spid="24"/>
                                        </p:tgtEl>
                                      </p:cBhvr>
                                    </p:animEffect>
                                  </p:childTnLst>
                                </p:cTn>
                              </p:par>
                              <p:par>
                                <p:cTn id="50" presetID="4" presetClass="entr" presetSubtype="16"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ox(in)">
                                      <p:cBhvr>
                                        <p:cTn id="52" dur="500"/>
                                        <p:tgtEl>
                                          <p:spTgt spid="25"/>
                                        </p:tgtEl>
                                      </p:cBhvr>
                                    </p:animEffect>
                                  </p:childTnLst>
                                </p:cTn>
                              </p:par>
                              <p:par>
                                <p:cTn id="53" presetID="4" presetClass="entr" presetSubtype="16"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box(in)">
                                      <p:cBhvr>
                                        <p:cTn id="55" dur="500"/>
                                        <p:tgtEl>
                                          <p:spTgt spid="3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nodeType="clickEffect">
                                  <p:stCondLst>
                                    <p:cond delay="0"/>
                                  </p:stCondLst>
                                  <p:childTnLst>
                                    <p:set>
                                      <p:cBhvr>
                                        <p:cTn id="59" dur="1" fill="hold">
                                          <p:stCondLst>
                                            <p:cond delay="0"/>
                                          </p:stCondLst>
                                        </p:cTn>
                                        <p:tgtEl>
                                          <p:spTgt spid="17414"/>
                                        </p:tgtEl>
                                        <p:attrNameLst>
                                          <p:attrName>style.visibility</p:attrName>
                                        </p:attrNameLst>
                                      </p:cBhvr>
                                      <p:to>
                                        <p:strVal val="visible"/>
                                      </p:to>
                                    </p:set>
                                    <p:animEffect transition="in" filter="box(in)">
                                      <p:cBhvr>
                                        <p:cTn id="60" dur="500"/>
                                        <p:tgtEl>
                                          <p:spTgt spid="1741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nodeType="clickEffect">
                                  <p:stCondLst>
                                    <p:cond delay="0"/>
                                  </p:stCondLst>
                                  <p:childTnLst>
                                    <p:set>
                                      <p:cBhvr>
                                        <p:cTn id="64" dur="1" fill="hold">
                                          <p:stCondLst>
                                            <p:cond delay="0"/>
                                          </p:stCondLst>
                                        </p:cTn>
                                        <p:tgtEl>
                                          <p:spTgt spid="17415"/>
                                        </p:tgtEl>
                                        <p:attrNameLst>
                                          <p:attrName>style.visibility</p:attrName>
                                        </p:attrNameLst>
                                      </p:cBhvr>
                                      <p:to>
                                        <p:strVal val="visible"/>
                                      </p:to>
                                    </p:set>
                                    <p:animEffect transition="in" filter="box(in)">
                                      <p:cBhvr>
                                        <p:cTn id="65" dur="500"/>
                                        <p:tgtEl>
                                          <p:spTgt spid="1741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16" fill="hold" grpId="0" nodeType="clickEffect">
                                  <p:stCondLst>
                                    <p:cond delay="0"/>
                                  </p:stCondLst>
                                  <p:childTnLst>
                                    <p:set>
                                      <p:cBhvr>
                                        <p:cTn id="69" dur="1" fill="hold">
                                          <p:stCondLst>
                                            <p:cond delay="0"/>
                                          </p:stCondLst>
                                        </p:cTn>
                                        <p:tgtEl>
                                          <p:spTgt spid="17426"/>
                                        </p:tgtEl>
                                        <p:attrNameLst>
                                          <p:attrName>style.visibility</p:attrName>
                                        </p:attrNameLst>
                                      </p:cBhvr>
                                      <p:to>
                                        <p:strVal val="visible"/>
                                      </p:to>
                                    </p:set>
                                    <p:animEffect transition="in" filter="box(in)">
                                      <p:cBhvr>
                                        <p:cTn id="70" dur="500"/>
                                        <p:tgtEl>
                                          <p:spTgt spid="17426"/>
                                        </p:tgtEl>
                                      </p:cBhvr>
                                    </p:animEffect>
                                  </p:childTnLst>
                                </p:cTn>
                              </p:par>
                              <p:par>
                                <p:cTn id="71" presetID="4" presetClass="entr" presetSubtype="16" fill="hold" nodeType="withEffect">
                                  <p:stCondLst>
                                    <p:cond delay="0"/>
                                  </p:stCondLst>
                                  <p:childTnLst>
                                    <p:set>
                                      <p:cBhvr>
                                        <p:cTn id="72" dur="1" fill="hold">
                                          <p:stCondLst>
                                            <p:cond delay="0"/>
                                          </p:stCondLst>
                                        </p:cTn>
                                        <p:tgtEl>
                                          <p:spTgt spid="17416"/>
                                        </p:tgtEl>
                                        <p:attrNameLst>
                                          <p:attrName>style.visibility</p:attrName>
                                        </p:attrNameLst>
                                      </p:cBhvr>
                                      <p:to>
                                        <p:strVal val="visible"/>
                                      </p:to>
                                    </p:set>
                                    <p:animEffect transition="in" filter="box(in)">
                                      <p:cBhvr>
                                        <p:cTn id="73" dur="500"/>
                                        <p:tgtEl>
                                          <p:spTgt spid="1741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4" presetClass="entr" presetSubtype="16" fill="hold" nodeType="clickEffect">
                                  <p:stCondLst>
                                    <p:cond delay="0"/>
                                  </p:stCondLst>
                                  <p:childTnLst>
                                    <p:set>
                                      <p:cBhvr>
                                        <p:cTn id="77" dur="1" fill="hold">
                                          <p:stCondLst>
                                            <p:cond delay="0"/>
                                          </p:stCondLst>
                                        </p:cTn>
                                        <p:tgtEl>
                                          <p:spTgt spid="17417"/>
                                        </p:tgtEl>
                                        <p:attrNameLst>
                                          <p:attrName>style.visibility</p:attrName>
                                        </p:attrNameLst>
                                      </p:cBhvr>
                                      <p:to>
                                        <p:strVal val="visible"/>
                                      </p:to>
                                    </p:set>
                                    <p:animEffect transition="in" filter="box(in)">
                                      <p:cBhvr>
                                        <p:cTn id="78" dur="500"/>
                                        <p:tgtEl>
                                          <p:spTgt spid="1741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17427"/>
                                        </p:tgtEl>
                                        <p:attrNameLst>
                                          <p:attrName>style.visibility</p:attrName>
                                        </p:attrNameLst>
                                      </p:cBhvr>
                                      <p:to>
                                        <p:strVal val="visible"/>
                                      </p:to>
                                    </p:set>
                                    <p:animEffect transition="in" filter="box(in)">
                                      <p:cBhvr>
                                        <p:cTn id="83" dur="500"/>
                                        <p:tgtEl>
                                          <p:spTgt spid="17427"/>
                                        </p:tgtEl>
                                      </p:cBhvr>
                                    </p:animEffect>
                                  </p:childTnLst>
                                </p:cTn>
                              </p:par>
                              <p:par>
                                <p:cTn id="84" presetID="4" presetClass="entr" presetSubtype="16" fill="hold" nodeType="withEffect">
                                  <p:stCondLst>
                                    <p:cond delay="0"/>
                                  </p:stCondLst>
                                  <p:childTnLst>
                                    <p:set>
                                      <p:cBhvr>
                                        <p:cTn id="85" dur="1" fill="hold">
                                          <p:stCondLst>
                                            <p:cond delay="0"/>
                                          </p:stCondLst>
                                        </p:cTn>
                                        <p:tgtEl>
                                          <p:spTgt spid="17418"/>
                                        </p:tgtEl>
                                        <p:attrNameLst>
                                          <p:attrName>style.visibility</p:attrName>
                                        </p:attrNameLst>
                                      </p:cBhvr>
                                      <p:to>
                                        <p:strVal val="visible"/>
                                      </p:to>
                                    </p:set>
                                    <p:animEffect transition="in" filter="box(in)">
                                      <p:cBhvr>
                                        <p:cTn id="86" dur="500"/>
                                        <p:tgtEl>
                                          <p:spTgt spid="1741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 presetClass="entr" presetSubtype="16" fill="hold" nodeType="clickEffect">
                                  <p:stCondLst>
                                    <p:cond delay="0"/>
                                  </p:stCondLst>
                                  <p:childTnLst>
                                    <p:set>
                                      <p:cBhvr>
                                        <p:cTn id="90" dur="1" fill="hold">
                                          <p:stCondLst>
                                            <p:cond delay="0"/>
                                          </p:stCondLst>
                                        </p:cTn>
                                        <p:tgtEl>
                                          <p:spTgt spid="17419"/>
                                        </p:tgtEl>
                                        <p:attrNameLst>
                                          <p:attrName>style.visibility</p:attrName>
                                        </p:attrNameLst>
                                      </p:cBhvr>
                                      <p:to>
                                        <p:strVal val="visible"/>
                                      </p:to>
                                    </p:set>
                                    <p:animEffect transition="in" filter="box(in)">
                                      <p:cBhvr>
                                        <p:cTn id="91" dur="500"/>
                                        <p:tgtEl>
                                          <p:spTgt spid="1741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4" presetClass="entr" presetSubtype="16" fill="hold" nodeType="clickEffect">
                                  <p:stCondLst>
                                    <p:cond delay="0"/>
                                  </p:stCondLst>
                                  <p:childTnLst>
                                    <p:set>
                                      <p:cBhvr>
                                        <p:cTn id="95" dur="1" fill="hold">
                                          <p:stCondLst>
                                            <p:cond delay="0"/>
                                          </p:stCondLst>
                                        </p:cTn>
                                        <p:tgtEl>
                                          <p:spTgt spid="17420"/>
                                        </p:tgtEl>
                                        <p:attrNameLst>
                                          <p:attrName>style.visibility</p:attrName>
                                        </p:attrNameLst>
                                      </p:cBhvr>
                                      <p:to>
                                        <p:strVal val="visible"/>
                                      </p:to>
                                    </p:set>
                                    <p:animEffect transition="in" filter="box(in)">
                                      <p:cBhvr>
                                        <p:cTn id="96" dur="500"/>
                                        <p:tgtEl>
                                          <p:spTgt spid="17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3" grpId="0"/>
      <p:bldP spid="17424" grpId="0"/>
      <p:bldP spid="17425" grpId="0"/>
      <p:bldP spid="17426" grpId="0"/>
      <p:bldP spid="17427" grpId="0"/>
      <p:bldP spid="21" grpId="0"/>
      <p:bldP spid="2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571500" y="76200"/>
            <a:ext cx="10287000" cy="609600"/>
          </a:xfrm>
        </p:spPr>
        <p:txBody>
          <a:bodyPr/>
          <a:lstStyle/>
          <a:p>
            <a:pPr eaLnBrk="1" hangingPunct="1"/>
            <a:r>
              <a:rPr lang="en-US" altLang="en-US" sz="2800" smtClean="0"/>
              <a:t>Damped Oscillations, Equations</a:t>
            </a:r>
          </a:p>
        </p:txBody>
      </p:sp>
      <p:sp>
        <p:nvSpPr>
          <p:cNvPr id="69635" name="Rectangle 3"/>
          <p:cNvSpPr>
            <a:spLocks noGrp="1" noChangeArrowheads="1"/>
          </p:cNvSpPr>
          <p:nvPr>
            <p:ph idx="1"/>
          </p:nvPr>
        </p:nvSpPr>
        <p:spPr>
          <a:xfrm>
            <a:off x="228600" y="914400"/>
            <a:ext cx="10896600" cy="5257800"/>
          </a:xfrm>
        </p:spPr>
        <p:txBody>
          <a:bodyPr/>
          <a:lstStyle/>
          <a:p>
            <a:pPr marL="0" indent="0" eaLnBrk="1" hangingPunct="1">
              <a:lnSpc>
                <a:spcPct val="90000"/>
              </a:lnSpc>
            </a:pPr>
            <a:r>
              <a:rPr lang="en-US" altLang="en-US" sz="2400" smtClean="0"/>
              <a:t>From Newton’s Second Law</a:t>
            </a:r>
          </a:p>
          <a:p>
            <a:pPr marL="0" indent="0" eaLnBrk="1" hangingPunct="1">
              <a:lnSpc>
                <a:spcPct val="90000"/>
              </a:lnSpc>
              <a:buFont typeface="Wingdings" pitchFamily="2" charset="2"/>
              <a:buNone/>
            </a:pPr>
            <a:r>
              <a:rPr lang="en-US" altLang="en-US" sz="2400" smtClean="0"/>
              <a:t>	</a:t>
            </a:r>
            <a:r>
              <a:rPr lang="en-US" altLang="en-US" sz="2400" smtClean="0">
                <a:latin typeface="Symbol" pitchFamily="18" charset="2"/>
              </a:rPr>
              <a:t>S</a:t>
            </a:r>
            <a:r>
              <a:rPr lang="en-US" altLang="en-US" sz="2400" i="1" smtClean="0"/>
              <a:t>F</a:t>
            </a:r>
            <a:r>
              <a:rPr lang="en-US" altLang="en-US" sz="2400" i="1" baseline="-25000" smtClean="0"/>
              <a:t>x</a:t>
            </a:r>
            <a:r>
              <a:rPr lang="en-US" altLang="en-US" sz="2400" smtClean="0"/>
              <a:t> = -</a:t>
            </a:r>
            <a:r>
              <a:rPr lang="en-US" altLang="en-US" sz="2400" i="1" smtClean="0"/>
              <a:t>k x</a:t>
            </a:r>
            <a:r>
              <a:rPr lang="en-US" altLang="en-US" sz="2400" smtClean="0"/>
              <a:t> – </a:t>
            </a:r>
            <a:r>
              <a:rPr lang="en-US" altLang="en-US" sz="2400" i="1" smtClean="0"/>
              <a:t>bv</a:t>
            </a:r>
            <a:r>
              <a:rPr lang="en-US" altLang="en-US" sz="2400" i="1" baseline="-25000" smtClean="0"/>
              <a:t>x</a:t>
            </a:r>
            <a:r>
              <a:rPr lang="en-US" altLang="en-US" sz="2400" smtClean="0"/>
              <a:t> = </a:t>
            </a:r>
            <a:r>
              <a:rPr lang="en-US" altLang="en-US" sz="2400" i="1" smtClean="0"/>
              <a:t>ma</a:t>
            </a:r>
            <a:r>
              <a:rPr lang="en-US" altLang="en-US" sz="2400" i="1" baseline="-25000" smtClean="0"/>
              <a:t>x        </a:t>
            </a:r>
            <a:endParaRPr lang="en-US" altLang="en-US" sz="2400" i="1" smtClean="0"/>
          </a:p>
          <a:p>
            <a:pPr marL="0" indent="0" eaLnBrk="1" hangingPunct="1">
              <a:lnSpc>
                <a:spcPct val="90000"/>
              </a:lnSpc>
            </a:pPr>
            <a:r>
              <a:rPr lang="en-US" altLang="en-US" sz="2400" smtClean="0"/>
              <a:t> When the retarding force is small compared to the maximum restoring force we can determine the expression for </a:t>
            </a:r>
            <a:r>
              <a:rPr lang="en-US" altLang="en-US" sz="2400" i="1" smtClean="0"/>
              <a:t>x.</a:t>
            </a:r>
          </a:p>
          <a:p>
            <a:pPr lvl="1" eaLnBrk="1" hangingPunct="1">
              <a:lnSpc>
                <a:spcPct val="90000"/>
              </a:lnSpc>
            </a:pPr>
            <a:r>
              <a:rPr lang="en-US" altLang="en-US" sz="2400" smtClean="0"/>
              <a:t>This occurs when </a:t>
            </a:r>
            <a:r>
              <a:rPr lang="en-US" altLang="en-US" sz="2400" i="1" smtClean="0"/>
              <a:t>b</a:t>
            </a:r>
            <a:r>
              <a:rPr lang="en-US" altLang="en-US" sz="2400" smtClean="0"/>
              <a:t> is small.</a:t>
            </a:r>
          </a:p>
          <a:p>
            <a:pPr marL="0" indent="0" eaLnBrk="1" hangingPunct="1"/>
            <a:r>
              <a:rPr lang="en-US" altLang="en-US" sz="2400" smtClean="0"/>
              <a:t>The position can be described by</a:t>
            </a:r>
          </a:p>
          <a:p>
            <a:pPr marL="0" indent="0" eaLnBrk="1" hangingPunct="1"/>
            <a:endParaRPr lang="en-US" altLang="en-US" sz="2400" smtClean="0"/>
          </a:p>
          <a:p>
            <a:pPr marL="0" indent="0" eaLnBrk="1" hangingPunct="1"/>
            <a:endParaRPr lang="en-US" altLang="en-US" sz="2400" smtClean="0"/>
          </a:p>
          <a:p>
            <a:pPr marL="0" indent="0" eaLnBrk="1" hangingPunct="1"/>
            <a:r>
              <a:rPr lang="en-US" altLang="en-US" sz="2400" smtClean="0"/>
              <a:t>The angular frequency will be</a:t>
            </a:r>
          </a:p>
          <a:p>
            <a:pPr lvl="1" eaLnBrk="1" hangingPunct="1">
              <a:lnSpc>
                <a:spcPct val="90000"/>
              </a:lnSpc>
            </a:pPr>
            <a:endParaRPr lang="en-US" altLang="en-US" smtClean="0"/>
          </a:p>
        </p:txBody>
      </p:sp>
      <p:graphicFrame>
        <p:nvGraphicFramePr>
          <p:cNvPr id="69636" name="Object 4"/>
          <p:cNvGraphicFramePr>
            <a:graphicFrameLocks noChangeAspect="1"/>
          </p:cNvGraphicFramePr>
          <p:nvPr/>
        </p:nvGraphicFramePr>
        <p:xfrm>
          <a:off x="381000" y="3810000"/>
          <a:ext cx="4176713" cy="609600"/>
        </p:xfrm>
        <a:graphic>
          <a:graphicData uri="http://schemas.openxmlformats.org/presentationml/2006/ole">
            <mc:AlternateContent xmlns:mc="http://schemas.openxmlformats.org/markup-compatibility/2006">
              <mc:Choice xmlns:v="urn:schemas-microsoft-com:vml" Requires="v">
                <p:oleObj spid="_x0000_s71730" name="Equation" r:id="rId3" imgW="1600200" imgH="292100" progId="Equation.DSMT4">
                  <p:embed/>
                </p:oleObj>
              </mc:Choice>
              <mc:Fallback>
                <p:oleObj name="Equation" r:id="rId3" imgW="1600200" imgH="2921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810000"/>
                        <a:ext cx="4176713" cy="609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7" name="Object 5"/>
          <p:cNvGraphicFramePr>
            <a:graphicFrameLocks noChangeAspect="1"/>
          </p:cNvGraphicFramePr>
          <p:nvPr/>
        </p:nvGraphicFramePr>
        <p:xfrm>
          <a:off x="381000" y="5221288"/>
          <a:ext cx="3124200" cy="1103312"/>
        </p:xfrm>
        <a:graphic>
          <a:graphicData uri="http://schemas.openxmlformats.org/presentationml/2006/ole">
            <mc:AlternateContent xmlns:mc="http://schemas.openxmlformats.org/markup-compatibility/2006">
              <mc:Choice xmlns:v="urn:schemas-microsoft-com:vml" Requires="v">
                <p:oleObj spid="_x0000_s71731" name="Equation" r:id="rId5" imgW="1180588" imgH="520474" progId="Equation.DSMT4">
                  <p:embed/>
                </p:oleObj>
              </mc:Choice>
              <mc:Fallback>
                <p:oleObj name="Equation" r:id="rId5" imgW="1180588" imgH="520474"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5221288"/>
                        <a:ext cx="3124200" cy="11033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graphicFrame>
        <p:nvGraphicFramePr>
          <p:cNvPr id="2" name="Object 1"/>
          <p:cNvGraphicFramePr>
            <a:graphicFrameLocks noChangeAspect="1"/>
          </p:cNvGraphicFramePr>
          <p:nvPr/>
        </p:nvGraphicFramePr>
        <p:xfrm>
          <a:off x="6429375" y="3357563"/>
          <a:ext cx="3373438" cy="909637"/>
        </p:xfrm>
        <a:graphic>
          <a:graphicData uri="http://schemas.openxmlformats.org/presentationml/2006/ole">
            <mc:AlternateContent xmlns:mc="http://schemas.openxmlformats.org/markup-compatibility/2006">
              <mc:Choice xmlns:v="urn:schemas-microsoft-com:vml" Requires="v">
                <p:oleObj spid="_x0000_s71732" name="Equation" r:id="rId7" imgW="1358900" imgH="457200" progId="Equation.DSMT4">
                  <p:embed/>
                </p:oleObj>
              </mc:Choice>
              <mc:Fallback>
                <p:oleObj name="Equation" r:id="rId7" imgW="1358900" imgH="457200"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375" y="3357563"/>
                        <a:ext cx="3373438" cy="909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9635">
                                            <p:txEl>
                                              <p:pRg st="2" end="2"/>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69636"/>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9635">
                                            <p:txEl>
                                              <p:pRg st="7" end="7"/>
                                            </p:txEl>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69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5"/>
          <p:cNvSpPr>
            <a:spLocks noGrp="1" noChangeArrowheads="1"/>
          </p:cNvSpPr>
          <p:nvPr>
            <p:ph type="title"/>
          </p:nvPr>
        </p:nvSpPr>
        <p:spPr>
          <a:xfrm>
            <a:off x="571500" y="76200"/>
            <a:ext cx="10287000" cy="609600"/>
          </a:xfrm>
        </p:spPr>
        <p:txBody>
          <a:bodyPr/>
          <a:lstStyle/>
          <a:p>
            <a:pPr eaLnBrk="1" hangingPunct="1"/>
            <a:r>
              <a:rPr lang="en-US" altLang="en-US" sz="2800" smtClean="0"/>
              <a:t>Damped Oscillations, Natural Frequency</a:t>
            </a:r>
          </a:p>
        </p:txBody>
      </p:sp>
      <p:sp>
        <p:nvSpPr>
          <p:cNvPr id="70659" name="Rectangle 6"/>
          <p:cNvSpPr>
            <a:spLocks noGrp="1" noChangeArrowheads="1"/>
          </p:cNvSpPr>
          <p:nvPr>
            <p:ph idx="1"/>
          </p:nvPr>
        </p:nvSpPr>
        <p:spPr>
          <a:xfrm>
            <a:off x="304800" y="1123950"/>
            <a:ext cx="10896600" cy="5048250"/>
          </a:xfrm>
        </p:spPr>
        <p:txBody>
          <a:bodyPr/>
          <a:lstStyle/>
          <a:p>
            <a:pPr marL="0" indent="0" eaLnBrk="1" hangingPunct="1">
              <a:lnSpc>
                <a:spcPct val="80000"/>
              </a:lnSpc>
            </a:pPr>
            <a:r>
              <a:rPr lang="en-US" altLang="en-US" sz="2800" smtClean="0"/>
              <a:t>When the retarding force is small, the oscillatory character of the motion is preserved, but the amplitude decreases exponentially with time.</a:t>
            </a:r>
          </a:p>
          <a:p>
            <a:pPr marL="0" indent="0" eaLnBrk="1" hangingPunct="1">
              <a:lnSpc>
                <a:spcPct val="80000"/>
              </a:lnSpc>
            </a:pPr>
            <a:r>
              <a:rPr lang="en-US" altLang="en-US" sz="2800" smtClean="0"/>
              <a:t>The motion ultimately ceases.</a:t>
            </a:r>
          </a:p>
          <a:p>
            <a:pPr marL="0" indent="0" eaLnBrk="1" hangingPunct="1">
              <a:lnSpc>
                <a:spcPct val="80000"/>
              </a:lnSpc>
            </a:pPr>
            <a:r>
              <a:rPr lang="en-US" altLang="en-US" sz="2800" smtClean="0"/>
              <a:t>Another form for the angular frequency:</a:t>
            </a:r>
          </a:p>
          <a:p>
            <a:pPr marL="0" indent="0" eaLnBrk="1" hangingPunct="1">
              <a:lnSpc>
                <a:spcPct val="80000"/>
              </a:lnSpc>
              <a:buFont typeface="Wingdings" pitchFamily="2" charset="2"/>
              <a:buNone/>
            </a:pPr>
            <a:r>
              <a:rPr lang="en-US" altLang="en-US" smtClean="0"/>
              <a:t>					</a:t>
            </a:r>
          </a:p>
          <a:p>
            <a:pPr lvl="1" eaLnBrk="1" hangingPunct="1">
              <a:lnSpc>
                <a:spcPct val="80000"/>
              </a:lnSpc>
            </a:pPr>
            <a:endParaRPr lang="en-US" altLang="en-US" smtClean="0"/>
          </a:p>
          <a:p>
            <a:pPr lvl="1" eaLnBrk="1" hangingPunct="1">
              <a:lnSpc>
                <a:spcPct val="80000"/>
              </a:lnSpc>
            </a:pPr>
            <a:endParaRPr lang="en-US" altLang="en-US" smtClean="0"/>
          </a:p>
          <a:p>
            <a:pPr lvl="1" eaLnBrk="1" hangingPunct="1">
              <a:lnSpc>
                <a:spcPct val="80000"/>
              </a:lnSpc>
            </a:pPr>
            <a:r>
              <a:rPr lang="en-US" altLang="en-US" sz="2800" smtClean="0"/>
              <a:t>where </a:t>
            </a:r>
            <a:r>
              <a:rPr lang="en-US" altLang="en-US" sz="2800" smtClean="0">
                <a:latin typeface="Symbol" pitchFamily="18" charset="2"/>
              </a:rPr>
              <a:t>w</a:t>
            </a:r>
            <a:r>
              <a:rPr lang="en-US" altLang="en-US" sz="2800" baseline="-25000" smtClean="0"/>
              <a:t>0</a:t>
            </a:r>
            <a:r>
              <a:rPr lang="en-US" altLang="en-US" sz="2800" smtClean="0"/>
              <a:t> is the angular frequency in the absence of the retarding force and is called the </a:t>
            </a:r>
            <a:r>
              <a:rPr lang="en-US" altLang="en-US" sz="2800" b="1" smtClean="0"/>
              <a:t>natural frequency</a:t>
            </a:r>
            <a:r>
              <a:rPr lang="en-US" altLang="en-US" sz="2800" smtClean="0"/>
              <a:t> of the system.</a:t>
            </a:r>
          </a:p>
          <a:p>
            <a:pPr lvl="1" eaLnBrk="1" hangingPunct="1">
              <a:lnSpc>
                <a:spcPct val="80000"/>
              </a:lnSpc>
            </a:pPr>
            <a:r>
              <a:rPr lang="en-US" altLang="en-US" smtClean="0"/>
              <a:t> </a:t>
            </a:r>
          </a:p>
          <a:p>
            <a:pPr marL="0" indent="0" eaLnBrk="1" hangingPunct="1">
              <a:lnSpc>
                <a:spcPct val="80000"/>
              </a:lnSpc>
            </a:pPr>
            <a:endParaRPr lang="en-US" altLang="en-US" sz="2600" smtClean="0"/>
          </a:p>
          <a:p>
            <a:pPr marL="0" indent="0" eaLnBrk="1" hangingPunct="1">
              <a:lnSpc>
                <a:spcPct val="80000"/>
              </a:lnSpc>
            </a:pPr>
            <a:endParaRPr lang="en-US" altLang="en-US" sz="2600" smtClean="0"/>
          </a:p>
        </p:txBody>
      </p:sp>
      <p:graphicFrame>
        <p:nvGraphicFramePr>
          <p:cNvPr id="70660" name="Object 4"/>
          <p:cNvGraphicFramePr>
            <a:graphicFrameLocks noChangeAspect="1"/>
          </p:cNvGraphicFramePr>
          <p:nvPr/>
        </p:nvGraphicFramePr>
        <p:xfrm>
          <a:off x="609600" y="3429000"/>
          <a:ext cx="2971800" cy="1038225"/>
        </p:xfrm>
        <a:graphic>
          <a:graphicData uri="http://schemas.openxmlformats.org/presentationml/2006/ole">
            <mc:AlternateContent xmlns:mc="http://schemas.openxmlformats.org/markup-compatibility/2006">
              <mc:Choice xmlns:v="urn:schemas-microsoft-com:vml" Requires="v">
                <p:oleObj spid="_x0000_s72739" name="Equation" r:id="rId3" imgW="1193800" imgH="520700" progId="Equation.DSMT4">
                  <p:embed/>
                </p:oleObj>
              </mc:Choice>
              <mc:Fallback>
                <p:oleObj name="Equation" r:id="rId3" imgW="1193800" imgH="520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429000"/>
                        <a:ext cx="2971800" cy="1038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1" name="Object 5"/>
          <p:cNvGraphicFramePr>
            <a:graphicFrameLocks noChangeAspect="1"/>
          </p:cNvGraphicFramePr>
          <p:nvPr/>
        </p:nvGraphicFramePr>
        <p:xfrm>
          <a:off x="914400" y="5562600"/>
          <a:ext cx="1992313" cy="762000"/>
        </p:xfrm>
        <a:graphic>
          <a:graphicData uri="http://schemas.openxmlformats.org/presentationml/2006/ole">
            <mc:AlternateContent xmlns:mc="http://schemas.openxmlformats.org/markup-compatibility/2006">
              <mc:Choice xmlns:v="urn:schemas-microsoft-com:vml" Requires="v">
                <p:oleObj spid="_x0000_s72740" name="Equation" r:id="rId5" imgW="876300" imgH="419100" progId="Equation.DSMT4">
                  <p:embed/>
                </p:oleObj>
              </mc:Choice>
              <mc:Fallback>
                <p:oleObj name="Equation" r:id="rId5" imgW="876300" imgH="4191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562600"/>
                        <a:ext cx="1992313"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6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65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65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0659">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066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0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571500" y="76200"/>
            <a:ext cx="10287000" cy="609600"/>
          </a:xfrm>
        </p:spPr>
        <p:txBody>
          <a:bodyPr/>
          <a:lstStyle/>
          <a:p>
            <a:pPr eaLnBrk="1" hangingPunct="1"/>
            <a:r>
              <a:rPr lang="en-US" altLang="en-US" sz="3200" smtClean="0"/>
              <a:t>Damped Oscillations, Graph</a:t>
            </a:r>
          </a:p>
        </p:txBody>
      </p:sp>
      <p:sp>
        <p:nvSpPr>
          <p:cNvPr id="73731" name="Rectangle 3"/>
          <p:cNvSpPr>
            <a:spLocks noGrp="1" noChangeArrowheads="1"/>
          </p:cNvSpPr>
          <p:nvPr>
            <p:ph sz="half" idx="1"/>
          </p:nvPr>
        </p:nvSpPr>
        <p:spPr>
          <a:xfrm>
            <a:off x="361950" y="1143000"/>
            <a:ext cx="5353050" cy="5029200"/>
          </a:xfrm>
        </p:spPr>
        <p:txBody>
          <a:bodyPr/>
          <a:lstStyle/>
          <a:p>
            <a:pPr marL="0" indent="0" eaLnBrk="1" hangingPunct="1"/>
            <a:r>
              <a:rPr lang="en-US" altLang="en-US" smtClean="0"/>
              <a:t>A graph for a damped oscillation.</a:t>
            </a:r>
          </a:p>
          <a:p>
            <a:pPr marL="0" indent="0" eaLnBrk="1" hangingPunct="1"/>
            <a:r>
              <a:rPr lang="en-US" altLang="en-US" smtClean="0"/>
              <a:t>The amplitude decreases with time.</a:t>
            </a:r>
          </a:p>
          <a:p>
            <a:pPr marL="0" indent="0" eaLnBrk="1" hangingPunct="1"/>
            <a:r>
              <a:rPr lang="en-US" altLang="en-US" smtClean="0"/>
              <a:t>The blue dashed lines represent the </a:t>
            </a:r>
            <a:r>
              <a:rPr lang="en-US" altLang="en-US" b="1" i="1" smtClean="0"/>
              <a:t>envelope</a:t>
            </a:r>
            <a:r>
              <a:rPr lang="en-US" altLang="en-US" smtClean="0"/>
              <a:t> of the motion.</a:t>
            </a:r>
          </a:p>
          <a:p>
            <a:pPr marL="0" indent="0" eaLnBrk="1" hangingPunct="1"/>
            <a:r>
              <a:rPr lang="en-US" altLang="en-US" smtClean="0"/>
              <a:t>Use the active figure to vary the mass and the damping constant and observe the effect on the damped motion.</a:t>
            </a:r>
          </a:p>
          <a:p>
            <a:pPr marL="0" indent="0" eaLnBrk="1" hangingPunct="1"/>
            <a:r>
              <a:rPr lang="en-US" altLang="en-US" smtClean="0"/>
              <a:t>The restoring force is – </a:t>
            </a:r>
            <a:r>
              <a:rPr lang="en-US" altLang="en-US" i="1" smtClean="0"/>
              <a:t>kx.</a:t>
            </a:r>
          </a:p>
          <a:p>
            <a:pPr marL="0" indent="0" eaLnBrk="1" hangingPunct="1"/>
            <a:endParaRPr lang="en-US" altLang="en-US" sz="1800" smtClean="0"/>
          </a:p>
        </p:txBody>
      </p:sp>
      <p:sp>
        <p:nvSpPr>
          <p:cNvPr id="7373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pic>
        <p:nvPicPr>
          <p:cNvPr id="73733" name="Picture 6" descr="15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120775"/>
            <a:ext cx="5397500"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title"/>
          </p:nvPr>
        </p:nvSpPr>
        <p:spPr>
          <a:xfrm>
            <a:off x="571500" y="76200"/>
            <a:ext cx="10287000" cy="609600"/>
          </a:xfrm>
        </p:spPr>
        <p:txBody>
          <a:bodyPr/>
          <a:lstStyle/>
          <a:p>
            <a:pPr eaLnBrk="1" hangingPunct="1"/>
            <a:r>
              <a:rPr lang="en-US" altLang="en-US" sz="3200" smtClean="0"/>
              <a:t>Types of Damping</a:t>
            </a:r>
          </a:p>
        </p:txBody>
      </p:sp>
      <p:sp>
        <p:nvSpPr>
          <p:cNvPr id="74755" name="Rectangle 8"/>
          <p:cNvSpPr>
            <a:spLocks noGrp="1" noChangeArrowheads="1"/>
          </p:cNvSpPr>
          <p:nvPr>
            <p:ph idx="1"/>
          </p:nvPr>
        </p:nvSpPr>
        <p:spPr>
          <a:xfrm>
            <a:off x="571500" y="1447800"/>
            <a:ext cx="10287000" cy="4438650"/>
          </a:xfrm>
        </p:spPr>
        <p:txBody>
          <a:bodyPr/>
          <a:lstStyle/>
          <a:p>
            <a:pPr marL="0" indent="0" eaLnBrk="1" hangingPunct="1"/>
            <a:r>
              <a:rPr lang="en-US" altLang="en-US" sz="2800" smtClean="0"/>
              <a:t>If the restoring force is such that b/2m &lt; </a:t>
            </a:r>
            <a:r>
              <a:rPr lang="en-US" altLang="en-US" sz="2800" smtClean="0">
                <a:latin typeface="Symbol" pitchFamily="18" charset="2"/>
              </a:rPr>
              <a:t>w</a:t>
            </a:r>
            <a:r>
              <a:rPr lang="en-US" altLang="en-US" sz="2800" baseline="-25000" smtClean="0"/>
              <a:t>o</a:t>
            </a:r>
            <a:r>
              <a:rPr lang="en-US" altLang="en-US" sz="2800" smtClean="0"/>
              <a:t>, the system is said to be </a:t>
            </a:r>
            <a:r>
              <a:rPr lang="en-US" altLang="en-US" sz="2800" b="1" i="1" smtClean="0"/>
              <a:t>underdamped.</a:t>
            </a:r>
          </a:p>
          <a:p>
            <a:pPr marL="0" indent="0" eaLnBrk="1" hangingPunct="1"/>
            <a:r>
              <a:rPr lang="en-US" altLang="en-US" sz="2800" smtClean="0"/>
              <a:t>When b reaches a critical value b</a:t>
            </a:r>
            <a:r>
              <a:rPr lang="en-US" altLang="en-US" sz="2800" baseline="-25000" smtClean="0"/>
              <a:t>c</a:t>
            </a:r>
            <a:r>
              <a:rPr lang="en-US" altLang="en-US" sz="2800" smtClean="0"/>
              <a:t> such that b</a:t>
            </a:r>
            <a:r>
              <a:rPr lang="en-US" altLang="en-US" sz="2800" baseline="-25000" smtClean="0"/>
              <a:t>c</a:t>
            </a:r>
            <a:r>
              <a:rPr lang="en-US" altLang="en-US" sz="2800" smtClean="0"/>
              <a:t> / 2 m = </a:t>
            </a:r>
            <a:r>
              <a:rPr lang="en-US" altLang="en-US" sz="2800" smtClean="0">
                <a:latin typeface="Symbol" pitchFamily="18" charset="2"/>
              </a:rPr>
              <a:t>w</a:t>
            </a:r>
            <a:r>
              <a:rPr lang="en-US" altLang="en-US" sz="2800" baseline="-25000" smtClean="0"/>
              <a:t>0</a:t>
            </a:r>
            <a:r>
              <a:rPr lang="en-US" altLang="en-US" sz="2800" smtClean="0"/>
              <a:t> , the system will not oscillate.</a:t>
            </a:r>
          </a:p>
          <a:p>
            <a:pPr lvl="1" eaLnBrk="1" hangingPunct="1"/>
            <a:r>
              <a:rPr lang="en-US" altLang="en-US" sz="2800" smtClean="0"/>
              <a:t>The system is said to be </a:t>
            </a:r>
            <a:r>
              <a:rPr lang="en-US" altLang="en-US" sz="2800" b="1" i="1" smtClean="0"/>
              <a:t>critically damped.</a:t>
            </a:r>
          </a:p>
          <a:p>
            <a:pPr marL="0" indent="0" eaLnBrk="1" hangingPunct="1"/>
            <a:r>
              <a:rPr lang="en-US" altLang="en-US" sz="2800" smtClean="0"/>
              <a:t>If the restoring force is such that b/2m &gt; </a:t>
            </a:r>
            <a:r>
              <a:rPr lang="en-US" altLang="en-US" sz="2800" smtClean="0">
                <a:latin typeface="Symbol" pitchFamily="18" charset="2"/>
              </a:rPr>
              <a:t>w</a:t>
            </a:r>
            <a:r>
              <a:rPr lang="en-US" altLang="en-US" sz="2800" baseline="-25000" smtClean="0"/>
              <a:t>o</a:t>
            </a:r>
            <a:r>
              <a:rPr lang="en-US" altLang="en-US" sz="2800" smtClean="0"/>
              <a:t>, the system is said to be </a:t>
            </a:r>
            <a:r>
              <a:rPr lang="en-US" altLang="en-US" sz="2800" b="1" i="1" smtClean="0"/>
              <a:t>overdamped.</a:t>
            </a:r>
          </a:p>
        </p:txBody>
      </p:sp>
      <p:sp>
        <p:nvSpPr>
          <p:cNvPr id="7475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71500" y="76200"/>
            <a:ext cx="10287000" cy="609600"/>
          </a:xfrm>
        </p:spPr>
        <p:txBody>
          <a:bodyPr/>
          <a:lstStyle/>
          <a:p>
            <a:pPr eaLnBrk="1" hangingPunct="1"/>
            <a:r>
              <a:rPr lang="en-US" altLang="en-US" sz="3200" smtClean="0"/>
              <a:t>Types of Damping, cont</a:t>
            </a:r>
          </a:p>
        </p:txBody>
      </p:sp>
      <p:sp>
        <p:nvSpPr>
          <p:cNvPr id="75779" name="Rectangle 3"/>
          <p:cNvSpPr>
            <a:spLocks noGrp="1" noChangeArrowheads="1"/>
          </p:cNvSpPr>
          <p:nvPr>
            <p:ph sz="half" idx="1"/>
          </p:nvPr>
        </p:nvSpPr>
        <p:spPr>
          <a:xfrm>
            <a:off x="571500" y="1143000"/>
            <a:ext cx="5048250" cy="4438650"/>
          </a:xfrm>
        </p:spPr>
        <p:txBody>
          <a:bodyPr/>
          <a:lstStyle/>
          <a:p>
            <a:pPr marL="0" indent="0" eaLnBrk="1" hangingPunct="1">
              <a:lnSpc>
                <a:spcPct val="90000"/>
              </a:lnSpc>
            </a:pPr>
            <a:r>
              <a:rPr lang="en-US" altLang="en-US" smtClean="0">
                <a:solidFill>
                  <a:srgbClr val="000000"/>
                </a:solidFill>
              </a:rPr>
              <a:t>Graphs of position versus time for</a:t>
            </a:r>
          </a:p>
          <a:p>
            <a:pPr lvl="1" eaLnBrk="1" hangingPunct="1">
              <a:lnSpc>
                <a:spcPct val="90000"/>
              </a:lnSpc>
            </a:pPr>
            <a:r>
              <a:rPr lang="en-US" altLang="en-US" sz="2800" smtClean="0">
                <a:solidFill>
                  <a:srgbClr val="000000"/>
                </a:solidFill>
              </a:rPr>
              <a:t>An underdamped oscillator – blue </a:t>
            </a:r>
          </a:p>
          <a:p>
            <a:pPr lvl="1" eaLnBrk="1" hangingPunct="1">
              <a:lnSpc>
                <a:spcPct val="90000"/>
              </a:lnSpc>
            </a:pPr>
            <a:r>
              <a:rPr lang="en-US" altLang="en-US" sz="2800" smtClean="0">
                <a:solidFill>
                  <a:srgbClr val="000000"/>
                </a:solidFill>
              </a:rPr>
              <a:t>A critically damped oscillator – red </a:t>
            </a:r>
          </a:p>
          <a:p>
            <a:pPr lvl="1" eaLnBrk="1" hangingPunct="1">
              <a:lnSpc>
                <a:spcPct val="90000"/>
              </a:lnSpc>
            </a:pPr>
            <a:r>
              <a:rPr lang="en-US" altLang="en-US" sz="2800" smtClean="0">
                <a:solidFill>
                  <a:srgbClr val="000000"/>
                </a:solidFill>
              </a:rPr>
              <a:t>An overdamped oscillator – black </a:t>
            </a:r>
          </a:p>
          <a:p>
            <a:pPr marL="0" indent="0" eaLnBrk="1" hangingPunct="1">
              <a:lnSpc>
                <a:spcPct val="90000"/>
              </a:lnSpc>
            </a:pPr>
            <a:r>
              <a:rPr lang="en-US" altLang="en-US" smtClean="0">
                <a:solidFill>
                  <a:srgbClr val="000000"/>
                </a:solidFill>
              </a:rPr>
              <a:t>For critically damped and overdamped there is no angular frequency.</a:t>
            </a:r>
          </a:p>
        </p:txBody>
      </p:sp>
      <p:sp>
        <p:nvSpPr>
          <p:cNvPr id="75780"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15.6</a:t>
            </a:r>
          </a:p>
        </p:txBody>
      </p:sp>
      <p:pic>
        <p:nvPicPr>
          <p:cNvPr id="75781" name="Picture 6" descr="15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06575"/>
            <a:ext cx="5127625" cy="324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571500" y="76200"/>
            <a:ext cx="10287000" cy="609600"/>
          </a:xfrm>
        </p:spPr>
        <p:txBody>
          <a:bodyPr/>
          <a:lstStyle/>
          <a:p>
            <a:pPr eaLnBrk="1" hangingPunct="1"/>
            <a:r>
              <a:rPr lang="en-US" altLang="en-US" sz="3600" smtClean="0"/>
              <a:t>Forced Oscillations</a:t>
            </a:r>
          </a:p>
        </p:txBody>
      </p:sp>
      <p:sp>
        <p:nvSpPr>
          <p:cNvPr id="76803" name="Rectangle 3"/>
          <p:cNvSpPr>
            <a:spLocks noGrp="1" noChangeArrowheads="1"/>
          </p:cNvSpPr>
          <p:nvPr>
            <p:ph idx="1"/>
          </p:nvPr>
        </p:nvSpPr>
        <p:spPr>
          <a:xfrm>
            <a:off x="304800" y="1143000"/>
            <a:ext cx="10820400" cy="4724400"/>
          </a:xfrm>
        </p:spPr>
        <p:txBody>
          <a:bodyPr/>
          <a:lstStyle/>
          <a:p>
            <a:pPr marL="0" indent="0" eaLnBrk="1" hangingPunct="1"/>
            <a:r>
              <a:rPr lang="en-US" altLang="en-US" sz="2400" smtClean="0"/>
              <a:t>It is possible to compensate for the loss of energy in a damped system by applying a periodic external force.</a:t>
            </a:r>
          </a:p>
          <a:p>
            <a:pPr marL="0" indent="0" eaLnBrk="1" hangingPunct="1"/>
            <a:r>
              <a:rPr lang="en-US" altLang="en-US" sz="2400" smtClean="0"/>
              <a:t>The amplitude of the motion remains constant if the energy input per cycle exactly equals the decrease in mechanical energy in each cycle that results from resistive forces.</a:t>
            </a:r>
          </a:p>
          <a:p>
            <a:pPr marL="0" indent="0" eaLnBrk="1" hangingPunct="1"/>
            <a:r>
              <a:rPr lang="en-US" altLang="en-US" sz="2400" smtClean="0"/>
              <a:t>After a driving force on an initially stationary object begins to act, the amplitude of the oscillation will increase.</a:t>
            </a:r>
          </a:p>
          <a:p>
            <a:pPr marL="0" indent="0" eaLnBrk="1" hangingPunct="1"/>
            <a:r>
              <a:rPr lang="en-US" altLang="en-US" sz="2400" smtClean="0"/>
              <a:t>After a sufficiently long period of time, </a:t>
            </a:r>
            <a:r>
              <a:rPr lang="en-US" altLang="en-US" sz="2400" i="1" smtClean="0"/>
              <a:t>E</a:t>
            </a:r>
            <a:r>
              <a:rPr lang="en-US" altLang="en-US" sz="2400" baseline="-25000" smtClean="0"/>
              <a:t>driving</a:t>
            </a:r>
            <a:r>
              <a:rPr lang="en-US" altLang="en-US" sz="2400" smtClean="0"/>
              <a:t> = </a:t>
            </a:r>
            <a:r>
              <a:rPr lang="en-US" altLang="en-US" sz="2400" i="1" smtClean="0"/>
              <a:t>E</a:t>
            </a:r>
            <a:r>
              <a:rPr lang="en-US" altLang="en-US" sz="2400" baseline="-25000" smtClean="0"/>
              <a:t>lost to internal</a:t>
            </a:r>
            <a:r>
              <a:rPr lang="en-US" altLang="en-US" sz="2400" smtClean="0"/>
              <a:t> </a:t>
            </a:r>
          </a:p>
          <a:p>
            <a:pPr lvl="1" eaLnBrk="1" hangingPunct="1"/>
            <a:r>
              <a:rPr lang="en-US" altLang="en-US" sz="2400" smtClean="0"/>
              <a:t>Then a steady-state condition is reached.</a:t>
            </a:r>
          </a:p>
          <a:p>
            <a:pPr lvl="1" eaLnBrk="1" hangingPunct="1"/>
            <a:r>
              <a:rPr lang="en-US" altLang="en-US" sz="2400" smtClean="0"/>
              <a:t>The oscillations will proceed with constant amplitude.</a:t>
            </a:r>
          </a:p>
          <a:p>
            <a:pPr marL="0" indent="0" eaLnBrk="1" hangingPunct="1"/>
            <a:endParaRPr lang="en-US" altLang="en-US" smtClean="0"/>
          </a:p>
        </p:txBody>
      </p:sp>
      <p:sp>
        <p:nvSpPr>
          <p:cNvPr id="76804"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15.7</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en-US" smtClean="0"/>
              <a:t>Forced Oscillations, cont.</a:t>
            </a:r>
          </a:p>
        </p:txBody>
      </p:sp>
      <p:sp>
        <p:nvSpPr>
          <p:cNvPr id="77827" name="Rectangle 3"/>
          <p:cNvSpPr>
            <a:spLocks noGrp="1" noChangeArrowheads="1"/>
          </p:cNvSpPr>
          <p:nvPr>
            <p:ph idx="1"/>
          </p:nvPr>
        </p:nvSpPr>
        <p:spPr/>
        <p:txBody>
          <a:bodyPr/>
          <a:lstStyle/>
          <a:p>
            <a:pPr marL="0" indent="0" eaLnBrk="1" hangingPunct="1"/>
            <a:r>
              <a:rPr lang="en-US" altLang="en-US" sz="2400" smtClean="0"/>
              <a:t>The amplitude of a driven oscillation is</a:t>
            </a:r>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marL="0" indent="0" eaLnBrk="1" hangingPunct="1"/>
            <a:endParaRPr lang="en-US" altLang="en-US" smtClean="0"/>
          </a:p>
          <a:p>
            <a:pPr lvl="1" eaLnBrk="1" hangingPunct="1"/>
            <a:r>
              <a:rPr lang="en-US" altLang="en-US" sz="2400" i="1" smtClean="0">
                <a:latin typeface="Symbol" pitchFamily="18" charset="2"/>
              </a:rPr>
              <a:t>w</a:t>
            </a:r>
            <a:r>
              <a:rPr lang="en-US" altLang="en-US" sz="2400" baseline="-25000" smtClean="0"/>
              <a:t>0</a:t>
            </a:r>
            <a:r>
              <a:rPr lang="en-US" altLang="en-US" sz="2400" smtClean="0"/>
              <a:t> is the natural frequency of the undamped oscillator.</a:t>
            </a:r>
            <a:endParaRPr lang="en-US" altLang="en-US" sz="2400" smtClean="0">
              <a:latin typeface="Symbol" pitchFamily="18" charset="2"/>
            </a:endParaRPr>
          </a:p>
        </p:txBody>
      </p:sp>
      <p:graphicFrame>
        <p:nvGraphicFramePr>
          <p:cNvPr id="77828" name="Object 4"/>
          <p:cNvGraphicFramePr>
            <a:graphicFrameLocks noChangeAspect="1"/>
          </p:cNvGraphicFramePr>
          <p:nvPr/>
        </p:nvGraphicFramePr>
        <p:xfrm>
          <a:off x="1047750" y="2133600"/>
          <a:ext cx="3238500" cy="1276350"/>
        </p:xfrm>
        <a:graphic>
          <a:graphicData uri="http://schemas.openxmlformats.org/presentationml/2006/ole">
            <mc:AlternateContent xmlns:mc="http://schemas.openxmlformats.org/markup-compatibility/2006">
              <mc:Choice xmlns:v="urn:schemas-microsoft-com:vml" Requires="v">
                <p:oleObj spid="_x0000_s77844" name="Equation" r:id="rId3" imgW="1701800" imgH="838200" progId="Equation.DSMT4">
                  <p:embed/>
                </p:oleObj>
              </mc:Choice>
              <mc:Fallback>
                <p:oleObj name="Equation" r:id="rId3" imgW="1701800" imgH="838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750" y="2133600"/>
                        <a:ext cx="3238500" cy="127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9"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15.7</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title"/>
          </p:nvPr>
        </p:nvSpPr>
        <p:spPr>
          <a:xfrm>
            <a:off x="571500" y="76200"/>
            <a:ext cx="10287000" cy="609600"/>
          </a:xfrm>
        </p:spPr>
        <p:txBody>
          <a:bodyPr/>
          <a:lstStyle/>
          <a:p>
            <a:pPr eaLnBrk="1" hangingPunct="1"/>
            <a:r>
              <a:rPr lang="en-US" altLang="en-US" sz="3200" dirty="0" smtClean="0"/>
              <a:t>Resonance</a:t>
            </a:r>
            <a:endParaRPr lang="en-US" altLang="en-US" dirty="0" smtClean="0"/>
          </a:p>
        </p:txBody>
      </p:sp>
      <mc:AlternateContent xmlns:mc="http://schemas.openxmlformats.org/markup-compatibility/2006">
        <mc:Choice xmlns:a14="http://schemas.microsoft.com/office/drawing/2010/main" Requires="a14">
          <p:sp>
            <p:nvSpPr>
              <p:cNvPr id="78851" name="Rectangle 5"/>
              <p:cNvSpPr>
                <a:spLocks noGrp="1" noChangeArrowheads="1"/>
              </p:cNvSpPr>
              <p:nvPr>
                <p:ph idx="1"/>
              </p:nvPr>
            </p:nvSpPr>
            <p:spPr>
              <a:xfrm>
                <a:off x="304800" y="1200150"/>
                <a:ext cx="10820400" cy="4819650"/>
              </a:xfrm>
            </p:spPr>
            <p:txBody>
              <a:bodyPr/>
              <a:lstStyle/>
              <a:p>
                <a:pPr marL="0" indent="0" eaLnBrk="1" hangingPunct="1"/>
                <a:r>
                  <a:rPr lang="en-US" altLang="en-US" sz="2400" dirty="0" smtClean="0"/>
                  <a:t>When the frequency of the driving force is near the natural frequency (</a:t>
                </a:r>
                <a:r>
                  <a:rPr lang="en-US" altLang="en-US" sz="2400" i="1" dirty="0" smtClean="0">
                    <a:latin typeface="Symbol" pitchFamily="18" charset="2"/>
                  </a:rPr>
                  <a:t>w</a:t>
                </a:r>
                <a:r>
                  <a:rPr lang="en-US" altLang="en-US" sz="2400" dirty="0" smtClean="0">
                    <a:latin typeface="Symbol" pitchFamily="18" charset="2"/>
                  </a:rPr>
                  <a:t> » </a:t>
                </a:r>
                <a:r>
                  <a:rPr lang="en-US" altLang="en-US" sz="2400" i="1" dirty="0" smtClean="0">
                    <a:latin typeface="Symbol" pitchFamily="18" charset="2"/>
                  </a:rPr>
                  <a:t>w</a:t>
                </a:r>
                <a:r>
                  <a:rPr lang="en-US" altLang="en-US" sz="2400" baseline="-25000" dirty="0" smtClean="0">
                    <a:latin typeface="Symbol" pitchFamily="18" charset="2"/>
                  </a:rPr>
                  <a:t>0</a:t>
                </a:r>
                <a:r>
                  <a:rPr lang="en-US" altLang="en-US" sz="2400" dirty="0" smtClean="0"/>
                  <a:t>) an increase in amplitude occurs.</a:t>
                </a:r>
              </a:p>
              <a:p>
                <a:pPr marL="0" indent="0" eaLnBrk="1" hangingPunct="1"/>
                <a:r>
                  <a:rPr lang="en-US" altLang="en-US" sz="2400" dirty="0" smtClean="0"/>
                  <a:t>This dramatic increase in the amplitude is called </a:t>
                </a:r>
                <a:r>
                  <a:rPr lang="en-US" altLang="en-US" sz="2400" b="1" i="1" dirty="0" smtClean="0"/>
                  <a:t>resonance.</a:t>
                </a:r>
                <a:endParaRPr lang="en-US" altLang="en-US" sz="2400" dirty="0" smtClean="0"/>
              </a:p>
              <a:p>
                <a:pPr marL="0" indent="0" eaLnBrk="1" hangingPunct="1"/>
                <a:r>
                  <a:rPr lang="en-US" altLang="en-US" sz="2400" dirty="0" smtClean="0"/>
                  <a:t>The natural frequency</a:t>
                </a:r>
                <a:r>
                  <a:rPr lang="en-US" altLang="en-US" sz="2400" dirty="0" smtClean="0">
                    <a:latin typeface="Symbol" pitchFamily="18" charset="2"/>
                  </a:rPr>
                  <a:t> </a:t>
                </a:r>
                <a:r>
                  <a:rPr lang="en-US" altLang="en-US" sz="2400" i="1" dirty="0" smtClean="0">
                    <a:latin typeface="Symbol" pitchFamily="18" charset="2"/>
                  </a:rPr>
                  <a:t>w</a:t>
                </a:r>
                <a:r>
                  <a:rPr lang="en-US" altLang="en-US" sz="2400" baseline="-25000" dirty="0" smtClean="0">
                    <a:latin typeface="Symbol" pitchFamily="18" charset="2"/>
                  </a:rPr>
                  <a:t>0</a:t>
                </a:r>
                <a:r>
                  <a:rPr lang="en-US" altLang="en-US" sz="2400" dirty="0" smtClean="0"/>
                  <a:t> is also called the resonance frequency of the system.</a:t>
                </a:r>
              </a:p>
              <a:p>
                <a:pPr marL="0" indent="0" eaLnBrk="1" hangingPunct="1"/>
                <a:r>
                  <a:rPr lang="en-US" altLang="en-US" sz="2400" dirty="0" smtClean="0"/>
                  <a:t>At resonance, the applied force is in phase with the velocity and the power transferred to the oscillator is a maximum.</a:t>
                </a:r>
              </a:p>
              <a:p>
                <a:pPr lvl="1" eaLnBrk="1" hangingPunct="1"/>
                <a:r>
                  <a:rPr lang="en-US" altLang="en-US" sz="2400" dirty="0" smtClean="0"/>
                  <a:t>The applied force and </a:t>
                </a:r>
                <a:r>
                  <a:rPr lang="en-US" altLang="en-US" sz="2400" i="1" dirty="0" smtClean="0"/>
                  <a:t>v</a:t>
                </a:r>
                <a:r>
                  <a:rPr lang="en-US" altLang="en-US" sz="2400" dirty="0" smtClean="0"/>
                  <a:t> are both proportional to sin (</a:t>
                </a:r>
                <a:r>
                  <a:rPr lang="en-US" altLang="en-US" sz="2400" i="1" dirty="0" err="1" smtClean="0">
                    <a:latin typeface="Symbol" pitchFamily="18" charset="2"/>
                  </a:rPr>
                  <a:t>w</a:t>
                </a:r>
                <a:r>
                  <a:rPr lang="en-US" altLang="en-US" sz="2400" i="1" dirty="0" err="1" smtClean="0"/>
                  <a:t>t</a:t>
                </a:r>
                <a:r>
                  <a:rPr lang="en-US" altLang="en-US" sz="2400" dirty="0" smtClean="0"/>
                  <a:t> + </a:t>
                </a:r>
                <a:r>
                  <a:rPr lang="en-US" altLang="en-US" sz="2400" i="1" dirty="0" smtClean="0">
                    <a:latin typeface="Symbol" pitchFamily="18" charset="2"/>
                  </a:rPr>
                  <a:t>f</a:t>
                </a:r>
                <a:r>
                  <a:rPr lang="en-US" altLang="en-US" sz="2400" dirty="0" smtClean="0"/>
                  <a:t>).</a:t>
                </a:r>
              </a:p>
              <a:p>
                <a:pPr lvl="1" eaLnBrk="1" hangingPunct="1"/>
                <a:r>
                  <a:rPr lang="en-US" altLang="en-US" sz="2400" dirty="0" smtClean="0"/>
                  <a:t>The power delivered is </a:t>
                </a:r>
                <a14:m>
                  <m:oMath xmlns:m="http://schemas.openxmlformats.org/officeDocument/2006/math">
                    <m:acc>
                      <m:accPr>
                        <m:chr m:val="⃗"/>
                        <m:ctrlPr>
                          <a:rPr lang="en-US" altLang="en-US" sz="3200" i="1" smtClean="0">
                            <a:latin typeface="Cambria Math"/>
                          </a:rPr>
                        </m:ctrlPr>
                      </m:accPr>
                      <m:e>
                        <m:r>
                          <a:rPr lang="en-US" altLang="en-US" sz="3200" b="0" i="1" smtClean="0">
                            <a:latin typeface="Cambria Math"/>
                          </a:rPr>
                          <m:t>𝐹</m:t>
                        </m:r>
                      </m:e>
                    </m:acc>
                    <m:r>
                      <a:rPr lang="en-US" altLang="en-US" sz="3200" b="0" i="1" smtClean="0">
                        <a:latin typeface="Cambria Math"/>
                      </a:rPr>
                      <m:t>.</m:t>
                    </m:r>
                    <m:acc>
                      <m:accPr>
                        <m:chr m:val="⃗"/>
                        <m:ctrlPr>
                          <a:rPr lang="en-US" altLang="en-US" sz="3200" b="0" i="1" smtClean="0">
                            <a:latin typeface="Cambria Math"/>
                          </a:rPr>
                        </m:ctrlPr>
                      </m:accPr>
                      <m:e>
                        <m:r>
                          <a:rPr lang="en-US" altLang="en-US" sz="3200" b="0" i="1" smtClean="0">
                            <a:latin typeface="Cambria Math"/>
                          </a:rPr>
                          <m:t>𝑣</m:t>
                        </m:r>
                      </m:e>
                    </m:acc>
                  </m:oMath>
                </a14:m>
                <a:endParaRPr lang="en-US" altLang="en-US" sz="2400" dirty="0" smtClean="0"/>
              </a:p>
              <a:p>
                <a:pPr lvl="2" eaLnBrk="1" hangingPunct="1"/>
                <a:r>
                  <a:rPr lang="en-US" altLang="en-US" sz="2000" b="1" dirty="0" smtClean="0"/>
                  <a:t>This is a maximum when the force and velocity are in phase.</a:t>
                </a:r>
              </a:p>
              <a:p>
                <a:pPr lvl="2" eaLnBrk="1" hangingPunct="1"/>
                <a:r>
                  <a:rPr lang="en-US" altLang="en-US" sz="2000" b="1" dirty="0" smtClean="0"/>
                  <a:t>The power transferred to the oscillator is a maximum</a:t>
                </a:r>
                <a:r>
                  <a:rPr lang="en-US" altLang="en-US" sz="2000" dirty="0" smtClean="0"/>
                  <a:t>.</a:t>
                </a:r>
              </a:p>
              <a:p>
                <a:pPr marL="0" indent="0" eaLnBrk="1" hangingPunct="1"/>
                <a:endParaRPr lang="en-US" altLang="en-US" dirty="0" smtClean="0"/>
              </a:p>
            </p:txBody>
          </p:sp>
        </mc:Choice>
        <mc:Fallback>
          <p:sp>
            <p:nvSpPr>
              <p:cNvPr id="78851" name="Rectangle 5"/>
              <p:cNvSpPr>
                <a:spLocks noGrp="1" noRot="1" noChangeAspect="1" noMove="1" noResize="1" noEditPoints="1" noAdjustHandles="1" noChangeArrowheads="1" noChangeShapeType="1" noTextEdit="1"/>
              </p:cNvSpPr>
              <p:nvPr>
                <p:ph idx="1"/>
              </p:nvPr>
            </p:nvSpPr>
            <p:spPr>
              <a:xfrm>
                <a:off x="304800" y="1200150"/>
                <a:ext cx="10820400" cy="4819650"/>
              </a:xfrm>
              <a:blipFill rotWithShape="1">
                <a:blip r:embed="rId2"/>
                <a:stretch>
                  <a:fillRect l="-1690" t="-3793"/>
                </a:stretch>
              </a:blipFill>
            </p:spPr>
            <p:txBody>
              <a:bodyPr/>
              <a:lstStyle/>
              <a:p>
                <a:r>
                  <a:rPr lang="en-US">
                    <a:noFill/>
                  </a:rPr>
                  <a:t> </a:t>
                </a:r>
              </a:p>
            </p:txBody>
          </p:sp>
        </mc:Fallback>
      </mc:AlternateContent>
      <p:sp>
        <p:nvSpPr>
          <p:cNvPr id="78852"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15.7</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71500" y="0"/>
            <a:ext cx="10287000" cy="609600"/>
          </a:xfrm>
        </p:spPr>
        <p:txBody>
          <a:bodyPr/>
          <a:lstStyle/>
          <a:p>
            <a:pPr eaLnBrk="1" hangingPunct="1"/>
            <a:r>
              <a:rPr lang="en-US" altLang="en-US" sz="3200" dirty="0" smtClean="0"/>
              <a:t>Resonance, cont.</a:t>
            </a:r>
            <a:endParaRPr lang="en-US" altLang="en-US" dirty="0" smtClean="0"/>
          </a:p>
        </p:txBody>
      </p:sp>
      <p:sp>
        <p:nvSpPr>
          <p:cNvPr id="79875" name="Rectangle 3"/>
          <p:cNvSpPr>
            <a:spLocks noGrp="1" noChangeArrowheads="1"/>
          </p:cNvSpPr>
          <p:nvPr>
            <p:ph sz="half" idx="1"/>
          </p:nvPr>
        </p:nvSpPr>
        <p:spPr>
          <a:xfrm>
            <a:off x="381000" y="1066800"/>
            <a:ext cx="5715000" cy="5105400"/>
          </a:xfrm>
        </p:spPr>
        <p:txBody>
          <a:bodyPr/>
          <a:lstStyle/>
          <a:p>
            <a:pPr marL="0" indent="0" eaLnBrk="1" hangingPunct="1">
              <a:lnSpc>
                <a:spcPct val="90000"/>
              </a:lnSpc>
            </a:pPr>
            <a:r>
              <a:rPr lang="en-US" altLang="en-US" dirty="0" smtClean="0"/>
              <a:t>Resonance (maximum peak) occurs when driving frequency equals the natural frequency.</a:t>
            </a:r>
          </a:p>
          <a:p>
            <a:pPr marL="0" indent="0" eaLnBrk="1" hangingPunct="1">
              <a:lnSpc>
                <a:spcPct val="90000"/>
              </a:lnSpc>
            </a:pPr>
            <a:r>
              <a:rPr lang="en-US" altLang="en-US" dirty="0" smtClean="0"/>
              <a:t>The amplitude increases with decreased damping.</a:t>
            </a:r>
          </a:p>
          <a:p>
            <a:pPr marL="0" indent="0" eaLnBrk="1" hangingPunct="1">
              <a:lnSpc>
                <a:spcPct val="90000"/>
              </a:lnSpc>
            </a:pPr>
            <a:r>
              <a:rPr lang="en-US" altLang="en-US" dirty="0" smtClean="0"/>
              <a:t>The curve broadens as the damping increases.</a:t>
            </a:r>
          </a:p>
          <a:p>
            <a:pPr marL="0" indent="0" eaLnBrk="1" hangingPunct="1">
              <a:lnSpc>
                <a:spcPct val="90000"/>
              </a:lnSpc>
            </a:pPr>
            <a:r>
              <a:rPr lang="en-US" altLang="en-US" dirty="0" smtClean="0"/>
              <a:t>The shape of the resonance curve depends on </a:t>
            </a:r>
            <a:r>
              <a:rPr lang="en-US" altLang="en-US" i="1" dirty="0" smtClean="0"/>
              <a:t>b.</a:t>
            </a:r>
          </a:p>
        </p:txBody>
      </p:sp>
      <p:sp>
        <p:nvSpPr>
          <p:cNvPr id="79876" name="TextBox 8"/>
          <p:cNvSpPr txBox="1">
            <a:spLocks noChangeArrowheads="1"/>
          </p:cNvSpPr>
          <p:nvPr/>
        </p:nvSpPr>
        <p:spPr bwMode="auto">
          <a:xfrm>
            <a:off x="4476750" y="6324600"/>
            <a:ext cx="1809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ts val="2200"/>
              </a:lnSpc>
              <a:spcBef>
                <a:spcPct val="50000"/>
              </a:spcBef>
              <a:defRPr>
                <a:solidFill>
                  <a:schemeClr val="tx1"/>
                </a:solidFill>
                <a:latin typeface="Arial" charset="0"/>
                <a:ea typeface="MS PGothic" pitchFamily="34" charset="-128"/>
              </a:defRPr>
            </a:lvl1pPr>
            <a:lvl2pPr marL="742950" indent="-285750" eaLnBrk="0" hangingPunct="0">
              <a:spcBef>
                <a:spcPct val="50000"/>
              </a:spcBef>
              <a:buClr>
                <a:schemeClr val="hlink"/>
              </a:buClr>
              <a:buFont typeface="Wingdings" pitchFamily="2" charset="2"/>
              <a:buChar char="§"/>
              <a:defRPr>
                <a:solidFill>
                  <a:schemeClr val="tx1"/>
                </a:solidFill>
                <a:latin typeface="Arial" charset="0"/>
                <a:ea typeface="MS PGothic" pitchFamily="34" charset="-128"/>
              </a:defRPr>
            </a:lvl2pPr>
            <a:lvl3pPr marL="11430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3pPr>
            <a:lvl4pPr marL="1600200" indent="-228600" eaLnBrk="0" hangingPunct="0">
              <a:spcBef>
                <a:spcPct val="30000"/>
              </a:spcBef>
              <a:buClr>
                <a:schemeClr val="hlink"/>
              </a:buClr>
              <a:buFont typeface="Wingdings" pitchFamily="2" charset="2"/>
              <a:buChar char="§"/>
              <a:defRPr sz="1600">
                <a:solidFill>
                  <a:schemeClr val="tx1"/>
                </a:solidFill>
                <a:latin typeface="Arial" charset="0"/>
                <a:ea typeface="MS PGothic" pitchFamily="34" charset="-128"/>
              </a:defRPr>
            </a:lvl4pPr>
            <a:lvl5pPr marL="2057400" indent="-228600" eaLnBrk="0" hangingPunct="0">
              <a:spcBef>
                <a:spcPct val="30000"/>
              </a:spcBef>
              <a:buClr>
                <a:schemeClr val="hlink"/>
              </a:buClr>
              <a:buFont typeface="Wingdings" pitchFamily="2" charset="2"/>
              <a:buChar char="§"/>
              <a:defRPr sz="1400">
                <a:solidFill>
                  <a:schemeClr val="tx1"/>
                </a:solidFill>
                <a:latin typeface="Arial" charset="0"/>
                <a:ea typeface="MS PGothic" pitchFamily="34" charset="-128"/>
              </a:defRPr>
            </a:lvl5pPr>
            <a:lvl6pPr marL="25146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6pPr>
            <a:lvl7pPr marL="29718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7pPr>
            <a:lvl8pPr marL="34290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8pPr>
            <a:lvl9pPr marL="3886200" indent="-228600" eaLnBrk="0" fontAlgn="base" hangingPunct="0">
              <a:spcBef>
                <a:spcPct val="30000"/>
              </a:spcBef>
              <a:spcAft>
                <a:spcPct val="0"/>
              </a:spcAft>
              <a:buClr>
                <a:schemeClr val="hlink"/>
              </a:buClr>
              <a:buFont typeface="Wingdings" pitchFamily="2" charset="2"/>
              <a:buChar char="§"/>
              <a:defRPr sz="1400">
                <a:solidFill>
                  <a:schemeClr val="tx1"/>
                </a:solidFill>
                <a:latin typeface="Arial" charset="0"/>
                <a:ea typeface="MS PGothic" pitchFamily="34" charset="-128"/>
              </a:defRPr>
            </a:lvl9pPr>
          </a:lstStyle>
          <a:p>
            <a:pPr algn="r" eaLnBrk="1" hangingPunct="1">
              <a:lnSpc>
                <a:spcPct val="100000"/>
              </a:lnSpc>
              <a:spcBef>
                <a:spcPct val="0"/>
              </a:spcBef>
            </a:pPr>
            <a:r>
              <a:rPr lang="en-US" altLang="en-US" sz="1200"/>
              <a:t>Section  15.7</a:t>
            </a:r>
          </a:p>
        </p:txBody>
      </p:sp>
      <p:pic>
        <p:nvPicPr>
          <p:cNvPr id="79877" name="Picture 6" descr="15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90588"/>
            <a:ext cx="4476750" cy="528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8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8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381000" y="990600"/>
            <a:ext cx="10820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2400"/>
              <a:t>A 50-g mass is attached to a spring and undergoes simple harmonic motion. Its maximum acceleration is 15 m/s</a:t>
            </a:r>
            <a:r>
              <a:rPr lang="en-US" altLang="en-US" sz="2400" baseline="30000"/>
              <a:t>2</a:t>
            </a:r>
            <a:r>
              <a:rPr lang="en-US" altLang="en-US" sz="2400"/>
              <a:t> and its maximum speed is 3.5 m/s. </a:t>
            </a:r>
          </a:p>
          <a:p>
            <a:pPr eaLnBrk="1" hangingPunct="1"/>
            <a:r>
              <a:rPr lang="en-US" altLang="en-US" sz="2400"/>
              <a:t>Determine the (a) angular frequency, (b) spring constant, and (c) amplitude.</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152400" y="990601"/>
            <a:ext cx="11277600" cy="710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r>
              <a:rPr lang="en-US" sz="2400" dirty="0" smtClean="0"/>
              <a:t>A 2.00-kg object is attached to a spring and placed on a frictionless, horizontal surface. A horizontal force of </a:t>
            </a:r>
            <a:r>
              <a:rPr lang="en-US" sz="2400" dirty="0"/>
              <a:t>20.0 N is required to hold the object at rest when it is pulled to x = 0.200 m from its equilibrium position </a:t>
            </a:r>
            <a:r>
              <a:rPr lang="en-US" sz="2400" dirty="0" smtClean="0"/>
              <a:t>(</a:t>
            </a:r>
            <a:r>
              <a:rPr lang="en-US" sz="2400" dirty="0"/>
              <a:t>at x = 0), and then released from rest and it subsequently undergoes simple </a:t>
            </a:r>
            <a:r>
              <a:rPr lang="en-US" sz="2400" dirty="0" smtClean="0"/>
              <a:t>harmonic oscillations</a:t>
            </a:r>
            <a:r>
              <a:rPr lang="en-US" sz="2400" dirty="0"/>
              <a:t>. </a:t>
            </a:r>
          </a:p>
          <a:p>
            <a:r>
              <a:rPr lang="en-US" sz="2400" dirty="0"/>
              <a:t>(a) Find the force constant of the spring, k, and the frequency of the oscillations</a:t>
            </a:r>
            <a:r>
              <a:rPr lang="en-US" sz="2400" dirty="0" smtClean="0"/>
              <a:t>, </a:t>
            </a:r>
            <a:r>
              <a:rPr lang="en-US" sz="2400" dirty="0" smtClean="0">
                <a:sym typeface="Symbol"/>
              </a:rPr>
              <a:t></a:t>
            </a:r>
            <a:r>
              <a:rPr lang="en-US" sz="2400" dirty="0" smtClean="0"/>
              <a:t>. </a:t>
            </a:r>
            <a:endParaRPr lang="en-US" sz="2400" dirty="0"/>
          </a:p>
          <a:p>
            <a:r>
              <a:rPr lang="en-US" sz="2400" dirty="0"/>
              <a:t>(b) Calculate the maximum speed of the object, </a:t>
            </a:r>
            <a:r>
              <a:rPr lang="en-US" sz="2400" dirty="0" err="1" smtClean="0"/>
              <a:t>v</a:t>
            </a:r>
            <a:r>
              <a:rPr lang="en-US" sz="2400" baseline="-25000" dirty="0" err="1" smtClean="0"/>
              <a:t>max</a:t>
            </a:r>
            <a:r>
              <a:rPr lang="en-US" sz="2400" dirty="0" smtClean="0"/>
              <a:t>. </a:t>
            </a:r>
            <a:r>
              <a:rPr lang="en-US" sz="2400" dirty="0"/>
              <a:t>Where does this maximum speed occur? </a:t>
            </a:r>
          </a:p>
          <a:p>
            <a:r>
              <a:rPr lang="en-US" sz="2400" dirty="0"/>
              <a:t>(c) Find the maximum acceleration of the object, </a:t>
            </a:r>
            <a:r>
              <a:rPr lang="en-US" sz="2400" dirty="0" err="1" smtClean="0"/>
              <a:t>a</a:t>
            </a:r>
            <a:r>
              <a:rPr lang="en-US" sz="2400" baseline="-25000" dirty="0" err="1" smtClean="0"/>
              <a:t>max</a:t>
            </a:r>
            <a:r>
              <a:rPr lang="en-US" sz="2400" baseline="-25000" dirty="0" smtClean="0"/>
              <a:t>.</a:t>
            </a:r>
            <a:r>
              <a:rPr lang="en-US" sz="2400" dirty="0" smtClean="0"/>
              <a:t> </a:t>
            </a:r>
            <a:r>
              <a:rPr lang="en-US" sz="2400" dirty="0"/>
              <a:t>Where does the maximum acceleration occur</a:t>
            </a:r>
            <a:r>
              <a:rPr lang="en-US" sz="2400" dirty="0" smtClean="0"/>
              <a:t>?</a:t>
            </a:r>
          </a:p>
          <a:p>
            <a:r>
              <a:rPr lang="en-US" sz="2400" dirty="0" smtClean="0"/>
              <a:t>(d) Calculate </a:t>
            </a:r>
            <a:r>
              <a:rPr lang="en-US" sz="2400" dirty="0"/>
              <a:t>the total energy of the oscillating system</a:t>
            </a:r>
            <a:r>
              <a:rPr lang="en-US" sz="2400" dirty="0" smtClean="0"/>
              <a:t>.</a:t>
            </a:r>
          </a:p>
          <a:p>
            <a:pPr>
              <a:lnSpc>
                <a:spcPct val="150000"/>
              </a:lnSpc>
            </a:pPr>
            <a:r>
              <a:rPr lang="en-US" sz="2400" dirty="0" smtClean="0"/>
              <a:t>(e) Determine </a:t>
            </a:r>
            <a:r>
              <a:rPr lang="en-US" sz="2400" dirty="0"/>
              <a:t>the speed and the acceleration of the object when its position is equal to one-third the </a:t>
            </a:r>
            <a:r>
              <a:rPr lang="en-US" sz="2400" dirty="0" smtClean="0"/>
              <a:t>maximum </a:t>
            </a:r>
            <a:r>
              <a:rPr lang="en-US" sz="2400" dirty="0"/>
              <a:t>value, </a:t>
            </a:r>
          </a:p>
          <a:p>
            <a:r>
              <a:rPr lang="en-US" sz="2400" dirty="0"/>
              <a:t>(f) Express the position, velocity, and acceleration as functions of time, </a:t>
            </a:r>
          </a:p>
          <a:p>
            <a:r>
              <a:rPr lang="en-US" sz="2400" dirty="0" smtClean="0"/>
              <a:t>x(t), v(t), a(t)</a:t>
            </a:r>
            <a:endParaRPr lang="en-US" sz="2400" dirty="0"/>
          </a:p>
          <a:p>
            <a:r>
              <a:rPr lang="en-US" sz="2400" dirty="0"/>
              <a:t>.</a:t>
            </a:r>
          </a:p>
          <a:p>
            <a:r>
              <a:rPr lang="en-US" sz="2400" dirty="0"/>
              <a:t/>
            </a:r>
            <a:br>
              <a:rPr lang="en-US" sz="2400" dirty="0"/>
            </a:br>
            <a:endParaRPr lang="en-US" sz="2400" dirty="0" smtClean="0"/>
          </a:p>
          <a:p>
            <a:pPr eaLnBrk="1" hangingPunct="1"/>
            <a:endParaRPr lang="en-US" altLang="en-US" sz="2400" dirty="0"/>
          </a:p>
        </p:txBody>
      </p:sp>
      <p:graphicFrame>
        <p:nvGraphicFramePr>
          <p:cNvPr id="2" name="Object 1"/>
          <p:cNvGraphicFramePr>
            <a:graphicFrameLocks noChangeAspect="1"/>
          </p:cNvGraphicFramePr>
          <p:nvPr>
            <p:extLst>
              <p:ext uri="{D42A27DB-BD31-4B8C-83A1-F6EECF244321}">
                <p14:modId xmlns:p14="http://schemas.microsoft.com/office/powerpoint/2010/main" val="456627454"/>
              </p:ext>
            </p:extLst>
          </p:nvPr>
        </p:nvGraphicFramePr>
        <p:xfrm>
          <a:off x="5334000" y="5181600"/>
          <a:ext cx="2359738" cy="677333"/>
        </p:xfrm>
        <a:graphic>
          <a:graphicData uri="http://schemas.openxmlformats.org/presentationml/2006/ole">
            <mc:AlternateContent xmlns:mc="http://schemas.openxmlformats.org/markup-compatibility/2006">
              <mc:Choice xmlns:v="urn:schemas-microsoft-com:vml" Requires="v">
                <p:oleObj spid="_x0000_s113669" name="Equation" r:id="rId3" imgW="1371600" imgH="393480" progId="Equation.3">
                  <p:embed/>
                </p:oleObj>
              </mc:Choice>
              <mc:Fallback>
                <p:oleObj name="Equation" r:id="rId3" imgW="1371600" imgH="393480" progId="Equation.3">
                  <p:embed/>
                  <p:pic>
                    <p:nvPicPr>
                      <p:cNvPr id="0" name=""/>
                      <p:cNvPicPr/>
                      <p:nvPr/>
                    </p:nvPicPr>
                    <p:blipFill>
                      <a:blip r:embed="rId4"/>
                      <a:stretch>
                        <a:fillRect/>
                      </a:stretch>
                    </p:blipFill>
                    <p:spPr>
                      <a:xfrm>
                        <a:off x="5334000" y="5181600"/>
                        <a:ext cx="2359738" cy="677333"/>
                      </a:xfrm>
                      <a:prstGeom prst="rect">
                        <a:avLst/>
                      </a:prstGeom>
                    </p:spPr>
                  </p:pic>
                </p:oleObj>
              </mc:Fallback>
            </mc:AlternateContent>
          </a:graphicData>
        </a:graphic>
      </p:graphicFrame>
    </p:spTree>
    <p:extLst>
      <p:ext uri="{BB962C8B-B14F-4D97-AF65-F5344CB8AC3E}">
        <p14:creationId xmlns:p14="http://schemas.microsoft.com/office/powerpoint/2010/main" val="156599040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152400" y="990600"/>
            <a:ext cx="110490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r>
              <a:rPr lang="en-US" sz="2400" dirty="0"/>
              <a:t>A particle moving along the x axis in simple harmonic motion starts from its equilibrium position, the origin, </a:t>
            </a:r>
            <a:r>
              <a:rPr lang="en-US" sz="2400" dirty="0" smtClean="0"/>
              <a:t>at </a:t>
            </a:r>
            <a:r>
              <a:rPr lang="en-US" sz="2400" dirty="0"/>
              <a:t>t = 0 sec and moves to the right. The amplitude of its motion is A = 2.00 cm, and the frequency is </a:t>
            </a:r>
            <a:r>
              <a:rPr lang="en-US" sz="2400" dirty="0" smtClean="0">
                <a:sym typeface="Symbol"/>
              </a:rPr>
              <a:t> </a:t>
            </a:r>
            <a:r>
              <a:rPr lang="en-US" sz="2400" dirty="0" smtClean="0"/>
              <a:t>= </a:t>
            </a:r>
            <a:r>
              <a:rPr lang="en-US" sz="2400" dirty="0"/>
              <a:t>1.50 </a:t>
            </a:r>
            <a:r>
              <a:rPr lang="en-US" sz="2400" dirty="0" smtClean="0"/>
              <a:t>Hz</a:t>
            </a:r>
            <a:r>
              <a:rPr lang="en-US" sz="2400" dirty="0"/>
              <a:t>. </a:t>
            </a:r>
          </a:p>
          <a:p>
            <a:r>
              <a:rPr lang="en-US" sz="2400" dirty="0"/>
              <a:t>(a) Find an expression for the position of the particle as a function of time. </a:t>
            </a:r>
          </a:p>
          <a:p>
            <a:r>
              <a:rPr lang="en-US" sz="2400" dirty="0"/>
              <a:t>(b) Determine the maximum speed </a:t>
            </a:r>
            <a:r>
              <a:rPr lang="en-US" sz="2400" dirty="0" smtClean="0"/>
              <a:t>and </a:t>
            </a:r>
            <a:r>
              <a:rPr lang="en-US" sz="2400" dirty="0" smtClean="0"/>
              <a:t>maximum positive acceleration </a:t>
            </a:r>
            <a:r>
              <a:rPr lang="en-US" sz="2400" dirty="0" smtClean="0"/>
              <a:t>of </a:t>
            </a:r>
            <a:r>
              <a:rPr lang="en-US" sz="2400" dirty="0"/>
              <a:t>the </a:t>
            </a:r>
            <a:r>
              <a:rPr lang="en-US" sz="2400" dirty="0" smtClean="0"/>
              <a:t>particle. </a:t>
            </a:r>
            <a:endParaRPr lang="en-US" sz="2400" dirty="0"/>
          </a:p>
          <a:p>
            <a:r>
              <a:rPr lang="en-US" sz="2400" dirty="0"/>
              <a:t>(d) Find the total distance traveled by the particle between t = 0 and t = 1.00 s. </a:t>
            </a:r>
          </a:p>
          <a:p>
            <a:pPr eaLnBrk="1" hangingPunct="1"/>
            <a:endParaRPr lang="en-US" altLang="en-US" sz="2400" dirty="0"/>
          </a:p>
        </p:txBody>
      </p:sp>
    </p:spTree>
    <p:extLst>
      <p:ext uri="{BB962C8B-B14F-4D97-AF65-F5344CB8AC3E}">
        <p14:creationId xmlns:p14="http://schemas.microsoft.com/office/powerpoint/2010/main" val="11748495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381000" y="990600"/>
            <a:ext cx="1082040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r>
              <a:rPr lang="en-US" sz="2400" b="1" dirty="0" smtClean="0"/>
              <a:t>1</a:t>
            </a:r>
            <a:r>
              <a:rPr lang="en-US" sz="2400" dirty="0" smtClean="0"/>
              <a:t>. What </a:t>
            </a:r>
            <a:r>
              <a:rPr lang="en-US" sz="2400" dirty="0"/>
              <a:t>is the period of </a:t>
            </a:r>
            <a:r>
              <a:rPr lang="en-US" sz="2400" dirty="0" smtClean="0"/>
              <a:t>60.0 Hz</a:t>
            </a:r>
            <a:r>
              <a:rPr lang="en-US" sz="2400" dirty="0"/>
              <a:t> electrical power?</a:t>
            </a:r>
          </a:p>
          <a:p>
            <a:r>
              <a:rPr lang="en-US" sz="2400" b="1" dirty="0" smtClean="0"/>
              <a:t>2</a:t>
            </a:r>
            <a:r>
              <a:rPr lang="en-US" sz="2400" dirty="0" smtClean="0"/>
              <a:t>.</a:t>
            </a:r>
            <a:r>
              <a:rPr lang="en-US" sz="2400" dirty="0"/>
              <a:t> If your heart rate is 150 beats per minute during strenuous exercise, what is the time per beat in units of seconds?</a:t>
            </a:r>
          </a:p>
          <a:p>
            <a:r>
              <a:rPr lang="en-US" sz="2400" b="1" dirty="0" smtClean="0"/>
              <a:t>3</a:t>
            </a:r>
            <a:r>
              <a:rPr lang="en-US" sz="2400" dirty="0" smtClean="0"/>
              <a:t>.</a:t>
            </a:r>
            <a:r>
              <a:rPr lang="en-US" sz="2400" dirty="0"/>
              <a:t> Find the frequency of a tuning fork that takes </a:t>
            </a:r>
            <a:r>
              <a:rPr lang="en-US" sz="2400" dirty="0" smtClean="0"/>
              <a:t>2.50×10</a:t>
            </a:r>
            <a:r>
              <a:rPr lang="en-US" sz="2400" baseline="30000" dirty="0" smtClean="0"/>
              <a:t>−3 </a:t>
            </a:r>
            <a:r>
              <a:rPr lang="en-US" sz="2400" dirty="0" smtClean="0"/>
              <a:t>s to </a:t>
            </a:r>
            <a:r>
              <a:rPr lang="en-US" sz="2400" dirty="0"/>
              <a:t>complete one oscillation.</a:t>
            </a:r>
          </a:p>
          <a:p>
            <a:r>
              <a:rPr lang="en-US" sz="2400" b="1" dirty="0" smtClean="0"/>
              <a:t>4</a:t>
            </a:r>
            <a:r>
              <a:rPr lang="en-US" sz="2400" dirty="0" smtClean="0"/>
              <a:t>.</a:t>
            </a:r>
            <a:r>
              <a:rPr lang="en-US" sz="2400" dirty="0"/>
              <a:t> A stroboscope is set to flash every 8.00×10</a:t>
            </a:r>
            <a:r>
              <a:rPr lang="en-US" sz="2400" baseline="30000" dirty="0"/>
              <a:t>−</a:t>
            </a:r>
            <a:r>
              <a:rPr lang="en-US" sz="2400" baseline="30000" dirty="0" smtClean="0"/>
              <a:t>5</a:t>
            </a:r>
            <a:r>
              <a:rPr lang="en-US" sz="2400" dirty="0" smtClean="0"/>
              <a:t>s. </a:t>
            </a:r>
            <a:r>
              <a:rPr lang="en-US" sz="2400" dirty="0"/>
              <a:t>What is the frequency of the flashes</a:t>
            </a:r>
            <a:r>
              <a:rPr lang="en-US" sz="2400" dirty="0" smtClean="0"/>
              <a:t>?</a:t>
            </a:r>
          </a:p>
          <a:p>
            <a:r>
              <a:rPr lang="en-US" sz="2400" dirty="0" smtClean="0"/>
              <a:t>5. (a) What </a:t>
            </a:r>
            <a:r>
              <a:rPr lang="en-US" sz="2400" dirty="0"/>
              <a:t>is the maximum velocity of an 85.0-kg person bouncing on a bathroom scale having a force constant </a:t>
            </a:r>
            <a:r>
              <a:rPr lang="en-US" sz="2400" dirty="0" smtClean="0"/>
              <a:t>of 1.50×10</a:t>
            </a:r>
            <a:r>
              <a:rPr lang="en-US" sz="2400" baseline="30000" dirty="0" smtClean="0"/>
              <a:t>6</a:t>
            </a:r>
            <a:r>
              <a:rPr lang="en-US" sz="2400" dirty="0" smtClean="0"/>
              <a:t> N/m, </a:t>
            </a:r>
            <a:r>
              <a:rPr lang="en-US" sz="2400" dirty="0"/>
              <a:t>if the amplitude of the bounce is 0.200 cm? (b)What is the maximum energy stored in the spring?</a:t>
            </a:r>
          </a:p>
          <a:p>
            <a:pPr eaLnBrk="1" hangingPunct="1"/>
            <a:endParaRPr lang="en-US" altLang="en-US" sz="2400" dirty="0"/>
          </a:p>
        </p:txBody>
      </p:sp>
    </p:spTree>
    <p:extLst>
      <p:ext uri="{BB962C8B-B14F-4D97-AF65-F5344CB8AC3E}">
        <p14:creationId xmlns:p14="http://schemas.microsoft.com/office/powerpoint/2010/main" val="70498905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381000" y="990600"/>
            <a:ext cx="1082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sz="2400" dirty="0" smtClean="0"/>
              <a:t>Consider a spring that is standing on end in the vertical position. You place 100 grams on the spring and it compresses a distance of 9.8 cm. </a:t>
            </a:r>
          </a:p>
          <a:p>
            <a:pPr marL="457200" indent="-457200" eaLnBrk="1" hangingPunct="1">
              <a:buAutoNum type="alphaLcParenR"/>
            </a:pPr>
            <a:r>
              <a:rPr lang="en-US" sz="2400" dirty="0" smtClean="0"/>
              <a:t>If an additional 200 grams are placed on top of the 100 gram mass, how much will the spring compress?</a:t>
            </a:r>
          </a:p>
          <a:p>
            <a:pPr marL="457200" indent="-457200" eaLnBrk="1" hangingPunct="1">
              <a:buAutoNum type="alphaLcParenR"/>
            </a:pPr>
            <a:r>
              <a:rPr lang="en-US" sz="2400" dirty="0" smtClean="0"/>
              <a:t>What is the spring constant?</a:t>
            </a:r>
            <a:endParaRPr lang="en-US" altLang="en-US" sz="2400" dirty="0"/>
          </a:p>
        </p:txBody>
      </p:sp>
    </p:spTree>
    <p:extLst>
      <p:ext uri="{BB962C8B-B14F-4D97-AF65-F5344CB8AC3E}">
        <p14:creationId xmlns:p14="http://schemas.microsoft.com/office/powerpoint/2010/main" val="33567938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0899" name="Rectangle 2"/>
          <p:cNvSpPr>
            <a:spLocks noChangeArrowheads="1"/>
          </p:cNvSpPr>
          <p:nvPr/>
        </p:nvSpPr>
        <p:spPr bwMode="auto">
          <a:xfrm>
            <a:off x="381000" y="990600"/>
            <a:ext cx="1082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sz="2400" dirty="0" smtClean="0"/>
              <a:t>A spring is hanging freely from the ceiling. You attach an object to the end of the spring and let the object go. It falls down a distance 49 cm and comes back up to where it started. It continues to oscillate in simple harmonic motion going up and down a total distance of 49 cm from top to bottom. What is the period of the simple harmonic motion?</a:t>
            </a:r>
            <a:endParaRPr lang="en-US" altLang="en-US" sz="2400" dirty="0"/>
          </a:p>
        </p:txBody>
      </p:sp>
    </p:spTree>
    <p:extLst>
      <p:ext uri="{BB962C8B-B14F-4D97-AF65-F5344CB8AC3E}">
        <p14:creationId xmlns:p14="http://schemas.microsoft.com/office/powerpoint/2010/main" val="333944911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a:xfrm>
            <a:off x="571500" y="76200"/>
            <a:ext cx="10287000" cy="609600"/>
          </a:xfrm>
        </p:spPr>
        <p:txBody>
          <a:bodyPr/>
          <a:lstStyle/>
          <a:p>
            <a:pPr eaLnBrk="1" hangingPunct="1"/>
            <a:r>
              <a:rPr lang="en-US" altLang="en-US" sz="3200" dirty="0" smtClean="0"/>
              <a:t>Practice </a:t>
            </a:r>
            <a:r>
              <a:rPr lang="en-US" altLang="en-US" sz="3200" dirty="0" smtClean="0"/>
              <a:t>Problem</a:t>
            </a:r>
          </a:p>
        </p:txBody>
      </p:sp>
      <p:sp>
        <p:nvSpPr>
          <p:cNvPr id="81923" name="Rectangle 2"/>
          <p:cNvSpPr>
            <a:spLocks noChangeArrowheads="1"/>
          </p:cNvSpPr>
          <p:nvPr/>
        </p:nvSpPr>
        <p:spPr bwMode="auto">
          <a:xfrm>
            <a:off x="134938" y="1557338"/>
            <a:ext cx="10982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2400"/>
              <a:t>You are on a boat, which is  bobbing up and down. The boat's vertical displace­ment y  is given by </a:t>
            </a:r>
          </a:p>
        </p:txBody>
      </p:sp>
      <p:graphicFrame>
        <p:nvGraphicFramePr>
          <p:cNvPr id="81924" name="Object 4"/>
          <p:cNvGraphicFramePr>
            <a:graphicFrameLocks noChangeAspect="1"/>
          </p:cNvGraphicFramePr>
          <p:nvPr/>
        </p:nvGraphicFramePr>
        <p:xfrm>
          <a:off x="1219200" y="2400300"/>
          <a:ext cx="5753100" cy="665163"/>
        </p:xfrm>
        <a:graphic>
          <a:graphicData uri="http://schemas.openxmlformats.org/presentationml/2006/ole">
            <mc:AlternateContent xmlns:mc="http://schemas.openxmlformats.org/markup-compatibility/2006">
              <mc:Choice xmlns:v="urn:schemas-microsoft-com:vml" Requires="v">
                <p:oleObj spid="_x0000_s81941" name="Equation" r:id="rId3" imgW="1409700" imgH="228600" progId="Equation.3">
                  <p:embed/>
                </p:oleObj>
              </mc:Choice>
              <mc:Fallback>
                <p:oleObj name="Equation" r:id="rId3" imgW="14097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400300"/>
                        <a:ext cx="57531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5" name="Rectangle 5"/>
          <p:cNvSpPr>
            <a:spLocks noChangeArrowheads="1"/>
          </p:cNvSpPr>
          <p:nvPr/>
        </p:nvSpPr>
        <p:spPr bwMode="auto">
          <a:xfrm>
            <a:off x="223838" y="3267075"/>
            <a:ext cx="1089342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algn="just" eaLnBrk="1" hangingPunct="1"/>
            <a:r>
              <a:rPr lang="en-US" altLang="en-US" sz="2400"/>
              <a:t>(a) Find the amplitude, angular frequency , phase constant, frequency, and  pe­riod of the motion. (b) Where is the boat at t = 1 s? (c) Find the velocity and ac­celeration as functions of time t. (d) Find the initial values of the position, velocity, and acceleration of the boat. </a:t>
            </a:r>
          </a:p>
        </p:txBody>
      </p:sp>
      <mc:AlternateContent xmlns:mc="http://schemas.openxmlformats.org/markup-compatibility/2006">
        <mc:Choice xmlns:a14="http://schemas.microsoft.com/office/drawing/2010/main" Requires="a14">
          <p:sp>
            <p:nvSpPr>
              <p:cNvPr id="2" name="TextBox 1"/>
              <p:cNvSpPr txBox="1"/>
              <p:nvPr/>
            </p:nvSpPr>
            <p:spPr>
              <a:xfrm>
                <a:off x="7162800" y="2361367"/>
                <a:ext cx="3565079" cy="58477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a:rPr>
                        <m:t>𝑦</m:t>
                      </m:r>
                      <m:r>
                        <a:rPr lang="en-US" sz="3200" b="0" i="1" smtClean="0">
                          <a:latin typeface="Cambria Math"/>
                        </a:rPr>
                        <m:t>=</m:t>
                      </m:r>
                      <m:r>
                        <a:rPr lang="en-US" sz="3200" b="0" i="1" smtClean="0">
                          <a:latin typeface="Cambria Math"/>
                        </a:rPr>
                        <m:t>𝐴</m:t>
                      </m:r>
                      <m:func>
                        <m:funcPr>
                          <m:ctrlPr>
                            <a:rPr lang="en-US" sz="3200" b="0" i="1" smtClean="0">
                              <a:latin typeface="Cambria Math"/>
                            </a:rPr>
                          </m:ctrlPr>
                        </m:funcPr>
                        <m:fName>
                          <m:r>
                            <m:rPr>
                              <m:sty m:val="p"/>
                            </m:rPr>
                            <a:rPr lang="en-US" sz="3200" b="0" i="0" smtClean="0">
                              <a:latin typeface="Cambria Math"/>
                            </a:rPr>
                            <m:t>cos</m:t>
                          </m:r>
                        </m:fName>
                        <m:e>
                          <m:d>
                            <m:dPr>
                              <m:ctrlPr>
                                <a:rPr lang="en-US" sz="3200" b="0" i="1" smtClean="0">
                                  <a:latin typeface="Cambria Math"/>
                                </a:rPr>
                              </m:ctrlPr>
                            </m:dPr>
                            <m:e>
                              <m:r>
                                <a:rPr lang="en-US" sz="3200" b="0" i="1" smtClean="0">
                                  <a:latin typeface="Cambria Math"/>
                                  <a:ea typeface="Cambria Math"/>
                                </a:rPr>
                                <m:t>𝜔</m:t>
                              </m:r>
                              <m:r>
                                <a:rPr lang="en-US" sz="3200" b="0" i="1" smtClean="0">
                                  <a:latin typeface="Cambria Math"/>
                                  <a:ea typeface="Cambria Math"/>
                                </a:rPr>
                                <m:t>𝑡</m:t>
                              </m:r>
                              <m:r>
                                <a:rPr lang="en-US" sz="3200" b="0" i="1" smtClean="0">
                                  <a:latin typeface="Cambria Math"/>
                                  <a:ea typeface="Cambria Math"/>
                                </a:rPr>
                                <m:t>+</m:t>
                              </m:r>
                              <m:r>
                                <a:rPr lang="en-US" sz="3200" b="0" i="1" smtClean="0">
                                  <a:latin typeface="Cambria Math"/>
                                  <a:ea typeface="Cambria Math"/>
                                </a:rPr>
                                <m:t>𝜙</m:t>
                              </m:r>
                            </m:e>
                          </m:d>
                        </m:e>
                      </m:func>
                    </m:oMath>
                  </m:oMathPara>
                </a14:m>
                <a:endParaRPr lang="en-US" sz="3200" dirty="0"/>
              </a:p>
            </p:txBody>
          </p:sp>
        </mc:Choice>
        <mc:Fallback>
          <p:sp>
            <p:nvSpPr>
              <p:cNvPr id="2" name="TextBox 1"/>
              <p:cNvSpPr txBox="1">
                <a:spLocks noRot="1" noChangeAspect="1" noMove="1" noResize="1" noEditPoints="1" noAdjustHandles="1" noChangeArrowheads="1" noChangeShapeType="1" noTextEdit="1"/>
              </p:cNvSpPr>
              <p:nvPr/>
            </p:nvSpPr>
            <p:spPr>
              <a:xfrm>
                <a:off x="7162800" y="2361367"/>
                <a:ext cx="3565079" cy="584775"/>
              </a:xfrm>
              <a:prstGeom prst="rect">
                <a:avLst/>
              </a:prstGeom>
              <a:blipFill rotWithShape="1">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a:xfrm>
            <a:off x="585788" y="152400"/>
            <a:ext cx="10287000" cy="609600"/>
          </a:xfrm>
        </p:spPr>
        <p:txBody>
          <a:bodyPr/>
          <a:lstStyle/>
          <a:p>
            <a:pPr eaLnBrk="1" hangingPunct="1"/>
            <a:r>
              <a:rPr lang="en-US" altLang="en-US" sz="3200" dirty="0" smtClean="0"/>
              <a:t>Practice </a:t>
            </a:r>
            <a:r>
              <a:rPr lang="en-US" altLang="en-US" sz="3200" dirty="0" smtClean="0"/>
              <a:t>Problem</a:t>
            </a:r>
          </a:p>
        </p:txBody>
      </p:sp>
      <p:sp>
        <p:nvSpPr>
          <p:cNvPr id="82947" name="Rectangle 2"/>
          <p:cNvSpPr>
            <a:spLocks noChangeArrowheads="1"/>
          </p:cNvSpPr>
          <p:nvPr/>
        </p:nvSpPr>
        <p:spPr bwMode="auto">
          <a:xfrm>
            <a:off x="381000" y="1066800"/>
            <a:ext cx="10439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MS PGothic" pitchFamily="34" charset="-128"/>
              </a:defRPr>
            </a:lvl1pPr>
            <a:lvl2pPr marL="742950" indent="-285750" eaLnBrk="0" hangingPunct="0">
              <a:defRPr>
                <a:solidFill>
                  <a:schemeClr val="tx1"/>
                </a:solidFill>
                <a:latin typeface="Arial" charset="0"/>
                <a:ea typeface="MS PGothic" pitchFamily="34" charset="-128"/>
              </a:defRPr>
            </a:lvl2pPr>
            <a:lvl3pPr marL="1143000" indent="-228600" eaLnBrk="0" hangingPunct="0">
              <a:defRPr>
                <a:solidFill>
                  <a:schemeClr val="tx1"/>
                </a:solidFill>
                <a:latin typeface="Arial" charset="0"/>
                <a:ea typeface="MS PGothic" pitchFamily="34" charset="-128"/>
              </a:defRPr>
            </a:lvl3pPr>
            <a:lvl4pPr marL="1600200" indent="-228600" eaLnBrk="0" hangingPunct="0">
              <a:defRPr>
                <a:solidFill>
                  <a:schemeClr val="tx1"/>
                </a:solidFill>
                <a:latin typeface="Arial" charset="0"/>
                <a:ea typeface="MS PGothic" pitchFamily="34" charset="-128"/>
              </a:defRPr>
            </a:lvl4pPr>
            <a:lvl5pPr marL="2057400" indent="-228600" eaLnBrk="0" hangingPunct="0">
              <a:defRPr>
                <a:solidFill>
                  <a:schemeClr val="tx1"/>
                </a:solidFill>
                <a:latin typeface="Arial" charset="0"/>
                <a:ea typeface="MS PGothic" pitchFamily="34" charset="-128"/>
              </a:defRPr>
            </a:lvl5pPr>
            <a:lvl6pPr marL="2514600" indent="-228600" eaLnBrk="0" fontAlgn="base" hangingPunct="0">
              <a:spcBef>
                <a:spcPct val="0"/>
              </a:spcBef>
              <a:spcAft>
                <a:spcPct val="0"/>
              </a:spcAft>
              <a:defRPr>
                <a:solidFill>
                  <a:schemeClr val="tx1"/>
                </a:solidFill>
                <a:latin typeface="Arial" charset="0"/>
                <a:ea typeface="MS PGothic" pitchFamily="34" charset="-128"/>
              </a:defRPr>
            </a:lvl6pPr>
            <a:lvl7pPr marL="2971800" indent="-228600" eaLnBrk="0" fontAlgn="base" hangingPunct="0">
              <a:spcBef>
                <a:spcPct val="0"/>
              </a:spcBef>
              <a:spcAft>
                <a:spcPct val="0"/>
              </a:spcAft>
              <a:defRPr>
                <a:solidFill>
                  <a:schemeClr val="tx1"/>
                </a:solidFill>
                <a:latin typeface="Arial" charset="0"/>
                <a:ea typeface="MS PGothic" pitchFamily="34" charset="-128"/>
              </a:defRPr>
            </a:lvl7pPr>
            <a:lvl8pPr marL="3429000" indent="-228600" eaLnBrk="0" fontAlgn="base" hangingPunct="0">
              <a:spcBef>
                <a:spcPct val="0"/>
              </a:spcBef>
              <a:spcAft>
                <a:spcPct val="0"/>
              </a:spcAft>
              <a:defRPr>
                <a:solidFill>
                  <a:schemeClr val="tx1"/>
                </a:solidFill>
                <a:latin typeface="Arial" charset="0"/>
                <a:ea typeface="MS PGothic" pitchFamily="34" charset="-128"/>
              </a:defRPr>
            </a:lvl8pPr>
            <a:lvl9pPr marL="3886200" indent="-228600" eaLnBrk="0" fontAlgn="base" hangingPunct="0">
              <a:spcBef>
                <a:spcPct val="0"/>
              </a:spcBef>
              <a:spcAft>
                <a:spcPct val="0"/>
              </a:spcAft>
              <a:defRPr>
                <a:solidFill>
                  <a:schemeClr val="tx1"/>
                </a:solidFill>
                <a:latin typeface="Arial" charset="0"/>
                <a:ea typeface="MS PGothic" pitchFamily="34" charset="-128"/>
              </a:defRPr>
            </a:lvl9pPr>
          </a:lstStyle>
          <a:p>
            <a:pPr eaLnBrk="1" hangingPunct="1"/>
            <a:r>
              <a:rPr lang="en-US" altLang="en-US" sz="2400" dirty="0"/>
              <a:t>A 450-g mass on a spring is oscillating at 1.2 Hz, with total energy 0.51 J. What’s the oscillation amplitude?</a:t>
            </a:r>
          </a:p>
        </p:txBody>
      </p:sp>
      <mc:AlternateContent xmlns:mc="http://schemas.openxmlformats.org/markup-compatibility/2006">
        <mc:Choice xmlns:a14="http://schemas.microsoft.com/office/drawing/2010/main" Requires="a14">
          <p:sp>
            <p:nvSpPr>
              <p:cNvPr id="2" name="TextBox 1"/>
              <p:cNvSpPr txBox="1"/>
              <p:nvPr/>
            </p:nvSpPr>
            <p:spPr>
              <a:xfrm>
                <a:off x="2743200" y="4184678"/>
                <a:ext cx="2085186" cy="101431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3200" b="0" i="1" smtClean="0">
                          <a:latin typeface="Cambria Math"/>
                        </a:rPr>
                        <m:t>𝐸</m:t>
                      </m:r>
                      <m:r>
                        <a:rPr lang="en-US" sz="3200" b="0" i="1" smtClean="0">
                          <a:latin typeface="Cambria Math"/>
                        </a:rPr>
                        <m:t>=</m:t>
                      </m:r>
                      <m:f>
                        <m:fPr>
                          <m:ctrlPr>
                            <a:rPr lang="en-US" sz="3200" b="0" i="1" smtClean="0">
                              <a:latin typeface="Cambria Math"/>
                            </a:rPr>
                          </m:ctrlPr>
                        </m:fPr>
                        <m:num>
                          <m:r>
                            <a:rPr lang="en-US" sz="3200" b="0" i="1" smtClean="0">
                              <a:latin typeface="Cambria Math"/>
                            </a:rPr>
                            <m:t>1</m:t>
                          </m:r>
                        </m:num>
                        <m:den>
                          <m:r>
                            <a:rPr lang="en-US" sz="3200" b="0" i="1" smtClean="0">
                              <a:latin typeface="Cambria Math"/>
                            </a:rPr>
                            <m:t>2</m:t>
                          </m:r>
                        </m:den>
                      </m:f>
                      <m:r>
                        <a:rPr lang="en-US" sz="3200" b="0" i="1" smtClean="0">
                          <a:latin typeface="Cambria Math"/>
                        </a:rPr>
                        <m:t>𝑘</m:t>
                      </m:r>
                      <m:sSup>
                        <m:sSupPr>
                          <m:ctrlPr>
                            <a:rPr lang="en-US" sz="3200" b="0" i="1" smtClean="0">
                              <a:latin typeface="Cambria Math"/>
                            </a:rPr>
                          </m:ctrlPr>
                        </m:sSupPr>
                        <m:e>
                          <m:r>
                            <a:rPr lang="en-US" sz="3200" b="0" i="1" smtClean="0">
                              <a:latin typeface="Cambria Math"/>
                            </a:rPr>
                            <m:t>𝐴</m:t>
                          </m:r>
                        </m:e>
                        <m:sup>
                          <m:r>
                            <a:rPr lang="en-US" sz="3200" b="0" i="1" smtClean="0">
                              <a:latin typeface="Cambria Math"/>
                            </a:rPr>
                            <m:t>2</m:t>
                          </m:r>
                        </m:sup>
                      </m:sSup>
                    </m:oMath>
                  </m:oMathPara>
                </a14:m>
                <a:endParaRPr lang="en-US" sz="3200" dirty="0"/>
              </a:p>
            </p:txBody>
          </p:sp>
        </mc:Choice>
        <mc:Fallback>
          <p:sp>
            <p:nvSpPr>
              <p:cNvPr id="2" name="TextBox 1"/>
              <p:cNvSpPr txBox="1">
                <a:spLocks noRot="1" noChangeAspect="1" noMove="1" noResize="1" noEditPoints="1" noAdjustHandles="1" noChangeArrowheads="1" noChangeShapeType="1" noTextEdit="1"/>
              </p:cNvSpPr>
              <p:nvPr/>
            </p:nvSpPr>
            <p:spPr>
              <a:xfrm>
                <a:off x="2743200" y="4184678"/>
                <a:ext cx="2085186" cy="1014317"/>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6705600" y="2438400"/>
                <a:ext cx="3200400" cy="389029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3600" b="0" i="1" smtClean="0">
                          <a:latin typeface="Cambria Math"/>
                        </a:rPr>
                        <m:t>𝑓</m:t>
                      </m:r>
                      <m:r>
                        <a:rPr lang="en-US" sz="3600" b="0" i="1" smtClean="0">
                          <a:latin typeface="Cambria Math"/>
                        </a:rPr>
                        <m:t>=2</m:t>
                      </m:r>
                      <m:r>
                        <a:rPr lang="en-US" sz="3600" b="0" i="1" smtClean="0">
                          <a:latin typeface="Cambria Math"/>
                          <a:ea typeface="Cambria Math"/>
                        </a:rPr>
                        <m:t>𝜋𝜔</m:t>
                      </m:r>
                    </m:oMath>
                  </m:oMathPara>
                </a14:m>
                <a:endParaRPr lang="en-US" sz="3600" b="0" dirty="0" smtClean="0">
                  <a:ea typeface="Cambria Math"/>
                </a:endParaRPr>
              </a:p>
              <a:p>
                <a14:m>
                  <m:oMathPara xmlns:m="http://schemas.openxmlformats.org/officeDocument/2006/math">
                    <m:oMathParaPr>
                      <m:jc m:val="centerGroup"/>
                    </m:oMathParaPr>
                    <m:oMath xmlns:m="http://schemas.openxmlformats.org/officeDocument/2006/math">
                      <m:r>
                        <a:rPr lang="en-US" sz="3600" i="1" smtClean="0">
                          <a:latin typeface="Cambria Math"/>
                          <a:ea typeface="Cambria Math"/>
                        </a:rPr>
                        <m:t>𝜔</m:t>
                      </m:r>
                      <m:r>
                        <a:rPr lang="en-US" sz="3600" b="0" i="1" smtClean="0">
                          <a:latin typeface="Cambria Math"/>
                          <a:ea typeface="Cambria Math"/>
                        </a:rPr>
                        <m:t>=</m:t>
                      </m:r>
                      <m:f>
                        <m:fPr>
                          <m:ctrlPr>
                            <a:rPr lang="en-US" sz="3600" b="0" i="1" smtClean="0">
                              <a:latin typeface="Cambria Math"/>
                              <a:ea typeface="Cambria Math"/>
                            </a:rPr>
                          </m:ctrlPr>
                        </m:fPr>
                        <m:num>
                          <m:r>
                            <a:rPr lang="en-US" sz="3600" b="0" i="1" smtClean="0">
                              <a:latin typeface="Cambria Math"/>
                              <a:ea typeface="Cambria Math"/>
                            </a:rPr>
                            <m:t>𝑓</m:t>
                          </m:r>
                        </m:num>
                        <m:den>
                          <m:r>
                            <a:rPr lang="en-US" sz="3600" b="0" i="1" smtClean="0">
                              <a:latin typeface="Cambria Math"/>
                              <a:ea typeface="Cambria Math"/>
                            </a:rPr>
                            <m:t>2</m:t>
                          </m:r>
                          <m:r>
                            <a:rPr lang="en-US" sz="3600" b="0" i="1" smtClean="0">
                              <a:latin typeface="Cambria Math"/>
                              <a:ea typeface="Cambria Math"/>
                            </a:rPr>
                            <m:t>𝜋</m:t>
                          </m:r>
                        </m:den>
                      </m:f>
                    </m:oMath>
                  </m:oMathPara>
                </a14:m>
                <a:endParaRPr lang="en-US" sz="3600" dirty="0" smtClean="0"/>
              </a:p>
              <a:p>
                <a14:m>
                  <m:oMathPara xmlns:m="http://schemas.openxmlformats.org/officeDocument/2006/math">
                    <m:oMathParaPr>
                      <m:jc m:val="centerGroup"/>
                    </m:oMathParaPr>
                    <m:oMath xmlns:m="http://schemas.openxmlformats.org/officeDocument/2006/math">
                      <m:f>
                        <m:fPr>
                          <m:ctrlPr>
                            <a:rPr lang="en-US" sz="3600" b="0" i="1" smtClean="0">
                              <a:latin typeface="Cambria Math"/>
                              <a:ea typeface="Cambria Math"/>
                            </a:rPr>
                          </m:ctrlPr>
                        </m:fPr>
                        <m:num>
                          <m:r>
                            <a:rPr lang="en-US" sz="3600" b="0" i="1" smtClean="0">
                              <a:latin typeface="Cambria Math"/>
                              <a:ea typeface="Cambria Math"/>
                            </a:rPr>
                            <m:t>𝑓</m:t>
                          </m:r>
                        </m:num>
                        <m:den>
                          <m:r>
                            <a:rPr lang="en-US" sz="3600" b="0" i="1" smtClean="0">
                              <a:latin typeface="Cambria Math"/>
                              <a:ea typeface="Cambria Math"/>
                            </a:rPr>
                            <m:t>2</m:t>
                          </m:r>
                          <m:r>
                            <a:rPr lang="en-US" sz="3600" b="0" i="1" smtClean="0">
                              <a:latin typeface="Cambria Math"/>
                              <a:ea typeface="Cambria Math"/>
                            </a:rPr>
                            <m:t>𝜋</m:t>
                          </m:r>
                        </m:den>
                      </m:f>
                      <m:r>
                        <a:rPr lang="en-US" sz="3600" b="0" i="1" smtClean="0">
                          <a:latin typeface="Cambria Math"/>
                          <a:ea typeface="Cambria Math"/>
                        </a:rPr>
                        <m:t>=</m:t>
                      </m:r>
                      <m:rad>
                        <m:radPr>
                          <m:degHide m:val="on"/>
                          <m:ctrlPr>
                            <a:rPr lang="en-US" sz="3600" b="0" i="1" smtClean="0">
                              <a:latin typeface="Cambria Math"/>
                              <a:ea typeface="Cambria Math"/>
                            </a:rPr>
                          </m:ctrlPr>
                        </m:radPr>
                        <m:deg/>
                        <m:e>
                          <m:f>
                            <m:fPr>
                              <m:ctrlPr>
                                <a:rPr lang="en-US" sz="3600" b="0" i="1" smtClean="0">
                                  <a:latin typeface="Cambria Math"/>
                                  <a:ea typeface="Cambria Math"/>
                                </a:rPr>
                              </m:ctrlPr>
                            </m:fPr>
                            <m:num>
                              <m:r>
                                <a:rPr lang="en-US" sz="3600" b="0" i="1" smtClean="0">
                                  <a:latin typeface="Cambria Math"/>
                                  <a:ea typeface="Cambria Math"/>
                                </a:rPr>
                                <m:t>𝑘</m:t>
                              </m:r>
                            </m:num>
                            <m:den>
                              <m:r>
                                <a:rPr lang="en-US" sz="3600" b="0" i="1" smtClean="0">
                                  <a:latin typeface="Cambria Math"/>
                                  <a:ea typeface="Cambria Math"/>
                                </a:rPr>
                                <m:t>𝑚</m:t>
                              </m:r>
                            </m:den>
                          </m:f>
                        </m:e>
                      </m:rad>
                    </m:oMath>
                  </m:oMathPara>
                </a14:m>
                <a:endParaRPr lang="en-US" sz="3600" dirty="0" smtClean="0"/>
              </a:p>
              <a:p>
                <a:endParaRPr lang="en-US" sz="3600" dirty="0"/>
              </a:p>
            </p:txBody>
          </p:sp>
        </mc:Choice>
        <mc:Fallback>
          <p:sp>
            <p:nvSpPr>
              <p:cNvPr id="3" name="TextBox 2"/>
              <p:cNvSpPr txBox="1">
                <a:spLocks noRot="1" noChangeAspect="1" noMove="1" noResize="1" noEditPoints="1" noAdjustHandles="1" noChangeArrowheads="1" noChangeShapeType="1" noTextEdit="1"/>
              </p:cNvSpPr>
              <p:nvPr/>
            </p:nvSpPr>
            <p:spPr>
              <a:xfrm>
                <a:off x="6705600" y="2438400"/>
                <a:ext cx="3200400" cy="3890296"/>
              </a:xfrm>
              <a:prstGeom prst="rect">
                <a:avLst/>
              </a:prstGeom>
              <a:blipFill rotWithShape="1">
                <a:blip r:embed="rId3"/>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theme/theme1.xml><?xml version="1.0" encoding="utf-8"?>
<a:theme xmlns:a="http://schemas.openxmlformats.org/drawingml/2006/main" name="CL Template">
  <a:themeElements>
    <a:clrScheme name="">
      <a:dk1>
        <a:srgbClr val="000000"/>
      </a:dk1>
      <a:lt1>
        <a:srgbClr val="FFFFFF"/>
      </a:lt1>
      <a:dk2>
        <a:srgbClr val="B0D3DF"/>
      </a:dk2>
      <a:lt2>
        <a:srgbClr val="81C0DA"/>
      </a:lt2>
      <a:accent1>
        <a:srgbClr val="0D3857"/>
      </a:accent1>
      <a:accent2>
        <a:srgbClr val="055C91"/>
      </a:accent2>
      <a:accent3>
        <a:srgbClr val="FFFFFF"/>
      </a:accent3>
      <a:accent4>
        <a:srgbClr val="000000"/>
      </a:accent4>
      <a:accent5>
        <a:srgbClr val="AAAEB4"/>
      </a:accent5>
      <a:accent6>
        <a:srgbClr val="045383"/>
      </a:accent6>
      <a:hlink>
        <a:srgbClr val="2187BA"/>
      </a:hlink>
      <a:folHlink>
        <a:srgbClr val="53A7CA"/>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 Template</Template>
  <TotalTime>10651</TotalTime>
  <Words>4425</Words>
  <Application>Microsoft Office PowerPoint</Application>
  <PresentationFormat>Custom</PresentationFormat>
  <Paragraphs>526</Paragraphs>
  <Slides>84</Slides>
  <Notes>15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84</vt:i4>
      </vt:variant>
    </vt:vector>
  </HeadingPairs>
  <TitlesOfParts>
    <vt:vector size="98" baseType="lpstr">
      <vt:lpstr>Arial</vt:lpstr>
      <vt:lpstr>MS PGothic</vt:lpstr>
      <vt:lpstr>Wingdings</vt:lpstr>
      <vt:lpstr>Calibri</vt:lpstr>
      <vt:lpstr>Times New Roman</vt:lpstr>
      <vt:lpstr>PMingLiU</vt:lpstr>
      <vt:lpstr>Garamond</vt:lpstr>
      <vt:lpstr>Symbol</vt:lpstr>
      <vt:lpstr>Lucida Grande</vt:lpstr>
      <vt:lpstr>Malgun Gothic</vt:lpstr>
      <vt:lpstr>CL Template</vt:lpstr>
      <vt:lpstr>Microsoft Equation 3.0</vt:lpstr>
      <vt:lpstr>MathType 6.0 Equation</vt:lpstr>
      <vt:lpstr>MathType 5.0 Equation</vt:lpstr>
      <vt:lpstr>Chapter 15</vt:lpstr>
      <vt:lpstr>Periodic Motion</vt:lpstr>
      <vt:lpstr>Simple Harmonic Motion</vt:lpstr>
      <vt:lpstr>PowerPoint Presentation</vt:lpstr>
      <vt:lpstr>Problem.  Oscillating Ruler</vt:lpstr>
      <vt:lpstr>Motion of an Object Attached to a Spring </vt:lpstr>
      <vt:lpstr>Hooke’s Law</vt:lpstr>
      <vt:lpstr>Restoring Force and the Spring Mass System</vt:lpstr>
      <vt:lpstr>Acceleration of the spring mass system</vt:lpstr>
      <vt:lpstr>Acceleration, cont.</vt:lpstr>
      <vt:lpstr>Mathematical Representation of Spring Mass System</vt:lpstr>
      <vt:lpstr>Simple Harmonic Motion – Graphical Representation</vt:lpstr>
      <vt:lpstr>Simple Harmonic Motion, cont.</vt:lpstr>
      <vt:lpstr>Period of spring mass system</vt:lpstr>
      <vt:lpstr>Motion Equations for Simple Harmonic Motion</vt:lpstr>
      <vt:lpstr>Maximum Values of v and a</vt:lpstr>
      <vt:lpstr>SHM Example 1</vt:lpstr>
      <vt:lpstr>SHM Example 2</vt:lpstr>
      <vt:lpstr>PowerPoint Presentation</vt:lpstr>
      <vt:lpstr>PowerPoint Presentation</vt:lpstr>
      <vt:lpstr>SHM Example 1</vt:lpstr>
      <vt:lpstr>SHM Example 2</vt:lpstr>
      <vt:lpstr>Problem 1: </vt:lpstr>
      <vt:lpstr>Problem 1: Determine the amplitude, frequency, and period of the motion. </vt:lpstr>
      <vt:lpstr>Using the results of part (B), determine the position, velocity, and acceleration of the object at t = 1.00 s.</vt:lpstr>
      <vt:lpstr>Determine the maximum speed and maximum acceleration of the object.</vt:lpstr>
      <vt:lpstr>Find the displacement of the object between t = 0 and t = 1.00 s </vt:lpstr>
      <vt:lpstr>Problem 1: Determine the amplitude, frequency, and period of the motion. </vt:lpstr>
      <vt:lpstr>Problem 2: </vt:lpstr>
      <vt:lpstr>Problem: 3</vt:lpstr>
      <vt:lpstr>Solution: </vt:lpstr>
      <vt:lpstr>Solution: </vt:lpstr>
      <vt:lpstr>Problem:  Tuned Mass Damper</vt:lpstr>
      <vt:lpstr>Energy of the SHM Oscillator</vt:lpstr>
      <vt:lpstr>Energy of the SHM Oscillator</vt:lpstr>
      <vt:lpstr>Energy of the SHM Oscillator, cont.</vt:lpstr>
      <vt:lpstr>Energy of the SHM Oscillator, final</vt:lpstr>
      <vt:lpstr>Energy in SHM, summary</vt:lpstr>
      <vt:lpstr>Velocity at a Given Position</vt:lpstr>
      <vt:lpstr>Problem 15.4: </vt:lpstr>
      <vt:lpstr>Problem 15.4: </vt:lpstr>
      <vt:lpstr>Problem 15.4: </vt:lpstr>
      <vt:lpstr>SHM and Circular Motion</vt:lpstr>
      <vt:lpstr>SHM and Circular Motion, 2</vt:lpstr>
      <vt:lpstr>SHM and Circular Motion, 3</vt:lpstr>
      <vt:lpstr>SHM and Circular Motion, 4</vt:lpstr>
      <vt:lpstr>SHM and Circular Motion, 5</vt:lpstr>
      <vt:lpstr>Problem: 15.4</vt:lpstr>
      <vt:lpstr>Problem: 15.4</vt:lpstr>
      <vt:lpstr>Problem: 15.4</vt:lpstr>
      <vt:lpstr>Simple Pendulum</vt:lpstr>
      <vt:lpstr>Simple Pendulum</vt:lpstr>
      <vt:lpstr>PowerPoint Presentation</vt:lpstr>
      <vt:lpstr>PowerPoint Presentation</vt:lpstr>
      <vt:lpstr>PowerPoint Presentation</vt:lpstr>
      <vt:lpstr>Physical Pendulum</vt:lpstr>
      <vt:lpstr>Torque, Moment of Inertia and Newton’s Law</vt:lpstr>
      <vt:lpstr>Physical Pendulum </vt:lpstr>
      <vt:lpstr>Physical Pendulum</vt:lpstr>
      <vt:lpstr>Physical Pendulum</vt:lpstr>
      <vt:lpstr>  Problem 15.6:   </vt:lpstr>
      <vt:lpstr>Problem.  Walking</vt:lpstr>
      <vt:lpstr>Torsional Pendulum</vt:lpstr>
      <vt:lpstr>PowerPoint Presentation</vt:lpstr>
      <vt:lpstr>Damped Oscillations</vt:lpstr>
      <vt:lpstr>Damped Oscillation, Example</vt:lpstr>
      <vt:lpstr> Damped Harmonic Motion</vt:lpstr>
      <vt:lpstr>Damped Oscillations, Equations</vt:lpstr>
      <vt:lpstr>Damped Oscillations, Natural Frequency</vt:lpstr>
      <vt:lpstr>Damped Oscillations, Graph</vt:lpstr>
      <vt:lpstr>Types of Damping</vt:lpstr>
      <vt:lpstr>Types of Damping, cont</vt:lpstr>
      <vt:lpstr>Forced Oscillations</vt:lpstr>
      <vt:lpstr>Forced Oscillations, cont.</vt:lpstr>
      <vt:lpstr>Resonance</vt:lpstr>
      <vt:lpstr>Resonance, cont.</vt:lpstr>
      <vt:lpstr>Practice  Problem</vt:lpstr>
      <vt:lpstr>Practice  Problem</vt:lpstr>
      <vt:lpstr>Practice  Problem</vt:lpstr>
      <vt:lpstr>Practice  Problem</vt:lpstr>
      <vt:lpstr>Practice  Problem</vt:lpstr>
      <vt:lpstr>Practice  Problem</vt:lpstr>
      <vt:lpstr>Practice Problem</vt:lpstr>
      <vt:lpstr>Practice Problem</vt:lpstr>
    </vt:vector>
  </TitlesOfParts>
  <Company>Next Step Program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dc:title>
  <dc:creator>Marilyn Akins</dc:creator>
  <cp:lastModifiedBy>Ali</cp:lastModifiedBy>
  <cp:revision>204</cp:revision>
  <dcterms:created xsi:type="dcterms:W3CDTF">2003-11-09T22:21:18Z</dcterms:created>
  <dcterms:modified xsi:type="dcterms:W3CDTF">2020-04-29T11:19:13Z</dcterms:modified>
</cp:coreProperties>
</file>